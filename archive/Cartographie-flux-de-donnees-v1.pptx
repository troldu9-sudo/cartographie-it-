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5820" y="365760"/>
            <a:ext cx="121921" cy="121920"/>
          </a:xfrm>
          <a:prstGeom prst="ellipse">
            <a:avLst/>
          </a:prstGeom>
          <a:solidFill>
            <a:srgbClr val="3A6BE5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2490" y="392430"/>
            <a:ext cx="68581" cy="68580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5820" y="525780"/>
            <a:ext cx="121921" cy="121920"/>
          </a:xfrm>
          <a:prstGeom prst="ellipse">
            <a:avLst/>
          </a:prstGeom>
          <a:solidFill>
            <a:srgbClr val="8257E6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2490" y="552450"/>
            <a:ext cx="68581" cy="68580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92872" y="365760"/>
            <a:ext cx="121921" cy="121920"/>
          </a:xfrm>
          <a:prstGeom prst="ellipse">
            <a:avLst/>
          </a:prstGeom>
          <a:solidFill>
            <a:srgbClr val="0E9E7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19542" y="392430"/>
            <a:ext cx="68581" cy="68580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92872" y="525780"/>
            <a:ext cx="121921" cy="121920"/>
          </a:xfrm>
          <a:prstGeom prst="ellipse">
            <a:avLst/>
          </a:prstGeom>
          <a:solidFill>
            <a:srgbClr val="DD7E2C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19542" y="552450"/>
            <a:ext cx="68581" cy="68580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" y="1074420"/>
            <a:ext cx="3048000" cy="2161699"/>
          </a:xfrm>
          <a:prstGeom prst="roundRect">
            <a:avLst>
              <a:gd name="adj" fmla="val 7050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6250" y="1237059"/>
            <a:ext cx="121920" cy="121920"/>
          </a:xfrm>
          <a:prstGeom prst="ellipse">
            <a:avLst/>
          </a:prstGeom>
          <a:solidFill>
            <a:srgbClr val="3A6BE5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" y="1263729"/>
            <a:ext cx="68580" cy="68580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01096" y="1647349"/>
            <a:ext cx="1129784" cy="7620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750219"/>
            <a:ext cx="2727960" cy="548640"/>
          </a:xfrm>
          <a:prstGeom prst="roundRect">
            <a:avLst>
              <a:gd name="adj" fmla="val 15277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1834039"/>
            <a:ext cx="420291" cy="175260"/>
          </a:xfrm>
          <a:prstGeom prst="roundRect">
            <a:avLst>
              <a:gd name="adj" fmla="val 50000"/>
            </a:avLst>
          </a:prstGeom>
          <a:solidFill>
            <a:srgbClr val="3A6BE5">
              <a:alpha val="11000"/>
            </a:srgbClr>
          </a:solidFill>
          <a:ln w="7620">
            <a:solidFill>
              <a:srgbClr val="3A6BE5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60371" y="1834039"/>
            <a:ext cx="529114" cy="175260"/>
          </a:xfrm>
          <a:prstGeom prst="roundRect">
            <a:avLst>
              <a:gd name="adj" fmla="val 50000"/>
            </a:avLst>
          </a:prstGeom>
          <a:solidFill>
            <a:srgbClr val="3A6BE5">
              <a:alpha val="11000"/>
            </a:srgbClr>
          </a:solidFill>
          <a:ln w="7620">
            <a:solidFill>
              <a:srgbClr val="3A6BE5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35204" y="1834039"/>
            <a:ext cx="599361" cy="175260"/>
          </a:xfrm>
          <a:prstGeom prst="roundRect">
            <a:avLst>
              <a:gd name="adj" fmla="val 50000"/>
            </a:avLst>
          </a:prstGeom>
          <a:solidFill>
            <a:srgbClr val="3A6BE5">
              <a:alpha val="11000"/>
            </a:srgbClr>
          </a:solidFill>
          <a:ln w="7620">
            <a:solidFill>
              <a:srgbClr val="3A6BE5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2055019"/>
            <a:ext cx="951071" cy="175260"/>
          </a:xfrm>
          <a:prstGeom prst="roundRect">
            <a:avLst>
              <a:gd name="adj" fmla="val 50000"/>
            </a:avLst>
          </a:prstGeom>
          <a:solidFill>
            <a:srgbClr val="3A6BE5">
              <a:alpha val="11000"/>
            </a:srgbClr>
          </a:solidFill>
          <a:ln w="7620">
            <a:solidFill>
              <a:srgbClr val="3A6BE5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7260" y="2439829"/>
            <a:ext cx="1343620" cy="7620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542699"/>
            <a:ext cx="2727960" cy="548640"/>
          </a:xfrm>
          <a:prstGeom prst="roundRect">
            <a:avLst>
              <a:gd name="adj" fmla="val 15277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2626519"/>
            <a:ext cx="378857" cy="175260"/>
          </a:xfrm>
          <a:prstGeom prst="roundRect">
            <a:avLst>
              <a:gd name="adj" fmla="val 50000"/>
            </a:avLst>
          </a:prstGeom>
          <a:solidFill>
            <a:srgbClr val="3A6BE5">
              <a:alpha val="11000"/>
            </a:srgbClr>
          </a:solidFill>
          <a:ln w="7620">
            <a:solidFill>
              <a:srgbClr val="3A6BE5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8937" y="2626519"/>
            <a:ext cx="617577" cy="175260"/>
          </a:xfrm>
          <a:prstGeom prst="roundRect">
            <a:avLst>
              <a:gd name="adj" fmla="val 50000"/>
            </a:avLst>
          </a:prstGeom>
          <a:solidFill>
            <a:srgbClr val="3A6BE5">
              <a:alpha val="11000"/>
            </a:srgbClr>
          </a:solidFill>
          <a:ln w="7620">
            <a:solidFill>
              <a:srgbClr val="3A6BE5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682234" y="2626519"/>
            <a:ext cx="683300" cy="175260"/>
          </a:xfrm>
          <a:prstGeom prst="roundRect">
            <a:avLst>
              <a:gd name="adj" fmla="val 50000"/>
            </a:avLst>
          </a:prstGeom>
          <a:solidFill>
            <a:srgbClr val="3A6BE5">
              <a:alpha val="11000"/>
            </a:srgbClr>
          </a:solidFill>
          <a:ln w="7620">
            <a:solidFill>
              <a:srgbClr val="3A6BE5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11254" y="2626519"/>
            <a:ext cx="674965" cy="175260"/>
          </a:xfrm>
          <a:prstGeom prst="roundRect">
            <a:avLst>
              <a:gd name="adj" fmla="val 50000"/>
            </a:avLst>
          </a:prstGeom>
          <a:solidFill>
            <a:srgbClr val="3A6BE5">
              <a:alpha val="11000"/>
            </a:srgbClr>
          </a:solidFill>
          <a:ln w="7620">
            <a:solidFill>
              <a:srgbClr val="3A6BE5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2847499"/>
            <a:ext cx="655439" cy="175260"/>
          </a:xfrm>
          <a:prstGeom prst="roundRect">
            <a:avLst>
              <a:gd name="adj" fmla="val 50000"/>
            </a:avLst>
          </a:prstGeom>
          <a:solidFill>
            <a:srgbClr val="3A6BE5">
              <a:alpha val="11000"/>
            </a:srgbClr>
          </a:solidFill>
          <a:ln w="7620">
            <a:solidFill>
              <a:srgbClr val="3A6BE5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2900" y="3449479"/>
            <a:ext cx="3048000" cy="314182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6250" y="3612118"/>
            <a:ext cx="121920" cy="121921"/>
          </a:xfrm>
          <a:prstGeom prst="ellipse">
            <a:avLst/>
          </a:prstGeom>
          <a:solidFill>
            <a:srgbClr val="8257E6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2920" y="3638788"/>
            <a:ext cx="68580" cy="68581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3965258"/>
            <a:ext cx="2727960" cy="369094"/>
          </a:xfrm>
          <a:prstGeom prst="roundRect">
            <a:avLst>
              <a:gd name="adj" fmla="val 22709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60796" y="4069794"/>
            <a:ext cx="578644" cy="160020"/>
          </a:xfrm>
          <a:prstGeom prst="roundRect">
            <a:avLst>
              <a:gd name="adj" fmla="val 50000"/>
            </a:avLst>
          </a:prstGeom>
          <a:solidFill>
            <a:srgbClr val="8257E6">
              <a:alpha val="11000"/>
            </a:srgbClr>
          </a:solidFill>
          <a:ln w="7620">
            <a:solidFill>
              <a:srgbClr val="8257E6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387691"/>
            <a:ext cx="2727960" cy="369094"/>
          </a:xfrm>
          <a:prstGeom prst="roundRect">
            <a:avLst>
              <a:gd name="adj" fmla="val 22709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2920" y="4810125"/>
            <a:ext cx="2727960" cy="369094"/>
          </a:xfrm>
          <a:prstGeom prst="roundRect">
            <a:avLst>
              <a:gd name="adj" fmla="val 22709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429947" y="4914662"/>
            <a:ext cx="388739" cy="160020"/>
          </a:xfrm>
          <a:prstGeom prst="roundRect">
            <a:avLst>
              <a:gd name="adj" fmla="val 50000"/>
            </a:avLst>
          </a:prstGeom>
          <a:solidFill>
            <a:srgbClr val="8257E6">
              <a:alpha val="11000"/>
            </a:srgbClr>
          </a:solidFill>
          <a:ln w="7620">
            <a:solidFill>
              <a:srgbClr val="8257E6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856786" y="4914662"/>
            <a:ext cx="282654" cy="160020"/>
          </a:xfrm>
          <a:prstGeom prst="roundRect">
            <a:avLst>
              <a:gd name="adj" fmla="val 50000"/>
            </a:avLst>
          </a:prstGeom>
          <a:solidFill>
            <a:srgbClr val="8257E6">
              <a:alpha val="11000"/>
            </a:srgbClr>
          </a:solidFill>
          <a:ln w="7620">
            <a:solidFill>
              <a:srgbClr val="8257E6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5232559"/>
            <a:ext cx="2727960" cy="369094"/>
          </a:xfrm>
          <a:prstGeom prst="roundRect">
            <a:avLst>
              <a:gd name="adj" fmla="val 22709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5654993"/>
            <a:ext cx="2727960" cy="369094"/>
          </a:xfrm>
          <a:prstGeom prst="roundRect">
            <a:avLst>
              <a:gd name="adj" fmla="val 22709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2920" y="6077426"/>
            <a:ext cx="2727960" cy="369094"/>
          </a:xfrm>
          <a:prstGeom prst="roundRect">
            <a:avLst>
              <a:gd name="adj" fmla="val 22709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838700" y="1074420"/>
            <a:ext cx="3200400" cy="5516880"/>
          </a:xfrm>
          <a:prstGeom prst="roundRect">
            <a:avLst>
              <a:gd name="adj" fmla="val 4761"/>
            </a:avLst>
          </a:prstGeom>
          <a:gradFill rotWithShape="1">
            <a:gsLst>
              <a:gs pos="0">
                <a:srgbClr val="18233C"/>
              </a:gs>
              <a:gs pos="62000">
                <a:srgbClr val="0F1729"/>
              </a:gs>
            </a:gsLst>
            <a:lin scaled="0" ang="16920000"/>
          </a:gradFill>
          <a:ln w="7620">
            <a:solidFill>
              <a:srgbClr val="FFFFFF">
                <a:alpha val="8000"/>
              </a:srgbClr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71160" y="2124432"/>
            <a:ext cx="1935480" cy="274320"/>
          </a:xfrm>
          <a:prstGeom prst="roundRect">
            <a:avLst>
              <a:gd name="adj" fmla="val 27777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71160" y="2444472"/>
            <a:ext cx="1935480" cy="274320"/>
          </a:xfrm>
          <a:prstGeom prst="roundRect">
            <a:avLst>
              <a:gd name="adj" fmla="val 27777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71160" y="3199328"/>
            <a:ext cx="1935480" cy="274320"/>
          </a:xfrm>
          <a:prstGeom prst="roundRect">
            <a:avLst>
              <a:gd name="adj" fmla="val 27777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471160" y="3519368"/>
            <a:ext cx="1935480" cy="274320"/>
          </a:xfrm>
          <a:prstGeom prst="roundRect">
            <a:avLst>
              <a:gd name="adj" fmla="val 27777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71160" y="4274225"/>
            <a:ext cx="1935480" cy="274320"/>
          </a:xfrm>
          <a:prstGeom prst="roundRect">
            <a:avLst>
              <a:gd name="adj" fmla="val 27777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71160" y="4594265"/>
            <a:ext cx="1935480" cy="274320"/>
          </a:xfrm>
          <a:prstGeom prst="roundRect">
            <a:avLst>
              <a:gd name="adj" fmla="val 27777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71160" y="5349121"/>
            <a:ext cx="1935480" cy="274320"/>
          </a:xfrm>
          <a:prstGeom prst="roundRect">
            <a:avLst>
              <a:gd name="adj" fmla="val 27777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998720" y="5852160"/>
            <a:ext cx="2880360" cy="594360"/>
          </a:xfrm>
          <a:prstGeom prst="roundRect">
            <a:avLst>
              <a:gd name="adj" fmla="val 17948"/>
            </a:avLst>
          </a:prstGeom>
          <a:solidFill>
            <a:srgbClr val="4CC9E8">
              <a:alpha val="7000"/>
            </a:srgbClr>
          </a:solidFill>
          <a:ln w="7620">
            <a:solidFill>
              <a:srgbClr val="4CC9E8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97780" y="5951220"/>
            <a:ext cx="1306830" cy="396240"/>
          </a:xfrm>
          <a:prstGeom prst="roundRect">
            <a:avLst>
              <a:gd name="adj" fmla="val 19230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73190" y="5951220"/>
            <a:ext cx="1306831" cy="396240"/>
          </a:xfrm>
          <a:prstGeom prst="roundRect">
            <a:avLst>
              <a:gd name="adj" fmla="val 19230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801100" y="1074420"/>
            <a:ext cx="3048000" cy="333791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934450" y="1237059"/>
            <a:ext cx="121921" cy="121920"/>
          </a:xfrm>
          <a:prstGeom prst="ellipse">
            <a:avLst/>
          </a:prstGeom>
          <a:solidFill>
            <a:srgbClr val="0E9E7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61120" y="1263729"/>
            <a:ext cx="68581" cy="68580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961120" y="1590199"/>
            <a:ext cx="2727961" cy="441960"/>
          </a:xfrm>
          <a:prstGeom prst="roundRect">
            <a:avLst>
              <a:gd name="adj" fmla="val 18965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961120" y="2148959"/>
            <a:ext cx="2727961" cy="441960"/>
          </a:xfrm>
          <a:prstGeom prst="roundRect">
            <a:avLst>
              <a:gd name="adj" fmla="val 18965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961120" y="2707719"/>
            <a:ext cx="2727961" cy="441960"/>
          </a:xfrm>
          <a:prstGeom prst="roundRect">
            <a:avLst>
              <a:gd name="adj" fmla="val 18965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957680" y="2848689"/>
            <a:ext cx="639961" cy="160020"/>
          </a:xfrm>
          <a:prstGeom prst="roundRect">
            <a:avLst>
              <a:gd name="adj" fmla="val 50000"/>
            </a:avLst>
          </a:prstGeom>
          <a:solidFill>
            <a:srgbClr val="0E9E78">
              <a:alpha val="11000"/>
            </a:srgbClr>
          </a:solidFill>
          <a:ln w="7620">
            <a:solidFill>
              <a:srgbClr val="0E9E78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961120" y="3266480"/>
            <a:ext cx="2727961" cy="441960"/>
          </a:xfrm>
          <a:prstGeom prst="roundRect">
            <a:avLst>
              <a:gd name="adj" fmla="val 18965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961120" y="3825240"/>
            <a:ext cx="2727961" cy="441960"/>
          </a:xfrm>
          <a:prstGeom prst="roundRect">
            <a:avLst>
              <a:gd name="adj" fmla="val 18965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472262" y="3966210"/>
            <a:ext cx="1125379" cy="160020"/>
          </a:xfrm>
          <a:prstGeom prst="roundRect">
            <a:avLst>
              <a:gd name="adj" fmla="val 50000"/>
            </a:avLst>
          </a:prstGeom>
          <a:solidFill>
            <a:srgbClr val="0E9E78">
              <a:alpha val="11000"/>
            </a:srgbClr>
          </a:solidFill>
          <a:ln w="7620">
            <a:solidFill>
              <a:srgbClr val="0E9E78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801100" y="4625697"/>
            <a:ext cx="3048000" cy="1965603"/>
          </a:xfrm>
          <a:prstGeom prst="roundRect">
            <a:avLst>
              <a:gd name="adj" fmla="val 7753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>
            <a:outerShdw blurRad="228600" dist="76200" dir="5400000" rotWithShape="0">
              <a:srgbClr val="0D152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934450" y="4788337"/>
            <a:ext cx="121921" cy="121920"/>
          </a:xfrm>
          <a:prstGeom prst="ellipse">
            <a:avLst/>
          </a:prstGeom>
          <a:solidFill>
            <a:srgbClr val="DD7E2C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961120" y="4815007"/>
            <a:ext cx="68581" cy="68580"/>
          </a:xfrm>
          <a:prstGeom prst="ellipse">
            <a:avLst/>
          </a:prstGeom>
          <a:solidFill>
            <a:srgbClr val="DD7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961120" y="5141476"/>
            <a:ext cx="2727961" cy="394335"/>
          </a:xfrm>
          <a:prstGeom prst="roundRect">
            <a:avLst>
              <a:gd name="adj" fmla="val 21256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526316" y="5258633"/>
            <a:ext cx="697349" cy="160020"/>
          </a:xfrm>
          <a:prstGeom prst="roundRect">
            <a:avLst>
              <a:gd name="adj" fmla="val 50000"/>
            </a:avLst>
          </a:prstGeom>
          <a:solidFill>
            <a:srgbClr val="DD7E2C">
              <a:alpha val="11000"/>
            </a:srgbClr>
          </a:solidFill>
          <a:ln w="7620">
            <a:solidFill>
              <a:srgbClr val="DD7E2C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1261765" y="5258633"/>
            <a:ext cx="335875" cy="160020"/>
          </a:xfrm>
          <a:prstGeom prst="roundRect">
            <a:avLst>
              <a:gd name="adj" fmla="val 50000"/>
            </a:avLst>
          </a:prstGeom>
          <a:solidFill>
            <a:srgbClr val="DD7E2C">
              <a:alpha val="11000"/>
            </a:srgbClr>
          </a:solidFill>
          <a:ln w="7620">
            <a:solidFill>
              <a:srgbClr val="DD7E2C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961120" y="5589151"/>
            <a:ext cx="2727961" cy="297180"/>
          </a:xfrm>
          <a:prstGeom prst="roundRect">
            <a:avLst>
              <a:gd name="adj" fmla="val 28205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1079719" y="5657731"/>
            <a:ext cx="517922" cy="160020"/>
          </a:xfrm>
          <a:prstGeom prst="roundRect">
            <a:avLst>
              <a:gd name="adj" fmla="val 50000"/>
            </a:avLst>
          </a:prstGeom>
          <a:solidFill>
            <a:srgbClr val="DD7E2C">
              <a:alpha val="11000"/>
            </a:srgbClr>
          </a:solidFill>
          <a:ln w="7620">
            <a:solidFill>
              <a:srgbClr val="DD7E2C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2900" y="312420"/>
            <a:ext cx="322861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32">
                <a:solidFill>
                  <a:srgbClr val="78879F"/>
                </a:solidFill>
                <a:latin typeface="Calibri"/>
              </a:rPr>
              <a:t>SYSTÈME D'INFORMATION · VUE D'ENSEMBLE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2900" y="457200"/>
            <a:ext cx="5402461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400" b="1" spc="-48">
                <a:solidFill>
                  <a:srgbClr val="0D1526"/>
                </a:solidFill>
                <a:latin typeface="Calibri"/>
              </a:rPr>
              <a:t>Cartographie des flux de données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2900" y="847249"/>
            <a:ext cx="3554492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spc="8">
                <a:solidFill>
                  <a:srgbClr val="78879F"/>
                </a:solidFill>
                <a:latin typeface="Calibri"/>
              </a:rPr>
              <a:t>Applications métier par direction et socle applicatif commun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65212" y="358140"/>
            <a:ext cx="130063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Flux applicatif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65212" y="518160"/>
            <a:ext cx="159543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Flux interne au socle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79650" y="358140"/>
            <a:ext cx="1558052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Direction Technique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79650" y="518160"/>
            <a:ext cx="873800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DAF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56702" y="358140"/>
            <a:ext cx="177819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Qualité &amp; Environnement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56702" y="518160"/>
            <a:ext cx="103155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>
                <a:solidFill>
                  <a:srgbClr val="33415C"/>
                </a:solidFill>
                <a:latin typeface="Calibri"/>
              </a:rPr>
              <a:t>Travaux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7700" y="1203960"/>
            <a:ext cx="2768322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1" spc="-11">
                <a:solidFill>
                  <a:srgbClr val="0D1526"/>
                </a:solidFill>
                <a:latin typeface="Calibri"/>
              </a:rPr>
              <a:t>Direction Technique &amp; Méthodes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700" y="1384459"/>
            <a:ext cx="1570791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1" spc="101">
                <a:solidFill>
                  <a:srgbClr val="78879F"/>
                </a:solidFill>
                <a:latin typeface="Calibri"/>
              </a:rPr>
              <a:t>INGÉNIERIE · BIM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1590199"/>
            <a:ext cx="222301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1" spc="94">
                <a:solidFill>
                  <a:srgbClr val="3A6BE5"/>
                </a:solidFill>
                <a:latin typeface="Calibri"/>
              </a:rPr>
              <a:t>PRODUCTION DES MAQUETTES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7660" y="1860709"/>
            <a:ext cx="953691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 spc="33">
                <a:solidFill>
                  <a:srgbClr val="3A6BE5"/>
                </a:solidFill>
                <a:latin typeface="Calibri"/>
              </a:rPr>
              <a:t>REVIT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71" y="1860709"/>
            <a:ext cx="106251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 spc="33">
                <a:solidFill>
                  <a:srgbClr val="3A6BE5"/>
                </a:solidFill>
                <a:latin typeface="Calibri"/>
              </a:rPr>
              <a:t>CIVIL 3D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68504" y="1860709"/>
            <a:ext cx="1132761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 spc="33">
                <a:solidFill>
                  <a:srgbClr val="3A6BE5"/>
                </a:solidFill>
                <a:latin typeface="Calibri"/>
              </a:rPr>
              <a:t>AUTOCAD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7660" y="2081689"/>
            <a:ext cx="1484471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 spc="33">
                <a:solidFill>
                  <a:srgbClr val="3A6BE5"/>
                </a:solidFill>
                <a:latin typeface="Calibri"/>
              </a:rPr>
              <a:t>SOFISTIK BRIDGE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2382679"/>
            <a:ext cx="2009180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1" spc="94">
                <a:solidFill>
                  <a:srgbClr val="3A6BE5"/>
                </a:solidFill>
                <a:latin typeface="Calibri"/>
              </a:rPr>
              <a:t>GESTION DES MAQUETTES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7660" y="2653189"/>
            <a:ext cx="91225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 spc="33">
                <a:solidFill>
                  <a:srgbClr val="3A6BE5"/>
                </a:solidFill>
                <a:latin typeface="Calibri"/>
              </a:rPr>
              <a:t>QGIS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2237" y="2653189"/>
            <a:ext cx="115097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 spc="33">
                <a:solidFill>
                  <a:srgbClr val="3A6BE5"/>
                </a:solidFill>
                <a:latin typeface="Calibri"/>
              </a:rPr>
              <a:t>INVENTOR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15534" y="2653189"/>
            <a:ext cx="121669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 spc="33">
                <a:solidFill>
                  <a:srgbClr val="3A6BE5"/>
                </a:solidFill>
                <a:latin typeface="Calibri"/>
              </a:rPr>
              <a:t>SIMPLE BIM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44554" y="2653189"/>
            <a:ext cx="120836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 spc="33">
                <a:solidFill>
                  <a:srgbClr val="3A6BE5"/>
                </a:solidFill>
                <a:latin typeface="Calibri"/>
              </a:rPr>
              <a:t>ANACONDA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7660" y="2874169"/>
            <a:ext cx="118883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1" spc="33">
                <a:solidFill>
                  <a:srgbClr val="3A6BE5"/>
                </a:solidFill>
                <a:latin typeface="Calibri"/>
              </a:rPr>
              <a:t>BIM VISION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7700" y="3579019"/>
            <a:ext cx="3076694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1" spc="-11">
                <a:solidFill>
                  <a:srgbClr val="0D1526"/>
                </a:solidFill>
                <a:latin typeface="Calibri"/>
              </a:rPr>
              <a:t>Direction Administrative &amp; Financière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7700" y="3759518"/>
            <a:ext cx="189547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1" spc="101">
                <a:solidFill>
                  <a:srgbClr val="78879F"/>
                </a:solidFill>
                <a:latin typeface="Calibri"/>
              </a:rPr>
              <a:t>ACHATS · FINANCE · RH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360" y="4005977"/>
            <a:ext cx="2120503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Engagement / imputation des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4134565"/>
            <a:ext cx="1160383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dépenses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86476" y="4088845"/>
            <a:ext cx="112728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8257E6"/>
                </a:solidFill>
                <a:latin typeface="Calibri"/>
              </a:rPr>
              <a:t>HARMONY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4360" y="4492705"/>
            <a:ext cx="1903571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Gestion des commandes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4360" y="4915138"/>
            <a:ext cx="1743194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Gestion du personnel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155627" y="4933712"/>
            <a:ext cx="93737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8257E6"/>
                </a:solidFill>
                <a:latin typeface="Calibri"/>
              </a:rPr>
              <a:t>PUMA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582466" y="4933712"/>
            <a:ext cx="83129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8257E6"/>
                </a:solidFill>
                <a:latin typeface="Calibri"/>
              </a:rPr>
              <a:t>BIP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4360" y="5337572"/>
            <a:ext cx="2160746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Gestion des tiers intervenants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4360" y="5760006"/>
            <a:ext cx="1663184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Contrôle budgétaire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4360" y="6182440"/>
            <a:ext cx="1914882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Gestion des contractuels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62243" y="1264920"/>
            <a:ext cx="175319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151">
                <a:solidFill>
                  <a:srgbClr val="4CC9E8"/>
                </a:solidFill>
                <a:latin typeface="Calibri"/>
              </a:rPr>
              <a:t>SOCLE APPLICATIF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222915" y="1432560"/>
            <a:ext cx="2431851" cy="2438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500" b="1" spc="-15">
                <a:solidFill>
                  <a:srgbClr val="FFFFFF"/>
                </a:solidFill>
                <a:latin typeface="Calibri"/>
              </a:rPr>
              <a:t>Logiciels communs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32534" y="1706880"/>
            <a:ext cx="2812614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>
                <a:solidFill>
                  <a:srgbClr val="95A5C2"/>
                </a:solidFill>
                <a:latin typeface="Calibri"/>
              </a:rPr>
              <a:t>Plateformes partagées par l'ensemble des directions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84959" y="1979652"/>
            <a:ext cx="2107764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96">
                <a:solidFill>
                  <a:srgbClr val="95A5C2"/>
                </a:solidFill>
                <a:latin typeface="Calibri"/>
              </a:rPr>
              <a:t>ÉCHANGE &amp; COLLABORATION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796320" y="2185392"/>
            <a:ext cx="1285161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9" b="1" spc="9">
                <a:solidFill>
                  <a:srgbClr val="FFFFFF"/>
                </a:solidFill>
                <a:latin typeface="Calibri"/>
              </a:rPr>
              <a:t>Mezzoteam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54873" y="2505432"/>
            <a:ext cx="1568053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9" b="1" spc="9">
                <a:solidFill>
                  <a:srgbClr val="FFFFFF"/>
                </a:solidFill>
                <a:latin typeface="Calibri"/>
              </a:rPr>
              <a:t>Trimble Connect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91244" y="3054548"/>
            <a:ext cx="249519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96">
                <a:solidFill>
                  <a:srgbClr val="95A5C2"/>
                </a:solidFill>
                <a:latin typeface="Calibri"/>
              </a:rPr>
              <a:t>GESTION PROJET &amp; CONTRACTUELLE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42767" y="3260289"/>
            <a:ext cx="992267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9" b="1" spc="9">
                <a:solidFill>
                  <a:srgbClr val="FFFFFF"/>
                </a:solidFill>
                <a:latin typeface="Calibri"/>
              </a:rPr>
              <a:t>Pablo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86557" y="3580329"/>
            <a:ext cx="1304687" cy="1523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9" b="1" spc="9">
                <a:solidFill>
                  <a:srgbClr val="FFFFFF"/>
                </a:solidFill>
                <a:latin typeface="Calibri"/>
              </a:rPr>
              <a:t>E-Checking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49528" y="4129445"/>
            <a:ext cx="137874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96">
                <a:solidFill>
                  <a:srgbClr val="95A5C2"/>
                </a:solidFill>
                <a:latin typeface="Calibri"/>
              </a:rPr>
              <a:t>BUREAUTIQUE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948839" y="4335185"/>
            <a:ext cx="980122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9" b="1" spc="9">
                <a:solidFill>
                  <a:srgbClr val="FFFFFF"/>
                </a:solidFill>
                <a:latin typeface="Calibri"/>
              </a:rPr>
              <a:t>Excel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953601" y="4655225"/>
            <a:ext cx="970598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9" b="1" spc="9">
                <a:solidFill>
                  <a:srgbClr val="FFFFFF"/>
                </a:solidFill>
                <a:latin typeface="Calibri"/>
              </a:rPr>
              <a:t>Word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540573" y="5204341"/>
            <a:ext cx="179665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1" spc="96">
                <a:solidFill>
                  <a:srgbClr val="95A5C2"/>
                </a:solidFill>
                <a:latin typeface="Calibri"/>
              </a:rPr>
              <a:t>INTÉGRATION TERRAIN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98927" y="5410081"/>
            <a:ext cx="1479947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9" b="1" spc="9">
                <a:solidFill>
                  <a:srgbClr val="FFFFFF"/>
                </a:solidFill>
                <a:latin typeface="Calibri"/>
              </a:rPr>
              <a:t>Quick Connect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121355" y="6019800"/>
            <a:ext cx="1259681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spc="8">
                <a:solidFill>
                  <a:srgbClr val="FFFFFF"/>
                </a:solidFill>
                <a:latin typeface="Calibri"/>
              </a:rPr>
              <a:t>SharePoint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141000" y="6164580"/>
            <a:ext cx="122039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0" spc="23">
                <a:solidFill>
                  <a:srgbClr val="95A5C2"/>
                </a:solidFill>
                <a:latin typeface="Calibri"/>
              </a:rPr>
              <a:t>RÉFÉRENTIEL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551176" y="6019800"/>
            <a:ext cx="1150858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spc="8">
                <a:solidFill>
                  <a:srgbClr val="FFFFFF"/>
                </a:solidFill>
                <a:latin typeface="Calibri"/>
              </a:rPr>
              <a:t>Power BI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66153" y="6164580"/>
            <a:ext cx="1520905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0" spc="23">
                <a:solidFill>
                  <a:srgbClr val="95A5C2"/>
                </a:solidFill>
                <a:latin typeface="Calibri"/>
              </a:rPr>
              <a:t>CABINE DE PILOTAGE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05900" y="1203960"/>
            <a:ext cx="229290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1" spc="-11">
                <a:solidFill>
                  <a:srgbClr val="0D1526"/>
                </a:solidFill>
                <a:latin typeface="Calibri"/>
              </a:rPr>
              <a:t>Qualité &amp; Environnement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05900" y="1384459"/>
            <a:ext cx="166854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1" spc="101">
                <a:solidFill>
                  <a:srgbClr val="78879F"/>
                </a:solidFill>
                <a:latin typeface="Calibri"/>
              </a:rPr>
              <a:t>QSE · CONFORMITÉ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052560" y="1731645"/>
            <a:ext cx="177188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Gestion documentaire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052560" y="2290405"/>
            <a:ext cx="1954887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Suivi des consommations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052560" y="2784872"/>
            <a:ext cx="2200990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Suivi des MaD et des levées de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52560" y="2913459"/>
            <a:ext cx="1052037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réserve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683359" y="2867739"/>
            <a:ext cx="1188601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0E9E78"/>
                </a:solidFill>
                <a:latin typeface="Calibri"/>
              </a:rPr>
              <a:t>IDCAPTURE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52560" y="3407926"/>
            <a:ext cx="1468874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Contrôle qualité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52560" y="3966686"/>
            <a:ext cx="169199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Gestion des déchets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97941" y="3985260"/>
            <a:ext cx="167401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0E9E78"/>
                </a:solidFill>
                <a:latin typeface="Calibri"/>
              </a:rPr>
              <a:t>WASTEMARKET PLACE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105900" y="4755237"/>
            <a:ext cx="1194792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1" spc="-11">
                <a:solidFill>
                  <a:srgbClr val="0D1526"/>
                </a:solidFill>
                <a:latin typeface="Calibri"/>
              </a:rPr>
              <a:t>Travaux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105900" y="4935736"/>
            <a:ext cx="1818680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1" spc="101">
                <a:solidFill>
                  <a:srgbClr val="78879F"/>
                </a:solidFill>
                <a:latin typeface="Calibri"/>
              </a:rPr>
              <a:t>EXÉCUTION CHANTIER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052560" y="5194816"/>
            <a:ext cx="174914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Gestion des jalons de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52560" y="5323404"/>
            <a:ext cx="1086089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chantier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251996" y="5277684"/>
            <a:ext cx="124598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DD7E2C"/>
                </a:solidFill>
                <a:latin typeface="Calibri"/>
              </a:rPr>
              <a:t>MS PROJECT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987445" y="5277684"/>
            <a:ext cx="88451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DD7E2C"/>
                </a:solidFill>
                <a:latin typeface="Calibri"/>
              </a:rPr>
              <a:t>MMS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52560" y="5658207"/>
            <a:ext cx="1693426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1">
                <a:solidFill>
                  <a:srgbClr val="33415C"/>
                </a:solidFill>
                <a:latin typeface="Calibri"/>
              </a:rPr>
              <a:t>Commande d'engins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805398" y="5676781"/>
            <a:ext cx="106656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DD7E2C"/>
                </a:solidFill>
                <a:latin typeface="Calibri"/>
              </a:rPr>
              <a:t>ERP MAT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961120" y="5977771"/>
            <a:ext cx="715090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1">
                <a:solidFill>
                  <a:srgbClr val="DD7E2C"/>
                </a:solidFill>
                <a:latin typeface="Calibri"/>
              </a:rPr>
              <a:t>!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043750" y="5977771"/>
            <a:ext cx="3195280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0">
                <a:solidFill>
                  <a:srgbClr val="78879F"/>
                </a:solidFill>
                <a:latin typeface="Calibri"/>
              </a:rPr>
              <a:t>Aucun flux vers le socle commun n'est formalisé à date : les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043750" y="6104811"/>
            <a:ext cx="299882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0">
                <a:solidFill>
                  <a:srgbClr val="78879F"/>
                </a:solidFill>
                <a:latin typeface="Calibri"/>
              </a:rPr>
              <a:t>outils de la direction Travaux fonctionnent en périmètre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043750" y="6231850"/>
            <a:ext cx="1128831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0">
                <a:solidFill>
                  <a:srgbClr val="78879F"/>
                </a:solidFill>
                <a:latin typeface="Calibri"/>
              </a:rPr>
              <a:t>autonome.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42900" y="6644640"/>
            <a:ext cx="308217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spc="12">
                <a:solidFill>
                  <a:srgbClr val="78879F"/>
                </a:solidFill>
                <a:latin typeface="Calibri"/>
              </a:rPr>
              <a:t>Source : cartographie « Flux de données » — refonte graphique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412974" y="6644640"/>
            <a:ext cx="112192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spc="12">
                <a:solidFill>
                  <a:srgbClr val="78879F"/>
                </a:solidFill>
                <a:latin typeface="Calibri"/>
              </a:rPr>
              <a:t>Planche 1/2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329940" y="1914049"/>
            <a:ext cx="2202180" cy="408504"/>
          </a:xfrm>
          <a:custGeom>
            <a:avLst/>
            <a:gdLst/>
            <a:ahLst/>
            <a:cxnLst/>
            <a:rect l="0" t="0" r="r" b="b"/>
            <a:pathLst>
              <a:path w="2202180" h="408504">
                <a:moveTo>
                  <a:pt x="60960" y="60960"/>
                </a:moveTo>
                <a:cubicBezTo>
                  <a:pt x="1017880" y="60960"/>
                  <a:pt x="1184300" y="347544"/>
                  <a:pt x="2141220" y="347544"/>
                </a:cubicBezTo>
              </a:path>
            </a:pathLst>
          </a:custGeom>
          <a:noFill/>
          <a:ln w="16510">
            <a:solidFill>
              <a:srgbClr val="3A6BE5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329940" y="2013109"/>
            <a:ext cx="2202180" cy="629484"/>
          </a:xfrm>
          <a:custGeom>
            <a:avLst/>
            <a:gdLst/>
            <a:ahLst/>
            <a:cxnLst/>
            <a:rect l="0" t="0" r="r" b="b"/>
            <a:pathLst>
              <a:path w="2202180" h="629484">
                <a:moveTo>
                  <a:pt x="2141220" y="568524"/>
                </a:moveTo>
                <a:cubicBezTo>
                  <a:pt x="1184300" y="568524"/>
                  <a:pt x="1017880" y="60960"/>
                  <a:pt x="60960" y="60960"/>
                </a:cubicBezTo>
              </a:path>
            </a:pathLst>
          </a:custGeom>
          <a:noFill/>
          <a:ln w="16510">
            <a:solidFill>
              <a:srgbClr val="3A6BE5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329940" y="3275528"/>
            <a:ext cx="2202180" cy="1357670"/>
          </a:xfrm>
          <a:custGeom>
            <a:avLst/>
            <a:gdLst/>
            <a:ahLst/>
            <a:cxnLst/>
            <a:rect l="0" t="0" r="r" b="b"/>
            <a:pathLst>
              <a:path w="2202180" h="1357670">
                <a:moveTo>
                  <a:pt x="2141220" y="60960"/>
                </a:moveTo>
                <a:cubicBezTo>
                  <a:pt x="1184300" y="60960"/>
                  <a:pt x="1017880" y="1296710"/>
                  <a:pt x="60960" y="1296710"/>
                </a:cubicBezTo>
              </a:path>
            </a:pathLst>
          </a:custGeom>
          <a:noFill/>
          <a:ln w="16510">
            <a:solidFill>
              <a:srgbClr val="8257E6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329940" y="3595569"/>
            <a:ext cx="2202180" cy="1882497"/>
          </a:xfrm>
          <a:custGeom>
            <a:avLst/>
            <a:gdLst/>
            <a:ahLst/>
            <a:cxnLst/>
            <a:rect l="0" t="0" r="r" b="b"/>
            <a:pathLst>
              <a:path w="2202180" h="1882497">
                <a:moveTo>
                  <a:pt x="60960" y="1821537"/>
                </a:moveTo>
                <a:cubicBezTo>
                  <a:pt x="1017880" y="1821537"/>
                  <a:pt x="1184300" y="60960"/>
                  <a:pt x="2141220" y="60960"/>
                </a:cubicBezTo>
              </a:path>
            </a:pathLst>
          </a:custGeom>
          <a:noFill/>
          <a:ln w="16510">
            <a:solidFill>
              <a:srgbClr val="8257E6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329940" y="4670465"/>
            <a:ext cx="2202180" cy="1652468"/>
          </a:xfrm>
          <a:custGeom>
            <a:avLst/>
            <a:gdLst/>
            <a:ahLst/>
            <a:cxnLst/>
            <a:rect l="0" t="0" r="r" b="b"/>
            <a:pathLst>
              <a:path w="2202180" h="1652468">
                <a:moveTo>
                  <a:pt x="60960" y="1591508"/>
                </a:moveTo>
                <a:cubicBezTo>
                  <a:pt x="1017880" y="1591508"/>
                  <a:pt x="1184300" y="60960"/>
                  <a:pt x="2141220" y="60960"/>
                </a:cubicBezTo>
              </a:path>
            </a:pathLst>
          </a:custGeom>
          <a:noFill/>
          <a:ln w="16510">
            <a:solidFill>
              <a:srgbClr val="8257E6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329940" y="4350425"/>
            <a:ext cx="2202180" cy="1550075"/>
          </a:xfrm>
          <a:custGeom>
            <a:avLst/>
            <a:gdLst/>
            <a:ahLst/>
            <a:cxnLst/>
            <a:rect l="0" t="0" r="r" b="b"/>
            <a:pathLst>
              <a:path w="2202180" h="1550075">
                <a:moveTo>
                  <a:pt x="60960" y="1489115"/>
                </a:moveTo>
                <a:cubicBezTo>
                  <a:pt x="1017880" y="1489115"/>
                  <a:pt x="1184300" y="60960"/>
                  <a:pt x="2141220" y="60960"/>
                </a:cubicBezTo>
              </a:path>
            </a:pathLst>
          </a:custGeom>
          <a:noFill/>
          <a:ln w="16510">
            <a:solidFill>
              <a:srgbClr val="8257E6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345680" y="2308979"/>
            <a:ext cx="1516380" cy="3139202"/>
          </a:xfrm>
          <a:custGeom>
            <a:avLst/>
            <a:gdLst/>
            <a:ahLst/>
            <a:cxnLst/>
            <a:rect l="0" t="0" r="r" b="b"/>
            <a:pathLst>
              <a:path w="1516380" h="3139202">
                <a:moveTo>
                  <a:pt x="1455420" y="60960"/>
                </a:moveTo>
                <a:cubicBezTo>
                  <a:pt x="813968" y="60960"/>
                  <a:pt x="702412" y="3078242"/>
                  <a:pt x="60960" y="3078242"/>
                </a:cubicBezTo>
              </a:path>
            </a:pathLst>
          </a:custGeom>
          <a:noFill/>
          <a:ln w="16510">
            <a:solidFill>
              <a:srgbClr val="0E9E78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345680" y="2867739"/>
            <a:ext cx="1516380" cy="2679502"/>
          </a:xfrm>
          <a:custGeom>
            <a:avLst/>
            <a:gdLst/>
            <a:ahLst/>
            <a:cxnLst/>
            <a:rect l="0" t="0" r="r" b="b"/>
            <a:pathLst>
              <a:path w="1516380" h="2679502">
                <a:moveTo>
                  <a:pt x="1455420" y="60960"/>
                </a:moveTo>
                <a:cubicBezTo>
                  <a:pt x="813968" y="60960"/>
                  <a:pt x="702412" y="2618542"/>
                  <a:pt x="60960" y="2618542"/>
                </a:cubicBezTo>
              </a:path>
            </a:pathLst>
          </a:custGeom>
          <a:noFill/>
          <a:ln w="16510">
            <a:solidFill>
              <a:srgbClr val="0E9E78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345680" y="3426500"/>
            <a:ext cx="1516380" cy="2219801"/>
          </a:xfrm>
          <a:custGeom>
            <a:avLst/>
            <a:gdLst/>
            <a:ahLst/>
            <a:cxnLst/>
            <a:rect l="0" t="0" r="r" b="b"/>
            <a:pathLst>
              <a:path w="1516380" h="2219801">
                <a:moveTo>
                  <a:pt x="1455420" y="60960"/>
                </a:moveTo>
                <a:cubicBezTo>
                  <a:pt x="813968" y="60960"/>
                  <a:pt x="702412" y="2158841"/>
                  <a:pt x="60960" y="2158841"/>
                </a:cubicBezTo>
              </a:path>
            </a:pathLst>
          </a:custGeom>
          <a:noFill/>
          <a:ln w="16510">
            <a:solidFill>
              <a:srgbClr val="0E9E78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345680" y="1750219"/>
            <a:ext cx="1516380" cy="572334"/>
          </a:xfrm>
          <a:custGeom>
            <a:avLst/>
            <a:gdLst/>
            <a:ahLst/>
            <a:cxnLst/>
            <a:rect l="0" t="0" r="r" b="b"/>
            <a:pathLst>
              <a:path w="1516380" h="572334">
                <a:moveTo>
                  <a:pt x="1455420" y="60960"/>
                </a:moveTo>
                <a:cubicBezTo>
                  <a:pt x="813968" y="60960"/>
                  <a:pt x="702412" y="511374"/>
                  <a:pt x="60960" y="511374"/>
                </a:cubicBezTo>
              </a:path>
            </a:pathLst>
          </a:custGeom>
          <a:noFill/>
          <a:ln w="16510">
            <a:solidFill>
              <a:srgbClr val="0E9E78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690235" y="5562481"/>
            <a:ext cx="809625" cy="449699"/>
          </a:xfrm>
          <a:custGeom>
            <a:avLst/>
            <a:gdLst/>
            <a:ahLst/>
            <a:cxnLst/>
            <a:rect l="0" t="0" r="r" b="b"/>
            <a:pathLst>
              <a:path w="809625" h="449699">
                <a:moveTo>
                  <a:pt x="748665" y="60960"/>
                </a:moveTo>
                <a:cubicBezTo>
                  <a:pt x="748665" y="257627"/>
                  <a:pt x="60960" y="192071"/>
                  <a:pt x="60960" y="388739"/>
                </a:cubicBezTo>
              </a:path>
            </a:pathLst>
          </a:custGeom>
          <a:noFill/>
          <a:ln w="13970">
            <a:solidFill>
              <a:srgbClr val="4CC9E8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984212" y="365760"/>
            <a:ext cx="373381" cy="121920"/>
          </a:xfrm>
          <a:custGeom>
            <a:avLst/>
            <a:gdLst/>
            <a:ahLst/>
            <a:cxnLst/>
            <a:rect l="0" t="0" r="r" b="b"/>
            <a:pathLst>
              <a:path w="373381" h="121920">
                <a:moveTo>
                  <a:pt x="60960" y="60960"/>
                </a:moveTo>
                <a:cubicBezTo>
                  <a:pt x="129540" y="60960"/>
                  <a:pt x="236220" y="60960"/>
                  <a:pt x="312421" y="60960"/>
                </a:cubicBezTo>
              </a:path>
            </a:pathLst>
          </a:custGeom>
          <a:noFill/>
          <a:ln w="15240">
            <a:solidFill>
              <a:srgbClr val="33415C"/>
            </a:solidFill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984212" y="525780"/>
            <a:ext cx="373381" cy="121920"/>
          </a:xfrm>
          <a:custGeom>
            <a:avLst/>
            <a:gdLst/>
            <a:ahLst/>
            <a:cxnLst/>
            <a:rect l="0" t="0" r="r" b="b"/>
            <a:pathLst>
              <a:path w="373381" h="121920">
                <a:moveTo>
                  <a:pt x="60960" y="60960"/>
                </a:moveTo>
                <a:cubicBezTo>
                  <a:pt x="129540" y="60960"/>
                  <a:pt x="236220" y="60960"/>
                  <a:pt x="312421" y="60960"/>
                </a:cubicBezTo>
              </a:path>
            </a:pathLst>
          </a:custGeom>
          <a:noFill/>
          <a:ln w="15240">
            <a:solidFill>
              <a:srgbClr val="33415C"/>
            </a:solidFill>
            <a:prstDash val="dash"/>
            <a:round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3364992" y="1949101"/>
            <a:ext cx="51816" cy="5181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A6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5445252" y="2555724"/>
            <a:ext cx="51816" cy="5181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A6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5445252" y="3310580"/>
            <a:ext cx="51816" cy="5181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25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3364992" y="5391197"/>
            <a:ext cx="51816" cy="5181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25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3364992" y="6236065"/>
            <a:ext cx="51816" cy="5181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25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3364992" y="5813631"/>
            <a:ext cx="51816" cy="5181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25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775192" y="2344031"/>
            <a:ext cx="51816" cy="5181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9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8775192" y="2902791"/>
            <a:ext cx="51816" cy="5181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9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775192" y="3461552"/>
            <a:ext cx="51816" cy="5181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9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8775192" y="1785271"/>
            <a:ext cx="51816" cy="5181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9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4340" y="1432560"/>
            <a:ext cx="53340" cy="53340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4340" y="1736526"/>
            <a:ext cx="53340" cy="53341"/>
          </a:xfrm>
          <a:prstGeom prst="ellipse">
            <a:avLst/>
          </a:prstGeom>
          <a:solidFill>
            <a:srgbClr val="3A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34340" y="2040493"/>
            <a:ext cx="53340" cy="53340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4340" y="2344460"/>
            <a:ext cx="53340" cy="53340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4340" y="2648427"/>
            <a:ext cx="53340" cy="53339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34340" y="2952393"/>
            <a:ext cx="53340" cy="53340"/>
          </a:xfrm>
          <a:prstGeom prst="ellipse">
            <a:avLst/>
          </a:prstGeom>
          <a:solidFill>
            <a:srgbClr val="82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4340" y="3256359"/>
            <a:ext cx="53340" cy="53340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4340" y="3560326"/>
            <a:ext cx="53340" cy="53341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4340" y="3864293"/>
            <a:ext cx="53340" cy="53340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340" y="4168259"/>
            <a:ext cx="53340" cy="53340"/>
          </a:xfrm>
          <a:prstGeom prst="ellipse">
            <a:avLst/>
          </a:prstGeom>
          <a:solidFill>
            <a:srgbClr val="0E9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4340" y="4472226"/>
            <a:ext cx="53340" cy="53339"/>
          </a:xfrm>
          <a:prstGeom prst="ellipse">
            <a:avLst/>
          </a:prstGeom>
          <a:solidFill>
            <a:srgbClr val="4C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" y="4587240"/>
            <a:ext cx="8351521" cy="1958341"/>
          </a:xfrm>
          <a:prstGeom prst="roundRect">
            <a:avLst>
              <a:gd name="adj" fmla="val 6225"/>
            </a:avLst>
          </a:prstGeom>
          <a:solidFill>
            <a:srgbClr val="F6F8FC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7680" y="5057776"/>
            <a:ext cx="353258" cy="160019"/>
          </a:xfrm>
          <a:prstGeom prst="roundRect">
            <a:avLst>
              <a:gd name="adj" fmla="val 50000"/>
            </a:avLst>
          </a:prstGeom>
          <a:solidFill>
            <a:srgbClr val="3A6BE5">
              <a:alpha val="11000"/>
            </a:srgbClr>
          </a:solidFill>
          <a:ln w="7620">
            <a:solidFill>
              <a:srgbClr val="3A6BE5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9038" y="5057776"/>
            <a:ext cx="581144" cy="160019"/>
          </a:xfrm>
          <a:prstGeom prst="roundRect">
            <a:avLst>
              <a:gd name="adj" fmla="val 50000"/>
            </a:avLst>
          </a:prstGeom>
          <a:solidFill>
            <a:srgbClr val="3A6BE5">
              <a:alpha val="11000"/>
            </a:srgbClr>
          </a:solidFill>
          <a:ln w="7620">
            <a:solidFill>
              <a:srgbClr val="3A6BE5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98283" y="5057776"/>
            <a:ext cx="644009" cy="160019"/>
          </a:xfrm>
          <a:prstGeom prst="roundRect">
            <a:avLst>
              <a:gd name="adj" fmla="val 50000"/>
            </a:avLst>
          </a:prstGeom>
          <a:solidFill>
            <a:srgbClr val="3A6BE5">
              <a:alpha val="11000"/>
            </a:srgbClr>
          </a:solidFill>
          <a:ln w="7620">
            <a:solidFill>
              <a:srgbClr val="3A6BE5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80392" y="5057776"/>
            <a:ext cx="635913" cy="160019"/>
          </a:xfrm>
          <a:prstGeom prst="roundRect">
            <a:avLst>
              <a:gd name="adj" fmla="val 50000"/>
            </a:avLst>
          </a:prstGeom>
          <a:solidFill>
            <a:srgbClr val="3A6BE5">
              <a:alpha val="11000"/>
            </a:srgbClr>
          </a:solidFill>
          <a:ln w="7620">
            <a:solidFill>
              <a:srgbClr val="3A6BE5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54404" y="5057776"/>
            <a:ext cx="617339" cy="160019"/>
          </a:xfrm>
          <a:prstGeom prst="roundRect">
            <a:avLst>
              <a:gd name="adj" fmla="val 50000"/>
            </a:avLst>
          </a:prstGeom>
          <a:solidFill>
            <a:srgbClr val="3A6BE5">
              <a:alpha val="11000"/>
            </a:srgbClr>
          </a:solidFill>
          <a:ln w="7620">
            <a:solidFill>
              <a:srgbClr val="3A6BE5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7720" y="5057776"/>
            <a:ext cx="578644" cy="160019"/>
          </a:xfrm>
          <a:prstGeom prst="roundRect">
            <a:avLst>
              <a:gd name="adj" fmla="val 50000"/>
            </a:avLst>
          </a:prstGeom>
          <a:solidFill>
            <a:srgbClr val="8257E6">
              <a:alpha val="11000"/>
            </a:srgbClr>
          </a:solidFill>
          <a:ln w="7620">
            <a:solidFill>
              <a:srgbClr val="8257E6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7680" y="5452110"/>
            <a:ext cx="388739" cy="160021"/>
          </a:xfrm>
          <a:prstGeom prst="roundRect">
            <a:avLst>
              <a:gd name="adj" fmla="val 50000"/>
            </a:avLst>
          </a:prstGeom>
          <a:solidFill>
            <a:srgbClr val="8257E6">
              <a:alpha val="11000"/>
            </a:srgbClr>
          </a:solidFill>
          <a:ln w="7620">
            <a:solidFill>
              <a:srgbClr val="8257E6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519" y="5452110"/>
            <a:ext cx="282654" cy="160021"/>
          </a:xfrm>
          <a:prstGeom prst="roundRect">
            <a:avLst>
              <a:gd name="adj" fmla="val 50000"/>
            </a:avLst>
          </a:prstGeom>
          <a:solidFill>
            <a:srgbClr val="8257E6">
              <a:alpha val="11000"/>
            </a:srgbClr>
          </a:solidFill>
          <a:ln w="7620">
            <a:solidFill>
              <a:srgbClr val="8257E6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17720" y="5452110"/>
            <a:ext cx="1125379" cy="160021"/>
          </a:xfrm>
          <a:prstGeom prst="roundRect">
            <a:avLst>
              <a:gd name="adj" fmla="val 50000"/>
            </a:avLst>
          </a:prstGeom>
          <a:solidFill>
            <a:srgbClr val="0E9E78">
              <a:alpha val="11000"/>
            </a:srgbClr>
          </a:solidFill>
          <a:ln w="7620">
            <a:solidFill>
              <a:srgbClr val="0E9E78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7680" y="5846445"/>
            <a:ext cx="639961" cy="160020"/>
          </a:xfrm>
          <a:prstGeom prst="roundRect">
            <a:avLst>
              <a:gd name="adj" fmla="val 50000"/>
            </a:avLst>
          </a:prstGeom>
          <a:solidFill>
            <a:srgbClr val="0E9E78">
              <a:alpha val="11000"/>
            </a:srgbClr>
          </a:solidFill>
          <a:ln w="7620">
            <a:solidFill>
              <a:srgbClr val="0E9E78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17720" y="5846445"/>
            <a:ext cx="697349" cy="160020"/>
          </a:xfrm>
          <a:prstGeom prst="roundRect">
            <a:avLst>
              <a:gd name="adj" fmla="val 50000"/>
            </a:avLst>
          </a:prstGeom>
          <a:solidFill>
            <a:srgbClr val="DD7E2C">
              <a:alpha val="11000"/>
            </a:srgbClr>
          </a:solidFill>
          <a:ln w="7620">
            <a:solidFill>
              <a:srgbClr val="DD7E2C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53169" y="5846445"/>
            <a:ext cx="335875" cy="160020"/>
          </a:xfrm>
          <a:prstGeom prst="roundRect">
            <a:avLst>
              <a:gd name="adj" fmla="val 50000"/>
            </a:avLst>
          </a:prstGeom>
          <a:solidFill>
            <a:srgbClr val="DD7E2C">
              <a:alpha val="11000"/>
            </a:srgbClr>
          </a:solidFill>
          <a:ln w="7620">
            <a:solidFill>
              <a:srgbClr val="DD7E2C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7680" y="6240780"/>
            <a:ext cx="517922" cy="160020"/>
          </a:xfrm>
          <a:prstGeom prst="roundRect">
            <a:avLst>
              <a:gd name="adj" fmla="val 50000"/>
            </a:avLst>
          </a:prstGeom>
          <a:solidFill>
            <a:srgbClr val="DD7E2C">
              <a:alpha val="11000"/>
            </a:srgbClr>
          </a:solidFill>
          <a:ln w="7620">
            <a:solidFill>
              <a:srgbClr val="DD7E2C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92540" y="1135380"/>
            <a:ext cx="1440180" cy="551259"/>
          </a:xfrm>
          <a:prstGeom prst="roundRect">
            <a:avLst>
              <a:gd name="adj" fmla="val 17969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08920" y="1135380"/>
            <a:ext cx="1440180" cy="551259"/>
          </a:xfrm>
          <a:prstGeom prst="roundRect">
            <a:avLst>
              <a:gd name="adj" fmla="val 17969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892540" y="1762840"/>
            <a:ext cx="1440180" cy="551259"/>
          </a:xfrm>
          <a:prstGeom prst="roundRect">
            <a:avLst>
              <a:gd name="adj" fmla="val 17969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408920" y="1762840"/>
            <a:ext cx="1440180" cy="551259"/>
          </a:xfrm>
          <a:prstGeom prst="roundRect">
            <a:avLst>
              <a:gd name="adj" fmla="val 17969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892540" y="2420779"/>
            <a:ext cx="2956560" cy="2009060"/>
          </a:xfrm>
          <a:prstGeom prst="roundRect">
            <a:avLst>
              <a:gd name="adj" fmla="val 6068"/>
            </a:avLst>
          </a:prstGeom>
          <a:solidFill>
            <a:srgbClr val="F6F8FC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37320" y="2835950"/>
            <a:ext cx="144780" cy="144779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37320" y="3386257"/>
            <a:ext cx="144780" cy="14478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37320" y="3936564"/>
            <a:ext cx="144780" cy="14478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7620">
            <a:solidFill>
              <a:srgbClr val="E1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92540" y="4536519"/>
            <a:ext cx="2956560" cy="2009061"/>
          </a:xfrm>
          <a:prstGeom prst="roundRect">
            <a:avLst>
              <a:gd name="adj" fmla="val 6068"/>
            </a:avLst>
          </a:prstGeom>
          <a:gradFill rotWithShape="1">
            <a:gsLst>
              <a:gs pos="0">
                <a:srgbClr val="18233C"/>
              </a:gs>
              <a:gs pos="62000">
                <a:srgbClr val="0F1729"/>
              </a:gs>
            </a:gsLst>
            <a:lin scaled="0" ang="16920000"/>
          </a:gradFill>
          <a:ln w="762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37320" y="4951690"/>
            <a:ext cx="144780" cy="144781"/>
          </a:xfrm>
          <a:prstGeom prst="roundRect">
            <a:avLst>
              <a:gd name="adj" fmla="val 31578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37320" y="5501997"/>
            <a:ext cx="144780" cy="144780"/>
          </a:xfrm>
          <a:prstGeom prst="roundRect">
            <a:avLst>
              <a:gd name="adj" fmla="val 31578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37320" y="6052305"/>
            <a:ext cx="144780" cy="144779"/>
          </a:xfrm>
          <a:prstGeom prst="roundRect">
            <a:avLst>
              <a:gd name="adj" fmla="val 31579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" y="312420"/>
            <a:ext cx="113573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32">
                <a:solidFill>
                  <a:srgbClr val="78879F"/>
                </a:solidFill>
                <a:latin typeface="Calibri"/>
              </a:rPr>
              <a:t>ANNEXE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" y="457200"/>
            <a:ext cx="5136475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400" b="1" spc="-48">
                <a:solidFill>
                  <a:srgbClr val="0D1526"/>
                </a:solidFill>
                <a:latin typeface="Calibri"/>
              </a:rPr>
              <a:t>Matrice des flux inter-applicatifs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" y="847248"/>
            <a:ext cx="4127539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spc="8">
                <a:solidFill>
                  <a:srgbClr val="78879F"/>
                </a:solidFill>
                <a:latin typeface="Calibri"/>
              </a:rPr>
              <a:t>Détail des échanges entre processus métier et socle applicatif commun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" y="1120140"/>
            <a:ext cx="123396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1" spc="94">
                <a:solidFill>
                  <a:srgbClr val="78879F"/>
                </a:solidFill>
                <a:latin typeface="Calibri"/>
              </a:rPr>
              <a:t>DIRECTION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21086" y="1120140"/>
            <a:ext cx="170473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1" spc="94">
                <a:solidFill>
                  <a:srgbClr val="78879F"/>
                </a:solidFill>
                <a:latin typeface="Calibri"/>
              </a:rPr>
              <a:t>PROCESSUS MÉTIER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75603" y="1120140"/>
            <a:ext cx="95178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94">
                <a:solidFill>
                  <a:srgbClr val="78879F"/>
                </a:solidFill>
                <a:latin typeface="Calibri"/>
              </a:rPr>
              <a:t>SENS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93444" y="1120140"/>
            <a:ext cx="172414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1" spc="94">
                <a:solidFill>
                  <a:srgbClr val="78879F"/>
                </a:solidFill>
                <a:latin typeface="Calibri"/>
              </a:rPr>
              <a:t>APPLICATION SOCLE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6608" y="1120140"/>
            <a:ext cx="1477566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1" spc="94">
                <a:solidFill>
                  <a:srgbClr val="78879F"/>
                </a:solidFill>
                <a:latin typeface="Calibri"/>
              </a:rPr>
              <a:t>OBJET DU FLUX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1020" y="1394698"/>
            <a:ext cx="180808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1" spc="41">
                <a:solidFill>
                  <a:srgbClr val="3A6BE5"/>
                </a:solidFill>
                <a:latin typeface="Calibri"/>
              </a:rPr>
              <a:t>DIRECTION TECHNIQUE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21086" y="1379220"/>
            <a:ext cx="1929765" cy="1447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Production des maquettes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51446" y="1375410"/>
            <a:ext cx="800100" cy="1600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3A6BE5"/>
                </a:solidFill>
                <a:latin typeface="Calibri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93444" y="1379220"/>
            <a:ext cx="1214318" cy="1447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Mezzoteam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6608" y="1379220"/>
            <a:ext cx="2132291" cy="1447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>
                <a:solidFill>
                  <a:srgbClr val="33415C"/>
                </a:solidFill>
                <a:latin typeface="Calibri"/>
              </a:rPr>
              <a:t>Dépôt et diffusion des maquettes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1020" y="1698665"/>
            <a:ext cx="180808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1" spc="41">
                <a:solidFill>
                  <a:srgbClr val="3A6BE5"/>
                </a:solidFill>
                <a:latin typeface="Calibri"/>
              </a:rPr>
              <a:t>DIRECTION TECHNIQUE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1086" y="1683187"/>
            <a:ext cx="1929765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Production des maquettes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51446" y="1679377"/>
            <a:ext cx="800100" cy="1600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3A6BE5"/>
                </a:solidFill>
                <a:latin typeface="Calibri"/>
              </a:rPr>
              <a:t>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3444" y="1683187"/>
            <a:ext cx="1461969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Trimble Connect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96608" y="1683187"/>
            <a:ext cx="2299335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>
                <a:solidFill>
                  <a:srgbClr val="33415C"/>
                </a:solidFill>
                <a:latin typeface="Calibri"/>
              </a:rPr>
              <a:t>Restitution des maquettes partagées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020" y="2002631"/>
            <a:ext cx="88177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1" spc="41">
                <a:solidFill>
                  <a:srgbClr val="8257E6"/>
                </a:solidFill>
                <a:latin typeface="Calibri"/>
              </a:rPr>
              <a:t>DAF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21086" y="1987153"/>
            <a:ext cx="1858447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Gestion des commandes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51446" y="1983343"/>
            <a:ext cx="800100" cy="1600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8257E6"/>
                </a:solidFill>
                <a:latin typeface="Calibri"/>
              </a:rPr>
              <a:t>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3444" y="1987153"/>
            <a:ext cx="955596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Pablo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96608" y="1987153"/>
            <a:ext cx="2329220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>
                <a:solidFill>
                  <a:srgbClr val="33415C"/>
                </a:solidFill>
                <a:latin typeface="Calibri"/>
              </a:rPr>
              <a:t>Commandes et engagements d'achat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1020" y="2306598"/>
            <a:ext cx="88177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1" spc="41">
                <a:solidFill>
                  <a:srgbClr val="8257E6"/>
                </a:solidFill>
                <a:latin typeface="Calibri"/>
              </a:rPr>
              <a:t>DAF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21086" y="2291119"/>
            <a:ext cx="2106216" cy="1447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Gestion des tiers intervenants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51446" y="2287310"/>
            <a:ext cx="800100" cy="1600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8257E6"/>
                </a:solidFill>
                <a:latin typeface="Calibri"/>
              </a:rP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93444" y="2291119"/>
            <a:ext cx="1230749" cy="1447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E-Checking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96608" y="2291119"/>
            <a:ext cx="2442330" cy="1447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>
                <a:solidFill>
                  <a:srgbClr val="33415C"/>
                </a:solidFill>
                <a:latin typeface="Calibri"/>
              </a:rPr>
              <a:t>Contrôle de conformité des intervenants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1020" y="2610565"/>
            <a:ext cx="88177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1" spc="41">
                <a:solidFill>
                  <a:srgbClr val="8257E6"/>
                </a:solidFill>
                <a:latin typeface="Calibri"/>
              </a:rPr>
              <a:t>DAF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21086" y="2595086"/>
            <a:ext cx="1869400" cy="1447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Gestion des contractuels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51446" y="2591276"/>
            <a:ext cx="800100" cy="1600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8257E6"/>
                </a:solidFill>
                <a:latin typeface="Calibri"/>
              </a:rPr>
              <a:t>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93444" y="2595086"/>
            <a:ext cx="937141" cy="1447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Word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6608" y="2595086"/>
            <a:ext cx="2299216" cy="1447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>
                <a:solidFill>
                  <a:srgbClr val="33415C"/>
                </a:solidFill>
                <a:latin typeface="Calibri"/>
              </a:rPr>
              <a:t>Production des pièces contractuelles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1020" y="2914531"/>
            <a:ext cx="881777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1" spc="41">
                <a:solidFill>
                  <a:srgbClr val="8257E6"/>
                </a:solidFill>
                <a:latin typeface="Calibri"/>
              </a:rPr>
              <a:t>DAF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21086" y="2899053"/>
            <a:ext cx="1626989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Contrôle budgétaire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51446" y="2895243"/>
            <a:ext cx="800100" cy="1600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8257E6"/>
                </a:solidFill>
                <a:latin typeface="Calibri"/>
              </a:rPr>
              <a:t>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93444" y="2899053"/>
            <a:ext cx="944761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Excel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96608" y="2899053"/>
            <a:ext cx="2112169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>
                <a:solidFill>
                  <a:srgbClr val="33415C"/>
                </a:solidFill>
                <a:latin typeface="Calibri"/>
              </a:rPr>
              <a:t>Suivi et consolidation budgétaire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1020" y="3218497"/>
            <a:ext cx="145256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1" spc="41">
                <a:solidFill>
                  <a:srgbClr val="0E9E78"/>
                </a:solidFill>
                <a:latin typeface="Calibri"/>
              </a:rPr>
              <a:t>QUALITÉ &amp; ENV.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21086" y="3203019"/>
            <a:ext cx="1907858" cy="1447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Suivi des consommations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51446" y="3199209"/>
            <a:ext cx="800100" cy="1600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0E9E78"/>
                </a:solidFill>
                <a:latin typeface="Calibri"/>
              </a:rPr>
              <a:t>→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93444" y="3203019"/>
            <a:ext cx="1384935" cy="1447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Quick Connect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96608" y="3203019"/>
            <a:ext cx="1853208" cy="1447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>
                <a:solidFill>
                  <a:srgbClr val="33415C"/>
                </a:solidFill>
                <a:latin typeface="Calibri"/>
              </a:rPr>
              <a:t>Relevés de consommation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1020" y="3522464"/>
            <a:ext cx="145256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1" spc="41">
                <a:solidFill>
                  <a:srgbClr val="0E9E78"/>
                </a:solidFill>
                <a:latin typeface="Calibri"/>
              </a:rPr>
              <a:t>QUALITÉ &amp; ENV.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21086" y="3506986"/>
            <a:ext cx="232683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Suivi des MaD et levées de réserve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51446" y="3503176"/>
            <a:ext cx="800100" cy="1600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0E9E78"/>
                </a:solidFill>
                <a:latin typeface="Calibri"/>
              </a:rPr>
              <a:t>→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93444" y="3506986"/>
            <a:ext cx="1384935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Quick Connect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96608" y="3506986"/>
            <a:ext cx="1996321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>
                <a:solidFill>
                  <a:srgbClr val="33415C"/>
                </a:solidFill>
                <a:latin typeface="Calibri"/>
              </a:rPr>
              <a:t>Constats et levées de réserve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1020" y="3826431"/>
            <a:ext cx="145256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1" spc="41">
                <a:solidFill>
                  <a:srgbClr val="0E9E78"/>
                </a:solidFill>
                <a:latin typeface="Calibri"/>
              </a:rPr>
              <a:t>QUALITÉ &amp; ENV.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21086" y="3810953"/>
            <a:ext cx="1439823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Contrôle qualité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51446" y="3807143"/>
            <a:ext cx="800100" cy="1600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0E9E78"/>
                </a:solidFill>
                <a:latin typeface="Calibri"/>
              </a:rPr>
              <a:t>→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93444" y="3810953"/>
            <a:ext cx="1384935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Quick Connect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96608" y="3810953"/>
            <a:ext cx="1798201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>
                <a:solidFill>
                  <a:srgbClr val="33415C"/>
                </a:solidFill>
                <a:latin typeface="Calibri"/>
              </a:rPr>
              <a:t>Points de contrôle qualité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1020" y="4130398"/>
            <a:ext cx="145256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1" spc="41">
                <a:solidFill>
                  <a:srgbClr val="0E9E78"/>
                </a:solidFill>
                <a:latin typeface="Calibri"/>
              </a:rPr>
              <a:t>QUALITÉ &amp; ENV.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21086" y="4114919"/>
            <a:ext cx="1731645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Gestion documentaire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51446" y="4111109"/>
            <a:ext cx="800100" cy="1600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0E9E78"/>
                </a:solidFill>
                <a:latin typeface="Calibri"/>
              </a:rPr>
              <a:t>→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93444" y="4114919"/>
            <a:ext cx="1214318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Mezzoteam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96608" y="4114919"/>
            <a:ext cx="1967032" cy="1447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>
                <a:solidFill>
                  <a:srgbClr val="33415C"/>
                </a:solidFill>
                <a:latin typeface="Calibri"/>
              </a:rPr>
              <a:t>Documents projet et diffusion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1020" y="4434364"/>
            <a:ext cx="147923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1" spc="41">
                <a:solidFill>
                  <a:srgbClr val="4CC9E8"/>
                </a:solidFill>
                <a:latin typeface="Calibri"/>
              </a:rPr>
              <a:t>SOCLE COMMUN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21086" y="4418885"/>
            <a:ext cx="1384935" cy="1447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Quick Connect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60614" y="4415075"/>
            <a:ext cx="781645" cy="1600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4CC9E8"/>
                </a:solidFill>
                <a:latin typeface="Calibri"/>
              </a:rPr>
              <a:t>⇢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93444" y="4418885"/>
            <a:ext cx="1208723" cy="1447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1">
                <a:solidFill>
                  <a:srgbClr val="0D1526"/>
                </a:solidFill>
                <a:latin typeface="Calibri"/>
              </a:rPr>
              <a:t>SharePoint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96608" y="4418885"/>
            <a:ext cx="2464475" cy="1447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>
                <a:solidFill>
                  <a:srgbClr val="33415C"/>
                </a:solidFill>
                <a:latin typeface="Calibri"/>
              </a:rPr>
              <a:t>Alimentation du référentiel documentaire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7680" y="4701540"/>
            <a:ext cx="468606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19">
                <a:solidFill>
                  <a:srgbClr val="78879F"/>
                </a:solidFill>
                <a:latin typeface="Calibri"/>
              </a:rPr>
              <a:t>TRAITEMENTS INTERNES AUX DIRECTIONS — SANS FLUX VERS LE SOCLE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2440" y="4892040"/>
            <a:ext cx="3977640" cy="1733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90"/>
              </a:lnSpc>
            </a:pPr>
            <a:r>
              <a:rPr sz="610" b="1" spc="31">
                <a:solidFill>
                  <a:srgbClr val="3A6BE5"/>
                </a:solidFill>
                <a:latin typeface="Calibri"/>
              </a:rPr>
              <a:t>DIR. TECHNIQUE </a:t>
            </a:r>
            <a:r>
              <a:rPr sz="740" b="1">
                <a:solidFill>
                  <a:srgbClr val="33415C"/>
                </a:solidFill>
                <a:latin typeface="Calibri"/>
              </a:rPr>
              <a:t>Gestion des maquettes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3360" y="5076825"/>
            <a:ext cx="901898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3A6BE5"/>
                </a:solidFill>
                <a:latin typeface="Calibri"/>
              </a:rPr>
              <a:t>QGIS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04718" y="5076825"/>
            <a:ext cx="112978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3A6BE5"/>
                </a:solidFill>
                <a:latin typeface="Calibri"/>
              </a:rPr>
              <a:t>INVENTOR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23963" y="5076825"/>
            <a:ext cx="119264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3A6BE5"/>
                </a:solidFill>
                <a:latin typeface="Calibri"/>
              </a:rPr>
              <a:t>SIMPLE BIM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906072" y="5076825"/>
            <a:ext cx="1184553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3A6BE5"/>
                </a:solidFill>
                <a:latin typeface="Calibri"/>
              </a:rPr>
              <a:t>ANACONDA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580084" y="5076825"/>
            <a:ext cx="116597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3A6BE5"/>
                </a:solidFill>
                <a:latin typeface="Calibri"/>
              </a:rPr>
              <a:t>BIM VISION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02480" y="4892040"/>
            <a:ext cx="3977640" cy="1733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90"/>
              </a:lnSpc>
            </a:pPr>
            <a:r>
              <a:rPr sz="610" b="1" spc="31">
                <a:solidFill>
                  <a:srgbClr val="8257E6"/>
                </a:solidFill>
                <a:latin typeface="Calibri"/>
              </a:rPr>
              <a:t>DAF </a:t>
            </a:r>
            <a:r>
              <a:rPr sz="740" b="1">
                <a:solidFill>
                  <a:srgbClr val="33415C"/>
                </a:solidFill>
                <a:latin typeface="Calibri"/>
              </a:rPr>
              <a:t>Engagement / imputation des dépenses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343400" y="5076825"/>
            <a:ext cx="1127284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8257E6"/>
                </a:solidFill>
                <a:latin typeface="Calibri"/>
              </a:rPr>
              <a:t>HARMONY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2440" y="5286375"/>
            <a:ext cx="3977640" cy="173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90"/>
              </a:lnSpc>
            </a:pPr>
            <a:r>
              <a:rPr sz="610" b="1" spc="31">
                <a:solidFill>
                  <a:srgbClr val="8257E6"/>
                </a:solidFill>
                <a:latin typeface="Calibri"/>
              </a:rPr>
              <a:t>DAF </a:t>
            </a:r>
            <a:r>
              <a:rPr sz="740" b="1">
                <a:solidFill>
                  <a:srgbClr val="33415C"/>
                </a:solidFill>
                <a:latin typeface="Calibri"/>
              </a:rPr>
              <a:t>Gestion du personnel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3360" y="5471161"/>
            <a:ext cx="937379" cy="1219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8257E6"/>
                </a:solidFill>
                <a:latin typeface="Calibri"/>
              </a:rPr>
              <a:t>PUMA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40199" y="5471161"/>
            <a:ext cx="831294" cy="1219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8257E6"/>
                </a:solidFill>
                <a:latin typeface="Calibri"/>
              </a:rPr>
              <a:t>BIP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602480" y="5286375"/>
            <a:ext cx="3977640" cy="173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90"/>
              </a:lnSpc>
            </a:pPr>
            <a:r>
              <a:rPr sz="610" b="1" spc="31">
                <a:solidFill>
                  <a:srgbClr val="0E9E78"/>
                </a:solidFill>
                <a:latin typeface="Calibri"/>
              </a:rPr>
              <a:t>QUALITÉ &amp; ENV. </a:t>
            </a:r>
            <a:r>
              <a:rPr sz="740" b="1">
                <a:solidFill>
                  <a:srgbClr val="33415C"/>
                </a:solidFill>
                <a:latin typeface="Calibri"/>
              </a:rPr>
              <a:t>Gestion des déchets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343400" y="5471161"/>
            <a:ext cx="1674019" cy="1219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0E9E78"/>
                </a:solidFill>
                <a:latin typeface="Calibri"/>
              </a:rPr>
              <a:t>WASTEMARKET PLACE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2440" y="5680710"/>
            <a:ext cx="3977640" cy="1733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90"/>
              </a:lnSpc>
            </a:pPr>
            <a:r>
              <a:rPr sz="610" b="1" spc="31">
                <a:solidFill>
                  <a:srgbClr val="0E9E78"/>
                </a:solidFill>
                <a:latin typeface="Calibri"/>
              </a:rPr>
              <a:t>QUALITÉ &amp; ENV. </a:t>
            </a:r>
            <a:r>
              <a:rPr sz="740" b="1">
                <a:solidFill>
                  <a:srgbClr val="33415C"/>
                </a:solidFill>
                <a:latin typeface="Calibri"/>
              </a:rPr>
              <a:t>Suivi des MaD et levées de réserve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3360" y="5865495"/>
            <a:ext cx="1188601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0E9E78"/>
                </a:solidFill>
                <a:latin typeface="Calibri"/>
              </a:rPr>
              <a:t>IDCAPTURE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602480" y="5680710"/>
            <a:ext cx="3977640" cy="1733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90"/>
              </a:lnSpc>
            </a:pPr>
            <a:r>
              <a:rPr sz="610" b="1" spc="31">
                <a:solidFill>
                  <a:srgbClr val="DD7E2C"/>
                </a:solidFill>
                <a:latin typeface="Calibri"/>
              </a:rPr>
              <a:t>TRAVAUX </a:t>
            </a:r>
            <a:r>
              <a:rPr sz="740" b="1">
                <a:solidFill>
                  <a:srgbClr val="33415C"/>
                </a:solidFill>
                <a:latin typeface="Calibri"/>
              </a:rPr>
              <a:t>Gestion des jalons de chantier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343400" y="5865495"/>
            <a:ext cx="1245989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DD7E2C"/>
                </a:solidFill>
                <a:latin typeface="Calibri"/>
              </a:rPr>
              <a:t>MS PROJECT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078849" y="5865495"/>
            <a:ext cx="884515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DD7E2C"/>
                </a:solidFill>
                <a:latin typeface="Calibri"/>
              </a:rPr>
              <a:t>MMS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72440" y="6075045"/>
            <a:ext cx="3977640" cy="1733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90"/>
              </a:lnSpc>
            </a:pPr>
            <a:r>
              <a:rPr sz="610" b="1" spc="31">
                <a:solidFill>
                  <a:srgbClr val="DD7E2C"/>
                </a:solidFill>
                <a:latin typeface="Calibri"/>
              </a:rPr>
              <a:t>TRAVAUX </a:t>
            </a:r>
            <a:r>
              <a:rPr sz="740" b="1">
                <a:solidFill>
                  <a:srgbClr val="33415C"/>
                </a:solidFill>
                <a:latin typeface="Calibri"/>
              </a:rPr>
              <a:t>Commande d'engins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3360" y="6259830"/>
            <a:ext cx="1066562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1" spc="31">
                <a:solidFill>
                  <a:srgbClr val="DD7E2C"/>
                </a:solidFill>
                <a:latin typeface="Calibri"/>
              </a:rPr>
              <a:t>ERP MAT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209484" y="1203960"/>
            <a:ext cx="806172" cy="2819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800" b="1" spc="-54">
                <a:solidFill>
                  <a:srgbClr val="0D1526"/>
                </a:solidFill>
                <a:latin typeface="Calibri"/>
              </a:rPr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10293" y="1485900"/>
            <a:ext cx="1204675" cy="114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 spc="57">
                <a:solidFill>
                  <a:srgbClr val="78879F"/>
                </a:solidFill>
                <a:latin typeface="Calibri"/>
              </a:rPr>
              <a:t>DIRECTIONS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665738" y="1203960"/>
            <a:ext cx="926425" cy="2819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800" b="1" spc="-54">
                <a:solidFill>
                  <a:srgbClr val="0D1526"/>
                </a:solidFill>
                <a:latin typeface="Calibri"/>
              </a:rPr>
              <a:t>26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475833" y="1485900"/>
            <a:ext cx="1306235" cy="114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 spc="57">
                <a:solidFill>
                  <a:srgbClr val="78879F"/>
                </a:solidFill>
                <a:latin typeface="Calibri"/>
              </a:rPr>
              <a:t>APPLICATIONS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209484" y="1831419"/>
            <a:ext cx="806172" cy="28194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800" b="1" spc="-54">
                <a:solidFill>
                  <a:srgbClr val="0D1526"/>
                </a:solidFill>
                <a:latin typeface="Calibri"/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24568" y="2113359"/>
            <a:ext cx="137600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 spc="57">
                <a:solidFill>
                  <a:srgbClr val="78879F"/>
                </a:solidFill>
                <a:latin typeface="Calibri"/>
              </a:rPr>
              <a:t>SOCLE COMMUN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672048" y="1831419"/>
            <a:ext cx="913805" cy="28194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800" b="1" spc="-54">
                <a:solidFill>
                  <a:srgbClr val="0D1526"/>
                </a:solidFill>
                <a:latin typeface="Calibri"/>
              </a:rPr>
              <a:t>11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677049" y="2113359"/>
            <a:ext cx="903804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0" b="1" spc="57">
                <a:solidFill>
                  <a:srgbClr val="78879F"/>
                </a:solidFill>
                <a:latin typeface="Calibri"/>
              </a:rPr>
              <a:t>FLUX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037320" y="2535079"/>
            <a:ext cx="2447210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19">
                <a:solidFill>
                  <a:srgbClr val="78879F"/>
                </a:solidFill>
                <a:latin typeface="Calibri"/>
              </a:rPr>
              <a:t>LECTURE DE LA CARTOGRAPHIE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89470" y="2848213"/>
            <a:ext cx="72616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>
                <a:solidFill>
                  <a:srgbClr val="78879F"/>
                </a:solidFill>
                <a:latin typeface="Calibri"/>
              </a:rPr>
              <a:t>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243061" y="2813089"/>
            <a:ext cx="2491740" cy="3371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90"/>
              </a:lnSpc>
            </a:pPr>
            <a:r>
              <a:rPr sz="750" b="1">
                <a:solidFill>
                  <a:srgbClr val="0D1526"/>
                </a:solidFill>
                <a:latin typeface="Calibri"/>
              </a:rPr>
              <a:t>Mezzoteam</a:t>
            </a:r>
            <a:r>
              <a:rPr sz="750" b="0">
                <a:solidFill>
                  <a:srgbClr val="33415C"/>
                </a:solidFill>
                <a:latin typeface="Calibri"/>
              </a:rPr>
              <a:t> et </a:t>
            </a:r>
            <a:r>
              <a:rPr sz="750" b="1">
                <a:solidFill>
                  <a:srgbClr val="0D1526"/>
                </a:solidFill>
                <a:latin typeface="Calibri"/>
              </a:rPr>
              <a:t>Quick Connect</a:t>
            </a:r>
            <a:r>
              <a:rPr sz="750" b="0">
                <a:solidFill>
                  <a:srgbClr val="33415C"/>
                </a:solidFill>
                <a:latin typeface="Calibri"/>
              </a:rPr>
              <a:t> concentrent 7 des 11 flux : ce sont les deux points d'entrée critiques du socle.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89470" y="3398520"/>
            <a:ext cx="72616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>
                <a:solidFill>
                  <a:srgbClr val="78879F"/>
                </a:solidFill>
                <a:latin typeface="Calibri"/>
              </a:rP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243061" y="3363397"/>
            <a:ext cx="2491740" cy="3371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90"/>
              </a:lnSpc>
            </a:pPr>
            <a:r>
              <a:rPr sz="750" b="1">
                <a:solidFill>
                  <a:srgbClr val="0D1526"/>
                </a:solidFill>
                <a:latin typeface="Calibri"/>
              </a:rPr>
              <a:t>Trimble Connect</a:t>
            </a:r>
            <a:r>
              <a:rPr sz="750" b="0">
                <a:solidFill>
                  <a:srgbClr val="33415C"/>
                </a:solidFill>
                <a:latin typeface="Calibri"/>
              </a:rPr>
              <a:t> porte le seul flux descendant du socle vers une direction (restitution des maquettes).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89470" y="3948827"/>
            <a:ext cx="726162" cy="114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>
                <a:solidFill>
                  <a:srgbClr val="78879F"/>
                </a:solidFill>
                <a:latin typeface="Calibri"/>
              </a:rP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243061" y="3913704"/>
            <a:ext cx="2491740" cy="3371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90"/>
              </a:lnSpc>
            </a:pPr>
            <a:r>
              <a:rPr sz="750" b="1">
                <a:solidFill>
                  <a:srgbClr val="0D1526"/>
                </a:solidFill>
                <a:latin typeface="Calibri"/>
              </a:rPr>
              <a:t>SharePoint</a:t>
            </a:r>
            <a:r>
              <a:rPr sz="750" b="0">
                <a:solidFill>
                  <a:srgbClr val="33415C"/>
                </a:solidFill>
                <a:latin typeface="Calibri"/>
              </a:rPr>
              <a:t> n'est alimenté que par Quick Connect ; les autres dépôts documentaires transitent par Mezzoteam.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037320" y="4650820"/>
            <a:ext cx="1846541" cy="121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spc="119">
                <a:solidFill>
                  <a:srgbClr val="4CC9E8"/>
                </a:solidFill>
                <a:latin typeface="Calibri"/>
              </a:rPr>
              <a:t>POINTS D'ATTENTION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083517" y="4963954"/>
            <a:ext cx="738187" cy="11429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243061" y="4928830"/>
            <a:ext cx="2491740" cy="3371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90"/>
              </a:lnSpc>
            </a:pPr>
            <a:r>
              <a:rPr sz="750" b="0">
                <a:solidFill>
                  <a:srgbClr val="C9D5EA"/>
                </a:solidFill>
                <a:latin typeface="Calibri"/>
              </a:rPr>
              <a:t>La direction </a:t>
            </a:r>
            <a:r>
              <a:rPr sz="750" b="1">
                <a:solidFill>
                  <a:srgbClr val="FFFFFF"/>
                </a:solidFill>
                <a:latin typeface="Calibri"/>
              </a:rPr>
              <a:t>Travaux</a:t>
            </a:r>
            <a:r>
              <a:rPr sz="750" b="0">
                <a:solidFill>
                  <a:srgbClr val="C9D5EA"/>
                </a:solidFill>
                <a:latin typeface="Calibri"/>
              </a:rPr>
              <a:t> (MS Project, MMS, ERP MAT) n'échange aucune donnée avec le socle commun.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083517" y="5514260"/>
            <a:ext cx="73818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243061" y="5479137"/>
            <a:ext cx="2491740" cy="337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90"/>
              </a:lnSpc>
            </a:pPr>
            <a:r>
              <a:rPr sz="750" b="1">
                <a:solidFill>
                  <a:srgbClr val="FFFFFF"/>
                </a:solidFill>
                <a:latin typeface="Calibri"/>
              </a:rPr>
              <a:t>Power BI</a:t>
            </a:r>
            <a:r>
              <a:rPr sz="750" b="0">
                <a:solidFill>
                  <a:srgbClr val="C9D5EA"/>
                </a:solidFill>
                <a:latin typeface="Calibri"/>
              </a:rPr>
              <a:t>, positionné en cabine de pilotage, n'est raccordé à aucun flux formalisé.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083517" y="6064567"/>
            <a:ext cx="73818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243061" y="6029445"/>
            <a:ext cx="2491740" cy="337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90"/>
              </a:lnSpc>
            </a:pPr>
            <a:r>
              <a:rPr sz="750" b="0">
                <a:solidFill>
                  <a:srgbClr val="C9D5EA"/>
                </a:solidFill>
                <a:latin typeface="Calibri"/>
              </a:rPr>
              <a:t>Le contrôle budgétaire et la gestion des contractuels reposent sur </a:t>
            </a:r>
            <a:r>
              <a:rPr sz="750" b="1">
                <a:solidFill>
                  <a:srgbClr val="FFFFFF"/>
                </a:solidFill>
                <a:latin typeface="Calibri"/>
              </a:rPr>
              <a:t>Excel</a:t>
            </a:r>
            <a:r>
              <a:rPr sz="750" b="0">
                <a:solidFill>
                  <a:srgbClr val="C9D5EA"/>
                </a:solidFill>
                <a:latin typeface="Calibri"/>
              </a:rPr>
              <a:t> et </a:t>
            </a:r>
            <a:r>
              <a:rPr sz="750" b="1">
                <a:solidFill>
                  <a:srgbClr val="FFFFFF"/>
                </a:solidFill>
                <a:latin typeface="Calibri"/>
              </a:rPr>
              <a:t>Word</a:t>
            </a:r>
            <a:r>
              <a:rPr sz="750" b="0">
                <a:solidFill>
                  <a:srgbClr val="C9D5EA"/>
                </a:solidFill>
                <a:latin typeface="Calibri"/>
              </a:rPr>
              <a:t>, sans applicatif métier dédié.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42900" y="6644640"/>
            <a:ext cx="3082171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spc="12">
                <a:solidFill>
                  <a:srgbClr val="78879F"/>
                </a:solidFill>
                <a:latin typeface="Calibri"/>
              </a:rPr>
              <a:t>Source : cartographie « Flux de données » — refonte graphique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412974" y="6644640"/>
            <a:ext cx="112192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spc="12">
                <a:solidFill>
                  <a:srgbClr val="78879F"/>
                </a:solidFill>
                <a:latin typeface="Calibri"/>
              </a:rPr>
              <a:t>Planche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
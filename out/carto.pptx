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Effectif</c:v>
                </c:pt>
              </c:strCache>
            </c:strRef>
          </c:tx>
          <c:dPt>
            <c:idx val="0"/>
            <c:spPr>
              <a:solidFill>
                <a:srgbClr val="E85A0C"/>
              </a:solidFill>
              <a:ln w="1778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A6B8A"/>
              </a:solidFill>
              <a:ln w="1778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Automatique</c:v>
                </c:pt>
                <c:pt idx="1">
                  <c:v>Manuel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650">
          <a:solidFill>
            <a:srgbClr val="6B6B6B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Effectif</c:v>
                </c:pt>
              </c:strCache>
            </c:strRef>
          </c:tx>
          <c:dPt>
            <c:idx val="0"/>
            <c:spPr>
              <a:solidFill>
                <a:srgbClr val="E85A0C"/>
              </a:solidFill>
              <a:ln w="1778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A6B8A"/>
              </a:solidFill>
              <a:ln w="1778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1121F"/>
              </a:solidFill>
              <a:ln w="1778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Interne</c:v>
                </c:pt>
                <c:pt idx="1">
                  <c:v>Externe</c:v>
                </c:pt>
                <c:pt idx="2">
                  <c:v>À documenter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30</c:v>
                </c:pt>
                <c:pt idx="2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650">
          <a:solidFill>
            <a:srgbClr val="6B6B6B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Classement des services par nombre de flux</c:v>
                </c:pt>
              </c:strCache>
            </c:strRef>
          </c:tx>
          <c:spPr>
            <a:solidFill>
              <a:srgbClr val="E85A0C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Sécurité</c:v>
                </c:pt>
                <c:pt idx="1">
                  <c:v>Topo</c:v>
                </c:pt>
                <c:pt idx="2">
                  <c:v>Méthode &amp; BIM</c:v>
                </c:pt>
                <c:pt idx="3">
                  <c:v>Direction</c:v>
                </c:pt>
                <c:pt idx="4">
                  <c:v>DAF</c:v>
                </c:pt>
                <c:pt idx="5">
                  <c:v>Contrat</c:v>
                </c:pt>
                <c:pt idx="6">
                  <c:v>Trav. tunnel</c:v>
                </c:pt>
                <c:pt idx="7">
                  <c:v>Travaux</c:v>
                </c:pt>
                <c:pt idx="8">
                  <c:v>Qualité &amp; Env.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9</c:v>
                </c:pt>
                <c:pt idx="5">
                  <c:v>9</c:v>
                </c:pt>
                <c:pt idx="6">
                  <c:v>11</c:v>
                </c:pt>
                <c:pt idx="7">
                  <c:v>12</c:v>
                </c:pt>
                <c:pt idx="8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650">
          <a:solidFill>
            <a:srgbClr val="6B6B6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d'outils par service</c:v>
                </c:pt>
              </c:strCache>
            </c:strRef>
          </c:tx>
          <c:spPr>
            <a:solidFill>
              <a:srgbClr val="4A7C59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Sécurité</c:v>
                </c:pt>
                <c:pt idx="1">
                  <c:v>Topo</c:v>
                </c:pt>
                <c:pt idx="2">
                  <c:v>Méthode &amp; BIM</c:v>
                </c:pt>
                <c:pt idx="3">
                  <c:v>Direction</c:v>
                </c:pt>
                <c:pt idx="4">
                  <c:v>DAF</c:v>
                </c:pt>
                <c:pt idx="5">
                  <c:v>Contrat</c:v>
                </c:pt>
                <c:pt idx="6">
                  <c:v>Trav. tunnel</c:v>
                </c:pt>
                <c:pt idx="7">
                  <c:v>Travaux</c:v>
                </c:pt>
                <c:pt idx="8">
                  <c:v>Qualité &amp; Env.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7</c:v>
                </c:pt>
                <c:pt idx="2">
                  <c:v>12</c:v>
                </c:pt>
                <c:pt idx="3">
                  <c:v>15</c:v>
                </c:pt>
                <c:pt idx="4">
                  <c:v>13</c:v>
                </c:pt>
                <c:pt idx="5">
                  <c:v>8</c:v>
                </c:pt>
                <c:pt idx="6">
                  <c:v>9</c:v>
                </c:pt>
                <c:pt idx="7">
                  <c:v>14</c:v>
                </c:pt>
                <c:pt idx="8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650">
          <a:solidFill>
            <a:srgbClr val="6B6B6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Vue macro — page 1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Direction — page 2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DAF — page 3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Contrat — page 4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Méthode &amp; BIM — page 5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Travaux — page 6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Travaux tunnel — page 7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Topo — page 8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Qualité &amp; Environnement — page 9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Sécurité — page 10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Référentiel des outils — page 11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Synthèse — page 12 sur 12. Généré depuis data/carto.json ; toute modification de contenu passe par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10.xml"/><Relationship Id="rId1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Cartographie applicative et flux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Cartographie des outils IT — chantier Bouygues 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400" y="2798233"/>
            <a:ext cx="11633200" cy="838200"/>
          </a:xfrm>
          <a:prstGeom prst="roundRect">
            <a:avLst>
              <a:gd name="adj" fmla="val 6060"/>
            </a:avLst>
          </a:prstGeom>
          <a:solidFill>
            <a:srgbClr val="F4F4F4"/>
          </a:solidFill>
          <a:ln w="1270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1800" y="2899833"/>
            <a:ext cx="3810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85A0C"/>
                </a:solidFill>
                <a:latin typeface="Calibri"/>
              </a:rPr>
              <a:t>Hub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3052233"/>
            <a:ext cx="38100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Gestion électronique documentaire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0229" y="3052233"/>
            <a:ext cx="949898" cy="304800"/>
          </a:xfrm>
          <a:prstGeom prst="roundRect">
            <a:avLst>
              <a:gd name="adj" fmla="val 50000"/>
            </a:avLst>
          </a:prstGeom>
          <a:solidFill>
            <a:srgbClr val="E85A0C"/>
          </a:solidFill>
          <a:ln w="1270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SharePoint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127" y="3052233"/>
            <a:ext cx="864139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C1121F"/>
                </a:solidFill>
                <a:latin typeface="Calibri"/>
              </a:rPr>
              <a:t>OneDrive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27" y="3369733"/>
            <a:ext cx="864139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C1121F"/>
                </a:solidFill>
                <a:latin typeface="Calibri"/>
              </a:rPr>
              <a:t>TODO : absent de la BDD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8266" y="3052233"/>
            <a:ext cx="739613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C1121F"/>
                </a:solidFill>
                <a:latin typeface="Calibri"/>
              </a:rPr>
              <a:t>Probity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8266" y="3369733"/>
            <a:ext cx="73961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C1121F"/>
                </a:solidFill>
                <a:latin typeface="Calibri"/>
              </a:rPr>
              <a:t>TODO : absent de la BDD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64879" y="3052233"/>
            <a:ext cx="996891" cy="304800"/>
          </a:xfrm>
          <a:prstGeom prst="roundRect">
            <a:avLst>
              <a:gd name="adj" fmla="val 50000"/>
            </a:avLst>
          </a:prstGeom>
          <a:solidFill>
            <a:srgbClr val="E85A0C"/>
          </a:solidFill>
          <a:ln w="1270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279400" y="711200"/>
            <a:ext cx="2235200" cy="1638300"/>
          </a:xfrm>
          <a:prstGeom prst="roundRect">
            <a:avLst>
              <a:gd name="adj" fmla="val 31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79400" y="711200"/>
            <a:ext cx="2235200" cy="3302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1000" y="787400"/>
            <a:ext cx="2032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Méthode &amp; BIM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927100"/>
            <a:ext cx="16510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Maquettes et 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0400" y="927100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12 outils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000" y="1066800"/>
            <a:ext cx="203200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81000" y="1143000"/>
            <a:ext cx="51732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Anaconda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20" y="1143000"/>
            <a:ext cx="483016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AutoCAD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82936" y="1143000"/>
            <a:ext cx="54381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BIM Vision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333500"/>
            <a:ext cx="42073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Civil 3D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2530" y="1333500"/>
            <a:ext cx="461634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Inventor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64965" y="1333500"/>
            <a:ext cx="584161" cy="152400"/>
          </a:xfrm>
          <a:prstGeom prst="roundRect">
            <a:avLst>
              <a:gd name="adj" fmla="val 50000"/>
            </a:avLst>
          </a:prstGeom>
          <a:solidFill>
            <a:srgbClr val="E85A0C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9925" y="1333500"/>
            <a:ext cx="327022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QGIS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000" y="1524000"/>
            <a:ext cx="429748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Remind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1548" y="1524000"/>
            <a:ext cx="33102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Revit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43368" y="1524000"/>
            <a:ext cx="569008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Simple BIM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" y="1714500"/>
            <a:ext cx="676567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Sofistik Bridge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08367" y="1714500"/>
            <a:ext cx="763488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2628900" y="711200"/>
            <a:ext cx="2235200" cy="1638300"/>
          </a:xfrm>
          <a:prstGeom prst="roundRect">
            <a:avLst>
              <a:gd name="adj" fmla="val 31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628900" y="711200"/>
            <a:ext cx="2235200" cy="3302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730500" y="787400"/>
            <a:ext cx="2032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Travaux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0500" y="927100"/>
            <a:ext cx="16510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Conduite de travaux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9900" y="927100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14 outils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30500" y="1066800"/>
            <a:ext cx="203200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730500" y="1143000"/>
            <a:ext cx="480692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E-Paraph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61992" y="1143000"/>
            <a:ext cx="483202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ERP MAT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95994" y="1143000"/>
            <a:ext cx="332321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79115" y="1143000"/>
            <a:ext cx="393213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GMAO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30500" y="1333500"/>
            <a:ext cx="297739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HA+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79039" y="1333500"/>
            <a:ext cx="52187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IDCapture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1714" y="1333500"/>
            <a:ext cx="584161" cy="152400"/>
          </a:xfrm>
          <a:prstGeom prst="roundRect">
            <a:avLst>
              <a:gd name="adj" fmla="val 50000"/>
            </a:avLst>
          </a:prstGeom>
          <a:solidFill>
            <a:srgbClr val="E85A0C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86675" y="1333500"/>
            <a:ext cx="341339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MMS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30500" y="1524000"/>
            <a:ext cx="55134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MS Project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2645" y="1524000"/>
            <a:ext cx="392748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76193" y="1524000"/>
            <a:ext cx="666992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30500" y="1714500"/>
            <a:ext cx="416826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Traktor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98126" y="1714500"/>
            <a:ext cx="763488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12414" y="1714500"/>
            <a:ext cx="352681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Word</a:t>
            </a:r>
          </a:p>
        </p:txBody>
      </p:sp>
      <p:sp>
        <p:nvSpPr>
          <p:cNvPr id="53" name="Rounded Rectangle 52">
            <a:hlinkClick action="ppaction://hlinksldjump" r:id="rId4"/>
          </p:cNvPr>
          <p:cNvSpPr/>
          <p:nvPr/>
        </p:nvSpPr>
        <p:spPr>
          <a:xfrm>
            <a:off x="4978400" y="711200"/>
            <a:ext cx="2235200" cy="1638300"/>
          </a:xfrm>
          <a:prstGeom prst="roundRect">
            <a:avLst>
              <a:gd name="adj" fmla="val 31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4978400" y="711200"/>
            <a:ext cx="2235200" cy="3302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080000" y="787400"/>
            <a:ext cx="2032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Travaux tunnel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80000" y="927100"/>
            <a:ext cx="16510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Creusement et tunnelier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927100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9 outils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80000" y="1066800"/>
            <a:ext cx="203200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5080000" y="1143000"/>
            <a:ext cx="483016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AutoCAD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13816" y="1143000"/>
            <a:ext cx="332321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96937" y="1143000"/>
            <a:ext cx="393213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GMAO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40950" y="1143000"/>
            <a:ext cx="52187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IDCapture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80000" y="1333500"/>
            <a:ext cx="55134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MS Project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82145" y="1333500"/>
            <a:ext cx="476973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09918" y="1333500"/>
            <a:ext cx="666992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80000" y="1524000"/>
            <a:ext cx="763488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894288" y="1524000"/>
            <a:ext cx="389494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Yellow</a:t>
            </a:r>
          </a:p>
        </p:txBody>
      </p:sp>
      <p:sp>
        <p:nvSpPr>
          <p:cNvPr id="68" name="Rounded Rectangle 67">
            <a:hlinkClick action="ppaction://hlinksldjump" r:id="rId5"/>
          </p:cNvPr>
          <p:cNvSpPr/>
          <p:nvPr/>
        </p:nvSpPr>
        <p:spPr>
          <a:xfrm>
            <a:off x="7327900" y="711200"/>
            <a:ext cx="2235200" cy="1638300"/>
          </a:xfrm>
          <a:prstGeom prst="roundRect">
            <a:avLst>
              <a:gd name="adj" fmla="val 31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327900" y="711200"/>
            <a:ext cx="2235200" cy="3302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429500" y="787400"/>
            <a:ext cx="2032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Topo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29500" y="927100"/>
            <a:ext cx="16510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Topographie et implantation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78900" y="927100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7 outils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29500" y="1066800"/>
            <a:ext cx="203200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7429500" y="1143000"/>
            <a:ext cx="483016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AutoCAD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63316" y="1143000"/>
            <a:ext cx="431328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Covadis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45444" y="1143000"/>
            <a:ext cx="611957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Cyclone 3DR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108201" y="1143000"/>
            <a:ext cx="332321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429500" y="1333500"/>
            <a:ext cx="467677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La Scene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947977" y="1333500"/>
            <a:ext cx="307128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Pixis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305905" y="1333500"/>
            <a:ext cx="763488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81" name="Rounded Rectangle 80">
            <a:hlinkClick action="ppaction://hlinksldjump" r:id="rId6"/>
          </p:cNvPr>
          <p:cNvSpPr/>
          <p:nvPr/>
        </p:nvSpPr>
        <p:spPr>
          <a:xfrm>
            <a:off x="9677400" y="711200"/>
            <a:ext cx="2235200" cy="1638300"/>
          </a:xfrm>
          <a:prstGeom prst="roundRect">
            <a:avLst>
              <a:gd name="adj" fmla="val 31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9677400" y="711200"/>
            <a:ext cx="2235200" cy="3302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9779000" y="787400"/>
            <a:ext cx="2032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Qualité &amp; Environnement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79000" y="927100"/>
            <a:ext cx="16510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Contrôle et conformité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328400" y="927100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15 outils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779000" y="1066800"/>
            <a:ext cx="203200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9779000" y="1143000"/>
            <a:ext cx="332321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162121" y="1143000"/>
            <a:ext cx="52187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IDCapture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734796" y="1143000"/>
            <a:ext cx="485991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Lafarge +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779000" y="1333500"/>
            <a:ext cx="949881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Live Objects (Orange)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779681" y="1333500"/>
            <a:ext cx="473813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Lucee TP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779000" y="1524000"/>
            <a:ext cx="584161" cy="152400"/>
          </a:xfrm>
          <a:prstGeom prst="roundRect">
            <a:avLst>
              <a:gd name="adj" fmla="val 50000"/>
            </a:avLst>
          </a:prstGeom>
          <a:solidFill>
            <a:srgbClr val="E85A0C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413961" y="1524000"/>
            <a:ext cx="392748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857509" y="1524000"/>
            <a:ext cx="476973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779000" y="1714500"/>
            <a:ext cx="580349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PowerPoint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410149" y="1714500"/>
            <a:ext cx="666992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127941" y="1714500"/>
            <a:ext cx="395351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RNDTS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779000" y="1905000"/>
            <a:ext cx="904329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Sixsense Monitoring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734129" y="1905000"/>
            <a:ext cx="66662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Sogelink/DICT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779000" y="2095500"/>
            <a:ext cx="763488" cy="1524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593288" y="2095500"/>
            <a:ext cx="119558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C1C1C"/>
                </a:solidFill>
                <a:latin typeface="Calibri"/>
              </a:rPr>
              <a:t>Waste Marketplace (Wakio)</a:t>
            </a:r>
          </a:p>
        </p:txBody>
      </p:sp>
      <p:sp>
        <p:nvSpPr>
          <p:cNvPr id="102" name="Rounded Rectangle 101">
            <a:hlinkClick action="ppaction://hlinksldjump" r:id="rId7"/>
          </p:cNvPr>
          <p:cNvSpPr/>
          <p:nvPr/>
        </p:nvSpPr>
        <p:spPr>
          <a:xfrm>
            <a:off x="279400" y="4085167"/>
            <a:ext cx="2822575" cy="14605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279400" y="4085167"/>
            <a:ext cx="2822575" cy="3302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381000" y="4161367"/>
            <a:ext cx="2619375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Direction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1000" y="4301067"/>
            <a:ext cx="2238375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Pilotage du chantier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17775" y="4301067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15 outils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1000" y="4440767"/>
            <a:ext cx="261937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ounded Rectangle 107"/>
          <p:cNvSpPr/>
          <p:nvPr/>
        </p:nvSpPr>
        <p:spPr>
          <a:xfrm>
            <a:off x="381000" y="4516967"/>
            <a:ext cx="567954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Basware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99754" y="4516967"/>
            <a:ext cx="427393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BATIS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477947" y="4516967"/>
            <a:ext cx="376448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CWT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905195" y="4516967"/>
            <a:ext cx="607619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DocuSign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81000" y="4758267"/>
            <a:ext cx="691782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E-Checking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123582" y="4758267"/>
            <a:ext cx="594356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E-Paraph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768738" y="4758267"/>
            <a:ext cx="396529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216067" y="4758267"/>
            <a:ext cx="382770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Miro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1000" y="4999567"/>
            <a:ext cx="408552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MMS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40352" y="4999567"/>
            <a:ext cx="406569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Oasis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297721" y="4999567"/>
            <a:ext cx="589398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37918" y="4999567"/>
            <a:ext cx="842756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81000" y="5240867"/>
            <a:ext cx="539197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Tableau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70997" y="5240867"/>
            <a:ext cx="423674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Word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445471" y="5240867"/>
            <a:ext cx="472759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Yellow</a:t>
            </a:r>
          </a:p>
        </p:txBody>
      </p:sp>
      <p:sp>
        <p:nvSpPr>
          <p:cNvPr id="123" name="Rounded Rectangle 122">
            <a:hlinkClick action="ppaction://hlinksldjump" r:id="rId8"/>
          </p:cNvPr>
          <p:cNvSpPr/>
          <p:nvPr/>
        </p:nvSpPr>
        <p:spPr>
          <a:xfrm>
            <a:off x="3216275" y="4085167"/>
            <a:ext cx="2822575" cy="14605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3216275" y="4085167"/>
            <a:ext cx="2822575" cy="3302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3317875" y="4161367"/>
            <a:ext cx="2619375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DAF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7875" y="4301067"/>
            <a:ext cx="2238375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RH · Comptabilité · Gestion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54650" y="4301067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13 outils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317875" y="4440767"/>
            <a:ext cx="261937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ounded Rectangle 128"/>
          <p:cNvSpPr/>
          <p:nvPr/>
        </p:nvSpPr>
        <p:spPr>
          <a:xfrm>
            <a:off x="3317875" y="4516967"/>
            <a:ext cx="567954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Basware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936629" y="4516967"/>
            <a:ext cx="610470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BIP/BAPS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597899" y="4516967"/>
            <a:ext cx="670091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By My Site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318789" y="4516967"/>
            <a:ext cx="413634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BYCN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317875" y="4758267"/>
            <a:ext cx="607619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DocuSign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976294" y="4758267"/>
            <a:ext cx="691782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E-Checking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718876" y="4758267"/>
            <a:ext cx="396529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317875" y="4999567"/>
            <a:ext cx="777681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H&amp;R For You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146356" y="4999567"/>
            <a:ext cx="605140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Harmony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802296" y="4999567"/>
            <a:ext cx="477097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330193" y="4999567"/>
            <a:ext cx="461108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PUMA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317875" y="5240867"/>
            <a:ext cx="352278" cy="2032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TIPS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720953" y="5240867"/>
            <a:ext cx="657943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Visioaccès</a:t>
            </a:r>
          </a:p>
        </p:txBody>
      </p:sp>
      <p:sp>
        <p:nvSpPr>
          <p:cNvPr id="142" name="Rounded Rectangle 141">
            <a:hlinkClick action="ppaction://hlinksldjump" r:id="rId9"/>
          </p:cNvPr>
          <p:cNvSpPr/>
          <p:nvPr/>
        </p:nvSpPr>
        <p:spPr>
          <a:xfrm>
            <a:off x="6153150" y="4085167"/>
            <a:ext cx="2822575" cy="14605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6153150" y="4085167"/>
            <a:ext cx="2822575" cy="3302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6254750" y="4161367"/>
            <a:ext cx="2619375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Contrat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254750" y="4301067"/>
            <a:ext cx="2238375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Contract management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91525" y="4301067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8 outils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254750" y="4440767"/>
            <a:ext cx="261937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ounded Rectangle 147"/>
          <p:cNvSpPr/>
          <p:nvPr/>
        </p:nvSpPr>
        <p:spPr>
          <a:xfrm>
            <a:off x="6254750" y="4516967"/>
            <a:ext cx="567954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Basware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873504" y="4516967"/>
            <a:ext cx="492963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Chorus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417267" y="4516967"/>
            <a:ext cx="596091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E-Project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064159" y="4516967"/>
            <a:ext cx="396529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254750" y="4758267"/>
            <a:ext cx="798505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NotebookLM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104055" y="4758267"/>
            <a:ext cx="589398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744253" y="4758267"/>
            <a:ext cx="690543" cy="203200"/>
          </a:xfrm>
          <a:prstGeom prst="roundRect">
            <a:avLst>
              <a:gd name="adj" fmla="val 50000"/>
            </a:avLst>
          </a:prstGeom>
          <a:solidFill>
            <a:srgbClr val="E85A0C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SharePoint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254750" y="4999567"/>
            <a:ext cx="423674" cy="20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C1C1C"/>
                </a:solidFill>
                <a:latin typeface="Calibri"/>
              </a:rPr>
              <a:t>Word</a:t>
            </a:r>
          </a:p>
        </p:txBody>
      </p:sp>
      <p:sp>
        <p:nvSpPr>
          <p:cNvPr id="156" name="Rounded Rectangle 155">
            <a:hlinkClick action="ppaction://hlinksldjump" r:id="rId10"/>
          </p:cNvPr>
          <p:cNvSpPr/>
          <p:nvPr/>
        </p:nvSpPr>
        <p:spPr>
          <a:xfrm>
            <a:off x="9090025" y="4085167"/>
            <a:ext cx="2822575" cy="14605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9090025" y="4085167"/>
            <a:ext cx="2822575" cy="3302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9191625" y="4161367"/>
            <a:ext cx="2619375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C1C1C"/>
                </a:solidFill>
                <a:latin typeface="Calibri"/>
              </a:rPr>
              <a:t>Sécurité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191625" y="4301067"/>
            <a:ext cx="2238375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0" i="0">
                <a:solidFill>
                  <a:srgbClr val="6B6B6B"/>
                </a:solidFill>
                <a:latin typeface="Calibri"/>
              </a:rPr>
              <a:t>À documenter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328400" y="4301067"/>
            <a:ext cx="4826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2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91625" y="4440767"/>
            <a:ext cx="261937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ounded Rectangle 161"/>
          <p:cNvSpPr/>
          <p:nvPr/>
        </p:nvSpPr>
        <p:spPr>
          <a:xfrm>
            <a:off x="9191625" y="4516967"/>
            <a:ext cx="2619375" cy="901700"/>
          </a:xfrm>
          <a:prstGeom prst="roundRect">
            <a:avLst>
              <a:gd name="adj" fmla="val 4225"/>
            </a:avLst>
          </a:prstGeom>
          <a:solidFill>
            <a:srgbClr val="F4F4F4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C1121F"/>
                </a:solidFill>
                <a:latin typeface="Calibri"/>
              </a:rPr>
              <a:t>TODO — service à documenter</a:t>
            </a:r>
          </a:p>
        </p:txBody>
      </p:sp>
      <p:sp>
        <p:nvSpPr>
          <p:cNvPr id="5001" name="Flux 5001"/>
          <p:cNvSpPr/>
          <p:nvPr/>
        </p:nvSpPr>
        <p:spPr>
          <a:xfrm>
            <a:off x="4408762" y="3318933"/>
            <a:ext cx="546478" cy="1477433"/>
          </a:xfrm>
          <a:custGeom>
            <a:avLst/>
            <a:gdLst/>
            <a:ahLst/>
            <a:cxnLst/>
            <a:rect l="0" t="0" r="546478" b="1477433"/>
            <a:pathLst>
              <a:path w="546478" h="1477433">
                <a:moveTo>
                  <a:pt x="508378" y="1439333"/>
                </a:moveTo>
                <a:cubicBezTo>
                  <a:pt x="508378" y="818554"/>
                  <a:pt x="38100" y="658879"/>
                  <a:pt x="38100" y="381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02" name="Flux 5002"/>
          <p:cNvSpPr/>
          <p:nvPr/>
        </p:nvSpPr>
        <p:spPr>
          <a:xfrm>
            <a:off x="4071589" y="1638300"/>
            <a:ext cx="413373" cy="1452033"/>
          </a:xfrm>
          <a:custGeom>
            <a:avLst/>
            <a:gdLst/>
            <a:ahLst/>
            <a:cxnLst/>
            <a:rect l="0" t="0" r="413373" b="1452033"/>
            <a:pathLst>
              <a:path w="413373" h="1452033">
                <a:moveTo>
                  <a:pt x="38100" y="38100"/>
                </a:moveTo>
                <a:cubicBezTo>
                  <a:pt x="38100" y="633049"/>
                  <a:pt x="375273" y="818984"/>
                  <a:pt x="375273" y="1413933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03" name="Flux 5003"/>
          <p:cNvSpPr/>
          <p:nvPr/>
        </p:nvSpPr>
        <p:spPr>
          <a:xfrm>
            <a:off x="4410826" y="4694767"/>
            <a:ext cx="668119" cy="342900"/>
          </a:xfrm>
          <a:custGeom>
            <a:avLst/>
            <a:gdLst/>
            <a:ahLst/>
            <a:cxnLst/>
            <a:rect l="0" t="0" r="668119" b="342900"/>
            <a:pathLst>
              <a:path w="668119" h="342900">
                <a:moveTo>
                  <a:pt x="630019" y="304800"/>
                </a:moveTo>
                <a:cubicBezTo>
                  <a:pt x="630019" y="38100"/>
                  <a:pt x="38100" y="38100"/>
                  <a:pt x="38100" y="3048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04" name="Flux 5004"/>
          <p:cNvSpPr/>
          <p:nvPr/>
        </p:nvSpPr>
        <p:spPr>
          <a:xfrm>
            <a:off x="3836299" y="4535170"/>
            <a:ext cx="359587" cy="581660"/>
          </a:xfrm>
          <a:custGeom>
            <a:avLst/>
            <a:gdLst/>
            <a:ahLst/>
            <a:cxnLst/>
            <a:rect l="0" t="0" r="359587" b="581660"/>
            <a:pathLst>
              <a:path w="359587" h="581660">
                <a:moveTo>
                  <a:pt x="49530" y="49530"/>
                </a:moveTo>
                <a:cubicBezTo>
                  <a:pt x="279871" y="49530"/>
                  <a:pt x="79716" y="532130"/>
                  <a:pt x="310057" y="532130"/>
                </a:cubicBezTo>
              </a:path>
            </a:pathLst>
          </a:custGeom>
          <a:noFill/>
          <a:ln w="16510" cap="rnd">
            <a:solidFill>
              <a:srgbClr val="C1121F"/>
            </a:solidFill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05" name="Flux 5005"/>
          <p:cNvSpPr/>
          <p:nvPr/>
        </p:nvSpPr>
        <p:spPr>
          <a:xfrm>
            <a:off x="3836299" y="4602903"/>
            <a:ext cx="359587" cy="581660"/>
          </a:xfrm>
          <a:custGeom>
            <a:avLst/>
            <a:gdLst/>
            <a:ahLst/>
            <a:cxnLst/>
            <a:rect l="0" t="0" r="359587" b="581660"/>
            <a:pathLst>
              <a:path w="359587" h="581660">
                <a:moveTo>
                  <a:pt x="310057" y="532130"/>
                </a:moveTo>
                <a:cubicBezTo>
                  <a:pt x="79716" y="532130"/>
                  <a:pt x="279871" y="49530"/>
                  <a:pt x="49530" y="49530"/>
                </a:cubicBezTo>
              </a:path>
            </a:pathLst>
          </a:custGeom>
          <a:noFill/>
          <a:ln w="16510" cap="rnd">
            <a:solidFill>
              <a:srgbClr val="C1121F"/>
            </a:solidFill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06" name="Flux 5006"/>
          <p:cNvSpPr/>
          <p:nvPr/>
        </p:nvSpPr>
        <p:spPr>
          <a:xfrm>
            <a:off x="3695664" y="1169670"/>
            <a:ext cx="2036011" cy="289560"/>
          </a:xfrm>
          <a:custGeom>
            <a:avLst/>
            <a:gdLst/>
            <a:ahLst/>
            <a:cxnLst/>
            <a:rect l="0" t="0" r="2036011" b="289560"/>
            <a:pathLst>
              <a:path w="2036011" h="289560">
                <a:moveTo>
                  <a:pt x="49530" y="49530"/>
                </a:moveTo>
                <a:cubicBezTo>
                  <a:pt x="866974" y="49530"/>
                  <a:pt x="1169036" y="240030"/>
                  <a:pt x="1986481" y="240030"/>
                </a:cubicBezTo>
              </a:path>
            </a:pathLst>
          </a:custGeom>
          <a:noFill/>
          <a:ln w="16510" cap="rnd">
            <a:solidFill>
              <a:srgbClr val="C1121F"/>
            </a:solidFill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07" name="Flux 5007"/>
          <p:cNvSpPr/>
          <p:nvPr/>
        </p:nvSpPr>
        <p:spPr>
          <a:xfrm>
            <a:off x="10694115" y="1207770"/>
            <a:ext cx="451410" cy="556260"/>
          </a:xfrm>
          <a:custGeom>
            <a:avLst/>
            <a:gdLst/>
            <a:ahLst/>
            <a:cxnLst/>
            <a:rect l="0" t="0" r="451410" b="556260"/>
            <a:pathLst>
              <a:path w="451410" h="556260">
                <a:moveTo>
                  <a:pt x="49530" y="506730"/>
                </a:moveTo>
                <a:cubicBezTo>
                  <a:pt x="49530" y="240030"/>
                  <a:pt x="401880" y="49530"/>
                  <a:pt x="401880" y="316230"/>
                </a:cubicBezTo>
              </a:path>
            </a:pathLst>
          </a:custGeom>
          <a:noFill/>
          <a:ln w="16510" cap="rnd">
            <a:solidFill>
              <a:srgbClr val="C1121F"/>
            </a:solidFill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08" name="Flux 5008"/>
          <p:cNvSpPr/>
          <p:nvPr/>
        </p:nvSpPr>
        <p:spPr>
          <a:xfrm>
            <a:off x="7632908" y="838200"/>
            <a:ext cx="584172" cy="342900"/>
          </a:xfrm>
          <a:custGeom>
            <a:avLst/>
            <a:gdLst/>
            <a:ahLst/>
            <a:cxnLst/>
            <a:rect l="0" t="0" r="584172" b="342900"/>
            <a:pathLst>
              <a:path w="584172" h="342900">
                <a:moveTo>
                  <a:pt x="38100" y="304800"/>
                </a:moveTo>
                <a:cubicBezTo>
                  <a:pt x="38100" y="38100"/>
                  <a:pt x="546072" y="38100"/>
                  <a:pt x="546072" y="3048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09" name="Flux 5009"/>
          <p:cNvSpPr/>
          <p:nvPr/>
        </p:nvSpPr>
        <p:spPr>
          <a:xfrm>
            <a:off x="7859077" y="1181100"/>
            <a:ext cx="624467" cy="266700"/>
          </a:xfrm>
          <a:custGeom>
            <a:avLst/>
            <a:gdLst/>
            <a:ahLst/>
            <a:cxnLst/>
            <a:rect l="0" t="0" r="624467" b="266700"/>
            <a:pathLst>
              <a:path w="624467" h="266700">
                <a:moveTo>
                  <a:pt x="38100" y="228600"/>
                </a:moveTo>
                <a:cubicBezTo>
                  <a:pt x="281876" y="228600"/>
                  <a:pt x="342591" y="38100"/>
                  <a:pt x="586367" y="381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0" name="Flux 5010"/>
          <p:cNvSpPr/>
          <p:nvPr/>
        </p:nvSpPr>
        <p:spPr>
          <a:xfrm>
            <a:off x="8649549" y="838200"/>
            <a:ext cx="139973" cy="533400"/>
          </a:xfrm>
          <a:custGeom>
            <a:avLst/>
            <a:gdLst/>
            <a:ahLst/>
            <a:cxnLst/>
            <a:rect l="0" t="0" r="139973" b="533400"/>
            <a:pathLst>
              <a:path w="139973" h="533400">
                <a:moveTo>
                  <a:pt x="38100" y="495300"/>
                </a:moveTo>
                <a:cubicBezTo>
                  <a:pt x="38100" y="228600"/>
                  <a:pt x="101873" y="38100"/>
                  <a:pt x="101873" y="3048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1" name="Flux 5011"/>
          <p:cNvSpPr/>
          <p:nvPr/>
        </p:nvSpPr>
        <p:spPr>
          <a:xfrm>
            <a:off x="5363911" y="838200"/>
            <a:ext cx="135934" cy="723900"/>
          </a:xfrm>
          <a:custGeom>
            <a:avLst/>
            <a:gdLst/>
            <a:ahLst/>
            <a:cxnLst/>
            <a:rect l="0" t="0" r="135934" b="723900"/>
            <a:pathLst>
              <a:path w="135934" h="723900">
                <a:moveTo>
                  <a:pt x="97834" y="685800"/>
                </a:moveTo>
                <a:cubicBezTo>
                  <a:pt x="97834" y="419100"/>
                  <a:pt x="38100" y="38100"/>
                  <a:pt x="38100" y="3048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2" name="Flux 5012"/>
          <p:cNvSpPr/>
          <p:nvPr/>
        </p:nvSpPr>
        <p:spPr>
          <a:xfrm>
            <a:off x="3687293" y="1155700"/>
            <a:ext cx="529923" cy="457200"/>
          </a:xfrm>
          <a:custGeom>
            <a:avLst/>
            <a:gdLst/>
            <a:ahLst/>
            <a:cxnLst/>
            <a:rect l="0" t="0" r="529923" b="457200"/>
            <a:pathLst>
              <a:path w="529923" h="457200">
                <a:moveTo>
                  <a:pt x="38100" y="419100"/>
                </a:moveTo>
                <a:cubicBezTo>
                  <a:pt x="286939" y="419100"/>
                  <a:pt x="242984" y="38100"/>
                  <a:pt x="491823" y="381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3" name="Flux 5013"/>
          <p:cNvSpPr/>
          <p:nvPr/>
        </p:nvSpPr>
        <p:spPr>
          <a:xfrm>
            <a:off x="3687293" y="1206500"/>
            <a:ext cx="529923" cy="457200"/>
          </a:xfrm>
          <a:custGeom>
            <a:avLst/>
            <a:gdLst/>
            <a:ahLst/>
            <a:cxnLst/>
            <a:rect l="0" t="0" r="529923" b="457200"/>
            <a:pathLst>
              <a:path w="529923" h="457200">
                <a:moveTo>
                  <a:pt x="491823" y="38100"/>
                </a:moveTo>
                <a:cubicBezTo>
                  <a:pt x="242984" y="38100"/>
                  <a:pt x="286939" y="419100"/>
                  <a:pt x="38100" y="4191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4" name="Flux 5014"/>
          <p:cNvSpPr/>
          <p:nvPr/>
        </p:nvSpPr>
        <p:spPr>
          <a:xfrm>
            <a:off x="4508999" y="4580467"/>
            <a:ext cx="859294" cy="558800"/>
          </a:xfrm>
          <a:custGeom>
            <a:avLst/>
            <a:gdLst/>
            <a:ahLst/>
            <a:cxnLst/>
            <a:rect l="0" t="0" r="859294" b="558800"/>
            <a:pathLst>
              <a:path w="859294" h="558800">
                <a:moveTo>
                  <a:pt x="821194" y="520700"/>
                </a:moveTo>
                <a:cubicBezTo>
                  <a:pt x="434854" y="520700"/>
                  <a:pt x="424440" y="38100"/>
                  <a:pt x="38100" y="381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5" name="Flux 5015"/>
          <p:cNvSpPr/>
          <p:nvPr/>
        </p:nvSpPr>
        <p:spPr>
          <a:xfrm>
            <a:off x="5487506" y="4212167"/>
            <a:ext cx="111340" cy="825500"/>
          </a:xfrm>
          <a:custGeom>
            <a:avLst/>
            <a:gdLst/>
            <a:ahLst/>
            <a:cxnLst/>
            <a:rect l="0" t="0" r="111340" b="825500"/>
            <a:pathLst>
              <a:path w="111340" h="825500">
                <a:moveTo>
                  <a:pt x="73240" y="787400"/>
                </a:moveTo>
                <a:cubicBezTo>
                  <a:pt x="73240" y="520700"/>
                  <a:pt x="38100" y="38100"/>
                  <a:pt x="38100" y="3048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6" name="Flux 5016"/>
          <p:cNvSpPr/>
          <p:nvPr/>
        </p:nvSpPr>
        <p:spPr>
          <a:xfrm>
            <a:off x="4725395" y="1257300"/>
            <a:ext cx="553711" cy="1833033"/>
          </a:xfrm>
          <a:custGeom>
            <a:avLst/>
            <a:gdLst/>
            <a:ahLst/>
            <a:cxnLst/>
            <a:rect l="0" t="0" r="553711" b="1833033"/>
            <a:pathLst>
              <a:path w="553711" h="1833033">
                <a:moveTo>
                  <a:pt x="515611" y="38100"/>
                </a:moveTo>
                <a:cubicBezTo>
                  <a:pt x="515611" y="802740"/>
                  <a:pt x="38100" y="1030293"/>
                  <a:pt x="38100" y="1794933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7" name="Flux 5017"/>
          <p:cNvSpPr/>
          <p:nvPr/>
        </p:nvSpPr>
        <p:spPr>
          <a:xfrm>
            <a:off x="4725395" y="3318933"/>
            <a:ext cx="2876031" cy="457200"/>
          </a:xfrm>
          <a:custGeom>
            <a:avLst/>
            <a:gdLst/>
            <a:ahLst/>
            <a:cxnLst/>
            <a:rect l="0" t="0" r="2876031" b="457200"/>
            <a:pathLst>
              <a:path w="2876031" h="457200">
                <a:moveTo>
                  <a:pt x="38100" y="38100"/>
                </a:moveTo>
                <a:cubicBezTo>
                  <a:pt x="38100" y="419100"/>
                  <a:pt x="2837931" y="419100"/>
                  <a:pt x="2837931" y="381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8" name="Flux 5018"/>
          <p:cNvSpPr/>
          <p:nvPr/>
        </p:nvSpPr>
        <p:spPr>
          <a:xfrm>
            <a:off x="557774" y="1638300"/>
            <a:ext cx="7043651" cy="1452033"/>
          </a:xfrm>
          <a:custGeom>
            <a:avLst/>
            <a:gdLst/>
            <a:ahLst/>
            <a:cxnLst/>
            <a:rect l="0" t="0" r="7043651" b="1452033"/>
            <a:pathLst>
              <a:path w="7043651" h="1452033">
                <a:moveTo>
                  <a:pt x="7005551" y="1413933"/>
                </a:moveTo>
                <a:cubicBezTo>
                  <a:pt x="7005551" y="448733"/>
                  <a:pt x="38100" y="1003300"/>
                  <a:pt x="38100" y="381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19" name="Flux 5019"/>
          <p:cNvSpPr/>
          <p:nvPr/>
        </p:nvSpPr>
        <p:spPr>
          <a:xfrm>
            <a:off x="6500627" y="4212167"/>
            <a:ext cx="657459" cy="342900"/>
          </a:xfrm>
          <a:custGeom>
            <a:avLst/>
            <a:gdLst/>
            <a:ahLst/>
            <a:cxnLst/>
            <a:rect l="0" t="0" r="657459" b="342900"/>
            <a:pathLst>
              <a:path w="657459" h="342900">
                <a:moveTo>
                  <a:pt x="619359" y="304800"/>
                </a:moveTo>
                <a:cubicBezTo>
                  <a:pt x="619359" y="38100"/>
                  <a:pt x="38100" y="38100"/>
                  <a:pt x="38100" y="3048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20" name="Rounded Rectangle 5019"/>
          <p:cNvSpPr/>
          <p:nvPr/>
        </p:nvSpPr>
        <p:spPr>
          <a:xfrm>
            <a:off x="279400" y="5994400"/>
            <a:ext cx="11633200" cy="431800"/>
          </a:xfrm>
          <a:prstGeom prst="roundRect">
            <a:avLst>
              <a:gd name="adj" fmla="val 8823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1" name="TextBox 5020"/>
          <p:cNvSpPr txBox="1"/>
          <p:nvPr/>
        </p:nvSpPr>
        <p:spPr>
          <a:xfrm>
            <a:off x="406400" y="6045200"/>
            <a:ext cx="15240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C1C1C"/>
                </a:solidFill>
                <a:latin typeface="Calibri"/>
              </a:rPr>
              <a:t>Légende</a:t>
            </a:r>
          </a:p>
        </p:txBody>
      </p:sp>
      <p:sp>
        <p:nvSpPr>
          <p:cNvPr id="5020" name="Flux 5020"/>
          <p:cNvSpPr/>
          <p:nvPr/>
        </p:nvSpPr>
        <p:spPr>
          <a:xfrm>
            <a:off x="356870" y="6224270"/>
            <a:ext cx="353060" cy="99060"/>
          </a:xfrm>
          <a:custGeom>
            <a:avLst/>
            <a:gdLst/>
            <a:ahLst/>
            <a:cxnLst/>
            <a:rect l="0" t="0" r="353060" b="99060"/>
            <a:pathLst>
              <a:path w="353060" h="99060">
                <a:moveTo>
                  <a:pt x="49530" y="49530"/>
                </a:moveTo>
                <a:cubicBezTo>
                  <a:pt x="125730" y="49530"/>
                  <a:pt x="227330" y="49530"/>
                  <a:pt x="303530" y="49530"/>
                </a:cubicBezTo>
              </a:path>
            </a:pathLst>
          </a:custGeom>
          <a:noFill/>
          <a:ln w="16510" cap="rnd">
            <a:solidFill>
              <a:srgbClr val="C1121F"/>
            </a:solidFill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22" name="TextBox 5021"/>
          <p:cNvSpPr txBox="1"/>
          <p:nvPr/>
        </p:nvSpPr>
        <p:spPr>
          <a:xfrm>
            <a:off x="711200" y="6197600"/>
            <a:ext cx="783222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Flux automatique</a:t>
            </a:r>
          </a:p>
        </p:txBody>
      </p:sp>
      <p:sp>
        <p:nvSpPr>
          <p:cNvPr id="5021" name="Flux 5021"/>
          <p:cNvSpPr/>
          <p:nvPr/>
        </p:nvSpPr>
        <p:spPr>
          <a:xfrm>
            <a:off x="1634122" y="6235700"/>
            <a:ext cx="330200" cy="76200"/>
          </a:xfrm>
          <a:custGeom>
            <a:avLst/>
            <a:gdLst/>
            <a:ahLst/>
            <a:cxnLst/>
            <a:rect l="0" t="0" r="330200" b="76200"/>
            <a:pathLst>
              <a:path w="330200" h="76200">
                <a:moveTo>
                  <a:pt x="38100" y="38100"/>
                </a:moveTo>
                <a:cubicBezTo>
                  <a:pt x="114300" y="38100"/>
                  <a:pt x="215900" y="38100"/>
                  <a:pt x="292100" y="38100"/>
                </a:cubicBezTo>
              </a:path>
            </a:pathLst>
          </a:custGeom>
          <a:noFill/>
          <a:ln w="12700" cap="rnd">
            <a:solidFill>
              <a:srgbClr val="6B6B6B"/>
            </a:solidFill>
            <a:prstDash val="dash"/>
            <a:tailEnd type="triangle" w="med" len="med"/>
            <a:round/>
          </a:ln>
          <a:effectLst/>
        </p:spPr>
        <p:txBody>
          <a:bodyPr/>
          <a:lstStyle/>
          <a:p/>
        </p:txBody>
      </p:sp>
      <p:sp>
        <p:nvSpPr>
          <p:cNvPr id="5023" name="TextBox 5022"/>
          <p:cNvSpPr txBox="1"/>
          <p:nvPr/>
        </p:nvSpPr>
        <p:spPr>
          <a:xfrm>
            <a:off x="1977022" y="6197600"/>
            <a:ext cx="564968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Flux manuel</a:t>
            </a:r>
          </a:p>
        </p:txBody>
      </p:sp>
      <p:sp>
        <p:nvSpPr>
          <p:cNvPr id="5024" name="Rounded Rectangle 5023"/>
          <p:cNvSpPr/>
          <p:nvPr/>
        </p:nvSpPr>
        <p:spPr>
          <a:xfrm>
            <a:off x="2719790" y="6197600"/>
            <a:ext cx="254000" cy="139700"/>
          </a:xfrm>
          <a:prstGeom prst="roundRect">
            <a:avLst>
              <a:gd name="adj" fmla="val 50000"/>
            </a:avLst>
          </a:prstGeom>
          <a:solidFill>
            <a:srgbClr val="E85A0C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5" name="TextBox 5024"/>
          <p:cNvSpPr txBox="1"/>
          <p:nvPr/>
        </p:nvSpPr>
        <p:spPr>
          <a:xfrm>
            <a:off x="3024590" y="6197600"/>
            <a:ext cx="736517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Hub de données</a:t>
            </a:r>
          </a:p>
        </p:txBody>
      </p:sp>
      <p:sp>
        <p:nvSpPr>
          <p:cNvPr id="5026" name="Rounded Rectangle 5025"/>
          <p:cNvSpPr/>
          <p:nvPr/>
        </p:nvSpPr>
        <p:spPr>
          <a:xfrm>
            <a:off x="3938907" y="6197600"/>
            <a:ext cx="254000" cy="1397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889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7" name="TextBox 5026"/>
          <p:cNvSpPr txBox="1"/>
          <p:nvPr/>
        </p:nvSpPr>
        <p:spPr>
          <a:xfrm>
            <a:off x="4243707" y="6197600"/>
            <a:ext cx="782528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Socle de données</a:t>
            </a:r>
          </a:p>
        </p:txBody>
      </p:sp>
      <p:sp>
        <p:nvSpPr>
          <p:cNvPr id="5028" name="Rounded Rectangle 5027"/>
          <p:cNvSpPr/>
          <p:nvPr/>
        </p:nvSpPr>
        <p:spPr>
          <a:xfrm>
            <a:off x="5204035" y="6197600"/>
            <a:ext cx="254000" cy="13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9" name="TextBox 5028"/>
          <p:cNvSpPr txBox="1"/>
          <p:nvPr/>
        </p:nvSpPr>
        <p:spPr>
          <a:xfrm>
            <a:off x="5508835" y="6197600"/>
            <a:ext cx="826358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Application métier</a:t>
            </a:r>
          </a:p>
        </p:txBody>
      </p:sp>
      <p:sp>
        <p:nvSpPr>
          <p:cNvPr id="5030" name="Rounded Rectangle 5029"/>
          <p:cNvSpPr/>
          <p:nvPr/>
        </p:nvSpPr>
        <p:spPr>
          <a:xfrm>
            <a:off x="6512992" y="6197600"/>
            <a:ext cx="254000" cy="13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1" name="TextBox 5030"/>
          <p:cNvSpPr txBox="1"/>
          <p:nvPr/>
        </p:nvSpPr>
        <p:spPr>
          <a:xfrm>
            <a:off x="6817792" y="6197600"/>
            <a:ext cx="123173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Hors BDD (correction / brief)</a:t>
            </a:r>
          </a:p>
        </p:txBody>
      </p:sp>
      <p:sp>
        <p:nvSpPr>
          <p:cNvPr id="5032" name="Rectangle 5031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3" name="Rectangle 5032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4" name="TextBox 5033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Source : BDD_Cartographie_Outils_IT.xlsx — 99 lignes d'entretien. Les flux non traçables sont détaillés dans data/gap-report.md.</a:t>
            </a:r>
          </a:p>
        </p:txBody>
      </p:sp>
      <p:sp>
        <p:nvSpPr>
          <p:cNvPr id="5035" name="TextBox 5034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7 processus · 15 outils · 7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Pilotage du chantier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707571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707571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sous-traitants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104900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255486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357086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306286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104900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255486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357086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306286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115786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7200" y="1242786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BATIS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200" y="1382486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8172" y="1115786"/>
            <a:ext cx="943693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28172" y="1242786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E-Checking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8172" y="1382486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9400" y="1799771"/>
            <a:ext cx="11633200" cy="707571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79400" y="1799771"/>
            <a:ext cx="30480" cy="707571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93700" y="1888671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Circuit de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700" y="2180771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03400" y="1888671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803400" y="2039257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3400" y="2140857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44800" y="2090057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71200" y="1888671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871200" y="2039257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71200" y="2140857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8800" y="2090057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97200" y="1899557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97200" y="2026557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E-Paraph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7200" y="2166257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13446" y="1899557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13446" y="2026557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DocuSign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3446" y="2166257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44418" y="1899557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644418" y="2026557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Basware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4418" y="2166257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9400" y="2583543"/>
            <a:ext cx="11633200" cy="707571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279400" y="2583543"/>
            <a:ext cx="30480" cy="707571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93700" y="2672443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Processus non renseigné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700" y="2964543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03400" y="2672443"/>
            <a:ext cx="1041400" cy="415471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803400" y="2765879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3400" y="2867479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44800" y="2816679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871200" y="2672443"/>
            <a:ext cx="1041400" cy="415471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871200" y="2765879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71200" y="2867479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18800" y="2816679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997200" y="2672443"/>
            <a:ext cx="754772" cy="415471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997200" y="2753179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CWT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97200" y="2892879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828172" y="2672443"/>
            <a:ext cx="754772" cy="415471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28172" y="2753179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Tableau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28172" y="2892879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59144" y="2672443"/>
            <a:ext cx="754772" cy="415471"/>
          </a:xfrm>
          <a:prstGeom prst="roundRect">
            <a:avLst>
              <a:gd name="adj" fmla="val 917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659144" y="2753179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Word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59144" y="2892879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03400" y="3176814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processus déduit de la colonne Usage — la colonne FLUX est vide sur ces lignes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9400" y="3367314"/>
            <a:ext cx="11633200" cy="707571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79400" y="3367314"/>
            <a:ext cx="30480" cy="707571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93700" y="3456214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matériels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700" y="3748314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03400" y="3456214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803400" y="36068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03400" y="37084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44800" y="36576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871200" y="3456214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0871200" y="36068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1200" y="37084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18800" y="36576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997200" y="34671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2997200" y="35941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Oasis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97200" y="37338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79400" y="4151086"/>
            <a:ext cx="11633200" cy="707571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279400" y="4151086"/>
            <a:ext cx="30480" cy="707571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393700" y="4239986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contrats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3700" y="4532086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803400" y="4239986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1803400" y="4390571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3400" y="4492171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44800" y="4441371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871200" y="4239986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10871200" y="4390571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71200" y="4492171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18800" y="4441371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997200" y="4250871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2997200" y="4377871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97200" y="4517571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79400" y="4934857"/>
            <a:ext cx="11633200" cy="707571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279400" y="4934857"/>
            <a:ext cx="30480" cy="707571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93700" y="5023757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700" y="5315857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803400" y="5023757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1803400" y="5174343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03400" y="5275943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44800" y="5225143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871200" y="5023757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871200" y="5174343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871200" y="5275943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18800" y="5225143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997200" y="5034643"/>
            <a:ext cx="943693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2997200" y="5161643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Miro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97200" y="5301343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017093" y="5034643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4017093" y="5161643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17093" y="5301343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848065" y="5034643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4848065" y="5161643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Word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48065" y="5301343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79037" y="5034643"/>
            <a:ext cx="844129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5679037" y="5161643"/>
            <a:ext cx="844129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79037" y="5301343"/>
            <a:ext cx="844129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int/ext TODO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599366" y="5034643"/>
            <a:ext cx="640482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6599366" y="5161643"/>
            <a:ext cx="64048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Yellow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599366" y="5301343"/>
            <a:ext cx="64048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interne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316047" y="5034643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7316047" y="5161643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MMS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16047" y="5301343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79400" y="5718629"/>
            <a:ext cx="11633200" cy="707571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279400" y="5718629"/>
            <a:ext cx="30480" cy="707571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393700" y="5807529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 chantier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3700" y="6099629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803400" y="5807529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1803400" y="5958114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803400" y="6059714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844800" y="6008914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871200" y="5807529"/>
            <a:ext cx="1041400" cy="529771"/>
          </a:xfrm>
          <a:prstGeom prst="roundRect">
            <a:avLst>
              <a:gd name="adj" fmla="val 7191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10871200" y="5958114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871200" y="6059714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718800" y="6008914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997200" y="5818414"/>
            <a:ext cx="810550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2997200" y="5945414"/>
            <a:ext cx="8105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997200" y="6085114"/>
            <a:ext cx="81055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6 processus · 13 outils · 9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RH · Comptabilité · 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838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Engagement des dépenses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1049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3208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4224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3716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1049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3208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4224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3716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1811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7200" y="13081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Harmony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200" y="14478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9400" y="1930400"/>
            <a:ext cx="116332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79400" y="1930400"/>
            <a:ext cx="30480" cy="838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93700" y="20193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 la facturation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700" y="23114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03400" y="20193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803400" y="22352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3400" y="23368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44800" y="22860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71200" y="20193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871200" y="22352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71200" y="23368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18800" y="22860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97200" y="20955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997200" y="22225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7200" y="23622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28172" y="20955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828172" y="22225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DocuSign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28172" y="23622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59144" y="20955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659144" y="22225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TIPS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9144" y="23622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75390" y="20955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475390" y="22225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Basware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75390" y="23622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91636" y="20955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1636" y="22225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Harmony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636" y="23622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07882" y="20955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07882" y="22225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7882" y="23622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9400" y="2844800"/>
            <a:ext cx="116332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279400" y="2844800"/>
            <a:ext cx="30480" cy="838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93700" y="29337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Onboarding RH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700" y="32258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03400" y="29337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803400" y="31496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03400" y="32512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44800" y="32004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871200" y="29337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871200" y="31496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71200" y="32512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18800" y="32004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97200" y="3009900"/>
            <a:ext cx="943693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2997200" y="3136900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E-Checking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7200" y="3276600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9400" y="3759200"/>
            <a:ext cx="116332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279400" y="3759200"/>
            <a:ext cx="30480" cy="838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93700" y="38481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du personnel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700" y="41402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03400" y="38481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803400" y="40640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03400" y="41656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44800" y="41148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871200" y="38481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0871200" y="40640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71200" y="41656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18800" y="41148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997200" y="39243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2997200" y="40513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PUMA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97200" y="41910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13446" y="39243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13446" y="40513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BIP/BAPS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13446" y="41910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629693" y="39243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4629693" y="40513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29693" y="41910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460664" y="3924300"/>
            <a:ext cx="751983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5460664" y="4051300"/>
            <a:ext cx="75198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H&amp;R For You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60664" y="4191000"/>
            <a:ext cx="75198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79400" y="4673600"/>
            <a:ext cx="116332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279400" y="4673600"/>
            <a:ext cx="30480" cy="838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393700" y="47625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formations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3700" y="50546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803400" y="47625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803400" y="49784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03400" y="50800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44800" y="50292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871200" y="47625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10871200" y="49784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71200" y="50800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718800" y="50292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997200" y="48387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2997200" y="49657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97200" y="51054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828172" y="48387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3828172" y="49657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By My Site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828172" y="51054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79400" y="5588000"/>
            <a:ext cx="116332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279400" y="5588000"/>
            <a:ext cx="30480" cy="838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393700" y="5676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Paye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93700" y="5969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correction métier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803400" y="56769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FFFFFF"/>
                </a:solidFill>
                <a:latin typeface="Calibri"/>
              </a:rPr>
              <a:t>Pointage PUMA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844800" y="59436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871200" y="5676900"/>
            <a:ext cx="1041400" cy="660400"/>
          </a:xfrm>
          <a:prstGeom prst="roundRect">
            <a:avLst>
              <a:gd name="adj" fmla="val 5769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FFFFFF"/>
                </a:solidFill>
                <a:latin typeface="Calibri"/>
              </a:rPr>
              <a:t>BIP (intérimaires) / BYCN (compagnons Bouygues)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718800" y="59436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997200" y="57531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2997200" y="58801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PUMA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997200" y="60198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813446" y="57531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3813446" y="58801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BIP/BAPS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13446" y="60198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29693" y="5753100"/>
            <a:ext cx="872743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4629693" y="5880100"/>
            <a:ext cx="87274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BYCN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29693" y="6019800"/>
            <a:ext cx="87274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alim. TODO · interne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Contrat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5 processus · 8 outils · 9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Contract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1021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10210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encaissements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17094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41224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51384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46304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17094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41224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51384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46304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27254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7200" y="139954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200" y="153924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8172" y="1272540"/>
            <a:ext cx="943693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28172" y="1399540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E-Project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8172" y="1539240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9400" y="2113280"/>
            <a:ext cx="11633200" cy="1021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79400" y="2113280"/>
            <a:ext cx="30480" cy="10210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93700" y="220218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700" y="249428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03400" y="226822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803400" y="250952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3400" y="261112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44800" y="256032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71200" y="226822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871200" y="250952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71200" y="261112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8800" y="256032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97200" y="236982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97200" y="249682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Word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7200" y="263652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9400" y="3210560"/>
            <a:ext cx="11633200" cy="1021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79400" y="3210560"/>
            <a:ext cx="30480" cy="10210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93700" y="329946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Facturation partenaire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700" y="359156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03400" y="336550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803400" y="36068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03400" y="37084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44800" y="36576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871200" y="336550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871200" y="36068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71200" y="37084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18800" y="36576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97200" y="346710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997200" y="35941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Basware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7200" y="37338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9400" y="4307840"/>
            <a:ext cx="11633200" cy="1021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279400" y="4307840"/>
            <a:ext cx="30480" cy="10210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93700" y="439674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contrats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700" y="468884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03400" y="446278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803400" y="470408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03400" y="480568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44800" y="475488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871200" y="446278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871200" y="470408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71200" y="480568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18800" y="475488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997200" y="4564380"/>
            <a:ext cx="770724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997200" y="4691380"/>
            <a:ext cx="770724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NotebookLM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97200" y="4831080"/>
            <a:ext cx="770724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4124" y="456438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844124" y="469138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FFFFFF"/>
                </a:solidFill>
                <a:latin typeface="Calibri"/>
              </a:rPr>
              <a:t>SharePoint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44124" y="483108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FFFFFF"/>
                </a:solidFill>
                <a:latin typeface="Calibri"/>
              </a:rPr>
              <a:t>manuel · externe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75096" y="456438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675096" y="469138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75096" y="483108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506068" y="4564380"/>
            <a:ext cx="844129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506068" y="4691380"/>
            <a:ext cx="844129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06068" y="4831080"/>
            <a:ext cx="844129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int/ext TODO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9400" y="5405120"/>
            <a:ext cx="11633200" cy="10210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79400" y="5405120"/>
            <a:ext cx="30480" cy="102108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93700" y="549402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Facturation maître d'ouvrage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3700" y="578612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correction métier · ordre non attesté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803400" y="550291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803400" y="574421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03400" y="584581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44800" y="579501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871200" y="550291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10871200" y="574421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71200" y="584581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18800" y="579501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97200" y="560451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2997200" y="573151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Chorus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997200" y="587121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03400" y="63119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début et fin non renseignés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Méthode &amp; BIM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3 processus · 12 outils · 7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Maquettes et plans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14224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1422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maquettes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37160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6129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7145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6637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37160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6129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7145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6637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473200"/>
            <a:ext cx="9263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7200" y="1600200"/>
            <a:ext cx="9263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200" y="1739900"/>
            <a:ext cx="9263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99746" y="1473200"/>
            <a:ext cx="822041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999746" y="1600200"/>
            <a:ext cx="822041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Sofistik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9746" y="1739900"/>
            <a:ext cx="822041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7987" y="14732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97987" y="16002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Inventor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7987" y="17399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28958" y="14732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728958" y="16002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Simple BIM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28958" y="17399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9930" y="14732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59930" y="16002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BIM 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9930" y="17399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90902" y="14732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90902" y="16002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QGIS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0902" y="17399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1874" y="14732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1874" y="16002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Anaconda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1874" y="17399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845" y="14732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052845" y="16002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845" y="17399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FFFFFF"/>
                </a:solidFill>
                <a:latin typeface="Calibri"/>
              </a:rPr>
              <a:t>manuel · externe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9400" y="2971800"/>
            <a:ext cx="11633200" cy="14224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79400" y="2971800"/>
            <a:ext cx="30480" cy="1422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93700" y="30607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Production des maquettes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700" y="33528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03400" y="332740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803400" y="35687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03400" y="36703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44800" y="36195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871200" y="332740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871200" y="35687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71200" y="36703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18800" y="36195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97200" y="34290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997200" y="35560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Revit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97200" y="36957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28172" y="34290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28172" y="35560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AutoCAD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28172" y="36957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659144" y="342900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659144" y="35560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Civil 3D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59144" y="36957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9400" y="4927600"/>
            <a:ext cx="11633200" cy="14224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79400" y="4927600"/>
            <a:ext cx="30480" cy="1422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93700" y="50165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Chaîne documentaire des plans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700" y="53086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correction métier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03400" y="52260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FFFFFF"/>
                </a:solidFill>
                <a:latin typeface="Calibri"/>
              </a:rPr>
              <a:t>AutoCAD (production du plan)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44800" y="55181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871200" y="52260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FFFFFF"/>
                </a:solidFill>
                <a:latin typeface="Calibri"/>
              </a:rPr>
              <a:t>Remind (archivage 10 ans)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18800" y="55181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97200" y="532765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997200" y="54546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AutoCAD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97200" y="55943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28172" y="532765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28172" y="54546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FFFFFF"/>
                </a:solidFill>
                <a:latin typeface="Calibri"/>
              </a:rPr>
              <a:t>SharePoint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28172" y="55943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FFFFFF"/>
                </a:solidFill>
                <a:latin typeface="Calibri"/>
              </a:rPr>
              <a:t>manuel · externe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659144" y="532765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659144" y="54546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59144" y="55943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FFFFFF"/>
                </a:solidFill>
                <a:latin typeface="Calibri"/>
              </a:rPr>
              <a:t>manuel · externe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90115" y="5327650"/>
            <a:ext cx="7400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5490115" y="545465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Remind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90115" y="559435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03400" y="62357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l'étape « usage Travaux » entre SharePoint et Mezzoteam n'est portée par aucun outil de la BDD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Travaux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9 processus · 14 outils · 12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Conduite de travaux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533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Circuit de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1049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1684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2700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2192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1049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1684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2700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2192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104900"/>
            <a:ext cx="740046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7200" y="11557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E-Paraph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200" y="12954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3446" y="1104900"/>
            <a:ext cx="754772" cy="3556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13446" y="11557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446" y="12954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9400" y="16256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79400" y="1625600"/>
            <a:ext cx="30480" cy="533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93700" y="17145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 chantier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700" y="20066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03400" y="17145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803400" y="17780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3400" y="18796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44800" y="18288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71200" y="17145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871200" y="17780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71200" y="18796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8800" y="18288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97200" y="1714500"/>
            <a:ext cx="754772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97200" y="17653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7200" y="19050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28172" y="1714500"/>
            <a:ext cx="926346" cy="3556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28172" y="1765300"/>
            <a:ext cx="9263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8172" y="1905000"/>
            <a:ext cx="9263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30718" y="1714500"/>
            <a:ext cx="754772" cy="355600"/>
          </a:xfrm>
          <a:prstGeom prst="roundRect">
            <a:avLst>
              <a:gd name="adj" fmla="val 10714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830718" y="17653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30718" y="19050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FFFFFF"/>
                </a:solidFill>
                <a:latin typeface="Calibri"/>
              </a:rPr>
              <a:t>manuel · externe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1690" y="1714500"/>
            <a:ext cx="810550" cy="3556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661690" y="1765300"/>
            <a:ext cx="8105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1690" y="1905000"/>
            <a:ext cx="81055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9400" y="22352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279400" y="2235200"/>
            <a:ext cx="30480" cy="533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93700" y="23241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imprévus chantier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700" y="26162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03400" y="23241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803400" y="23876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03400" y="24892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44800" y="24384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71200" y="23241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871200" y="23876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71200" y="24892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18800" y="24384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997200" y="2324100"/>
            <a:ext cx="810550" cy="3556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997200" y="2374900"/>
            <a:ext cx="8105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7200" y="2514600"/>
            <a:ext cx="81055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9400" y="28448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79400" y="2844800"/>
            <a:ext cx="30480" cy="533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93700" y="29337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Avancement et jalons chantier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700" y="32258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03400" y="29337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803400" y="29972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3400" y="30988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4800" y="30480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871200" y="29337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0871200" y="29972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71200" y="30988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18800" y="30480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997200" y="2933700"/>
            <a:ext cx="943693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2997200" y="2984500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MS Project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97200" y="3124200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017093" y="2933700"/>
            <a:ext cx="740046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017093" y="29845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MMS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17093" y="31242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9400" y="34544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279400" y="3454400"/>
            <a:ext cx="30480" cy="533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393700" y="35433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Processus non renseigné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3700" y="38354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803400" y="3543300"/>
            <a:ext cx="1041400" cy="2413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803400" y="35496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03400" y="36512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44800" y="36004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871200" y="3543300"/>
            <a:ext cx="1041400" cy="2413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871200" y="35496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71200" y="36512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718800" y="36004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997200" y="3543300"/>
            <a:ext cx="754772" cy="2413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2997200" y="35369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97200" y="36766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03400" y="38735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processus déduit de la colonne Usage — la colonne FLUX est vide sur ces lignes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79400" y="40640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279400" y="4064000"/>
            <a:ext cx="30480" cy="533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93700" y="4152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Commande chantier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700" y="4445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803400" y="41529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1803400" y="42164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03400" y="43180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44800" y="42672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871200" y="41529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871200" y="42164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871200" y="43180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18800" y="42672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997200" y="4152900"/>
            <a:ext cx="754772" cy="3556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2997200" y="42037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97200" y="43434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28172" y="4152900"/>
            <a:ext cx="740046" cy="3556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3828172" y="42037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Traktor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28172" y="43434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644418" y="4152900"/>
            <a:ext cx="740046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4644418" y="4203700"/>
            <a:ext cx="7400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ERP MAT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44418" y="4343400"/>
            <a:ext cx="7400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79400" y="46736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279400" y="4673600"/>
            <a:ext cx="30480" cy="533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393700" y="47625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Gestion des contrats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700" y="50546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803400" y="47625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1803400" y="48260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03400" y="49276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844800" y="48768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0871200" y="47625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10871200" y="48260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871200" y="49276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718800" y="48768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997200" y="4762500"/>
            <a:ext cx="754772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2997200" y="48133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Word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997200" y="49530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79400" y="52832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279400" y="5283200"/>
            <a:ext cx="30480" cy="5334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393700" y="53721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Mise à disposition (MAD)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3700" y="56642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803400" y="53721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803400" y="54356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03400" y="55372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844800" y="54864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871200" y="5372100"/>
            <a:ext cx="1041400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0871200" y="54356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871200" y="55372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718800" y="54864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997200" y="5372100"/>
            <a:ext cx="754772" cy="355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2997200" y="54229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IDCapture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997200" y="55626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79400" y="5892800"/>
            <a:ext cx="116332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279400" y="5892800"/>
            <a:ext cx="30480" cy="533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393700" y="59817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Commande de MO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93700" y="62738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correction métier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803400" y="5981700"/>
            <a:ext cx="1041400" cy="2413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1803400" y="59880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03400" y="60896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844800" y="60388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871200" y="5981700"/>
            <a:ext cx="1041400" cy="2413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10871200" y="59880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871200" y="60896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718800" y="60388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997200" y="5981700"/>
            <a:ext cx="7721600" cy="241300"/>
          </a:xfrm>
          <a:prstGeom prst="roundRect">
            <a:avLst>
              <a:gd name="adj" fmla="val 15789"/>
            </a:avLst>
          </a:prstGeom>
          <a:solidFill>
            <a:srgbClr val="F4F4F4"/>
          </a:solidFill>
          <a:ln w="762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TODO — étapes à compléter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03400" y="63119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mission ajoutée par correction — aucun outil rattaché dans la BDD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Travaux tunnel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1 processus · 9 outils · 11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Creusement et tunnelier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14224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1422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Processus non renseigné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3144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5557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6573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6065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3144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5557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6573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6065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41605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7200" y="15430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AutoCAD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200" y="16827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8172" y="1416050"/>
            <a:ext cx="9263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28172" y="1543050"/>
            <a:ext cx="9263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8172" y="1682750"/>
            <a:ext cx="9263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30718" y="1416050"/>
            <a:ext cx="943693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30718" y="1543050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MS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0718" y="1682750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0611" y="1416050"/>
            <a:ext cx="640482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850611" y="1543050"/>
            <a:ext cx="64048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Yellow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0611" y="1682750"/>
            <a:ext cx="64048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interne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7293" y="141605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67293" y="15430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7293" y="16827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98265" y="1416050"/>
            <a:ext cx="810550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98265" y="1543050"/>
            <a:ext cx="8105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8265" y="1682750"/>
            <a:ext cx="81055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5015" y="141605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85015" y="15430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IDCapture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5015" y="16827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15987" y="1416050"/>
            <a:ext cx="844129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115987" y="1543050"/>
            <a:ext cx="844129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5987" y="1682750"/>
            <a:ext cx="844129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int/ext TODO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03400" y="23241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processus déduit de la colonne Usage — la colonne FLUX est vide sur ces lignes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1 processus · 7 outils · 7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Topographie et implantation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14224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1422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Processus non renseigné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3144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5557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6573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6065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3144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5557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6573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6065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41605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7200" y="15430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AutoCAD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200" y="16827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8172" y="1416050"/>
            <a:ext cx="943693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28172" y="1543050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Cyclone 3DR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8172" y="1682750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8065" y="1416050"/>
            <a:ext cx="943693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48065" y="1543050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La Scene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8065" y="1682750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67958" y="1416050"/>
            <a:ext cx="943693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867958" y="1543050"/>
            <a:ext cx="94369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Covadis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7958" y="1682750"/>
            <a:ext cx="943693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int/ext TODO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87851" y="1416050"/>
            <a:ext cx="926346" cy="508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87851" y="1543050"/>
            <a:ext cx="9263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7851" y="1682750"/>
            <a:ext cx="9263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90398" y="1416050"/>
            <a:ext cx="754772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890398" y="15430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0398" y="16827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21369" y="1416050"/>
            <a:ext cx="844129" cy="50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21369" y="1543050"/>
            <a:ext cx="844129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Pixis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1369" y="1682750"/>
            <a:ext cx="844129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int/ext TODO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3400" y="23241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processus déduit de la colonne Usage — la colonne FLUX est vide sur ces lignes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Qualité &amp; Environnement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8 processus · 15 outils · 12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Contrôle et conformité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6096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Contrôle qualité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1049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2065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3081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2573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1049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2065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3081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2573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104900"/>
            <a:ext cx="810550" cy="431800"/>
          </a:xfrm>
          <a:prstGeom prst="roundRect">
            <a:avLst>
              <a:gd name="adj" fmla="val 8823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7200" y="1193800"/>
            <a:ext cx="8105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200" y="1333500"/>
            <a:ext cx="81055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3950" y="1104900"/>
            <a:ext cx="844129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83950" y="1193800"/>
            <a:ext cx="844129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3950" y="1333500"/>
            <a:ext cx="844129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int/ext TODO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4279" y="1104900"/>
            <a:ext cx="754772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4279" y="11938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4279" y="13335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5251" y="1104900"/>
            <a:ext cx="754772" cy="431800"/>
          </a:xfrm>
          <a:prstGeom prst="roundRect">
            <a:avLst>
              <a:gd name="adj" fmla="val 8823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35251" y="11938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5251" y="13335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FFFFFF"/>
                </a:solidFill>
                <a:latin typeface="Calibri"/>
              </a:rPr>
              <a:t>manuel · externe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66222" y="1104900"/>
            <a:ext cx="754772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66222" y="11938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IDCapture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6222" y="13335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9400" y="1701800"/>
            <a:ext cx="116332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79400" y="1701800"/>
            <a:ext cx="30480" cy="6096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93700" y="17907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Commande de matériel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700" y="20828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03400" y="17907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803400" y="18923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3400" y="19939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4800" y="19431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871200" y="17907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871200" y="18923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71200" y="19939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18800" y="19431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97200" y="1790700"/>
            <a:ext cx="754772" cy="431800"/>
          </a:xfrm>
          <a:prstGeom prst="roundRect">
            <a:avLst>
              <a:gd name="adj" fmla="val 8823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997200" y="18796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7200" y="20193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9400" y="2387600"/>
            <a:ext cx="116332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279400" y="2387600"/>
            <a:ext cx="30480" cy="6096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93700" y="24765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Mise à disposition (MAD)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700" y="27686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03400" y="24765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803400" y="25781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03400" y="26797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44800" y="26289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71200" y="24765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871200" y="25781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71200" y="26797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18800" y="26289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997200" y="2476500"/>
            <a:ext cx="754772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997200" y="256540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IDCapture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7200" y="270510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9400" y="3073400"/>
            <a:ext cx="116332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79400" y="3073400"/>
            <a:ext cx="30480" cy="6096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93700" y="31623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Contrôle qualité et environnement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700" y="34544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03400" y="31623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803400" y="32639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3400" y="33655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4800" y="33147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871200" y="31623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0871200" y="32639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71200" y="33655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18800" y="33147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997200" y="3162300"/>
            <a:ext cx="810550" cy="431800"/>
          </a:xfrm>
          <a:prstGeom prst="roundRect">
            <a:avLst>
              <a:gd name="adj" fmla="val 8823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2997200" y="3251200"/>
            <a:ext cx="8105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97200" y="3390900"/>
            <a:ext cx="81055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interne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9400" y="3759200"/>
            <a:ext cx="116332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79400" y="3759200"/>
            <a:ext cx="30480" cy="6096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93700" y="38481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Contrôle environnement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3700" y="41402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803400" y="38481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803400" y="39497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03400" y="40513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44800" y="40005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871200" y="3848100"/>
            <a:ext cx="1041400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10871200" y="394970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71200" y="405130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18800" y="400050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97200" y="3848100"/>
            <a:ext cx="844129" cy="4318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2997200" y="3937000"/>
            <a:ext cx="844129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997200" y="4076700"/>
            <a:ext cx="844129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int/ext TODO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9400" y="4445000"/>
            <a:ext cx="116332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279400" y="4445000"/>
            <a:ext cx="30480" cy="6096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393700" y="4533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Processus non renseigné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3700" y="4826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ordre non attesté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803400" y="4533900"/>
            <a:ext cx="1041400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803400" y="45783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03400" y="46799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44800" y="46291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871200" y="4533900"/>
            <a:ext cx="1041400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10871200" y="45783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71200" y="46799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18800" y="46291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997200" y="4533900"/>
            <a:ext cx="926346" cy="3175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2997200" y="4565650"/>
            <a:ext cx="926346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97200" y="4705350"/>
            <a:ext cx="926346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999746" y="4533900"/>
            <a:ext cx="1150018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3999746" y="4565650"/>
            <a:ext cx="1150018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Live Objects (Orange)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999746" y="4705350"/>
            <a:ext cx="1150018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externe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225964" y="4533900"/>
            <a:ext cx="1095355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5225964" y="4565650"/>
            <a:ext cx="1095355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Sixsense Monitoring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25964" y="4705350"/>
            <a:ext cx="1095355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externe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397518" y="4533900"/>
            <a:ext cx="1444862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6397518" y="4565650"/>
            <a:ext cx="144486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Waste Marketplace (Wakio)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97518" y="4705350"/>
            <a:ext cx="144486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918580" y="4533900"/>
            <a:ext cx="655207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7918580" y="4565650"/>
            <a:ext cx="655207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Lafarge +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918580" y="4705350"/>
            <a:ext cx="655207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auto · externe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649988" y="4533900"/>
            <a:ext cx="754772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8649988" y="45656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Lucee TP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649988" y="47053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480960" y="4533900"/>
            <a:ext cx="754772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9480960" y="45656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PowerPoint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80960" y="47053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03400" y="49403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processus déduit de la colonne Usage — la colonne FLUX est vide sur ces lignes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79400" y="5130800"/>
            <a:ext cx="116332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279400" y="5130800"/>
            <a:ext cx="30480" cy="6096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393700" y="52197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Déclaration préalable avant terrassement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3700" y="55118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correction métier · ordre non attesté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803400" y="5219700"/>
            <a:ext cx="1041400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1803400" y="52641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803400" y="53657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844800" y="53149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871200" y="5219700"/>
            <a:ext cx="1041400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10871200" y="52641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871200" y="53657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718800" y="53149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997200" y="5219700"/>
            <a:ext cx="810104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2997200" y="5251450"/>
            <a:ext cx="810104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Sogelink/DICT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997200" y="5391150"/>
            <a:ext cx="810104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803400" y="56261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début et fin non renseignés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9400" y="5816600"/>
            <a:ext cx="116332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279400" y="5816600"/>
            <a:ext cx="30480" cy="6096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393700" y="59055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Traçabilité des déblais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93700" y="61976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correction métier · ordre non attesté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803400" y="5905500"/>
            <a:ext cx="1041400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1803400" y="59499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803400" y="60515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844800" y="60007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0871200" y="5905500"/>
            <a:ext cx="1041400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10871200" y="59499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871200" y="60515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18800" y="60007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997200" y="5905500"/>
            <a:ext cx="754772" cy="31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2997200" y="5937250"/>
            <a:ext cx="754772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20" b="1" i="0">
                <a:solidFill>
                  <a:srgbClr val="1C1C1C"/>
                </a:solidFill>
                <a:latin typeface="Calibri"/>
              </a:rPr>
              <a:t>RNDTS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997200" y="6076950"/>
            <a:ext cx="7547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1C1C1C"/>
                </a:solidFill>
                <a:latin typeface="Calibri"/>
              </a:rPr>
              <a:t>manuel · externe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803400" y="63119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valider avec Camille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Affiche service — processus, alimentation et nature des outils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711200"/>
            <a:ext cx="88392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3 processus · 0 outils · 0 flux touchant le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8600" y="711200"/>
            <a:ext cx="279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E85A0C"/>
                </a:solidFill>
                <a:latin typeface="Calibri"/>
              </a:rPr>
              <a:t>À documenter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00" y="914400"/>
            <a:ext cx="11633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9400" y="1016000"/>
            <a:ext cx="11633200" cy="14224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889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79400" y="1016000"/>
            <a:ext cx="30480" cy="1422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00" y="11049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Processus à documenter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" y="13970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bloc vierge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3400" y="13144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3400" y="15557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3400" y="16573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4800" y="16065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71200" y="13144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71200" y="15557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1200" y="16573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8800" y="16065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7200" y="1104900"/>
            <a:ext cx="7721600" cy="1130300"/>
          </a:xfrm>
          <a:prstGeom prst="roundRect">
            <a:avLst>
              <a:gd name="adj" fmla="val 3370"/>
            </a:avLst>
          </a:prstGeom>
          <a:solidFill>
            <a:srgbClr val="F4F4F4"/>
          </a:solidFill>
          <a:ln w="762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TODO — étapes à compléter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3400" y="23241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bloc vierge à compléter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9400" y="2971800"/>
            <a:ext cx="11633200" cy="14224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889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279400" y="2971800"/>
            <a:ext cx="30480" cy="1422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93700" y="30607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Processus à documenter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700" y="33528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bloc vierge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03400" y="32702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803400" y="35115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3400" y="36131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4800" y="35623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71200" y="32702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871200" y="35115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71200" y="36131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8800" y="35623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97200" y="3060700"/>
            <a:ext cx="7721600" cy="1130300"/>
          </a:xfrm>
          <a:prstGeom prst="roundRect">
            <a:avLst>
              <a:gd name="adj" fmla="val 3370"/>
            </a:avLst>
          </a:prstGeom>
          <a:solidFill>
            <a:srgbClr val="F4F4F4"/>
          </a:solidFill>
          <a:ln w="762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TODO — étapes à compléter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3400" y="42799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bloc vierge à compléter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9400" y="4927600"/>
            <a:ext cx="11633200" cy="1422400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889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279400" y="4927600"/>
            <a:ext cx="30480" cy="1422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93700" y="5016500"/>
            <a:ext cx="13716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Processus à documenter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700" y="5308600"/>
            <a:ext cx="13716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bloc vierge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03400" y="52260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803400" y="54673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DÉBUT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03400" y="55689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4800" y="55181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71200" y="5226050"/>
            <a:ext cx="1041400" cy="711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160">
            <a:solidFill>
              <a:srgbClr val="C112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871200" y="5467350"/>
            <a:ext cx="10414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71200" y="5568950"/>
            <a:ext cx="1041400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8800" y="5518150"/>
            <a:ext cx="152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97200" y="5016500"/>
            <a:ext cx="7721600" cy="1130300"/>
          </a:xfrm>
          <a:prstGeom prst="roundRect">
            <a:avLst>
              <a:gd name="adj" fmla="val 3370"/>
            </a:avLst>
          </a:prstGeom>
          <a:solidFill>
            <a:srgbClr val="F4F4F4"/>
          </a:solidFill>
          <a:ln w="7620">
            <a:solidFill>
              <a:srgbClr val="D8D8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TODO — étapes à compléter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03400" y="6235700"/>
            <a:ext cx="1000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C1121F"/>
                </a:solidFill>
                <a:latin typeface="Calibri"/>
              </a:rPr>
              <a:t>TODO : bloc vierge à compléter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Alimentation et nature reprises de la BDD. « TODO » = donnée absente de la base, à compléter. Détail dans data/gap-report.md.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Référentiel des outils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Tous les outils recensés, leur fonction et leur rattachement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" y="685800"/>
            <a:ext cx="116332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6B6B6B"/>
                </a:solidFill>
                <a:latin typeface="Calibri"/>
              </a:rPr>
              <a:t>61 outils distincts · 16 socle de données · 11 issus d'une correction ou du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200" y="914400"/>
            <a:ext cx="11938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Outil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914400"/>
            <a:ext cx="19050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Fonction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914400"/>
            <a:ext cx="1168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914400"/>
            <a:ext cx="3048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2200" y="914400"/>
            <a:ext cx="3048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Int/Ext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7000" y="914400"/>
            <a:ext cx="3556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Alim.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2600" y="914400"/>
            <a:ext cx="406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Origine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400" y="1054100"/>
            <a:ext cx="5715000" cy="889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0200" y="1100534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Anaconda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1100534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Écriture de scripts (code)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100534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400" y="110053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2200" y="110053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1100534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2600" y="1100534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400" y="1229519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30200" y="1256903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AutoCAD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" y="1256903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Production et modification des plans 2D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1256903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 TUN 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7400" y="125690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2200" y="125690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000" y="1256903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2600" y="1256903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0200" y="1413272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Basware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" y="1413272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Enregistrement et validation des factures fournis…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1413272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DAF CTR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7400" y="141327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2200" y="141327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7000" y="1413272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2600" y="1413272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9400" y="1542256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30200" y="1569641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BATIS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" y="1569641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Déclaration des sous-traitants en paiement direct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1569641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7400" y="156964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2200" y="156964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07000" y="1569641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62600" y="1569641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0200" y="1726009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BIM Vision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" y="1726009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Ouverture et visualisation des maquettes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1726009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7400" y="172600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2200" y="172600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07000" y="1726009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62600" y="1726009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9400" y="1854994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30200" y="1882378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BIP/BAPS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0" y="1882378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Gestion de l'intérim : heures, renouvellements, v…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0" y="1882378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7400" y="188237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02200" y="188237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07000" y="1882378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62600" y="1882378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0200" y="2038747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By My Site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" y="2038747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Centralisation des formations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29000" y="2038747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7400" y="203874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02200" y="203874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07000" y="2038747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62600" y="2038747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9400" y="2167731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30200" y="2195116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BYCN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000" y="2195116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 : fonction à renseigner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29000" y="2195116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97400" y="219511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02200" y="219511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07000" y="2195116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2600" y="2195116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Corr.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0200" y="2351484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CEMEX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24000" y="2351484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 : fonction à renseigner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29000" y="2351484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97400" y="235148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02200" y="235148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07000" y="2351484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62600" y="2351484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Annexe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9400" y="2480469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30200" y="2507853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Chorus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24000" y="2507853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Facturation par le maître d'ouvrage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2507853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97400" y="250785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02200" y="250785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07000" y="2507853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62600" y="2507853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Corr.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0200" y="2664222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Civil 3D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2664222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Dessin des terrassements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29000" y="2664222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97400" y="266422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02200" y="266422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07000" y="2664222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62600" y="2664222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9400" y="2793206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330200" y="2820591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Covadis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4000" y="2820591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Génération des points topographiques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29000" y="2820591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TOP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97400" y="282059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902200" y="282059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07000" y="2820591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62600" y="2820591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0200" y="2976959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CWT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24000" y="2976959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Réservation de voyages selon la politique groupe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29000" y="2976959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97400" y="297695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02200" y="297695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07000" y="2976959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62600" y="2976959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9400" y="3105944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330200" y="3133328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Cyclone 3DR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24000" y="3133328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Traitement des nuages de points et analyse des s…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29000" y="3133328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TOP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97400" y="313332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902200" y="313332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07000" y="3133328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62600" y="3133328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0200" y="3289697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DocuSign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24000" y="3289697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Notification et signature des nouveaux contrats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29000" y="3289697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DAF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7400" y="328969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02200" y="328969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07000" y="3289697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62600" y="3289697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9400" y="3418681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30200" y="3446066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E-Checking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524000" y="3446066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Lutte contre le travail illégal et vérification des a…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29000" y="3446066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DAF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97400" y="344606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902200" y="344606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207000" y="3446066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562600" y="3446066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0200" y="3602434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E-Paraph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524000" y="3602434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Circuit de validation interne avant signature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429000" y="3602434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TRV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597400" y="360243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902200" y="360243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07000" y="3602434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562600" y="3602434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9400" y="3731419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330200" y="3758803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E-Project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524000" y="3758803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Activation de la facturation et suivi de situation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29000" y="3758803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CTR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97400" y="375880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902200" y="375880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07000" y="3758803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62600" y="3758803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0200" y="3915172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ERP MAT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524000" y="3915172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Commande de matériel : coffrage, grue à tour, s…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29000" y="3915172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TRV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97400" y="391517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902200" y="391517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207000" y="3915172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62600" y="3915172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9400" y="4044156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330200" y="4071541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Excel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524000" y="4071541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Tableurs de suivi : factures, chronofacture, rappr…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429000" y="4071541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DAF CTR TRV TUN TOP Q…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97400" y="407154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902200" y="407154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207000" y="4071541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562600" y="4071541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0200" y="4227909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GMAO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524000" y="4227909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Gestion du stock (tunnel)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429000" y="4227909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TRV TUN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97400" y="422790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902200" y="422790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207000" y="4227909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562600" y="4227909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Annexe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79400" y="4356894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30200" y="4384278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H&amp;R For You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524000" y="4384278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Demandes RH : congés, attestations, épargne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429000" y="4384278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97400" y="438427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902200" y="438427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207000" y="4384278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562600" y="4384278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30200" y="4540647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HA+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524000" y="4540647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Achats opérationnels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429000" y="4540647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TRV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597400" y="454064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902200" y="454064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207000" y="4540647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62600" y="4540647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Annexe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9400" y="4669631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330200" y="4697016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Harmony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524000" y="4697016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Engagement des dépenses et suivi des command…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429000" y="4697016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597400" y="469701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02200" y="469701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207000" y="4697016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562600" y="4697016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30200" y="4853384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IDCapture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524000" y="4853384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Levée de réserves et contrôle qualité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29000" y="4853384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TRV TUN Q&amp;E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597400" y="485338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902200" y="485338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207000" y="4853384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562600" y="4853384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279400" y="4982369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TextBox 203"/>
          <p:cNvSpPr txBox="1"/>
          <p:nvPr/>
        </p:nvSpPr>
        <p:spPr>
          <a:xfrm>
            <a:off x="330200" y="5009753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Inventor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524000" y="5009753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Conception 3D de pièces mécaniques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429000" y="5009753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597400" y="500975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902200" y="500975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207000" y="5009753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562600" y="5009753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30200" y="5166122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La Scene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524000" y="5166122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Assemblage des positions de scan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429000" y="5166122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TOP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597400" y="516612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902200" y="516612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207000" y="5166122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62600" y="5166122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79400" y="5295106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TextBox 218"/>
          <p:cNvSpPr txBox="1"/>
          <p:nvPr/>
        </p:nvSpPr>
        <p:spPr>
          <a:xfrm>
            <a:off x="330200" y="5322491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Lafarge +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524000" y="5322491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Suivi des bons de livraison et des m³ coulés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429000" y="5322491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Q&amp;E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597400" y="532249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902200" y="532249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207000" y="5322491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Auto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562600" y="5322491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30200" y="5478859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Live Objects (Orange)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524000" y="5478859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Remontée des indicateurs des compteurs de po…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429000" y="5478859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Q&amp;E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597400" y="547885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902200" y="547885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207000" y="5478859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Auto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562600" y="5478859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79400" y="5607844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TextBox 233"/>
          <p:cNvSpPr txBox="1"/>
          <p:nvPr/>
        </p:nvSpPr>
        <p:spPr>
          <a:xfrm>
            <a:off x="330200" y="5635228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Lucee TP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524000" y="5635228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Identification des espèces envahissantes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429000" y="5635228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Q&amp;E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597400" y="563522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902200" y="563522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207000" y="5635228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562600" y="5635228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30200" y="5791597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Mezzoteam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524000" y="5791597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GED : diffusion et suivi des plans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429000" y="5791597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 TRV Q&amp;E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597400" y="579159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902200" y="579159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207000" y="5791597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62600" y="5791597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248400" y="914400"/>
            <a:ext cx="11938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Outil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442200" y="914400"/>
            <a:ext cx="19050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Fonction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347200" y="914400"/>
            <a:ext cx="1168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Services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515600" y="914400"/>
            <a:ext cx="3048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Nature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0820400" y="914400"/>
            <a:ext cx="3048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Int/Ext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1125200" y="914400"/>
            <a:ext cx="3556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Alim.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1480800" y="914400"/>
            <a:ext cx="4064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1" i="0">
                <a:solidFill>
                  <a:srgbClr val="6B6B6B"/>
                </a:solidFill>
                <a:latin typeface="Calibri"/>
              </a:rPr>
              <a:t>Origine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97600" y="1054100"/>
            <a:ext cx="5715000" cy="889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TextBox 255"/>
          <p:cNvSpPr txBox="1"/>
          <p:nvPr/>
        </p:nvSpPr>
        <p:spPr>
          <a:xfrm>
            <a:off x="6248400" y="1100534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Miro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442200" y="1100534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Animation des obeya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347200" y="1100534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515600" y="110053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820400" y="110053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125200" y="1100534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1480800" y="1100534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6197600" y="1229519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TextBox 263"/>
          <p:cNvSpPr txBox="1"/>
          <p:nvPr/>
        </p:nvSpPr>
        <p:spPr>
          <a:xfrm>
            <a:off x="6248400" y="1256903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MMS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442200" y="1256903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Suivi de l'adhérence au planning et des jalons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347200" y="1256903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TRV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515600" y="125690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0820400" y="125690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1125200" y="1256903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1480800" y="1256903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248400" y="1413272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MS Project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7442200" y="1413272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Planification des travaux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347200" y="1413272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TRV TUN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515600" y="141327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820400" y="141327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1125200" y="1413272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480800" y="1413272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197600" y="1542256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TextBox 278"/>
          <p:cNvSpPr txBox="1"/>
          <p:nvPr/>
        </p:nvSpPr>
        <p:spPr>
          <a:xfrm>
            <a:off x="6248400" y="1569641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NotebookLM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7442200" y="1569641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Rédaction de mémoires et de réclamations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347200" y="1569641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CTR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0515600" y="156964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820400" y="156964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1125200" y="1569641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1480800" y="1569641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248400" y="1726009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Oasis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442200" y="1726009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Déclaration des incidents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9347200" y="1726009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515600" y="172600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0820400" y="172600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1125200" y="1726009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1480800" y="1726009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6197600" y="1854994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TextBox 293"/>
          <p:cNvSpPr txBox="1"/>
          <p:nvPr/>
        </p:nvSpPr>
        <p:spPr>
          <a:xfrm>
            <a:off x="6248400" y="1882378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OneDrive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7442200" y="1882378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 : fonction à renseigner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9347200" y="1882378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515600" y="188237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820400" y="188237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1125200" y="1882378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1480800" y="1882378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Brief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6248400" y="2038747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PABLO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7442200" y="2038747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Achats et bons de commande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9347200" y="2038747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 TRV Q&amp;E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515600" y="203874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0820400" y="203874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1125200" y="2038747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1480800" y="2038747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6197600" y="2167731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TextBox 308"/>
          <p:cNvSpPr txBox="1"/>
          <p:nvPr/>
        </p:nvSpPr>
        <p:spPr>
          <a:xfrm>
            <a:off x="6248400" y="2195116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Pixis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7442200" y="2195116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Guidage du tunnelier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9347200" y="2195116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TOP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0515600" y="219511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0820400" y="219511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1125200" y="2195116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Auto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1480800" y="2195116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6248400" y="2351484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Power BI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42200" y="2351484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Tableaux de bord : KPI, consommations, avance…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9347200" y="2351484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CTR TUN Q&amp;E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0515600" y="235148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0820400" y="235148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1125200" y="2351484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Auto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1480800" y="2351484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197600" y="2480469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TextBox 323"/>
          <p:cNvSpPr txBox="1"/>
          <p:nvPr/>
        </p:nvSpPr>
        <p:spPr>
          <a:xfrm>
            <a:off x="6248400" y="2507853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PowerPoint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7442200" y="2507853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Déclaration des presqu'accidents (HIPO)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9347200" y="2507853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Q&amp;E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0515600" y="250785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0820400" y="250785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1125200" y="2507853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1480800" y="2507853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6248400" y="2664222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Probity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7442200" y="2664222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 : fonction à renseigner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9347200" y="2664222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0515600" y="266422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0820400" y="266422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1125200" y="2664222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1480800" y="2664222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Brief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6197600" y="2793206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TextBox 338"/>
          <p:cNvSpPr txBox="1"/>
          <p:nvPr/>
        </p:nvSpPr>
        <p:spPr>
          <a:xfrm>
            <a:off x="6248400" y="2820591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PUMA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7442200" y="2820591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Pointage des compagnons : heures et primes de…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9347200" y="2820591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0515600" y="282059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0820400" y="282059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1125200" y="2820591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11480800" y="2820591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6248400" y="2976959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QGIS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7442200" y="2976959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SIG : repérage sur plan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9347200" y="2976959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515600" y="297695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820400" y="297695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1125200" y="2976959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1480800" y="2976959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6197600" y="3105944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TextBox 353"/>
          <p:cNvSpPr txBox="1"/>
          <p:nvPr/>
        </p:nvSpPr>
        <p:spPr>
          <a:xfrm>
            <a:off x="6248400" y="3133328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QuickConnect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7442200" y="3133328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Relevés terrain : sensibilisation, consommations,…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9347200" y="3133328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TRV TUN Q&amp;E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0515600" y="313332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0820400" y="313332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1125200" y="3133328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1480800" y="3133328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248400" y="3289697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Remind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7442200" y="3289697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Archivage des documents à 10 ans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9347200" y="3289697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0515600" y="328969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0820400" y="328969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1125200" y="3289697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11480800" y="3289697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Corr.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6197600" y="3418681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TextBox 368"/>
          <p:cNvSpPr txBox="1"/>
          <p:nvPr/>
        </p:nvSpPr>
        <p:spPr>
          <a:xfrm>
            <a:off x="6248400" y="3446066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Revit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7442200" y="3446066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Production des maquettes 3D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9347200" y="3446066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0515600" y="344606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0820400" y="344606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1125200" y="3446066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1480800" y="3446066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6248400" y="3602434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RNDTS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7442200" y="3602434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Traçabilité des déblais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9347200" y="3602434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Q&amp;E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0515600" y="360243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0820400" y="360243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1125200" y="3602434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1480800" y="3602434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Corr.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6197600" y="3731419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TextBox 383"/>
          <p:cNvSpPr txBox="1"/>
          <p:nvPr/>
        </p:nvSpPr>
        <p:spPr>
          <a:xfrm>
            <a:off x="6248400" y="3758803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SharePoint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442200" y="3758803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Accès et partage des documents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9347200" y="3758803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CTR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0515600" y="375880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0820400" y="375880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1125200" y="3758803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480800" y="3758803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6248400" y="3915172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Simple BIM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7442200" y="3915172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Fusion des maquettes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9347200" y="3915172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0515600" y="391517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0820400" y="391517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1125200" y="3915172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1480800" y="3915172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6197600" y="4044156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TextBox 398"/>
          <p:cNvSpPr txBox="1"/>
          <p:nvPr/>
        </p:nvSpPr>
        <p:spPr>
          <a:xfrm>
            <a:off x="6248400" y="4071541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Sixsense Monitoring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7442200" y="4071541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Mesures acoustiques (sonomètre)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9347200" y="4071541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Q&amp;E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0515600" y="407154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0820400" y="407154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1125200" y="4071541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Auto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1480800" y="4071541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6248400" y="4227909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Sofistik Bridge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7442200" y="4227909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Modélisation de la maquette tunnel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9347200" y="4227909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0515600" y="422790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0820400" y="422790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1125200" y="4227909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1480800" y="4227909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6197600" y="4356894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TextBox 413"/>
          <p:cNvSpPr txBox="1"/>
          <p:nvPr/>
        </p:nvSpPr>
        <p:spPr>
          <a:xfrm>
            <a:off x="6248400" y="4384278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Sogelink/DICT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7442200" y="4384278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Déclaration préalable avant terrassement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347200" y="4384278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Q&amp;E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0515600" y="438427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0820400" y="438427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11125200" y="4384278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1480800" y="4384278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Corr.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248400" y="4540647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Tableau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7442200" y="4540647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Commande traiteur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347200" y="4540647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0515600" y="454064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820400" y="4540647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1125200" y="4540647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1480800" y="4540647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6197600" y="4669631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TextBox 428"/>
          <p:cNvSpPr txBox="1"/>
          <p:nvPr/>
        </p:nvSpPr>
        <p:spPr>
          <a:xfrm>
            <a:off x="6248400" y="4697016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TIPS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7442200" y="4697016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Pointage Soletanche Bachy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347200" y="4697016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0515600" y="469701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820400" y="4697016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1125200" y="4697016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11480800" y="4697016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6248400" y="4853384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Traktor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7442200" y="4853384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Commande de gros engins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9347200" y="4853384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TRV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515600" y="485338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0820400" y="4853384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11125200" y="4853384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1480800" y="4853384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6197600" y="4982369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4" name="TextBox 443"/>
          <p:cNvSpPr txBox="1"/>
          <p:nvPr/>
        </p:nvSpPr>
        <p:spPr>
          <a:xfrm>
            <a:off x="6248400" y="5009753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Trimble Connect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7442200" y="5009753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Dépôt et consultation des maquettes et plans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9347200" y="5009753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M&amp;B TRV TUN TOP Q&amp;E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0515600" y="500975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0820400" y="5009753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11125200" y="5009753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1480800" y="5009753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6248400" y="5166122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Visioaccès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7442200" y="5166122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Création des badges et gestion des accès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9347200" y="5166122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0515600" y="516612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0820400" y="5166122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TODO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1125200" y="5166122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1480800" y="5166122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C1121F"/>
                </a:solidFill>
                <a:latin typeface="Calibri"/>
              </a:rPr>
              <a:t>Annexe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6197600" y="5295106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9" name="TextBox 458"/>
          <p:cNvSpPr txBox="1"/>
          <p:nvPr/>
        </p:nvSpPr>
        <p:spPr>
          <a:xfrm>
            <a:off x="6248400" y="5322491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Waste Marketplace (Wakio)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7442200" y="5322491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Gestion des déchets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9347200" y="5322491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Q&amp;E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0515600" y="532249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10820400" y="5322491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11125200" y="5322491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1480800" y="5322491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6248400" y="5478859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Word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7442200" y="5478859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Rédaction : contrats, avenants, courriers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9347200" y="5478859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CTR TRV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10515600" y="547885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Appli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0820400" y="5478859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Ext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1125200" y="5478859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Manuel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1480800" y="5478859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73" name="Rectangle 472"/>
          <p:cNvSpPr/>
          <p:nvPr/>
        </p:nvSpPr>
        <p:spPr>
          <a:xfrm>
            <a:off x="6197600" y="5607844"/>
            <a:ext cx="5715000" cy="15636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4" name="TextBox 473"/>
          <p:cNvSpPr txBox="1"/>
          <p:nvPr/>
        </p:nvSpPr>
        <p:spPr>
          <a:xfrm>
            <a:off x="6248400" y="5635228"/>
            <a:ext cx="1143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20" b="1" i="0">
                <a:solidFill>
                  <a:srgbClr val="1C1C1C"/>
                </a:solidFill>
                <a:latin typeface="Calibri"/>
              </a:rPr>
              <a:t>Yellow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7442200" y="5635228"/>
            <a:ext cx="1854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Suivi temps réel de l'avancement du tunnelier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9347200" y="5635228"/>
            <a:ext cx="1117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DIR TUN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0515600" y="563522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E85A0C"/>
                </a:solidFill>
                <a:latin typeface="Calibri"/>
              </a:rPr>
              <a:t>Socle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0820400" y="5635228"/>
            <a:ext cx="254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Int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1125200" y="5635228"/>
            <a:ext cx="3048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Auto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1480800" y="5635228"/>
            <a:ext cx="3556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580" b="0" i="0">
                <a:solidFill>
                  <a:srgbClr val="6B6B6B"/>
                </a:solidFill>
                <a:latin typeface="Calibri"/>
              </a:rPr>
              <a:t>BDD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279400" y="6019800"/>
            <a:ext cx="11633200" cy="431800"/>
          </a:xfrm>
          <a:prstGeom prst="roundRect">
            <a:avLst>
              <a:gd name="adj" fmla="val 8823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2" name="TextBox 481"/>
          <p:cNvSpPr txBox="1"/>
          <p:nvPr/>
        </p:nvSpPr>
        <p:spPr>
          <a:xfrm>
            <a:off x="406400" y="6070600"/>
            <a:ext cx="203200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C1C1C"/>
                </a:solidFill>
                <a:latin typeface="Calibri"/>
              </a:rPr>
              <a:t>Légende des couleurs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406400" y="62357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4" name="TextBox 483"/>
          <p:cNvSpPr txBox="1"/>
          <p:nvPr/>
        </p:nvSpPr>
        <p:spPr>
          <a:xfrm>
            <a:off x="584200" y="6235700"/>
            <a:ext cx="106613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Socle de données et hub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1853530" y="62357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6" name="TextBox 485"/>
          <p:cNvSpPr txBox="1"/>
          <p:nvPr/>
        </p:nvSpPr>
        <p:spPr>
          <a:xfrm>
            <a:off x="2031330" y="6235700"/>
            <a:ext cx="120416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TODO ou élément hors BDD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3438693" y="62357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8" name="TextBox 487"/>
          <p:cNvSpPr txBox="1"/>
          <p:nvPr/>
        </p:nvSpPr>
        <p:spPr>
          <a:xfrm>
            <a:off x="3616493" y="6235700"/>
            <a:ext cx="1311258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Donnée renseignée par la BDD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5130951" y="62357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0" name="TextBox 489"/>
          <p:cNvSpPr txBox="1"/>
          <p:nvPr/>
        </p:nvSpPr>
        <p:spPr>
          <a:xfrm>
            <a:off x="5308751" y="6235700"/>
            <a:ext cx="550787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6B6B6B"/>
                </a:solidFill>
                <a:latin typeface="Calibri"/>
              </a:rPr>
              <a:t>Nom d'outil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406400" y="6362700"/>
            <a:ext cx="113792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DIR = Direction · DAF = DAF · CTR = Contrat · M&amp;B = Méthode &amp; BIM · TRV = Travaux · TUN = Travaux tunnel · TOP = Topo · Q&amp;E = Qualité &amp; Environnement · SEC = Sécurité</a:t>
            </a:r>
          </a:p>
        </p:txBody>
      </p:sp>
      <p:sp>
        <p:nvSpPr>
          <p:cNvPr id="492" name="Rectangle 491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3" name="Rectangle 492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4" name="TextBox 493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Origine — BDD : table d'entretiens · Annexe : onglet Tableau de Bord · Corr. : correction métier · Brief : cahier des charges.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9400" y="101600"/>
            <a:ext cx="7874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Synthèse chiffrée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317500"/>
            <a:ext cx="7874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Toutes les valeurs sont calculées depuis carto.json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414000" y="165100"/>
            <a:ext cx="14986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85A0C"/>
                </a:solidFill>
                <a:latin typeface="Calibri"/>
              </a:rPr>
              <a:t>◀  Vue macro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400" y="685800"/>
            <a:ext cx="754179" cy="228600"/>
          </a:xfrm>
          <a:prstGeom prst="roundRect">
            <a:avLst>
              <a:gd name="adj" fmla="val 50000"/>
            </a:avLst>
          </a:prstGeom>
          <a:solidFill>
            <a:srgbClr val="E85A0C"/>
          </a:solidFill>
          <a:ln w="10160">
            <a:solidFill>
              <a:srgbClr val="E85A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FFFFFF"/>
                </a:solidFill>
                <a:latin typeface="Calibri"/>
              </a:rPr>
              <a:t>Tous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079" y="685800"/>
            <a:ext cx="58483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Direction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45415" y="685800"/>
            <a:ext cx="37223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DAF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1151" y="685800"/>
            <a:ext cx="518469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Contrat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3120" y="685800"/>
            <a:ext cx="87229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Méthode &amp; BIM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98910" y="685800"/>
            <a:ext cx="53084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Travaux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3252" y="685800"/>
            <a:ext cx="82371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Travaux tunnel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0468" y="685800"/>
            <a:ext cx="41447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Topo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8438" y="685800"/>
            <a:ext cx="126415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Qualité &amp; Environnement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90" y="685800"/>
            <a:ext cx="546897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0" i="0">
                <a:solidFill>
                  <a:srgbClr val="6B6B6B"/>
                </a:solidFill>
                <a:latin typeface="Calibri"/>
              </a:rPr>
              <a:t>Sécurité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400" y="1016000"/>
            <a:ext cx="1864783" cy="7874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79400" y="1016000"/>
            <a:ext cx="1864783" cy="304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81000" y="1168400"/>
            <a:ext cx="16615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85A0C"/>
                </a:solidFill>
                <a:latin typeface="Calibri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1498600"/>
            <a:ext cx="166158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80" b="1" i="0">
                <a:solidFill>
                  <a:srgbClr val="1C1C1C"/>
                </a:solidFill>
                <a:latin typeface="Calibri"/>
              </a:rPr>
              <a:t>Flux recensés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1625600"/>
            <a:ext cx="1661583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flux tracés ou documentés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33083" y="1016000"/>
            <a:ext cx="1864783" cy="7874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233083" y="1016000"/>
            <a:ext cx="1864783" cy="304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334683" y="1168400"/>
            <a:ext cx="16615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85A0C"/>
                </a:solidFill>
                <a:latin typeface="Calibri"/>
              </a:rPr>
              <a:t>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4683" y="1498600"/>
            <a:ext cx="166158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80" b="1" i="0">
                <a:solidFill>
                  <a:srgbClr val="1C1C1C"/>
                </a:solidFill>
                <a:latin typeface="Calibri"/>
              </a:rPr>
              <a:t>Outils distincts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4683" y="1625600"/>
            <a:ext cx="1661583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après normalisation des libellés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86767" y="1016000"/>
            <a:ext cx="1864783" cy="7874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186767" y="1016000"/>
            <a:ext cx="1864783" cy="304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288367" y="1168400"/>
            <a:ext cx="16615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85A0C"/>
                </a:solidFill>
                <a:latin typeface="Calibri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8367" y="1498600"/>
            <a:ext cx="166158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80" b="1" i="0">
                <a:solidFill>
                  <a:srgbClr val="1C1C1C"/>
                </a:solidFill>
                <a:latin typeface="Calibri"/>
              </a:rPr>
              <a:t>Outils socle commun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367" y="1625600"/>
            <a:ext cx="1661583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hub compris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0450" y="1016000"/>
            <a:ext cx="1864783" cy="7874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140450" y="1016000"/>
            <a:ext cx="1864783" cy="304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42050" y="1168400"/>
            <a:ext cx="16615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85A0C"/>
                </a:solidFill>
                <a:latin typeface="Calibri"/>
              </a:rPr>
              <a:t>20 %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050" y="1498600"/>
            <a:ext cx="166158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80" b="1" i="0">
                <a:solidFill>
                  <a:srgbClr val="1C1C1C"/>
                </a:solidFill>
                <a:latin typeface="Calibri"/>
              </a:rPr>
              <a:t>Flux automatiques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050" y="1625600"/>
            <a:ext cx="1661583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part des flux du périmètre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4133" y="1016000"/>
            <a:ext cx="1864783" cy="7874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094133" y="1016000"/>
            <a:ext cx="1864783" cy="304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95733" y="1168400"/>
            <a:ext cx="16615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85A0C"/>
                </a:solidFill>
                <a:latin typeface="Calibri"/>
              </a:rPr>
              <a:t>28 %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5733" y="1498600"/>
            <a:ext cx="166158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80" b="1" i="0">
                <a:solidFill>
                  <a:srgbClr val="1C1C1C"/>
                </a:solidFill>
                <a:latin typeface="Calibri"/>
              </a:rPr>
              <a:t>Outils internes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5733" y="1625600"/>
            <a:ext cx="1661583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développés par le groupe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47817" y="1016000"/>
            <a:ext cx="1864783" cy="7874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10047817" y="1016000"/>
            <a:ext cx="1864783" cy="30480"/>
          </a:xfrm>
          <a:prstGeom prst="rect">
            <a:avLst/>
          </a:prstGeom>
          <a:solidFill>
            <a:srgbClr val="E85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149417" y="1168400"/>
            <a:ext cx="16615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85A0C"/>
                </a:solidFill>
                <a:latin typeface="Calibri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417" y="1498600"/>
            <a:ext cx="1661583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80" b="1" i="0">
                <a:solidFill>
                  <a:srgbClr val="1C1C1C"/>
                </a:solidFill>
                <a:latin typeface="Calibri"/>
              </a:rPr>
              <a:t>Interne/externe TODO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417" y="1625600"/>
            <a:ext cx="1661583" cy="114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40" b="0" i="0">
                <a:solidFill>
                  <a:srgbClr val="6B6B6B"/>
                </a:solidFill>
                <a:latin typeface="Calibri"/>
              </a:rPr>
              <a:t>non tranché par la BDD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9400" y="1955800"/>
            <a:ext cx="5715000" cy="21336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06400" y="2044700"/>
            <a:ext cx="5461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Répartition des flux : automatique / manuel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400" y="3886200"/>
            <a:ext cx="5461000" cy="152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Un flux est dit automatisé quand son outil de destination est alimenté automatiquement.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06400" y="2235200"/>
          <a:ext cx="54610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1" name="Rounded Rectangle 50"/>
          <p:cNvSpPr/>
          <p:nvPr/>
        </p:nvSpPr>
        <p:spPr>
          <a:xfrm>
            <a:off x="6197600" y="1955800"/>
            <a:ext cx="5715000" cy="21336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324600" y="2044700"/>
            <a:ext cx="5461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Répartition des outils : interne / externe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4600" y="3886200"/>
            <a:ext cx="5461000" cy="152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« À documenter » = la BDD ne tranche pas.</a:t>
            </a:r>
          </a:p>
        </p:txBody>
      </p:sp>
      <p:graphicFrame>
        <p:nvGraphicFramePr>
          <p:cNvPr id="54" name="Chart 53"/>
          <p:cNvGraphicFramePr>
            <a:graphicFrameLocks noGrp="1"/>
          </p:cNvGraphicFramePr>
          <p:nvPr/>
        </p:nvGraphicFramePr>
        <p:xfrm>
          <a:off x="6324600" y="2235200"/>
          <a:ext cx="5461000" cy="1600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5" name="Rounded Rectangle 54"/>
          <p:cNvSpPr/>
          <p:nvPr/>
        </p:nvSpPr>
        <p:spPr>
          <a:xfrm>
            <a:off x="279400" y="4241800"/>
            <a:ext cx="5715000" cy="21336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06400" y="4330700"/>
            <a:ext cx="5461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Classement des services par nombre de flux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400" y="6172200"/>
            <a:ext cx="5461000" cy="152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Vue toujours globale ; le service sélectionné est mis en avant. Cliquer une barre ouvre l'affiche du service.</a:t>
            </a:r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406400" y="4521200"/>
          <a:ext cx="5461000" cy="1600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9" name="Rounded Rectangle 58"/>
          <p:cNvSpPr/>
          <p:nvPr/>
        </p:nvSpPr>
        <p:spPr>
          <a:xfrm>
            <a:off x="6197600" y="4241800"/>
            <a:ext cx="5715000" cy="21336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016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24600" y="4330700"/>
            <a:ext cx="5461000" cy="139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C1C1C"/>
                </a:solidFill>
                <a:latin typeface="Calibri"/>
              </a:rPr>
              <a:t>Nombre d'outils par 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4600" y="6172200"/>
            <a:ext cx="5461000" cy="152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20" b="0" i="0">
                <a:solidFill>
                  <a:srgbClr val="6B6B6B"/>
                </a:solidFill>
                <a:latin typeface="Calibri"/>
              </a:rPr>
              <a:t>Un outil déclaré par plusieurs services y est compté plusieurs fois.</a:t>
            </a:r>
          </a:p>
        </p:txBody>
      </p:sp>
      <p:graphicFrame>
        <p:nvGraphicFramePr>
          <p:cNvPr id="62" name="Chart 61"/>
          <p:cNvGraphicFramePr>
            <a:graphicFrameLocks noGrp="1"/>
          </p:cNvGraphicFramePr>
          <p:nvPr/>
        </p:nvGraphicFramePr>
        <p:xfrm>
          <a:off x="6324600" y="4521200"/>
          <a:ext cx="5461000" cy="16002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63" name="Rectangle 62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0" y="6553200"/>
            <a:ext cx="1219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79400" y="6629400"/>
            <a:ext cx="889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Sélecteur de service actif dans la page HTML ; le PPTX présente la vue « Tous services », les données des graphiques restant éditables dans leur classeur intégré.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72600" y="6629400"/>
            <a:ext cx="25400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6B6B6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
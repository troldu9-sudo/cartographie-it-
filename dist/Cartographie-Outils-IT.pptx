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58796" y="693420"/>
            <a:ext cx="486490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2900" y="1074420"/>
            <a:ext cx="2807970" cy="2175034"/>
          </a:xfrm>
          <a:prstGeom prst="roundRect">
            <a:avLst>
              <a:gd name="adj" fmla="val 560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07670" y="1150382"/>
            <a:ext cx="121920" cy="121920"/>
          </a:xfrm>
          <a:prstGeom prst="ellipse">
            <a:avLst/>
          </a:prstGeom>
          <a:solidFill>
            <a:srgbClr val="3A6BE5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34340" y="1177052"/>
            <a:ext cx="68580" cy="68580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4725" y="1722596"/>
            <a:ext cx="145470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" y="1794986"/>
            <a:ext cx="652820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17640" y="1794986"/>
            <a:ext cx="589002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37122" y="1794986"/>
            <a:ext cx="488394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91020" y="2328386"/>
            <a:ext cx="156841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" y="2400776"/>
            <a:ext cx="684967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49787" y="2400776"/>
            <a:ext cx="706279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86546" y="2400776"/>
            <a:ext cx="611743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28769" y="2400776"/>
            <a:ext cx="492919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" y="2597944"/>
            <a:ext cx="730687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95507" y="2597944"/>
            <a:ext cx="867847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42310" y="1074420"/>
            <a:ext cx="2807970" cy="2175034"/>
          </a:xfrm>
          <a:prstGeom prst="roundRect">
            <a:avLst>
              <a:gd name="adj" fmla="val 560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7080" y="1150382"/>
            <a:ext cx="121920" cy="121920"/>
          </a:xfrm>
          <a:prstGeom prst="ellipse">
            <a:avLst/>
          </a:prstGeom>
          <a:solidFill>
            <a:srgbClr val="0E9E7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33750" y="1177052"/>
            <a:ext cx="68580" cy="6858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27364" y="1591866"/>
            <a:ext cx="133147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33750" y="1664256"/>
            <a:ext cx="915591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79821" y="1664256"/>
            <a:ext cx="566737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38493" y="2181106"/>
            <a:ext cx="182034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3750" y="2253496"/>
            <a:ext cx="652820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17050" y="2253496"/>
            <a:ext cx="525542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8249" y="2656165"/>
            <a:ext cx="187059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33750" y="2728555"/>
            <a:ext cx="600194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41720" y="1074420"/>
            <a:ext cx="2807970" cy="2175034"/>
          </a:xfrm>
          <a:prstGeom prst="roundRect">
            <a:avLst>
              <a:gd name="adj" fmla="val 560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06490" y="1150382"/>
            <a:ext cx="121920" cy="121920"/>
          </a:xfrm>
          <a:prstGeom prst="ellipse">
            <a:avLst/>
          </a:prstGeom>
          <a:solidFill>
            <a:srgbClr val="0F8FA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33160" y="1177052"/>
            <a:ext cx="68580" cy="68580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20464" y="1473994"/>
            <a:ext cx="133778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33160" y="1546384"/>
            <a:ext cx="712470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48036" y="1945362"/>
            <a:ext cx="171021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33160" y="2017752"/>
            <a:ext cx="652820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99484" y="2416731"/>
            <a:ext cx="155876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33160" y="2489121"/>
            <a:ext cx="680323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36713" y="2888099"/>
            <a:ext cx="182153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33160" y="2960489"/>
            <a:ext cx="461367" cy="166688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41130" y="1074420"/>
            <a:ext cx="2807970" cy="2175034"/>
          </a:xfrm>
          <a:prstGeom prst="roundRect">
            <a:avLst>
              <a:gd name="adj" fmla="val 5605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05900" y="1150382"/>
            <a:ext cx="121920" cy="121920"/>
          </a:xfrm>
          <a:prstGeom prst="ellipse">
            <a:avLst/>
          </a:prstGeom>
          <a:solidFill>
            <a:srgbClr val="DD7E2C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132570" y="1177052"/>
            <a:ext cx="68580" cy="6858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25896" y="1480185"/>
            <a:ext cx="173176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132570" y="1552575"/>
            <a:ext cx="459939" cy="166688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22988" y="1552575"/>
            <a:ext cx="712470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045542" y="1843564"/>
            <a:ext cx="171211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132570" y="1915954"/>
            <a:ext cx="630555" cy="166688"/>
          </a:xfrm>
          <a:prstGeom prst="roundRect">
            <a:avLst>
              <a:gd name="adj" fmla="val 50000"/>
            </a:avLst>
          </a:prstGeom>
          <a:solidFill>
            <a:srgbClr val="DD7E2C">
              <a:alpha val="12000"/>
            </a:srgbClr>
          </a:solidFill>
          <a:ln w="7620">
            <a:solidFill>
              <a:srgbClr val="DD7E2C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901000" y="2321123"/>
            <a:ext cx="185666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32570" y="2393513"/>
            <a:ext cx="680323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114359" y="2684502"/>
            <a:ext cx="164330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88417" y="2964894"/>
            <a:ext cx="156924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42900" y="3356134"/>
            <a:ext cx="11506200" cy="894159"/>
          </a:xfrm>
          <a:prstGeom prst="roundRect">
            <a:avLst>
              <a:gd name="adj" fmla="val 13635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56360" y="3532823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56360" y="3751659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659380" y="3532823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59380" y="3751659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962400" y="3532823"/>
            <a:ext cx="1211580" cy="188357"/>
          </a:xfrm>
          <a:prstGeom prst="roundRect">
            <a:avLst>
              <a:gd name="adj" fmla="val 2831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04460" y="3532823"/>
            <a:ext cx="1211580" cy="188357"/>
          </a:xfrm>
          <a:prstGeom prst="roundRect">
            <a:avLst>
              <a:gd name="adj" fmla="val 2831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962400" y="3751659"/>
            <a:ext cx="1211580" cy="188357"/>
          </a:xfrm>
          <a:prstGeom prst="roundRect">
            <a:avLst>
              <a:gd name="adj" fmla="val 2831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04460" y="3751659"/>
            <a:ext cx="1211580" cy="188357"/>
          </a:xfrm>
          <a:prstGeom prst="roundRect">
            <a:avLst>
              <a:gd name="adj" fmla="val 2831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962400" y="3970496"/>
            <a:ext cx="1211580" cy="188357"/>
          </a:xfrm>
          <a:prstGeom prst="roundRect">
            <a:avLst>
              <a:gd name="adj" fmla="val 2831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492240" y="3532823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492240" y="3751659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795260" y="3532823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795260" y="3751659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795260" y="3970496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4CC9E8">
              <a:alpha val="13000"/>
            </a:srgbClr>
          </a:solidFill>
          <a:ln w="7620">
            <a:solidFill>
              <a:srgbClr val="4CC9E8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098280" y="3532823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098280" y="3751659"/>
            <a:ext cx="1226820" cy="188357"/>
          </a:xfrm>
          <a:prstGeom prst="roundRect">
            <a:avLst>
              <a:gd name="adj" fmla="val 28318"/>
            </a:avLst>
          </a:prstGeom>
          <a:solidFill>
            <a:srgbClr val="FFFFFF">
              <a:alpha val="6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401301" y="3432334"/>
            <a:ext cx="1333500" cy="726519"/>
          </a:xfrm>
          <a:prstGeom prst="roundRect">
            <a:avLst>
              <a:gd name="adj" fmla="val 10488"/>
            </a:avLst>
          </a:prstGeom>
          <a:solidFill>
            <a:srgbClr val="4CC9E8">
              <a:alpha val="7000"/>
            </a:srgbClr>
          </a:solidFill>
          <a:ln w="7620">
            <a:solidFill>
              <a:srgbClr val="4CC9E8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454640" y="3485674"/>
            <a:ext cx="1226820" cy="259080"/>
          </a:xfrm>
          <a:prstGeom prst="roundRect">
            <a:avLst>
              <a:gd name="adj" fmla="val 20588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454640" y="3775234"/>
            <a:ext cx="1226820" cy="259080"/>
          </a:xfrm>
          <a:prstGeom prst="roundRect">
            <a:avLst>
              <a:gd name="adj" fmla="val 20588"/>
            </a:avLst>
          </a:prstGeom>
          <a:solidFill>
            <a:srgbClr val="FFFFFF">
              <a:alpha val="5000"/>
            </a:srgbClr>
          </a:solidFill>
          <a:ln w="762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342900" y="4356973"/>
            <a:ext cx="3774400" cy="2234327"/>
          </a:xfrm>
          <a:prstGeom prst="roundRect">
            <a:avLst>
              <a:gd name="adj" fmla="val 545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07670" y="4432935"/>
            <a:ext cx="121920" cy="121920"/>
          </a:xfrm>
          <a:prstGeom prst="ellipse">
            <a:avLst/>
          </a:prstGeom>
          <a:solidFill>
            <a:srgbClr val="5B57D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34340" y="4459605"/>
            <a:ext cx="68580" cy="68580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6693" y="4885492"/>
            <a:ext cx="96428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34340" y="4957882"/>
            <a:ext cx="420291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85111" y="4957882"/>
            <a:ext cx="459938" cy="166688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813929" y="4885492"/>
            <a:ext cx="211932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329101" y="4957882"/>
            <a:ext cx="606385" cy="166688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121807" y="5493425"/>
            <a:ext cx="1009174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810232" y="5493425"/>
            <a:ext cx="121562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329101" y="5565815"/>
            <a:ext cx="492085" cy="166688"/>
          </a:xfrm>
          <a:prstGeom prst="roundRect">
            <a:avLst>
              <a:gd name="adj" fmla="val 50000"/>
            </a:avLst>
          </a:prstGeom>
          <a:solidFill>
            <a:srgbClr val="5B57D6">
              <a:alpha val="12000"/>
            </a:srgbClr>
          </a:solidFill>
          <a:ln w="7620">
            <a:solidFill>
              <a:srgbClr val="5B57D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09330" y="5987177"/>
            <a:ext cx="821650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434340" y="6059567"/>
            <a:ext cx="474583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39403" y="6059567"/>
            <a:ext cx="591979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208740" y="4356973"/>
            <a:ext cx="3774400" cy="2234327"/>
          </a:xfrm>
          <a:prstGeom prst="roundRect">
            <a:avLst>
              <a:gd name="adj" fmla="val 545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273510" y="4432935"/>
            <a:ext cx="121920" cy="121920"/>
          </a:xfrm>
          <a:prstGeom prst="ellipse">
            <a:avLst/>
          </a:prstGeom>
          <a:solidFill>
            <a:srgbClr val="8257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300180" y="4459605"/>
            <a:ext cx="68580" cy="6858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488662" y="4807625"/>
            <a:ext cx="50815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778943" y="4807625"/>
            <a:ext cx="1112758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194941" y="4880015"/>
            <a:ext cx="606385" cy="166688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995624" y="5337691"/>
            <a:ext cx="1001197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4300180" y="5410081"/>
            <a:ext cx="566618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184589" y="5337691"/>
            <a:ext cx="707112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194941" y="5410081"/>
            <a:ext cx="504944" cy="166688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374719" y="5867757"/>
            <a:ext cx="622102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300180" y="5940147"/>
            <a:ext cx="766048" cy="166688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48538" y="5867757"/>
            <a:ext cx="54316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6194941" y="5940147"/>
            <a:ext cx="684014" cy="166688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6909435" y="5940147"/>
            <a:ext cx="772240" cy="166688"/>
          </a:xfrm>
          <a:prstGeom prst="roundRect">
            <a:avLst>
              <a:gd name="adj" fmla="val 50000"/>
            </a:avLst>
          </a:prstGeom>
          <a:solidFill>
            <a:srgbClr val="8257E6">
              <a:alpha val="12000"/>
            </a:srgbClr>
          </a:solidFill>
          <a:ln w="7620">
            <a:solidFill>
              <a:srgbClr val="8257E6">
                <a:alpha val="3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194941" y="6137315"/>
            <a:ext cx="589597" cy="166688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8074581" y="4356973"/>
            <a:ext cx="3774401" cy="2234327"/>
          </a:xfrm>
          <a:prstGeom prst="roundRect">
            <a:avLst>
              <a:gd name="adj" fmla="val 5456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>
            <a:outerShdw blurRad="228600" dist="76200" dir="5400000" rotWithShape="0">
              <a:srgbClr val="0D1526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139351" y="4432935"/>
            <a:ext cx="121920" cy="121920"/>
          </a:xfrm>
          <a:prstGeom prst="ellipse">
            <a:avLst/>
          </a:prstGeom>
          <a:solidFill>
            <a:srgbClr val="C2456A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166021" y="4459605"/>
            <a:ext cx="68580" cy="68580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988742" y="4766072"/>
            <a:ext cx="873919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8166021" y="4838462"/>
            <a:ext cx="498039" cy="166688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8694539" y="4838462"/>
            <a:ext cx="680323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225808" y="4766072"/>
            <a:ext cx="531733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10060781" y="4838462"/>
            <a:ext cx="680323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192697" y="5254585"/>
            <a:ext cx="66996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8166021" y="5326975"/>
            <a:ext cx="739736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186755" y="5254585"/>
            <a:ext cx="570786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10060781" y="5326975"/>
            <a:ext cx="835104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0060781" y="5524143"/>
            <a:ext cx="1344811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10060781" y="5721310"/>
            <a:ext cx="653058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10060781" y="5918478"/>
            <a:ext cx="1248728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112686" y="6220421"/>
            <a:ext cx="749975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8166021" y="6292810"/>
            <a:ext cx="1034177" cy="166688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084481" y="6220421"/>
            <a:ext cx="673061" cy="7620"/>
          </a:xfrm>
          <a:prstGeom prst="rect">
            <a:avLst/>
          </a:prstGeom>
          <a:solidFill>
            <a:srgbClr val="ED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42900" y="312420"/>
            <a:ext cx="383583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SYSTÈME D'INFORMATION CHANTIER · VUE D'ENSEMBLE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2900" y="457200"/>
            <a:ext cx="4287084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Cartographie des outils IT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42900" y="847249"/>
            <a:ext cx="4261366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Sept pôles, leurs missions et leurs outils, autour du socle applicatif commun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49414" y="342900"/>
            <a:ext cx="191547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Développé / porté en interne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58796" y="354330"/>
            <a:ext cx="8154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34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73584" y="510540"/>
            <a:ext cx="148863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Éditeur du marché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458796" y="521970"/>
            <a:ext cx="83962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34">
                <a:solidFill>
                  <a:srgbClr val="78879F"/>
                </a:solidFill>
                <a:latin typeface="Calibri"/>
              </a:rPr>
              <a:t>EXT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06245" y="697230"/>
            <a:ext cx="19255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ou mission à confirmer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184475" y="708660"/>
            <a:ext cx="103512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24">
                <a:solidFill>
                  <a:srgbClr val="78879F"/>
                </a:solidFill>
                <a:latin typeface="Calibri"/>
              </a:rPr>
              <a:t>À valider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726341" y="342900"/>
            <a:ext cx="18085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444163" y="354330"/>
            <a:ext cx="90701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34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748962" y="510540"/>
            <a:ext cx="13819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automatisé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8962" y="678180"/>
            <a:ext cx="169723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Flux manuel (ressaisie)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71500" y="1127760"/>
            <a:ext cx="1529715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Méthodes &amp; BIM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3880" y="1264444"/>
            <a:ext cx="137850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INGÉNIERIE · BIM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34340" y="1673066"/>
            <a:ext cx="180284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3A6BE5"/>
                </a:solidFill>
                <a:latin typeface="Calibri"/>
              </a:rPr>
              <a:t>PRODUCTION DE MAQUETTES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0060" y="1810226"/>
            <a:ext cx="57662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63360" y="1810226"/>
            <a:ext cx="512802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Civil 3D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782842" y="1810226"/>
            <a:ext cx="41219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Revit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34340" y="2278856"/>
            <a:ext cx="168914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3A6BE5"/>
                </a:solidFill>
                <a:latin typeface="Calibri"/>
              </a:rPr>
              <a:t>GESTION DES MAQUETTES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0060" y="2416016"/>
            <a:ext cx="60876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Anaconda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95507" y="2416016"/>
            <a:ext cx="63007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BIM Vision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932266" y="2416016"/>
            <a:ext cx="535543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Inventor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74489" y="2416016"/>
            <a:ext cx="41671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QGIS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80060" y="2613184"/>
            <a:ext cx="65448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Simple BIM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41227" y="2613184"/>
            <a:ext cx="79164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Sofistik Bridge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9100" y="2779871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Mezzoteam · Trimble Connect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70910" y="1127760"/>
            <a:ext cx="1334572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Topographie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63290" y="1264444"/>
            <a:ext cx="17256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RELEVÉS · IMPLANTATION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33750" y="1542336"/>
            <a:ext cx="192607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RELEVÉS ET NUAGES DE POINTS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79470" y="1679496"/>
            <a:ext cx="839391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Cyclone 3DR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25541" y="1679496"/>
            <a:ext cx="49053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La Scene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318510" y="1846183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33750" y="2131576"/>
            <a:ext cx="143720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PLANS ET CALCULS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379470" y="2268736"/>
            <a:ext cx="57662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062770" y="2268736"/>
            <a:ext cx="449342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Covadis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33750" y="2606635"/>
            <a:ext cx="138695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SUIVI DES LEVERS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379470" y="2743795"/>
            <a:ext cx="52399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Pixis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318510" y="2910483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370320" y="1127760"/>
            <a:ext cx="1033105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Tunnel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362700" y="1264444"/>
            <a:ext cx="162853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OUVRAGE SOUTERRAIN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33160" y="1424464"/>
            <a:ext cx="191976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PLANIFICATION ET AVANCEMENT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278880" y="1561624"/>
            <a:ext cx="63627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217920" y="1728311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Power BI · YELLOW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233160" y="1895832"/>
            <a:ext cx="154733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PLANS ET MAQUETTES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278880" y="2032992"/>
            <a:ext cx="57662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AutoCAD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217920" y="2199680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233160" y="2367201"/>
            <a:ext cx="169878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RÉSERVES ET CONTRÔLES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278880" y="2504361"/>
            <a:ext cx="604123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217920" y="2671048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Quick Connect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233160" y="2838569"/>
            <a:ext cx="143601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GESTION DU STOCK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78880" y="2975729"/>
            <a:ext cx="38516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78879F"/>
                </a:solidFill>
                <a:latin typeface="Calibri"/>
              </a:rPr>
              <a:t>GMAO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269730" y="1127760"/>
            <a:ext cx="1095851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Travaux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262110" y="1264444"/>
            <a:ext cx="158281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EXÉCUTION CHANTIER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132570" y="1430655"/>
            <a:ext cx="152578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JALONS DE CHANTIER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178290" y="1567815"/>
            <a:ext cx="38373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DD7E2C"/>
                </a:solidFill>
                <a:latin typeface="Calibri"/>
              </a:rPr>
              <a:t>INT </a:t>
            </a:r>
            <a:r>
              <a:rPr sz="650" b="1">
                <a:solidFill>
                  <a:srgbClr val="DD7E2C"/>
                </a:solidFill>
                <a:latin typeface="Calibri"/>
              </a:rPr>
              <a:t>MMS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668708" y="1567815"/>
            <a:ext cx="63627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MS Project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132570" y="1794034"/>
            <a:ext cx="154543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ENGINS ET MATÉRIELS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178290" y="1931194"/>
            <a:ext cx="554355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DD7E2C"/>
                </a:solidFill>
                <a:latin typeface="Calibri"/>
              </a:rPr>
              <a:t>INT </a:t>
            </a:r>
            <a:r>
              <a:rPr sz="650" b="1">
                <a:solidFill>
                  <a:srgbClr val="DD7E2C"/>
                </a:solidFill>
                <a:latin typeface="Calibri"/>
              </a:rPr>
              <a:t>ERP MAT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117330" y="2097881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 · Traktor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32570" y="2271594"/>
            <a:ext cx="140089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RÉSERVES ET MAD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178290" y="2408753"/>
            <a:ext cx="604123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132570" y="2634972"/>
            <a:ext cx="161424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CONDUITE DE CHANTIER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117330" y="2741652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Mezzoteam · Quick Connect · Trimble Connect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132570" y="2915364"/>
            <a:ext cx="168830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DD7E2C"/>
                </a:solidFill>
                <a:latin typeface="Calibri"/>
              </a:rPr>
              <a:t>VALIDATION ET CONTRATS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117330" y="3022044"/>
            <a:ext cx="267081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E-Paraph · Pablo · Word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57200" y="3417094"/>
            <a:ext cx="97369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SOCLE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57200" y="3493294"/>
            <a:ext cx="119205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102">
                <a:solidFill>
                  <a:srgbClr val="4CC9E8"/>
                </a:solidFill>
                <a:latin typeface="Calibri"/>
              </a:rPr>
              <a:t>APPLICATIF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57200" y="3584734"/>
            <a:ext cx="1164788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Logiciels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7200" y="3706178"/>
            <a:ext cx="1207770" cy="1523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>
                <a:solidFill>
                  <a:srgbClr val="FFFFFF"/>
                </a:solidFill>
                <a:latin typeface="Calibri"/>
              </a:rPr>
              <a:t>communs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198602" y="3417094"/>
            <a:ext cx="1542217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GED &amp; COLLABORATION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386840" y="3555683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Trimble Connect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386840" y="3774519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Mezzoteam</a:t>
            </a:r>
            <a:r>
              <a:rPr sz="459" b="1" spc="18">
                <a:solidFill>
                  <a:srgbClr val="4CC9E8"/>
                </a:solidFill>
                <a:latin typeface="Calibri"/>
              </a:rPr>
              <a:t> AUTO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464832" y="3417094"/>
            <a:ext cx="1615797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VALIDATION &amp; SIGNATURE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689860" y="3555683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E-Paraph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689860" y="3774519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DocuSign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370308" y="3417094"/>
            <a:ext cx="1637705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ACHATS, FINANCE &amp; TIERS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992880" y="3555683"/>
            <a:ext cx="116586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Pablo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234940" y="3555683"/>
            <a:ext cx="116586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Harmony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992880" y="3774519"/>
            <a:ext cx="116586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BATIS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234940" y="3774519"/>
            <a:ext cx="116586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TIPS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992880" y="3993356"/>
            <a:ext cx="116586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E-Checking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395442" y="3417094"/>
            <a:ext cx="1420296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RH &amp; MAIN-D'ŒUVRE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6522720" y="3555683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Puma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522720" y="3774519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BIP / BAPS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7619643" y="3417094"/>
            <a:ext cx="1578054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TERRAIN &amp; INTÉGRATION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825740" y="3555683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Quick Connect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7825740" y="3774519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YELLOW</a:t>
            </a:r>
            <a:r>
              <a:rPr sz="459" b="1" spc="18">
                <a:solidFill>
                  <a:srgbClr val="4CC9E8"/>
                </a:solidFill>
                <a:latin typeface="Calibri"/>
              </a:rPr>
              <a:t> AUTO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825740" y="3993356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4CC9E8"/>
                </a:solidFill>
                <a:latin typeface="Calibri"/>
              </a:rPr>
              <a:t>INT </a:t>
            </a:r>
            <a:r>
              <a:rPr sz="660" b="1">
                <a:solidFill>
                  <a:srgbClr val="FFFFFF"/>
                </a:solidFill>
                <a:latin typeface="Calibri"/>
              </a:rPr>
              <a:t>Traktor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11734" y="3417094"/>
            <a:ext cx="1199912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80" b="1" spc="48">
                <a:solidFill>
                  <a:srgbClr val="95A5C2"/>
                </a:solidFill>
                <a:latin typeface="Calibri"/>
              </a:rPr>
              <a:t>BUREAUTIQUE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9128760" y="3555683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Excel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8760" y="3774519"/>
            <a:ext cx="1181100" cy="1731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0"/>
              </a:lnSpc>
            </a:pPr>
            <a:r>
              <a:rPr sz="459" b="1" spc="18">
                <a:solidFill>
                  <a:srgbClr val="95A5C2"/>
                </a:solidFill>
                <a:latin typeface="Calibri"/>
              </a:rPr>
              <a:t>EXT </a:t>
            </a:r>
            <a:r>
              <a:rPr sz="660" b="1">
                <a:solidFill>
                  <a:srgbClr val="FFFFFF"/>
                </a:solidFill>
                <a:latin typeface="Calibri"/>
              </a:rPr>
              <a:t>Word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0493812" y="3516154"/>
            <a:ext cx="11484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SharePoint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0426780" y="3615214"/>
            <a:ext cx="1282541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RÉFÉRENTIEL · EXT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0537627" y="3805714"/>
            <a:ext cx="106084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9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204371" y="3904774"/>
            <a:ext cx="1727240" cy="990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450" b="0" spc="18">
                <a:solidFill>
                  <a:srgbClr val="95A5C2"/>
                </a:solidFill>
                <a:latin typeface="Calibri"/>
              </a:rPr>
              <a:t>CABINE DE PILOTAGE · INT · AUTO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71500" y="4410313"/>
            <a:ext cx="115478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Direction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63880" y="4546997"/>
            <a:ext cx="187202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PILOTAGE · SOUS-TRAITANCE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34340" y="4835962"/>
            <a:ext cx="1364813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RÉCOLTE DES KPI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80060" y="4973122"/>
            <a:ext cx="344091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MIRO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30831" y="4973122"/>
            <a:ext cx="38373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5B57D6"/>
                </a:solidFill>
                <a:latin typeface="Calibri"/>
              </a:rPr>
              <a:t>INT </a:t>
            </a:r>
            <a:r>
              <a:rPr sz="650" b="1">
                <a:solidFill>
                  <a:srgbClr val="5B57D6"/>
                </a:solidFill>
                <a:latin typeface="Calibri"/>
              </a:rPr>
              <a:t>MMS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19100" y="5139809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Power BI · Word · YELLOW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329101" y="4835962"/>
            <a:ext cx="211728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VALIDATION CONTRATS ET DÉPENSES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374821" y="4973122"/>
            <a:ext cx="530185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5B57D6"/>
                </a:solidFill>
                <a:latin typeface="Calibri"/>
              </a:rPr>
              <a:t>INT </a:t>
            </a:r>
            <a:r>
              <a:rPr sz="650" b="1">
                <a:solidFill>
                  <a:srgbClr val="5B57D6"/>
                </a:solidFill>
                <a:latin typeface="Calibri"/>
              </a:rPr>
              <a:t>Basware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313861" y="5139809"/>
            <a:ext cx="174248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DocuSign · E-Paraph · Excel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34340" y="5443895"/>
            <a:ext cx="131992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GESTION DES ST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19100" y="5550575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BATIS · E-Checking · Quick Connect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329101" y="5443895"/>
            <a:ext cx="11135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5B57D6"/>
                </a:solidFill>
                <a:latin typeface="Calibri"/>
              </a:rPr>
              <a:t>MATÉRIELS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2374821" y="5581055"/>
            <a:ext cx="415885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5B57D6"/>
                </a:solidFill>
                <a:latin typeface="Calibri"/>
              </a:rPr>
              <a:t>INT </a:t>
            </a:r>
            <a:r>
              <a:rPr sz="650" b="1">
                <a:solidFill>
                  <a:srgbClr val="5B57D6"/>
                </a:solidFill>
                <a:latin typeface="Calibri"/>
              </a:rPr>
              <a:t>Oasis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4340" y="5937647"/>
            <a:ext cx="150745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SERVICES GÉNÉRAUX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80060" y="6074807"/>
            <a:ext cx="398383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CWT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85123" y="6074807"/>
            <a:ext cx="51577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Tableau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19100" y="6241494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Word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437340" y="4410313"/>
            <a:ext cx="909637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DAF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429721" y="4546997"/>
            <a:ext cx="212383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CONTRATS · COMPTA · ACHATS · RH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300180" y="4758095"/>
            <a:ext cx="182094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ENGAGEMENT DES DÉPENSES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4284940" y="4864775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Harmony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6194941" y="4758095"/>
            <a:ext cx="121646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FACTURATION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240661" y="4895255"/>
            <a:ext cx="530185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8257E6"/>
                </a:solidFill>
                <a:latin typeface="Calibri"/>
              </a:rPr>
              <a:t>INT </a:t>
            </a:r>
            <a:r>
              <a:rPr sz="650" b="1">
                <a:solidFill>
                  <a:srgbClr val="8257E6"/>
                </a:solidFill>
                <a:latin typeface="Calibri"/>
              </a:rPr>
              <a:t>Basware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6179701" y="5061942"/>
            <a:ext cx="1742479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DocuSign · Excel · Harmony · Pablo · TIPS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300180" y="5288161"/>
            <a:ext cx="132790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ENCAISSEMENTS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345900" y="5425321"/>
            <a:ext cx="49041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33415C"/>
                </a:solidFill>
                <a:latin typeface="Calibri"/>
              </a:rPr>
              <a:t>E-Project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284940" y="5592009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6194941" y="5288161"/>
            <a:ext cx="162210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COMMANDES ET ACHATS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240661" y="5425321"/>
            <a:ext cx="42874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78879F"/>
                </a:solidFill>
                <a:latin typeface="Calibri"/>
              </a:rPr>
              <a:t>Achat +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6179701" y="5592009"/>
            <a:ext cx="1742479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4300180" y="5818227"/>
            <a:ext cx="170699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GESTION CONTRACTUELLE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345900" y="5955387"/>
            <a:ext cx="68984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8257E6"/>
                </a:solidFill>
                <a:latin typeface="Calibri"/>
              </a:rPr>
              <a:t>INT </a:t>
            </a:r>
            <a:r>
              <a:rPr sz="650" b="1">
                <a:solidFill>
                  <a:srgbClr val="8257E6"/>
                </a:solidFill>
                <a:latin typeface="Calibri"/>
              </a:rPr>
              <a:t>NotebookLM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284940" y="6122075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Power BI · SharePoint · Word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194941" y="5818227"/>
            <a:ext cx="178605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8257E6"/>
                </a:solidFill>
                <a:latin typeface="Calibri"/>
              </a:rPr>
              <a:t>PERSONNEL ET FORMATIONS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6240661" y="5955387"/>
            <a:ext cx="60781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8257E6"/>
                </a:solidFill>
                <a:latin typeface="Calibri"/>
              </a:rPr>
              <a:t>INT </a:t>
            </a:r>
            <a:r>
              <a:rPr sz="650" b="1">
                <a:solidFill>
                  <a:srgbClr val="8257E6"/>
                </a:solidFill>
                <a:latin typeface="Calibri"/>
              </a:rPr>
              <a:t>By My Site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6955155" y="5955387"/>
            <a:ext cx="696040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8257E6"/>
                </a:solidFill>
                <a:latin typeface="Calibri"/>
              </a:rPr>
              <a:t>INT </a:t>
            </a:r>
            <a:r>
              <a:rPr sz="650" b="1">
                <a:solidFill>
                  <a:srgbClr val="8257E6"/>
                </a:solidFill>
                <a:latin typeface="Calibri"/>
              </a:rPr>
              <a:t>H&amp;R For You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240661" y="6152555"/>
            <a:ext cx="51339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78879F"/>
                </a:solidFill>
                <a:latin typeface="Calibri"/>
              </a:rPr>
              <a:t>Neoaccès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6179701" y="6319242"/>
            <a:ext cx="1742479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BIP / BAPS · E-Checking · Excel · Pablo · Puma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8303181" y="4410313"/>
            <a:ext cx="1980366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69" b="1" spc="-9">
                <a:solidFill>
                  <a:srgbClr val="0D1526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8295561" y="4546997"/>
            <a:ext cx="218134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40" b="1" spc="54">
                <a:solidFill>
                  <a:srgbClr val="78879F"/>
                </a:solidFill>
                <a:latin typeface="Calibri"/>
              </a:rPr>
              <a:t>CONTRÔLE · RÉSERVES · NUISANCES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166021" y="4716542"/>
            <a:ext cx="145518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CONTRÔLE QUALITÉ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8211741" y="4853702"/>
            <a:ext cx="421839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? </a:t>
            </a:r>
            <a:r>
              <a:rPr sz="650" b="1">
                <a:solidFill>
                  <a:srgbClr val="78879F"/>
                </a:solidFill>
                <a:latin typeface="Calibri"/>
              </a:rPr>
              <a:t>CEMEX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8740259" y="4853702"/>
            <a:ext cx="604123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8150781" y="5020390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Excel · Mezzoteam · Power BI · Quick Connect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060781" y="4716542"/>
            <a:ext cx="179748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MAD ET LEVÉES DE RÉSERVE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106501" y="4853702"/>
            <a:ext cx="604123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IDCapture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045541" y="5020390"/>
            <a:ext cx="174248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Trimble Connect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166021" y="5205056"/>
            <a:ext cx="165913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SUIVI ENVIRONNEMENTAL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8211741" y="5342215"/>
            <a:ext cx="663536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PowerPoint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8150781" y="5508903"/>
            <a:ext cx="1742361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Power BI · Quick Connect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0060781" y="5205056"/>
            <a:ext cx="1758434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SUIVI DES CONSOMMATIONS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10106501" y="5342215"/>
            <a:ext cx="758904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Lafarge+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10106501" y="5539383"/>
            <a:ext cx="1268611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Live Objects (Orange)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0106501" y="5736550"/>
            <a:ext cx="57685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Lucee TP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0106501" y="5933718"/>
            <a:ext cx="1172528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Sixense Monitoring</a:t>
            </a:r>
            <a:r>
              <a:rPr sz="459" b="1" spc="18">
                <a:solidFill>
                  <a:srgbClr val="44A0BE"/>
                </a:solidFill>
                <a:latin typeface="Calibri"/>
              </a:rPr>
              <a:t> AUTO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8166021" y="6170890"/>
            <a:ext cx="1579126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78879F"/>
                </a:solidFill>
                <a:latin typeface="Calibri"/>
              </a:rPr>
              <a:t>GESTION DES DÉCHETS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8211741" y="6308050"/>
            <a:ext cx="957977" cy="1666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710"/>
              </a:lnSpc>
            </a:pPr>
            <a:r>
              <a:rPr sz="459" b="1" spc="18">
                <a:solidFill>
                  <a:srgbClr val="78879F"/>
                </a:solidFill>
                <a:latin typeface="Calibri"/>
              </a:rPr>
              <a:t>EXT </a:t>
            </a:r>
            <a:r>
              <a:rPr sz="650" b="1">
                <a:solidFill>
                  <a:srgbClr val="33415C"/>
                </a:solidFill>
                <a:latin typeface="Calibri"/>
              </a:rPr>
              <a:t>Wastemarket Place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0060781" y="6170890"/>
            <a:ext cx="1656159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09" b="1" spc="51">
                <a:solidFill>
                  <a:srgbClr val="C2456A"/>
                </a:solidFill>
                <a:latin typeface="Calibri"/>
              </a:rPr>
              <a:t>COMMANDE DE MATÉRIEL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0045541" y="6277570"/>
            <a:ext cx="1742480" cy="1446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60"/>
              </a:lnSpc>
            </a:pPr>
            <a:r>
              <a:rPr sz="530" b="1" spc="5">
                <a:solidFill>
                  <a:srgbClr val="78879F"/>
                </a:solidFill>
                <a:latin typeface="Calibri"/>
              </a:rPr>
              <a:t>via </a:t>
            </a:r>
            <a:r>
              <a:rPr sz="530" b="1" spc="5">
                <a:solidFill>
                  <a:srgbClr val="4399B7"/>
                </a:solidFill>
                <a:latin typeface="Calibri"/>
              </a:rPr>
              <a:t>Pablo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1/3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10264140" y="3512344"/>
            <a:ext cx="251460" cy="133707"/>
          </a:xfrm>
          <a:custGeom>
            <a:avLst/>
            <a:gdLst/>
            <a:ahLst/>
            <a:cxnLst/>
            <a:rect l="0" t="0" r="r" b="b"/>
            <a:pathLst>
              <a:path w="251460" h="133707">
                <a:moveTo>
                  <a:pt x="60960" y="72747"/>
                </a:moveTo>
                <a:cubicBezTo>
                  <a:pt x="104140" y="68818"/>
                  <a:pt x="147320" y="64889"/>
                  <a:pt x="19050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264140" y="3607951"/>
            <a:ext cx="251460" cy="315873"/>
          </a:xfrm>
          <a:custGeom>
            <a:avLst/>
            <a:gdLst/>
            <a:ahLst/>
            <a:cxnLst/>
            <a:rect l="0" t="0" r="r" b="b"/>
            <a:pathLst>
              <a:path w="251460" h="315873">
                <a:moveTo>
                  <a:pt x="60960" y="60960"/>
                </a:moveTo>
                <a:cubicBezTo>
                  <a:pt x="104140" y="125611"/>
                  <a:pt x="147320" y="190262"/>
                  <a:pt x="190500" y="254913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8961120" y="3524131"/>
            <a:ext cx="1554480" cy="193953"/>
          </a:xfrm>
          <a:custGeom>
            <a:avLst/>
            <a:gdLst/>
            <a:ahLst/>
            <a:cxnLst/>
            <a:rect l="0" t="0" r="r" b="b"/>
            <a:pathLst>
              <a:path w="1554480" h="193953">
                <a:moveTo>
                  <a:pt x="60960" y="60960"/>
                </a:moveTo>
                <a:cubicBezTo>
                  <a:pt x="705612" y="60960"/>
                  <a:pt x="848868" y="132993"/>
                  <a:pt x="1493520" y="132993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8961120" y="3607951"/>
            <a:ext cx="1554480" cy="399693"/>
          </a:xfrm>
          <a:custGeom>
            <a:avLst/>
            <a:gdLst/>
            <a:ahLst/>
            <a:cxnLst/>
            <a:rect l="0" t="0" r="r" b="b"/>
            <a:pathLst>
              <a:path w="1554480" h="399693">
                <a:moveTo>
                  <a:pt x="60960" y="60960"/>
                </a:moveTo>
                <a:cubicBezTo>
                  <a:pt x="705612" y="60960"/>
                  <a:pt x="848868" y="338733"/>
                  <a:pt x="1493520" y="338733"/>
                </a:cubicBezTo>
              </a:path>
            </a:pathLst>
          </a:custGeom>
          <a:noFill/>
          <a:ln w="15240">
            <a:solidFill>
              <a:srgbClr val="4CC9E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5113020" y="3566041"/>
            <a:ext cx="152400" cy="121920"/>
          </a:xfrm>
          <a:custGeom>
            <a:avLst/>
            <a:gdLst/>
            <a:ahLst/>
            <a:cxnLst/>
            <a:rect l="0" t="0" r="r" b="b"/>
            <a:pathLst>
              <a:path w="152400" h="121920">
                <a:moveTo>
                  <a:pt x="60960" y="60960"/>
                </a:moveTo>
                <a:cubicBezTo>
                  <a:pt x="71120" y="60960"/>
                  <a:pt x="81280" y="60960"/>
                  <a:pt x="9144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5707380" y="3660220"/>
            <a:ext cx="809803" cy="757714"/>
          </a:xfrm>
          <a:custGeom>
            <a:avLst/>
            <a:gdLst/>
            <a:ahLst/>
            <a:cxnLst/>
            <a:rect l="0" t="0" r="r" b="b"/>
            <a:pathLst>
              <a:path w="809803" h="757714">
                <a:moveTo>
                  <a:pt x="748843" y="696754"/>
                </a:moveTo>
                <a:cubicBezTo>
                  <a:pt x="748843" y="378857"/>
                  <a:pt x="60960" y="378857"/>
                  <a:pt x="6096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791200" y="3660220"/>
            <a:ext cx="809803" cy="757714"/>
          </a:xfrm>
          <a:custGeom>
            <a:avLst/>
            <a:gdLst/>
            <a:ahLst/>
            <a:cxnLst/>
            <a:rect l="0" t="0" r="r" b="b"/>
            <a:pathLst>
              <a:path w="809803" h="757714">
                <a:moveTo>
                  <a:pt x="60960" y="60960"/>
                </a:moveTo>
                <a:cubicBezTo>
                  <a:pt x="60960" y="378857"/>
                  <a:pt x="748843" y="378857"/>
                  <a:pt x="748843" y="696754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7044690" y="3660220"/>
            <a:ext cx="121920" cy="152400"/>
          </a:xfrm>
          <a:custGeom>
            <a:avLst/>
            <a:gdLst/>
            <a:ahLst/>
            <a:cxnLst/>
            <a:rect l="0" t="0" r="r" b="b"/>
            <a:pathLst>
              <a:path w="121920" h="152400">
                <a:moveTo>
                  <a:pt x="60960" y="91440"/>
                </a:moveTo>
                <a:cubicBezTo>
                  <a:pt x="60960" y="76200"/>
                  <a:pt x="60960" y="76200"/>
                  <a:pt x="6096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386887" y="3188494"/>
            <a:ext cx="1616393" cy="647700"/>
          </a:xfrm>
          <a:custGeom>
            <a:avLst/>
            <a:gdLst/>
            <a:ahLst/>
            <a:cxnLst/>
            <a:rect l="0" t="0" r="r" b="b"/>
            <a:pathLst>
              <a:path w="1616393" h="647700">
                <a:moveTo>
                  <a:pt x="60960" y="60960"/>
                </a:moveTo>
                <a:cubicBezTo>
                  <a:pt x="60960" y="323850"/>
                  <a:pt x="1555433" y="323850"/>
                  <a:pt x="1555433" y="586740"/>
                </a:cubicBezTo>
              </a:path>
            </a:pathLst>
          </a:custGeom>
          <a:noFill/>
          <a:ln w="15240">
            <a:solidFill>
              <a:srgbClr val="DD7E2C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8622149" y="3973354"/>
            <a:ext cx="2632591" cy="444579"/>
          </a:xfrm>
          <a:custGeom>
            <a:avLst/>
            <a:gdLst/>
            <a:ahLst/>
            <a:cxnLst/>
            <a:rect l="0" t="0" r="r" b="b"/>
            <a:pathLst>
              <a:path w="2632591" h="444579">
                <a:moveTo>
                  <a:pt x="60960" y="383619"/>
                </a:moveTo>
                <a:cubicBezTo>
                  <a:pt x="60960" y="222290"/>
                  <a:pt x="2571631" y="222290"/>
                  <a:pt x="2571631" y="60960"/>
                </a:cubicBezTo>
              </a:path>
            </a:pathLst>
          </a:custGeom>
          <a:noFill/>
          <a:ln w="15240">
            <a:solidFill>
              <a:srgbClr val="C2456A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950720" y="3188494"/>
            <a:ext cx="1770400" cy="405289"/>
          </a:xfrm>
          <a:custGeom>
            <a:avLst/>
            <a:gdLst/>
            <a:ahLst/>
            <a:cxnLst/>
            <a:rect l="0" t="0" r="r" b="b"/>
            <a:pathLst>
              <a:path w="1770400" h="405289">
                <a:moveTo>
                  <a:pt x="60960" y="344329"/>
                </a:moveTo>
                <a:cubicBezTo>
                  <a:pt x="60960" y="202644"/>
                  <a:pt x="1709440" y="202644"/>
                  <a:pt x="170944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866900" y="3188494"/>
            <a:ext cx="1985605" cy="405289"/>
          </a:xfrm>
          <a:custGeom>
            <a:avLst/>
            <a:gdLst/>
            <a:ahLst/>
            <a:cxnLst/>
            <a:rect l="0" t="0" r="r" b="b"/>
            <a:pathLst>
              <a:path w="1985605" h="405289">
                <a:moveTo>
                  <a:pt x="60960" y="344329"/>
                </a:moveTo>
                <a:cubicBezTo>
                  <a:pt x="60960" y="202644"/>
                  <a:pt x="1924645" y="202644"/>
                  <a:pt x="1924645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4188380" y="1686640"/>
            <a:ext cx="152400" cy="121920"/>
          </a:xfrm>
          <a:custGeom>
            <a:avLst/>
            <a:gdLst/>
            <a:ahLst/>
            <a:cxnLst/>
            <a:rect l="0" t="0" r="r" b="b"/>
            <a:pathLst>
              <a:path w="152400" h="121920">
                <a:moveTo>
                  <a:pt x="91440" y="60960"/>
                </a:moveTo>
                <a:cubicBezTo>
                  <a:pt x="81280" y="60960"/>
                  <a:pt x="71120" y="60960"/>
                  <a:pt x="60960" y="60960"/>
                </a:cubicBezTo>
              </a:path>
            </a:pathLst>
          </a:custGeom>
          <a:noFill/>
          <a:ln w="15240">
            <a:solidFill>
              <a:srgbClr val="0E9E78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3925610" y="2275880"/>
            <a:ext cx="152400" cy="121920"/>
          </a:xfrm>
          <a:custGeom>
            <a:avLst/>
            <a:gdLst/>
            <a:ahLst/>
            <a:cxnLst/>
            <a:rect l="0" t="0" r="r" b="b"/>
            <a:pathLst>
              <a:path w="152400" h="121920">
                <a:moveTo>
                  <a:pt x="60960" y="60960"/>
                </a:moveTo>
                <a:cubicBezTo>
                  <a:pt x="71120" y="60960"/>
                  <a:pt x="81280" y="60960"/>
                  <a:pt x="9144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0390823" y="51816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3A6BE5"/>
            </a:solidFill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0390823" y="685800"/>
            <a:ext cx="358140" cy="121920"/>
          </a:xfrm>
          <a:custGeom>
            <a:avLst/>
            <a:gdLst/>
            <a:ahLst/>
            <a:cxnLst/>
            <a:rect l="0" t="0" r="r" b="b"/>
            <a:pathLst>
              <a:path w="358140" h="121920">
                <a:moveTo>
                  <a:pt x="60960" y="60960"/>
                </a:moveTo>
                <a:cubicBezTo>
                  <a:pt x="129540" y="60960"/>
                  <a:pt x="236220" y="60960"/>
                  <a:pt x="297180" y="60960"/>
                </a:cubicBezTo>
              </a:path>
            </a:pathLst>
          </a:custGeom>
          <a:noFill/>
          <a:ln w="15240">
            <a:solidFill>
              <a:srgbClr val="78879F"/>
            </a:solidFill>
            <a:prstDash val="dash"/>
            <a:round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10300716" y="356070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10300716" y="364452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8997696" y="356070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8997696" y="364452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CC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5149596" y="3602617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431840" y="4332589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827776" y="369679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7081266" y="3727275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9423463" y="3225070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DD7E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8658725" y="4332589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24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987296" y="3508439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1903476" y="3508439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255437" y="172321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9E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3962186" y="2312456"/>
            <a:ext cx="48768" cy="487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7887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9100" y="13754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5826" y="137541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8430" y="13868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9100" y="16954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95826" y="16954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8430" y="170688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9100" y="20154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95826" y="201549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8430" y="202692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100" y="23355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95826" y="23355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8430" y="2346961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100" y="265557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95826" y="265557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8430" y="266700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100" y="2975610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95826" y="297561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8430" y="29870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9100" y="32956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95826" y="3295650"/>
            <a:ext cx="53340" cy="53340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8430" y="3307081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9100" y="36156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95826" y="361569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8430" y="362712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19100" y="3935730"/>
            <a:ext cx="53340" cy="53340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95826" y="393573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8430" y="394716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9100" y="4255771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95826" y="4255771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8430" y="426720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19100" y="4575810"/>
            <a:ext cx="53340" cy="53341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95826" y="457581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8430" y="4587240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19100" y="4895850"/>
            <a:ext cx="53340" cy="53340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95826" y="489585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578430" y="4907281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19100" y="5215890"/>
            <a:ext cx="53340" cy="53339"/>
          </a:xfrm>
          <a:prstGeom prst="ellipse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95826" y="5215890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78430" y="5227320"/>
            <a:ext cx="542806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19100" y="553593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795826" y="5535930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78430" y="5547360"/>
            <a:ext cx="754499" cy="144780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19100" y="585597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795826" y="5855970"/>
            <a:ext cx="53340" cy="53340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78430" y="5867401"/>
            <a:ext cx="501253" cy="144780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014460" y="1135380"/>
            <a:ext cx="1383031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466070" y="1135380"/>
            <a:ext cx="1383030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14460" y="1728788"/>
            <a:ext cx="1383031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466070" y="1728788"/>
            <a:ext cx="1383030" cy="524827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14460" y="2352675"/>
            <a:ext cx="2834640" cy="1722836"/>
          </a:xfrm>
          <a:prstGeom prst="roundRect">
            <a:avLst>
              <a:gd name="adj" fmla="val 6634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151620" y="3042642"/>
            <a:ext cx="2560320" cy="68581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51620" y="3042642"/>
            <a:ext cx="1327547" cy="68581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479167" y="3042642"/>
            <a:ext cx="758548" cy="68581"/>
          </a:xfrm>
          <a:prstGeom prst="rect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237715" y="3042642"/>
            <a:ext cx="474107" cy="68581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151620" y="3332202"/>
            <a:ext cx="2560320" cy="68581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1620" y="3332202"/>
            <a:ext cx="1991320" cy="68581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142940" y="3332202"/>
            <a:ext cx="379215" cy="68581"/>
          </a:xfrm>
          <a:prstGeom prst="rect">
            <a:avLst/>
          </a:prstGeom>
          <a:solidFill>
            <a:srgbClr val="4C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22155" y="3332202"/>
            <a:ext cx="189547" cy="68581"/>
          </a:xfrm>
          <a:prstGeom prst="rect">
            <a:avLst/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151620" y="3621763"/>
            <a:ext cx="2560320" cy="68580"/>
          </a:xfrm>
          <a:prstGeom prst="roundRect">
            <a:avLst>
              <a:gd name="adj" fmla="val 50000"/>
            </a:avLst>
          </a:prstGeom>
          <a:solidFill>
            <a:srgbClr val="E1E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151620" y="3621763"/>
            <a:ext cx="1706880" cy="68580"/>
          </a:xfrm>
          <a:prstGeom prst="rect">
            <a:avLst/>
          </a:prstGeom>
          <a:solidFill>
            <a:srgbClr val="78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58500" y="3621763"/>
            <a:ext cx="853440" cy="68580"/>
          </a:xfrm>
          <a:prstGeom prst="rect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9014460" y="4174570"/>
            <a:ext cx="2834640" cy="2371129"/>
          </a:xfrm>
          <a:prstGeom prst="roundRect">
            <a:avLst>
              <a:gd name="adj" fmla="val 4820"/>
            </a:avLst>
          </a:prstGeom>
          <a:gradFill rotWithShape="1">
            <a:gsLst>
              <a:gs pos="0">
                <a:srgbClr val="18233C"/>
              </a:gs>
              <a:gs pos="62000">
                <a:srgbClr val="0F1729"/>
              </a:gs>
            </a:gsLst>
            <a:lin scaled="0" ang="16920000"/>
          </a:gradFill>
          <a:ln w="762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51620" y="454509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151620" y="5018841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151620" y="5492591"/>
            <a:ext cx="144780" cy="144780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151620" y="6099333"/>
            <a:ext cx="144780" cy="144781"/>
          </a:xfrm>
          <a:prstGeom prst="roundRect">
            <a:avLst>
              <a:gd name="adj" fmla="val 31578"/>
            </a:avLst>
          </a:prstGeom>
          <a:solidFill>
            <a:srgbClr val="FFFFFF">
              <a:alpha val="7000"/>
            </a:srgbClr>
          </a:solidFill>
          <a:ln w="762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42900" y="312420"/>
            <a:ext cx="123920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2900" y="457200"/>
            <a:ext cx="6414373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Flux de données et modes d'alimentation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2900" y="847248"/>
            <a:ext cx="395609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Échanges entre outils relevés en entretien, et nature de l'alimentation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9100" y="1120140"/>
            <a:ext cx="143291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SOURCE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31564" y="1120140"/>
            <a:ext cx="95178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30" b="1" spc="94">
                <a:solidFill>
                  <a:srgbClr val="78879F"/>
                </a:solidFill>
                <a:latin typeface="Calibri"/>
              </a:rPr>
              <a:t>SENS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95826" y="1120140"/>
            <a:ext cx="174200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OUTIL DESTINATAIRE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8430" y="1120140"/>
            <a:ext cx="142243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1684" y="1120140"/>
            <a:ext cx="147756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94">
                <a:solidFill>
                  <a:srgbClr val="78879F"/>
                </a:solidFill>
                <a:latin typeface="Calibri"/>
              </a:rPr>
              <a:t>OBJET DU FLUX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9100" y="1443990"/>
            <a:ext cx="934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8160" y="13388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07406" y="13754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95826" y="1443990"/>
            <a:ext cx="11887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94886" y="13388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11730" y="140208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51684" y="1386841"/>
            <a:ext cx="185606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Dépôt des tableaux de suivi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" y="1764030"/>
            <a:ext cx="93476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Excel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8160" y="16588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07406" y="169545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95826" y="1764030"/>
            <a:ext cx="10934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894886" y="16588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11730" y="172212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1684" y="1706880"/>
            <a:ext cx="224266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Alimentation de la cabine de pilotage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9100" y="2084070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8160" y="197893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07406" y="201549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95826" y="2084070"/>
            <a:ext cx="11887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SharePoint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94886" y="1978937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1730" y="204216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1684" y="2026920"/>
            <a:ext cx="20040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Fiches de contrôle vers le DOE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9100" y="2404110"/>
            <a:ext cx="135802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Quick Connect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8160" y="22989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7406" y="233553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95826" y="2404110"/>
            <a:ext cx="10934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94886" y="22989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11730" y="23622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1684" y="2346960"/>
            <a:ext cx="1924765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Indicateurs qualité et sécurité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9100" y="2724150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Pablo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8160" y="26190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07406" y="265557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95826" y="272415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4886" y="26190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311730" y="2682240"/>
            <a:ext cx="1034653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51684" y="2667000"/>
            <a:ext cx="25519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Commandes vers l'engagement de dépense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9100" y="3044190"/>
            <a:ext cx="10777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8160" y="2939058"/>
            <a:ext cx="86225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DAF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7406" y="29756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795826" y="304419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4886" y="29390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1730" y="3002281"/>
            <a:ext cx="1034653" cy="1142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851684" y="2987040"/>
            <a:ext cx="217348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Factures fournisseurs harmonisées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9100" y="3364230"/>
            <a:ext cx="109870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18160" y="32590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7406" y="329565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95826" y="3364230"/>
            <a:ext cx="10777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Basware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94886" y="3259098"/>
            <a:ext cx="86225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8257E6"/>
                </a:solidFill>
                <a:latin typeface="Calibri"/>
              </a:rPr>
              <a:t>DAF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311730" y="332232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851684" y="3307080"/>
            <a:ext cx="174998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Retour de saisie et litiges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19100" y="3684270"/>
            <a:ext cx="118693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8160" y="35791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07406" y="361569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95826" y="3684270"/>
            <a:ext cx="94523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894886" y="35791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311730" y="364236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51684" y="3627120"/>
            <a:ext cx="1871782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Heures chantier vers la paie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9100" y="4004310"/>
            <a:ext cx="110573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8160" y="3899178"/>
            <a:ext cx="108870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DD7E2C"/>
                </a:solidFill>
                <a:latin typeface="Calibri"/>
              </a:rPr>
              <a:t>TRAVAUX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07406" y="393573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95826" y="4004310"/>
            <a:ext cx="109347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94886" y="389917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311730" y="39624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851684" y="3947160"/>
            <a:ext cx="1469351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Inventaire matériel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9100" y="4324350"/>
            <a:ext cx="15506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160" y="4219218"/>
            <a:ext cx="19335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C2456A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07406" y="4255770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95826" y="4324350"/>
            <a:ext cx="1093470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Power BI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94886" y="421921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11730" y="428244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851684" y="4267200"/>
            <a:ext cx="143244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Suivi des déchets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19100" y="4644390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18160" y="453925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07406" y="457581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95826" y="4644390"/>
            <a:ext cx="1109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94886" y="4539258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311730" y="460248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851684" y="4587239"/>
            <a:ext cx="1887617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dessin 2D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9100" y="4964429"/>
            <a:ext cx="1432084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18160" y="485929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07406" y="4895850"/>
            <a:ext cx="800100" cy="1600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795826" y="4964429"/>
            <a:ext cx="1273373" cy="13716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894886" y="4859298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311730" y="492252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851684" y="4907281"/>
            <a:ext cx="214205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Maquettes vers le nuage de points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9100" y="5284471"/>
            <a:ext cx="1432084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Trimble Connect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8160" y="5179338"/>
            <a:ext cx="14005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4CC9E8"/>
                </a:solidFill>
                <a:latin typeface="Calibri"/>
              </a:rPr>
              <a:t>SOCLE COMMUN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16574" y="5215890"/>
            <a:ext cx="781645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⇢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795826" y="5284471"/>
            <a:ext cx="114097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IDCapture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894886" y="5179338"/>
            <a:ext cx="193357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C2456A"/>
                </a:solidFill>
                <a:latin typeface="Calibri"/>
              </a:rPr>
              <a:t>QUALITÉ &amp; ENVIRONNEMENT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311730" y="5242560"/>
            <a:ext cx="107620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INDIRECT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851684" y="5227320"/>
            <a:ext cx="3213616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Repérage des constats — flux indirect, par captures d'écran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9100" y="5604510"/>
            <a:ext cx="1104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La Scene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18160" y="5499377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07406" y="5535929"/>
            <a:ext cx="800100" cy="1600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795826" y="5604510"/>
            <a:ext cx="1273373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894886" y="5499377"/>
            <a:ext cx="13196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311730" y="5562600"/>
            <a:ext cx="128789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0B7E99"/>
                </a:solidFill>
                <a:latin typeface="Calibri"/>
              </a:rPr>
              <a:t>AUTOMATIQUE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851684" y="5547360"/>
            <a:ext cx="179224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Scans vers le retraitement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9100" y="5924550"/>
            <a:ext cx="1109067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AutoCAD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18160" y="5819419"/>
            <a:ext cx="1319689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07406" y="5855971"/>
            <a:ext cx="800100" cy="1600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00" b="1">
                <a:solidFill>
                  <a:srgbClr val="33415C"/>
                </a:solidFill>
                <a:latin typeface="Calibri"/>
              </a:rPr>
              <a:t>→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795826" y="5924550"/>
            <a:ext cx="105644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894886" y="5819419"/>
            <a:ext cx="1319689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30" b="1" spc="31">
                <a:solidFill>
                  <a:srgbClr val="0E9E78"/>
                </a:solidFill>
                <a:latin typeface="Calibri"/>
              </a:rPr>
              <a:t>TOPOGRAPHIE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11730" y="5882640"/>
            <a:ext cx="103465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1" spc="30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851684" y="5867400"/>
            <a:ext cx="1808202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>
                <a:solidFill>
                  <a:srgbClr val="33415C"/>
                </a:solidFill>
                <a:latin typeface="Calibri"/>
              </a:rPr>
              <a:t>Plans vers les calculs topo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04854" y="1196341"/>
            <a:ext cx="802124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224010" y="1470660"/>
            <a:ext cx="96381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PÔLES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698362" y="1196341"/>
            <a:ext cx="918447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54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423922" y="1470660"/>
            <a:ext cx="146732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OUTILS RECENSÉS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246751" y="1789747"/>
            <a:ext cx="918448" cy="2743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022319" y="2064067"/>
            <a:ext cx="136731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SOCLE COMMUN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698362" y="1789747"/>
            <a:ext cx="918447" cy="27432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739" b="1" spc="-52">
                <a:solidFill>
                  <a:srgbClr val="0D1526"/>
                </a:solidFill>
                <a:latin typeface="Calibri"/>
              </a:rPr>
              <a:t>15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462141" y="2064067"/>
            <a:ext cx="139088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70" b="1" spc="51">
                <a:solidFill>
                  <a:srgbClr val="78879F"/>
                </a:solidFill>
                <a:latin typeface="Calibri"/>
              </a:rPr>
              <a:t>FLUX IDENTIFIÉS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151620" y="2459355"/>
            <a:ext cx="19333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78879F"/>
                </a:solidFill>
                <a:latin typeface="Calibri"/>
              </a:rPr>
              <a:t>RÉPARTITION DU PARC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151620" y="2897862"/>
            <a:ext cx="95131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Nature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951006" y="2897862"/>
            <a:ext cx="2446734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Externes 28 · Internes 16 · Non renseigné 10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151620" y="3187423"/>
            <a:ext cx="1193483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Alimentation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926479" y="3187423"/>
            <a:ext cx="2471261" cy="1219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Manuel 42 · Automatique 8 · Non renseigné 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51620" y="3476983"/>
            <a:ext cx="101643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33415C"/>
                </a:solidFill>
                <a:latin typeface="Calibri"/>
              </a:rPr>
              <a:t>Position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030302" y="3476983"/>
            <a:ext cx="23674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0">
                <a:solidFill>
                  <a:srgbClr val="78879F"/>
                </a:solidFill>
                <a:latin typeface="Calibri"/>
              </a:rPr>
              <a:t>Applications métier 36 · Socle commun 18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151620" y="4281250"/>
            <a:ext cx="184654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19">
                <a:solidFill>
                  <a:srgbClr val="4CC9E8"/>
                </a:solidFill>
                <a:latin typeface="Calibri"/>
              </a:rPr>
              <a:t>POINTS D'ATTENTION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197816" y="455842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349740" y="4522231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42 outils sur 54</a:t>
            </a:r>
            <a:r>
              <a:rPr sz="740" b="0">
                <a:solidFill>
                  <a:srgbClr val="C9D5EA"/>
                </a:solidFill>
                <a:latin typeface="Calibri"/>
              </a:rPr>
              <a:t> sont alimentés manuellement : la ressaisie est le principal point de fragilité du dispositif.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197816" y="503217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349740" y="4995981"/>
            <a:ext cx="2392680" cy="3269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Excel</a:t>
            </a:r>
            <a:r>
              <a:rPr sz="740" b="0">
                <a:solidFill>
                  <a:srgbClr val="C9D5EA"/>
                </a:solidFill>
                <a:latin typeface="Calibri"/>
              </a:rPr>
              <a:t> est présent dans 6 services et concentre les échanges sans interface formalisée.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197816" y="5505927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349740" y="5469731"/>
            <a:ext cx="2392680" cy="459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0">
                <a:solidFill>
                  <a:srgbClr val="C9D5EA"/>
                </a:solidFill>
                <a:latin typeface="Calibri"/>
              </a:rPr>
              <a:t>Seuls </a:t>
            </a:r>
            <a:r>
              <a:rPr sz="740" b="1">
                <a:solidFill>
                  <a:srgbClr val="FFFFFF"/>
                </a:solidFill>
                <a:latin typeface="Calibri"/>
              </a:rPr>
              <a:t>8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disposent d'une alimentation automatique, dont Power BI qui dépend d'exports manuels en amont.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9197816" y="6112669"/>
            <a:ext cx="73818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9349740" y="6076474"/>
            <a:ext cx="2392680" cy="32694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0"/>
              </a:lnSpc>
            </a:pPr>
            <a:r>
              <a:rPr sz="740" b="1">
                <a:solidFill>
                  <a:srgbClr val="FFFFFF"/>
                </a:solidFill>
                <a:latin typeface="Calibri"/>
              </a:rPr>
              <a:t>4 outils</a:t>
            </a:r>
            <a:r>
              <a:rPr sz="740" b="0">
                <a:solidFill>
                  <a:srgbClr val="C9D5EA"/>
                </a:solidFill>
                <a:latin typeface="Calibri"/>
              </a:rPr>
              <a:t> restent à qualifier : aucun entretien ne documente leur nature ni leur alimentation.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333911" y="358140"/>
            <a:ext cx="244792" cy="129539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33911" y="548640"/>
            <a:ext cx="331470" cy="129539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333911" y="739140"/>
            <a:ext cx="167996" cy="129539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008114" y="134790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27170" y="130683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46226" y="130683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08114" y="154447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27170" y="1503401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46226" y="1503401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08114" y="1741052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84314" y="1741052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160514" y="1741052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27170" y="169997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46226" y="169997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08114" y="1937623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084314" y="1937623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27170" y="1896547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46226" y="1896547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08114" y="2134195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27170" y="209312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46226" y="209312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08114" y="2330768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027170" y="228969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46226" y="228969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08114" y="252734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027170" y="2486263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46226" y="2486263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008114" y="272391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027170" y="2682836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46226" y="2682836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008114" y="292048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027170" y="2879407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46226" y="2879407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008114" y="311705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027170" y="3075979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46226" y="3075979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08114" y="331362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27170" y="3272552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46226" y="3272552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114" y="351020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027170" y="346912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46226" y="3469125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008114" y="3706773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027170" y="3665696"/>
            <a:ext cx="167997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46226" y="3665696"/>
            <a:ext cx="317897" cy="135614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08114" y="390334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84314" y="3903344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27170" y="386226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46226" y="3862268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08114" y="4099917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84314" y="409991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027170" y="405884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046226" y="4058841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08114" y="4296490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084314" y="4296490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027170" y="4255414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46226" y="425541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008114" y="4493062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27170" y="4451985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046226" y="4451985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008114" y="4689635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027170" y="4648557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046226" y="4648557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08114" y="4886206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084314" y="4886206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160514" y="48862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236714" y="4886206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12914" y="4886206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89114" y="4886206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027170" y="484513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046226" y="4845130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008114" y="5082779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027170" y="504170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046226" y="5041701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008114" y="527935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027170" y="5238274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046226" y="5238274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008114" y="547592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027170" y="5434846"/>
            <a:ext cx="379452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046226" y="5434846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008114" y="5672495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084314" y="56724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160514" y="567249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027170" y="5631417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5046226" y="5631417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08114" y="586906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027170" y="5827990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46226" y="5827990"/>
            <a:ext cx="382905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008114" y="6065638"/>
            <a:ext cx="53340" cy="53341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027170" y="6024562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5046226" y="6024562"/>
            <a:ext cx="382905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008114" y="6262211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027170" y="622113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5046226" y="6221135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008114" y="6458784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027170" y="641770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046226" y="6417708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52655" y="13479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871710" y="130683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890766" y="130683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852655" y="1544479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928854" y="1544479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005055" y="1544479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9871710" y="1503401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10890766" y="1503401"/>
            <a:ext cx="317897" cy="135614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852655" y="1741052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9871710" y="1699974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10890766" y="169997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852655" y="1937623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928854" y="1937623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9871710" y="1896547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10890766" y="1896547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852655" y="21341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928854" y="2134195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9871710" y="209312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10890766" y="2093120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852655" y="2330768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871710" y="2289690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10890766" y="2289690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852655" y="2527341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871710" y="2486263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10890766" y="2486263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852655" y="2723912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871710" y="2682836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10890766" y="2682836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52655" y="2920484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928854" y="2920484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005055" y="2920484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9871710" y="2879407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10890766" y="2879407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852655" y="311705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9871710" y="3075979"/>
            <a:ext cx="167997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10890766" y="3075979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852655" y="3313628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928854" y="3313628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005055" y="331362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081254" y="3313628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871710" y="3272552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10890766" y="3272552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852655" y="3510201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9871710" y="346912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10890766" y="346912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852655" y="3706773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9871710" y="3665696"/>
            <a:ext cx="379453" cy="135614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10890766" y="3665696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852655" y="3903344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9871710" y="3862268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10890766" y="3862268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852655" y="4099917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928854" y="4099917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9005055" y="4099917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9081254" y="4099917"/>
            <a:ext cx="53340" cy="53341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9871710" y="4058841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10890766" y="405884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852655" y="4296490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71710" y="425541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10890766" y="425541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852655" y="4493062"/>
            <a:ext cx="53340" cy="53339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9871710" y="445198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10890766" y="445198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52655" y="4689635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9871710" y="4648557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10890766" y="4648557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852655" y="4886206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9871710" y="4845130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10890766" y="4845130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852655" y="5082779"/>
            <a:ext cx="53340" cy="53341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9871710" y="5041701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10890766" y="5041701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852655" y="5279351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9871710" y="5238274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10890766" y="5238274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8852655" y="5475922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871710" y="5434846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10890766" y="5434846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8852655" y="5672495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9871710" y="5631417"/>
            <a:ext cx="379453" cy="135614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10890766" y="5631417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8852655" y="5869067"/>
            <a:ext cx="53340" cy="53339"/>
          </a:xfrm>
          <a:prstGeom prst="ellipse">
            <a:avLst/>
          </a:prstGeom>
          <a:solidFill>
            <a:srgbClr val="3A6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8928854" y="5869067"/>
            <a:ext cx="53340" cy="53339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005055" y="5869067"/>
            <a:ext cx="53340" cy="53339"/>
          </a:xfrm>
          <a:prstGeom prst="ellipse">
            <a:avLst/>
          </a:prstGeom>
          <a:solidFill>
            <a:srgbClr val="0E9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081254" y="5869067"/>
            <a:ext cx="53340" cy="53339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157454" y="5869067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71710" y="5827990"/>
            <a:ext cx="402312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10890766" y="5827990"/>
            <a:ext cx="382906" cy="135614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852655" y="6065638"/>
            <a:ext cx="53340" cy="53341"/>
          </a:xfrm>
          <a:prstGeom prst="ellipse">
            <a:avLst/>
          </a:prstGeom>
          <a:solidFill>
            <a:srgbClr val="C24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9871710" y="6024562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10890766" y="6024562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52655" y="6262211"/>
            <a:ext cx="53340" cy="53341"/>
          </a:xfrm>
          <a:prstGeom prst="ellipse">
            <a:avLst/>
          </a:prstGeom>
          <a:solidFill>
            <a:srgbClr val="825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8928854" y="6262211"/>
            <a:ext cx="53340" cy="53341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005055" y="6262211"/>
            <a:ext cx="53340" cy="53341"/>
          </a:xfrm>
          <a:prstGeom prst="ellipse">
            <a:avLst/>
          </a:prstGeom>
          <a:solidFill>
            <a:srgbClr val="DD7E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9871710" y="6221135"/>
            <a:ext cx="402312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10890766" y="6221135"/>
            <a:ext cx="382906" cy="135612"/>
          </a:xfrm>
          <a:prstGeom prst="roundRect">
            <a:avLst>
              <a:gd name="adj" fmla="val 50000"/>
            </a:avLst>
          </a:prstGeom>
          <a:solidFill>
            <a:srgbClr val="F5F7FB"/>
          </a:solidFill>
          <a:ln w="7620">
            <a:solidFill>
              <a:srgbClr val="E1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8852655" y="6458784"/>
            <a:ext cx="53340" cy="53339"/>
          </a:xfrm>
          <a:prstGeom prst="ellipse">
            <a:avLst/>
          </a:prstGeom>
          <a:solidFill>
            <a:srgbClr val="5B5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8928854" y="6458784"/>
            <a:ext cx="53340" cy="53339"/>
          </a:xfrm>
          <a:prstGeom prst="ellipse">
            <a:avLst/>
          </a:prstGeom>
          <a:solidFill>
            <a:srgbClr val="0F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9871710" y="6417708"/>
            <a:ext cx="379453" cy="135612"/>
          </a:xfrm>
          <a:prstGeom prst="roundRect">
            <a:avLst>
              <a:gd name="adj" fmla="val 50000"/>
            </a:avLst>
          </a:prstGeom>
          <a:solidFill>
            <a:srgbClr val="5B57D6">
              <a:alpha val="13000"/>
            </a:srgbClr>
          </a:solidFill>
          <a:ln w="7620">
            <a:solidFill>
              <a:srgbClr val="5B57D6">
                <a:alpha val="3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10890766" y="6417708"/>
            <a:ext cx="294561" cy="135612"/>
          </a:xfrm>
          <a:prstGeom prst="roundRect">
            <a:avLst>
              <a:gd name="adj" fmla="val 50000"/>
            </a:avLst>
          </a:prstGeom>
          <a:solidFill>
            <a:srgbClr val="4CC9E8">
              <a:alpha val="17000"/>
            </a:srgbClr>
          </a:solidFill>
          <a:ln w="7620">
            <a:solidFill>
              <a:srgbClr val="4CC9E8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342900" y="312420"/>
            <a:ext cx="123920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 spc="132">
                <a:solidFill>
                  <a:srgbClr val="78879F"/>
                </a:solidFill>
                <a:latin typeface="Calibri"/>
              </a:rPr>
              <a:t>ANNEXE 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42900" y="457200"/>
            <a:ext cx="3634383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400" b="1" spc="-48">
                <a:solidFill>
                  <a:srgbClr val="0D1526"/>
                </a:solidFill>
                <a:latin typeface="Calibri"/>
              </a:rPr>
              <a:t>Référentiel des outils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42900" y="847248"/>
            <a:ext cx="3914418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40" b="0">
                <a:solidFill>
                  <a:srgbClr val="78879F"/>
                </a:solidFill>
                <a:latin typeface="Calibri"/>
              </a:rPr>
              <a:t>Tous les outils recensés, avec éditeur, nature et mode d'alimentation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639663" y="354330"/>
            <a:ext cx="1224321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Outil interne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1971" y="369570"/>
            <a:ext cx="80867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726341" y="544830"/>
            <a:ext cx="1808559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Alimentation automatique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051971" y="560070"/>
            <a:ext cx="895350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0562868" y="735330"/>
            <a:ext cx="113299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>
                <a:solidFill>
                  <a:srgbClr val="33415C"/>
                </a:solidFill>
                <a:latin typeface="Calibri"/>
              </a:rPr>
              <a:t>À qualifier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051971" y="75057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03860" y="1120140"/>
            <a:ext cx="95726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008114" y="1120140"/>
            <a:ext cx="113752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027170" y="1120140"/>
            <a:ext cx="104727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5046226" y="1120140"/>
            <a:ext cx="135231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03860" y="1309093"/>
            <a:ext cx="99095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Achat +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745230" y="131826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764286" y="1318260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03860" y="1505664"/>
            <a:ext cx="10910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Anaconda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745230" y="151483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764286" y="151483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88620" y="168092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AutoCAD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745230" y="171140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764286" y="171140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88620" y="1877497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Basware</a:t>
            </a:r>
            <a:r>
              <a:rPr sz="570" b="0">
                <a:solidFill>
                  <a:srgbClr val="78879F"/>
                </a:solidFill>
                <a:latin typeface="Calibri"/>
              </a:rPr>
              <a:t> Soletanche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745230" y="19079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64286" y="19079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388620" y="207406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BATIS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745230" y="210454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764286" y="210454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388620" y="227064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BIM Vision</a:t>
            </a:r>
            <a:r>
              <a:rPr sz="570" b="0">
                <a:solidFill>
                  <a:srgbClr val="78879F"/>
                </a:solidFill>
                <a:latin typeface="Calibri"/>
              </a:rPr>
              <a:t> Technologia BIM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745230" y="230112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764286" y="230112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03860" y="2488526"/>
            <a:ext cx="112680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BIP / BAPS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3745230" y="249769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764286" y="249769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03860" y="2685098"/>
            <a:ext cx="110978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By My Site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3745230" y="2694265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4764286" y="26942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03860" y="2881669"/>
            <a:ext cx="98393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CEMEX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745230" y="2890838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764286" y="2890838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88620" y="305693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Civil 3D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745230" y="308740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764286" y="308740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03860" y="3274815"/>
            <a:ext cx="101191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Covadis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3745230" y="3283981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764286" y="3283981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88620" y="3450073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CWT</a:t>
            </a:r>
            <a:r>
              <a:rPr sz="570" b="0">
                <a:solidFill>
                  <a:srgbClr val="78879F"/>
                </a:solidFill>
                <a:latin typeface="Calibri"/>
              </a:rPr>
              <a:t> CWT EUROPE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745230" y="348055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4764286" y="348055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03860" y="3667958"/>
            <a:ext cx="120288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Cyclone 3DR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745230" y="3677127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764286" y="3677127"/>
            <a:ext cx="8817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88620" y="384321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DocuSign</a:t>
            </a:r>
            <a:r>
              <a:rPr sz="570" b="0">
                <a:solidFill>
                  <a:srgbClr val="78879F"/>
                </a:solidFill>
                <a:latin typeface="Calibri"/>
              </a:rPr>
              <a:t> Docusign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745230" y="387369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764286" y="387369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388620" y="403979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E-Checking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745230" y="4070270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764286" y="407027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88620" y="423636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E-Paraph</a:t>
            </a:r>
            <a:r>
              <a:rPr sz="570" b="0">
                <a:solidFill>
                  <a:srgbClr val="78879F"/>
                </a:solidFill>
                <a:latin typeface="Calibri"/>
              </a:rPr>
              <a:t> E-paraph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3745230" y="426684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4764286" y="426684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388620" y="443293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E-Project</a:t>
            </a:r>
            <a:r>
              <a:rPr sz="570" b="0">
                <a:solidFill>
                  <a:srgbClr val="78879F"/>
                </a:solidFill>
                <a:latin typeface="Calibri"/>
              </a:rPr>
              <a:t> Tisseo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745230" y="4463416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4764286" y="446341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403860" y="4650820"/>
            <a:ext cx="105537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ERP MAT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745230" y="465998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764286" y="465998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388620" y="4826081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Excel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3745230" y="485655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764286" y="485655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03860" y="5043963"/>
            <a:ext cx="94666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GMAO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745230" y="505313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4764286" y="505313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388620" y="521922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H&amp;R For You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3745230" y="524970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764286" y="524970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03860" y="5437109"/>
            <a:ext cx="1049179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Harmony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3745230" y="54462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764286" y="54462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88620" y="561236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IDCapture</a:t>
            </a:r>
            <a:r>
              <a:rPr sz="570" b="0">
                <a:solidFill>
                  <a:srgbClr val="78879F"/>
                </a:solidFill>
                <a:latin typeface="Calibri"/>
              </a:rPr>
              <a:t> IDCAPTURE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3745230" y="564284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4764286" y="564284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388620" y="580894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Inventor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3745230" y="5839419"/>
            <a:ext cx="96619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4764286" y="5839419"/>
            <a:ext cx="9467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388620" y="600551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La Scene</a:t>
            </a:r>
            <a:r>
              <a:rPr sz="570" b="0">
                <a:solidFill>
                  <a:srgbClr val="78879F"/>
                </a:solidFill>
                <a:latin typeface="Calibri"/>
              </a:rPr>
              <a:t> Leica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3745230" y="6035992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4764286" y="6035992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403860" y="6223396"/>
            <a:ext cx="1037630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Lafarge+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745230" y="6232565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4764286" y="6232565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403860" y="6419969"/>
            <a:ext cx="1556861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Live Objects (Orange)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3745230" y="6429137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4764286" y="6429137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6248400" y="1120140"/>
            <a:ext cx="957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OUTIL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8852655" y="1120140"/>
            <a:ext cx="113752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SERVICES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9871710" y="1120140"/>
            <a:ext cx="104727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NATURE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0890766" y="1120140"/>
            <a:ext cx="135231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70" b="1" spc="85">
                <a:solidFill>
                  <a:srgbClr val="78879F"/>
                </a:solidFill>
                <a:latin typeface="Calibri"/>
              </a:rPr>
              <a:t>ALIMENTATION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248400" y="1309093"/>
            <a:ext cx="1058465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Lucee TP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9589770" y="1318260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0608826" y="131826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6233160" y="148435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Mezzoteam</a:t>
            </a:r>
            <a:r>
              <a:rPr sz="570" b="0">
                <a:solidFill>
                  <a:srgbClr val="78879F"/>
                </a:solidFill>
                <a:latin typeface="Calibri"/>
              </a:rPr>
              <a:t> MEZZOTEAM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9589770" y="151483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10608826" y="1514833"/>
            <a:ext cx="8817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Mixte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6248400" y="1702237"/>
            <a:ext cx="90475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MIRO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9589770" y="1711404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0608826" y="171140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6248400" y="1898809"/>
            <a:ext cx="881420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MMS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9589770" y="19079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0608826" y="19079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6248400" y="2095382"/>
            <a:ext cx="1119068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MS Project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9589770" y="210454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608826" y="2104549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6248400" y="2291953"/>
            <a:ext cx="1077277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Neoaccès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589770" y="230112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608826" y="2301122"/>
            <a:ext cx="731877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6233160" y="246721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NotebookLM</a:t>
            </a:r>
            <a:r>
              <a:rPr sz="570" b="0">
                <a:solidFill>
                  <a:srgbClr val="78879F"/>
                </a:solidFill>
                <a:latin typeface="Calibri"/>
              </a:rPr>
              <a:t> GOOGLE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9589770" y="2497693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0608826" y="249769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6233160" y="2663786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Oasis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9589770" y="2694265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0608826" y="26942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6233160" y="2860357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Pablo</a:t>
            </a:r>
            <a:r>
              <a:rPr sz="570" b="0">
                <a:solidFill>
                  <a:srgbClr val="78879F"/>
                </a:solidFill>
                <a:latin typeface="Calibri"/>
              </a:rPr>
              <a:t> Systra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9589770" y="289083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10608826" y="289083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6248400" y="3078242"/>
            <a:ext cx="88153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Pixis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9589770" y="3087409"/>
            <a:ext cx="731877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?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10608826" y="3087409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233160" y="3253503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Power BI</a:t>
            </a:r>
            <a:r>
              <a:rPr sz="570" b="0">
                <a:solidFill>
                  <a:srgbClr val="78879F"/>
                </a:solidFill>
                <a:latin typeface="Calibri"/>
              </a:rPr>
              <a:t> BYCN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9589770" y="3283981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10608826" y="3283981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248400" y="3471385"/>
            <a:ext cx="1146929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PowerPoint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9589770" y="3480554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10608826" y="3480554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6248400" y="3667958"/>
            <a:ext cx="914162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Puma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589770" y="367712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608826" y="367712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6233160" y="3843219"/>
            <a:ext cx="2528054" cy="20419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QGIS</a:t>
            </a:r>
            <a:r>
              <a:rPr sz="570" b="0">
                <a:solidFill>
                  <a:srgbClr val="78879F"/>
                </a:solidFill>
                <a:latin typeface="Calibri"/>
              </a:rPr>
              <a:t> QGIS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9589770" y="3873698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0608826" y="387369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6233160" y="403979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Quick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Synologie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9589770" y="4070270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10608826" y="4070270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233160" y="4236362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Revit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9589770" y="426684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10608826" y="426684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6233160" y="4432935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SharePoint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9589770" y="4463416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608826" y="4463416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233160" y="4629508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Simple BIM</a:t>
            </a:r>
            <a:r>
              <a:rPr sz="570" b="0">
                <a:solidFill>
                  <a:srgbClr val="78879F"/>
                </a:solidFill>
                <a:latin typeface="Calibri"/>
              </a:rPr>
              <a:t> Licence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9589770" y="4659987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10608826" y="4659987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6248400" y="4847392"/>
            <a:ext cx="1458992" cy="12191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Sixense Monitoring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9589770" y="4856559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608826" y="4856559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6233160" y="5022651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Sofistik Bridge</a:t>
            </a:r>
            <a:r>
              <a:rPr sz="570" b="0">
                <a:solidFill>
                  <a:srgbClr val="78879F"/>
                </a:solidFill>
                <a:latin typeface="Calibri"/>
              </a:rPr>
              <a:t> Autodesk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9589770" y="5053132"/>
            <a:ext cx="966192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10608826" y="5053132"/>
            <a:ext cx="946785" cy="10667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6233160" y="521922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Tableau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9589770" y="5249703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10608826" y="5249703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6248400" y="5437109"/>
            <a:ext cx="872133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TIPS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589770" y="5446276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10608826" y="5446276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248400" y="5633680"/>
            <a:ext cx="970002" cy="12192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Traktor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9589770" y="5642848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608826" y="5642848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33160" y="5808940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Trimble Connect</a:t>
            </a:r>
            <a:r>
              <a:rPr sz="570" b="0">
                <a:solidFill>
                  <a:srgbClr val="78879F"/>
                </a:solidFill>
                <a:latin typeface="Calibri"/>
              </a:rPr>
              <a:t> tekla bimsight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9589770" y="5839419"/>
            <a:ext cx="966192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10608826" y="5839419"/>
            <a:ext cx="946785" cy="10668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6248400" y="6026825"/>
            <a:ext cx="1446848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Wastemarket Place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9589770" y="6035992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10608826" y="6035992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6233160" y="6202084"/>
            <a:ext cx="2528054" cy="2041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790"/>
              </a:lnSpc>
            </a:pPr>
            <a:r>
              <a:rPr sz="660" b="1">
                <a:solidFill>
                  <a:srgbClr val="0D1526"/>
                </a:solidFill>
                <a:latin typeface="Calibri"/>
              </a:rPr>
              <a:t>Word</a:t>
            </a:r>
            <a:r>
              <a:rPr sz="570" b="0">
                <a:solidFill>
                  <a:srgbClr val="78879F"/>
                </a:solidFill>
                <a:latin typeface="Calibri"/>
              </a:rPr>
              <a:t> Microsoft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9589770" y="6232565"/>
            <a:ext cx="96619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Externe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0608826" y="6232565"/>
            <a:ext cx="946785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78879F"/>
                </a:solidFill>
                <a:latin typeface="Calibri"/>
              </a:rPr>
              <a:t>Manuel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6248400" y="6419969"/>
            <a:ext cx="1044416" cy="1219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60" b="1">
                <a:solidFill>
                  <a:srgbClr val="0D1526"/>
                </a:solidFill>
                <a:latin typeface="Calibri"/>
              </a:rPr>
              <a:t>YELLOW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9589770" y="6429137"/>
            <a:ext cx="943332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5B57D6"/>
                </a:solidFill>
                <a:latin typeface="Calibri"/>
              </a:rPr>
              <a:t>Interne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0608826" y="6429137"/>
            <a:ext cx="858441" cy="106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540" b="1" spc="32">
                <a:solidFill>
                  <a:srgbClr val="0B7E99"/>
                </a:solidFill>
                <a:latin typeface="Calibri"/>
              </a:rPr>
              <a:t>Auto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342900" y="6644640"/>
            <a:ext cx="258699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Source : BDD Cartographie Outils IT — 16 entretiens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1429762" y="6644640"/>
            <a:ext cx="110513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>
                <a:solidFill>
                  <a:srgbClr val="78879F"/>
                </a:solidFill>
                <a:latin typeface="Calibri"/>
              </a:rPr>
              <a:t>Planche 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
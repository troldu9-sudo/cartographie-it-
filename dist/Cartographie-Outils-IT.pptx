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812292" y="693420"/>
            <a:ext cx="444341" cy="16002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2900" y="1074420"/>
            <a:ext cx="2807970" cy="2026801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0520" y="1082040"/>
            <a:ext cx="2792730" cy="38100"/>
          </a:xfrm>
          <a:prstGeom prst="rect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07670" y="1158002"/>
            <a:ext cx="121920" cy="121920"/>
          </a:xfrm>
          <a:prstGeom prst="ellipse">
            <a:avLst/>
          </a:prstGeom>
          <a:solidFill>
            <a:srgbClr val="3A6BE5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34340" y="1184672"/>
            <a:ext cx="68580" cy="68580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45776" y="1683306"/>
            <a:ext cx="161365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4340" y="1755696"/>
            <a:ext cx="574596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39416" y="1755696"/>
            <a:ext cx="518636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88532" y="1755696"/>
            <a:ext cx="437198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33262" y="2234565"/>
            <a:ext cx="1726168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40" y="2306955"/>
            <a:ext cx="605195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70015" y="2306955"/>
            <a:ext cx="632222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32717" y="2306955"/>
            <a:ext cx="552450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315647" y="2306955"/>
            <a:ext cx="433149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40" y="2504123"/>
            <a:ext cx="653772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8592" y="2504123"/>
            <a:ext cx="749498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2310" y="1074420"/>
            <a:ext cx="2807970" cy="2026801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49930" y="1082040"/>
            <a:ext cx="2792730" cy="38100"/>
          </a:xfrm>
          <a:prstGeom prst="rect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07080" y="1158002"/>
            <a:ext cx="121920" cy="121920"/>
          </a:xfrm>
          <a:prstGeom prst="ellipse">
            <a:avLst/>
          </a:prstGeom>
          <a:solidFill>
            <a:srgbClr val="0E9E7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33750" y="1184672"/>
            <a:ext cx="68580" cy="6858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8646" y="1566267"/>
            <a:ext cx="1550193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33750" y="1638657"/>
            <a:ext cx="799148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63378" y="1638657"/>
            <a:ext cx="491133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92761" y="2114669"/>
            <a:ext cx="1966079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333750" y="2187059"/>
            <a:ext cx="574596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938826" y="2187059"/>
            <a:ext cx="459939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63471" y="2548890"/>
            <a:ext cx="1995368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333750" y="2621280"/>
            <a:ext cx="529590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41720" y="1074420"/>
            <a:ext cx="2807970" cy="2026801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49340" y="1082040"/>
            <a:ext cx="2792730" cy="38100"/>
          </a:xfrm>
          <a:prstGeom prst="rect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06490" y="1158002"/>
            <a:ext cx="121920" cy="121920"/>
          </a:xfrm>
          <a:prstGeom prst="ellipse">
            <a:avLst/>
          </a:prstGeom>
          <a:solidFill>
            <a:srgbClr val="0F8FA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33160" y="1184672"/>
            <a:ext cx="68580" cy="68580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48180" y="1456611"/>
            <a:ext cx="151007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33160" y="1529001"/>
            <a:ext cx="634484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10281" y="1895356"/>
            <a:ext cx="1847969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33160" y="1967746"/>
            <a:ext cx="574596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101602" y="2334101"/>
            <a:ext cx="1756648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33160" y="2406491"/>
            <a:ext cx="607576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14436" y="2772847"/>
            <a:ext cx="194381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33160" y="2845237"/>
            <a:ext cx="425529" cy="166688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041130" y="1074420"/>
            <a:ext cx="2807970" cy="2026801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48750" y="1082040"/>
            <a:ext cx="2792730" cy="38100"/>
          </a:xfrm>
          <a:prstGeom prst="rect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105900" y="1158002"/>
            <a:ext cx="121920" cy="121920"/>
          </a:xfrm>
          <a:prstGeom prst="ellipse">
            <a:avLst/>
          </a:prstGeom>
          <a:solidFill>
            <a:srgbClr val="DD7E2C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132570" y="1184672"/>
            <a:ext cx="68580" cy="68580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881354" y="1518880"/>
            <a:ext cx="187630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132570" y="1591270"/>
            <a:ext cx="439578" cy="166688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602629" y="1591270"/>
            <a:ext cx="634484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905881" y="1905714"/>
            <a:ext cx="1851779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32570" y="1978104"/>
            <a:ext cx="561737" cy="166688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777889" y="2406729"/>
            <a:ext cx="1979771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132570" y="2479119"/>
            <a:ext cx="607576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976009" y="2793563"/>
            <a:ext cx="1781651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42900" y="3207901"/>
            <a:ext cx="11506200" cy="892374"/>
          </a:xfrm>
          <a:prstGeom prst="roundRect">
            <a:avLst>
              <a:gd name="adj" fmla="val 13662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56360" y="3384590"/>
            <a:ext cx="1226820" cy="187762"/>
          </a:xfrm>
          <a:prstGeom prst="roundRect">
            <a:avLst>
              <a:gd name="adj" fmla="val 2840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56360" y="3602831"/>
            <a:ext cx="1226820" cy="187761"/>
          </a:xfrm>
          <a:prstGeom prst="roundRect">
            <a:avLst>
              <a:gd name="adj" fmla="val 2840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659380" y="3384590"/>
            <a:ext cx="1226820" cy="187762"/>
          </a:xfrm>
          <a:prstGeom prst="roundRect">
            <a:avLst>
              <a:gd name="adj" fmla="val 2840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659380" y="3602831"/>
            <a:ext cx="1226820" cy="187761"/>
          </a:xfrm>
          <a:prstGeom prst="roundRect">
            <a:avLst>
              <a:gd name="adj" fmla="val 2840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962400" y="3384590"/>
            <a:ext cx="1211580" cy="187762"/>
          </a:xfrm>
          <a:prstGeom prst="roundRect">
            <a:avLst>
              <a:gd name="adj" fmla="val 2840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04460" y="3384590"/>
            <a:ext cx="1211580" cy="187762"/>
          </a:xfrm>
          <a:prstGeom prst="roundRect">
            <a:avLst>
              <a:gd name="adj" fmla="val 2840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2400" y="3602831"/>
            <a:ext cx="1211580" cy="187761"/>
          </a:xfrm>
          <a:prstGeom prst="roundRect">
            <a:avLst>
              <a:gd name="adj" fmla="val 2840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204460" y="3602831"/>
            <a:ext cx="1211580" cy="187761"/>
          </a:xfrm>
          <a:prstGeom prst="roundRect">
            <a:avLst>
              <a:gd name="adj" fmla="val 2840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962400" y="3821073"/>
            <a:ext cx="1211580" cy="187762"/>
          </a:xfrm>
          <a:prstGeom prst="roundRect">
            <a:avLst>
              <a:gd name="adj" fmla="val 2840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492240" y="3384590"/>
            <a:ext cx="1226820" cy="187762"/>
          </a:xfrm>
          <a:prstGeom prst="roundRect">
            <a:avLst>
              <a:gd name="adj" fmla="val 2840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492240" y="3602831"/>
            <a:ext cx="1226820" cy="187761"/>
          </a:xfrm>
          <a:prstGeom prst="roundRect">
            <a:avLst>
              <a:gd name="adj" fmla="val 2840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795260" y="3384590"/>
            <a:ext cx="1226820" cy="187762"/>
          </a:xfrm>
          <a:prstGeom prst="roundRect">
            <a:avLst>
              <a:gd name="adj" fmla="val 2840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795260" y="3602831"/>
            <a:ext cx="1226820" cy="187761"/>
          </a:xfrm>
          <a:prstGeom prst="roundRect">
            <a:avLst>
              <a:gd name="adj" fmla="val 2840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795260" y="3821073"/>
            <a:ext cx="1226820" cy="187762"/>
          </a:xfrm>
          <a:prstGeom prst="roundRect">
            <a:avLst>
              <a:gd name="adj" fmla="val 2840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098280" y="3384590"/>
            <a:ext cx="1226820" cy="187762"/>
          </a:xfrm>
          <a:prstGeom prst="roundRect">
            <a:avLst>
              <a:gd name="adj" fmla="val 2840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098280" y="3602831"/>
            <a:ext cx="1226820" cy="187761"/>
          </a:xfrm>
          <a:prstGeom prst="roundRect">
            <a:avLst>
              <a:gd name="adj" fmla="val 2840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0401301" y="3284101"/>
            <a:ext cx="1333500" cy="724734"/>
          </a:xfrm>
          <a:prstGeom prst="roundRect">
            <a:avLst>
              <a:gd name="adj" fmla="val 10514"/>
            </a:avLst>
          </a:prstGeom>
          <a:solidFill>
            <a:srgbClr val="4CC9E8">
              <a:alpha val="7000"/>
            </a:srgbClr>
          </a:solidFill>
          <a:ln w="7620">
            <a:solidFill>
              <a:srgbClr val="4CC9E8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0454640" y="3337441"/>
            <a:ext cx="1226820" cy="274320"/>
          </a:xfrm>
          <a:prstGeom prst="roundRect">
            <a:avLst>
              <a:gd name="adj" fmla="val 19444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10454640" y="3642241"/>
            <a:ext cx="1226820" cy="274320"/>
          </a:xfrm>
          <a:prstGeom prst="roundRect">
            <a:avLst>
              <a:gd name="adj" fmla="val 19444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42900" y="4206954"/>
            <a:ext cx="2807970" cy="2384346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50520" y="4214574"/>
            <a:ext cx="2792730" cy="38100"/>
          </a:xfrm>
          <a:prstGeom prst="rect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07670" y="4290536"/>
            <a:ext cx="121920" cy="121920"/>
          </a:xfrm>
          <a:prstGeom prst="ellipse">
            <a:avLst/>
          </a:prstGeom>
          <a:solidFill>
            <a:srgbClr val="5B57D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34340" y="4317206"/>
            <a:ext cx="68580" cy="68580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34772" y="4699992"/>
            <a:ext cx="2024658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434340" y="4772382"/>
            <a:ext cx="391835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56655" y="4772382"/>
            <a:ext cx="439579" cy="166688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10126" y="5249585"/>
            <a:ext cx="204930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43796" y="5602010"/>
            <a:ext cx="221563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434340" y="5674400"/>
            <a:ext cx="438984" cy="166688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161455" y="6037421"/>
            <a:ext cx="1897975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34340" y="6109811"/>
            <a:ext cx="422315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887135" y="6109811"/>
            <a:ext cx="529114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242310" y="4206954"/>
            <a:ext cx="2807970" cy="2384346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249930" y="4214574"/>
            <a:ext cx="2792730" cy="38100"/>
          </a:xfrm>
          <a:prstGeom prst="rect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307080" y="4290536"/>
            <a:ext cx="121920" cy="121920"/>
          </a:xfrm>
          <a:prstGeom prst="ellipse">
            <a:avLst/>
          </a:prstGeom>
          <a:solidFill>
            <a:srgbClr val="8257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333750" y="4317206"/>
            <a:ext cx="68580" cy="68580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330898" y="4677251"/>
            <a:ext cx="1627941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838337" y="5006935"/>
            <a:ext cx="2120503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333750" y="5079325"/>
            <a:ext cx="546854" cy="166688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188500" y="5533787"/>
            <a:ext cx="177034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333750" y="5606177"/>
            <a:ext cx="453271" cy="166688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316373" y="6060639"/>
            <a:ext cx="1642467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3333750" y="6133029"/>
            <a:ext cx="617220" cy="166688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981450" y="6133029"/>
            <a:ext cx="684967" cy="166688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696897" y="6133029"/>
            <a:ext cx="520422" cy="166688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141720" y="4206954"/>
            <a:ext cx="2807970" cy="2384346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149340" y="4214574"/>
            <a:ext cx="2792730" cy="38100"/>
          </a:xfrm>
          <a:prstGeom prst="rect">
            <a:avLst/>
          </a:prstGeom>
          <a:solidFill>
            <a:srgbClr val="5F7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206490" y="4290536"/>
            <a:ext cx="121920" cy="121920"/>
          </a:xfrm>
          <a:prstGeom prst="ellipse">
            <a:avLst/>
          </a:prstGeom>
          <a:solidFill>
            <a:srgbClr val="5F7A1B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233160" y="4317206"/>
            <a:ext cx="68580" cy="68580"/>
          </a:xfrm>
          <a:prstGeom prst="ellipse">
            <a:avLst/>
          </a:prstGeom>
          <a:solidFill>
            <a:srgbClr val="5F7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071122" y="4608433"/>
            <a:ext cx="1787128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6233160" y="4680823"/>
            <a:ext cx="703064" cy="166688"/>
          </a:xfrm>
          <a:prstGeom prst="roundRect">
            <a:avLst>
              <a:gd name="adj" fmla="val 50000"/>
            </a:avLst>
          </a:prstGeom>
          <a:solidFill>
            <a:srgbClr val="5F7A1B">
              <a:alpha val="12000"/>
            </a:srgbClr>
          </a:solidFill>
          <a:ln w="7620">
            <a:solidFill>
              <a:srgbClr val="5F7A1B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159704" y="5066467"/>
            <a:ext cx="169854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6233160" y="5138857"/>
            <a:ext cx="546854" cy="166688"/>
          </a:xfrm>
          <a:prstGeom prst="roundRect">
            <a:avLst>
              <a:gd name="adj" fmla="val 50000"/>
            </a:avLst>
          </a:prstGeom>
          <a:solidFill>
            <a:srgbClr val="5F7A1B">
              <a:alpha val="12000"/>
            </a:srgbClr>
          </a:solidFill>
          <a:ln w="7620">
            <a:solidFill>
              <a:srgbClr val="5F7A1B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821924" y="5410319"/>
            <a:ext cx="203632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6233160" y="5482709"/>
            <a:ext cx="502206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138392" y="5868353"/>
            <a:ext cx="1719858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065764" y="6129219"/>
            <a:ext cx="179248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6233160" y="6201609"/>
            <a:ext cx="546854" cy="166688"/>
          </a:xfrm>
          <a:prstGeom prst="roundRect">
            <a:avLst>
              <a:gd name="adj" fmla="val 50000"/>
            </a:avLst>
          </a:prstGeom>
          <a:solidFill>
            <a:srgbClr val="5F7A1B">
              <a:alpha val="12000"/>
            </a:srgbClr>
          </a:solidFill>
          <a:ln w="7620">
            <a:solidFill>
              <a:srgbClr val="5F7A1B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9041130" y="4206954"/>
            <a:ext cx="2807970" cy="2384346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048750" y="4214574"/>
            <a:ext cx="2792730" cy="38100"/>
          </a:xfrm>
          <a:prstGeom prst="rect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9105900" y="4290536"/>
            <a:ext cx="121920" cy="121920"/>
          </a:xfrm>
          <a:prstGeom prst="ellipse">
            <a:avLst/>
          </a:prstGeom>
          <a:solidFill>
            <a:srgbClr val="C2456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9132570" y="4317206"/>
            <a:ext cx="68580" cy="68580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827776" y="4644152"/>
            <a:ext cx="518279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9132570" y="4716542"/>
            <a:ext cx="437912" cy="166688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00962" y="4716542"/>
            <a:ext cx="607576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1510010" y="4644152"/>
            <a:ext cx="24765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10544176" y="4716542"/>
            <a:ext cx="607576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033278" y="5229225"/>
            <a:ext cx="31277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9132570" y="5301615"/>
            <a:ext cx="660082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532513" y="5229225"/>
            <a:ext cx="225147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10544176" y="5301615"/>
            <a:ext cx="730329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10544176" y="5498783"/>
            <a:ext cx="852487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10544176" y="5695950"/>
            <a:ext cx="562689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10544176" y="5893118"/>
            <a:ext cx="696039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919335" y="6207919"/>
            <a:ext cx="42672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9132570" y="6280309"/>
            <a:ext cx="918924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441192" y="6207919"/>
            <a:ext cx="316468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42900" y="312420"/>
            <a:ext cx="3437453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SYSTÈME D'INFORMATION CHANTIER · VUE D'ENSEMBLE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2900" y="449580"/>
            <a:ext cx="3747969" cy="4038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Cartographie des outils IT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2900" y="854869"/>
            <a:ext cx="3943588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Huit pôles, leurs missions et leurs outils, autour du socle applicatif commun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89219" y="342900"/>
            <a:ext cx="179260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Développé / porté en interne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812292" y="350520"/>
            <a:ext cx="80176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34">
                <a:solidFill>
                  <a:srgbClr val="5B57D6"/>
                </a:solidFill>
                <a:latin typeface="Calibri"/>
              </a:rPr>
              <a:t>INT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997315" y="510540"/>
            <a:ext cx="138243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Éditeur du marché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812292" y="518160"/>
            <a:ext cx="80986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34">
                <a:solidFill>
                  <a:srgbClr val="78879F"/>
                </a:solidFill>
                <a:latin typeface="Calibri"/>
              </a:rPr>
              <a:t>EXT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317594" y="704850"/>
            <a:ext cx="176093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Outil ou mission à confirmer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37972" y="708660"/>
            <a:ext cx="992981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À valider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841950" y="342900"/>
            <a:ext cx="169295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590848" y="350520"/>
            <a:ext cx="8759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34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895648" y="510540"/>
            <a:ext cx="129087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automatisé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895648" y="678180"/>
            <a:ext cx="154888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manuel (ressaisie)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71500" y="1127760"/>
            <a:ext cx="1453634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Méthodes &amp; BIM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3880" y="1272064"/>
            <a:ext cx="128944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INGÉNIERIE · BIM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34340" y="1633776"/>
            <a:ext cx="164389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3A6BE5"/>
                </a:solidFill>
                <a:latin typeface="Calibri"/>
              </a:rPr>
              <a:t>PRODUCTION DE MAQUETTES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80060" y="1770936"/>
            <a:ext cx="498396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85136" y="1770936"/>
            <a:ext cx="442436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Civil 3D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34252" y="1770936"/>
            <a:ext cx="360998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Revit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34340" y="2185035"/>
            <a:ext cx="15313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3A6BE5"/>
                </a:solidFill>
                <a:latin typeface="Calibri"/>
              </a:rPr>
              <a:t>GESTION DES MAQUETTES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0060" y="2322195"/>
            <a:ext cx="528995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Anaconda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15735" y="2322195"/>
            <a:ext cx="556022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BIM Vision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78437" y="2322195"/>
            <a:ext cx="476250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Inventor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361367" y="2322195"/>
            <a:ext cx="356949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QGIS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0060" y="2519363"/>
            <a:ext cx="577572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Simple BIM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64312" y="2519363"/>
            <a:ext cx="673298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Sofistik Bridge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19100" y="2686050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Mezzoteam · Trimble Connect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70910" y="1127760"/>
            <a:ext cx="1242060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Topographie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463290" y="1272064"/>
            <a:ext cx="156531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RELEVÉS · IMPLANTATION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333750" y="1516737"/>
            <a:ext cx="170735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RELEVÉS ET NUAGES DE POINTS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379470" y="1653897"/>
            <a:ext cx="722948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33415C"/>
                </a:solidFill>
                <a:latin typeface="Calibri"/>
              </a:rPr>
              <a:t>Cyclone 3DR</a:t>
            </a:r>
            <a:r>
              <a:rPr sz="459" b="1" spc="18">
                <a:solidFill>
                  <a:srgbClr val="44A0BE"/>
                </a:solidFill>
                <a:latin typeface="Calibri"/>
              </a:rPr>
              <a:t> AUTO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209098" y="1653897"/>
            <a:ext cx="414933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33415C"/>
                </a:solidFill>
                <a:latin typeface="Calibri"/>
              </a:rPr>
              <a:t>La Scene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318510" y="1820585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Trimble Connect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333750" y="2065139"/>
            <a:ext cx="129147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PLANS ET CALCULS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379470" y="2202299"/>
            <a:ext cx="498396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984546" y="2202299"/>
            <a:ext cx="383739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33415C"/>
                </a:solidFill>
                <a:latin typeface="Calibri"/>
              </a:rPr>
              <a:t>Covadis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333750" y="2499360"/>
            <a:ext cx="12621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SUIVI DES LEVERS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379470" y="2636520"/>
            <a:ext cx="453390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33415C"/>
                </a:solidFill>
                <a:latin typeface="Calibri"/>
              </a:rPr>
              <a:t>Pixis</a:t>
            </a:r>
            <a:r>
              <a:rPr sz="459" b="1" spc="18">
                <a:solidFill>
                  <a:srgbClr val="44A0BE"/>
                </a:solidFill>
                <a:latin typeface="Calibri"/>
              </a:rPr>
              <a:t> AUTO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18510" y="2803208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370320" y="1127760"/>
            <a:ext cx="988933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Tunnel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362700" y="1272064"/>
            <a:ext cx="148613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OUVRAGE SOUTERRAIN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233160" y="1407081"/>
            <a:ext cx="174748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PLANIFICATION ET AVANCEMENT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278880" y="1544241"/>
            <a:ext cx="558284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MS Project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217920" y="1710928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Power BI · YELLOW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233160" y="1845826"/>
            <a:ext cx="140958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PLANS ET MAQUETTES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278880" y="1982986"/>
            <a:ext cx="498396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17920" y="2149673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Trimble Connect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233160" y="2284571"/>
            <a:ext cx="150090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RÉSERVES ET CONTRÔLES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278880" y="2421731"/>
            <a:ext cx="531376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217920" y="2588419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Quick Connect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233160" y="2723317"/>
            <a:ext cx="131373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GESTION DU STOCK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278880" y="2860477"/>
            <a:ext cx="349329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78879F"/>
                </a:solidFill>
                <a:latin typeface="Calibri"/>
              </a:rPr>
              <a:t>GMAO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269730" y="1127760"/>
            <a:ext cx="1032271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Travaux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262110" y="1272064"/>
            <a:ext cx="1443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EXÉCUTION CHANTIER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132570" y="1469350"/>
            <a:ext cx="138124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JALONS DE CHANTIER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78290" y="1606510"/>
            <a:ext cx="363378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DD7E2C"/>
                </a:solidFill>
                <a:latin typeface="Calibri"/>
              </a:rPr>
              <a:t>INT </a:t>
            </a:r>
            <a:r>
              <a:rPr sz="650" b="1">
                <a:solidFill>
                  <a:srgbClr val="DD7E2C"/>
                </a:solidFill>
                <a:latin typeface="Calibri"/>
              </a:rPr>
              <a:t>MMS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648349" y="1606510"/>
            <a:ext cx="558284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MS Project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132570" y="1856184"/>
            <a:ext cx="140577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ENGINS ET MATÉRIELS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178290" y="1993344"/>
            <a:ext cx="485537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DD7E2C"/>
                </a:solidFill>
                <a:latin typeface="Calibri"/>
              </a:rPr>
              <a:t>INT </a:t>
            </a:r>
            <a:r>
              <a:rPr sz="650" b="1">
                <a:solidFill>
                  <a:srgbClr val="DD7E2C"/>
                </a:solidFill>
                <a:latin typeface="Calibri"/>
              </a:rPr>
              <a:t>ERP MAT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9117330" y="2160032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Pablo · Traktor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9132570" y="2357199"/>
            <a:ext cx="127777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RÉSERVES ET MAD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178290" y="2494359"/>
            <a:ext cx="531376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32570" y="2744033"/>
            <a:ext cx="147589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CONDUITE DE CHANTIER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9117330" y="2850713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Mezzoteam · Quick Connect · Trimble Connect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57200" y="3268861"/>
            <a:ext cx="137588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102">
                <a:solidFill>
                  <a:srgbClr val="4CC9E8"/>
                </a:solidFill>
                <a:latin typeface="Calibri"/>
              </a:rPr>
              <a:t>SOCLE APPLICATIF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57200" y="3352681"/>
            <a:ext cx="1070015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>
                <a:solidFill>
                  <a:srgbClr val="FFFFFF"/>
                </a:solidFill>
                <a:latin typeface="Calibri"/>
              </a:rPr>
              <a:t>Logiciels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57200" y="3474125"/>
            <a:ext cx="1133356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>
                <a:solidFill>
                  <a:srgbClr val="FFFFFF"/>
                </a:solidFill>
                <a:latin typeface="Calibri"/>
              </a:rPr>
              <a:t>communs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264563" y="3261241"/>
            <a:ext cx="141041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GED &amp; COLLABORATION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386840" y="3407450"/>
            <a:ext cx="1181100" cy="17252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Trimble Connect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386840" y="3625691"/>
            <a:ext cx="1181100" cy="1725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Mezzoteam</a:t>
            </a:r>
            <a:r>
              <a:rPr sz="459" b="1" spc="18">
                <a:solidFill>
                  <a:srgbClr val="4CC9E8"/>
                </a:solidFill>
                <a:latin typeface="Calibri"/>
              </a:rPr>
              <a:t> AUTO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528054" y="3261241"/>
            <a:ext cx="148947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VALIDATION &amp; SIGNATURE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2689860" y="3407450"/>
            <a:ext cx="1181100" cy="17252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E-Paraph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689860" y="3625691"/>
            <a:ext cx="1181100" cy="1725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DocuSign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446151" y="3261241"/>
            <a:ext cx="1486138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ACHATS, FINANCE &amp; TIERS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992880" y="3407450"/>
            <a:ext cx="1165860" cy="17252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Pablo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234940" y="3407450"/>
            <a:ext cx="1165860" cy="17252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Harmony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992880" y="3625691"/>
            <a:ext cx="1165860" cy="1725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BATIS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5234940" y="3625691"/>
            <a:ext cx="1165860" cy="1725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TIPS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992880" y="3843933"/>
            <a:ext cx="1165860" cy="17252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E-Checking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6433661" y="3261241"/>
            <a:ext cx="134385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RH &amp; MAIN-D'ŒUVRE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522720" y="3407450"/>
            <a:ext cx="1181100" cy="17252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Puma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6522720" y="3625691"/>
            <a:ext cx="1181100" cy="1725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BIP / BAPS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7681199" y="3261241"/>
            <a:ext cx="145482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TERRAIN &amp; INTÉGRATION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7825740" y="3407450"/>
            <a:ext cx="1181100" cy="17252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Quick Connect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7825740" y="3625691"/>
            <a:ext cx="1181100" cy="1725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YELLOW</a:t>
            </a:r>
            <a:r>
              <a:rPr sz="459" b="1" spc="18">
                <a:solidFill>
                  <a:srgbClr val="4CC9E8"/>
                </a:solidFill>
                <a:latin typeface="Calibri"/>
              </a:rPr>
              <a:t> AUTO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825740" y="3843933"/>
            <a:ext cx="1181100" cy="17252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Traktor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9149834" y="3261241"/>
            <a:ext cx="112371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BUREAUTIQUE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128760" y="3407450"/>
            <a:ext cx="1181100" cy="17252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Excel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9128760" y="3625691"/>
            <a:ext cx="1181100" cy="1725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Word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526911" y="3367921"/>
            <a:ext cx="108227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FFFFFF"/>
                </a:solidFill>
                <a:latin typeface="Calibri"/>
              </a:rPr>
              <a:t>SharePoint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0487501" y="3482221"/>
            <a:ext cx="1160978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50" b="0" spc="18">
                <a:solidFill>
                  <a:srgbClr val="95A5C2"/>
                </a:solidFill>
                <a:latin typeface="Calibri"/>
              </a:rPr>
              <a:t>RÉFÉRENTIEL · EXT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562868" y="3672721"/>
            <a:ext cx="101024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0291881" y="3787021"/>
            <a:ext cx="1552218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50" b="0" spc="18">
                <a:solidFill>
                  <a:srgbClr val="95A5C2"/>
                </a:solidFill>
                <a:latin typeface="Calibri"/>
              </a:rPr>
              <a:t>CABINE DE PILOTAGE · INT · AUTO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571500" y="4260294"/>
            <a:ext cx="1096685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Direction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563880" y="4404598"/>
            <a:ext cx="166985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PILOTAGE · SOUS-TRAITANCE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34340" y="4650462"/>
            <a:ext cx="12328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B57D6"/>
                </a:solidFill>
                <a:latin typeface="Calibri"/>
              </a:rPr>
              <a:t>RÉCOLTE DES KPI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0060" y="4787622"/>
            <a:ext cx="315635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33415C"/>
                </a:solidFill>
                <a:latin typeface="Calibri"/>
              </a:rPr>
              <a:t>MIRO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902375" y="4787622"/>
            <a:ext cx="363379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5B57D6"/>
                </a:solidFill>
                <a:latin typeface="Calibri"/>
              </a:rPr>
              <a:t>INT </a:t>
            </a:r>
            <a:r>
              <a:rPr sz="650" b="1">
                <a:solidFill>
                  <a:srgbClr val="5B57D6"/>
                </a:solidFill>
                <a:latin typeface="Calibri"/>
              </a:rPr>
              <a:t>MMS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19100" y="4954310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Power BI · Word · YELLOW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34340" y="5200055"/>
            <a:ext cx="120824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B57D6"/>
                </a:solidFill>
                <a:latin typeface="Calibri"/>
              </a:rPr>
              <a:t>GESTION DES ST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19100" y="5306735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BATIS · E-Checking · Quick Connect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34340" y="5552480"/>
            <a:ext cx="104191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B57D6"/>
                </a:solidFill>
                <a:latin typeface="Calibri"/>
              </a:rPr>
              <a:t>MATÉRIELS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480060" y="5689640"/>
            <a:ext cx="362784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5B57D6"/>
                </a:solidFill>
                <a:latin typeface="Calibri"/>
              </a:rPr>
              <a:t>INT </a:t>
            </a:r>
            <a:r>
              <a:rPr sz="650" b="1">
                <a:solidFill>
                  <a:srgbClr val="5B57D6"/>
                </a:solidFill>
                <a:latin typeface="Calibri"/>
              </a:rPr>
              <a:t>Oasis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434340" y="5987891"/>
            <a:ext cx="135957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SERVICES GÉNÉRAUX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480060" y="6125051"/>
            <a:ext cx="346115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CWT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932855" y="6125051"/>
            <a:ext cx="452914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Tableau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19100" y="6291739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Word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3470910" y="4260294"/>
            <a:ext cx="867251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DAF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3463290" y="4404598"/>
            <a:ext cx="147470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COMPTA · ACHATS · RH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3333750" y="4627721"/>
            <a:ext cx="162960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ENGAGEMENT DES DÉPENSES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3318510" y="4734401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Harmony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3333750" y="4957405"/>
            <a:ext cx="113704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FACTURATION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3379470" y="5094565"/>
            <a:ext cx="470654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8257E6"/>
                </a:solidFill>
                <a:latin typeface="Calibri"/>
              </a:rPr>
              <a:t>INT </a:t>
            </a:r>
            <a:r>
              <a:rPr sz="650" b="1">
                <a:solidFill>
                  <a:srgbClr val="8257E6"/>
                </a:solidFill>
                <a:latin typeface="Calibri"/>
              </a:rPr>
              <a:t>Basware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318510" y="5261253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DocuSign · Excel · Harmony · Pablo · TIPS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3333750" y="5484257"/>
            <a:ext cx="148721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COMMANDES ET ACHATS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3379470" y="5621417"/>
            <a:ext cx="377071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78879F"/>
                </a:solidFill>
                <a:latin typeface="Calibri"/>
              </a:rPr>
              <a:t>Achat +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3318510" y="5788104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Pablo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3333750" y="6011108"/>
            <a:ext cx="161508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PERSONNEL ET FORMATIONS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3379470" y="6148269"/>
            <a:ext cx="541020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8257E6"/>
                </a:solidFill>
                <a:latin typeface="Calibri"/>
              </a:rPr>
              <a:t>INT </a:t>
            </a:r>
            <a:r>
              <a:rPr sz="650" b="1">
                <a:solidFill>
                  <a:srgbClr val="8257E6"/>
                </a:solidFill>
                <a:latin typeface="Calibri"/>
              </a:rPr>
              <a:t>By My Site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4027170" y="6148269"/>
            <a:ext cx="608767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8257E6"/>
                </a:solidFill>
                <a:latin typeface="Calibri"/>
              </a:rPr>
              <a:t>INT </a:t>
            </a:r>
            <a:r>
              <a:rPr sz="650" b="1">
                <a:solidFill>
                  <a:srgbClr val="8257E6"/>
                </a:solidFill>
                <a:latin typeface="Calibri"/>
              </a:rPr>
              <a:t>H&amp;R For You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4742617" y="6148269"/>
            <a:ext cx="444222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78879F"/>
                </a:solidFill>
                <a:latin typeface="Calibri"/>
              </a:rPr>
              <a:t>Neoaccès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3318510" y="6314956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BIP / BAPS · E-Checking · Excel · Pablo · Puma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6370320" y="4260294"/>
            <a:ext cx="1448395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Contrat Manager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362700" y="4404598"/>
            <a:ext cx="230243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CONTRACTUEL · VALIDATION · ENCAISSEMENTS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233160" y="4558903"/>
            <a:ext cx="147042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F7A1B"/>
                </a:solidFill>
                <a:latin typeface="Calibri"/>
              </a:rPr>
              <a:t>GESTION DES CONTRATS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6278880" y="4696063"/>
            <a:ext cx="626864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5F7A1B"/>
                </a:solidFill>
                <a:latin typeface="Calibri"/>
              </a:rPr>
              <a:t>INT </a:t>
            </a:r>
            <a:r>
              <a:rPr sz="650" b="1">
                <a:solidFill>
                  <a:srgbClr val="5F7A1B"/>
                </a:solidFill>
                <a:latin typeface="Calibri"/>
              </a:rPr>
              <a:t>NotebookLM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6217920" y="4862751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Power BI · SharePoint · Word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233160" y="5016936"/>
            <a:ext cx="155900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F7A1B"/>
                </a:solidFill>
                <a:latin typeface="Calibri"/>
              </a:rPr>
              <a:t>FACTURATION PARTENAIRE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6278880" y="5154097"/>
            <a:ext cx="470654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5F7A1B"/>
                </a:solidFill>
                <a:latin typeface="Calibri"/>
              </a:rPr>
              <a:t>INT </a:t>
            </a:r>
            <a:r>
              <a:rPr sz="650" b="1">
                <a:solidFill>
                  <a:srgbClr val="5F7A1B"/>
                </a:solidFill>
                <a:latin typeface="Calibri"/>
              </a:rPr>
              <a:t>Basware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6233160" y="5360789"/>
            <a:ext cx="122122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F7A1B"/>
                </a:solidFill>
                <a:latin typeface="Calibri"/>
              </a:rPr>
              <a:t>ENCAISSEMENTS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6278880" y="5497949"/>
            <a:ext cx="426006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33415C"/>
                </a:solidFill>
                <a:latin typeface="Calibri"/>
              </a:rPr>
              <a:t>E-Project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6217920" y="5664637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6233160" y="5818822"/>
            <a:ext cx="15376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F7A1B"/>
                </a:solidFill>
                <a:latin typeface="Calibri"/>
              </a:rPr>
              <a:t>AVANCEMENT DES JALONS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6217920" y="5925503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Word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6233160" y="6079688"/>
            <a:ext cx="146506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F7A1B"/>
                </a:solidFill>
                <a:latin typeface="Calibri"/>
              </a:rPr>
              <a:t>CIRCUIT DE VALIDATION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6278880" y="6216849"/>
            <a:ext cx="470654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5F7A1B"/>
                </a:solidFill>
                <a:latin typeface="Calibri"/>
              </a:rPr>
              <a:t>INT </a:t>
            </a:r>
            <a:r>
              <a:rPr sz="650" b="1">
                <a:solidFill>
                  <a:srgbClr val="5F7A1B"/>
                </a:solidFill>
                <a:latin typeface="Calibri"/>
              </a:rPr>
              <a:t>Basware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6217920" y="6383536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DocuSign · E-Paraph · Pablo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9269730" y="4260294"/>
            <a:ext cx="1829395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262110" y="4404598"/>
            <a:ext cx="191404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CONTRÔLE · RÉSERVES · NUISANCES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9132570" y="4594622"/>
            <a:ext cx="132766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C2456A"/>
                </a:solidFill>
                <a:latin typeface="Calibri"/>
              </a:rPr>
              <a:t>CONTRÔLE QUALITÉ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9178290" y="4731782"/>
            <a:ext cx="361712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78879F"/>
                </a:solidFill>
                <a:latin typeface="Calibri"/>
              </a:rPr>
              <a:t>CEMEX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9646682" y="4731782"/>
            <a:ext cx="531376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9117330" y="4898470"/>
            <a:ext cx="1259205" cy="2283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Mezzoteam · Power BI · Quick Connect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10544176" y="4594622"/>
            <a:ext cx="159829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C2456A"/>
                </a:solidFill>
                <a:latin typeface="Calibri"/>
              </a:rPr>
              <a:t>MAD ET LEVÉES DE RÉSERVE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10589896" y="4731782"/>
            <a:ext cx="531376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10528936" y="4898470"/>
            <a:ext cx="1259205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Trimble Connect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9132570" y="5179695"/>
            <a:ext cx="153316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C2456A"/>
                </a:solidFill>
                <a:latin typeface="Calibri"/>
              </a:rPr>
              <a:t>SUIVI ENVIRONNEMENTAL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9178290" y="5316855"/>
            <a:ext cx="583882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PowerPoint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9117330" y="5483543"/>
            <a:ext cx="1259205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Power BI · Quick Connect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0544176" y="5179695"/>
            <a:ext cx="1620798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SUIVI DES CONSOMMATIONS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10589896" y="5316855"/>
            <a:ext cx="654129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Lafarge+</a:t>
            </a:r>
            <a:r>
              <a:rPr sz="459" b="1" spc="18">
                <a:solidFill>
                  <a:srgbClr val="44A0BE"/>
                </a:solidFill>
                <a:latin typeface="Calibri"/>
              </a:rPr>
              <a:t> AUTO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10589896" y="5514023"/>
            <a:ext cx="776287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Live Objects</a:t>
            </a:r>
            <a:r>
              <a:rPr sz="459" b="1" spc="18">
                <a:solidFill>
                  <a:srgbClr val="44A0BE"/>
                </a:solidFill>
                <a:latin typeface="Calibri"/>
              </a:rPr>
              <a:t> AUTO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0589896" y="5711190"/>
            <a:ext cx="486489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Lucee TP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0589896" y="5908358"/>
            <a:ext cx="619839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Sixense</a:t>
            </a:r>
            <a:r>
              <a:rPr sz="459" b="1" spc="18">
                <a:solidFill>
                  <a:srgbClr val="44A0BE"/>
                </a:solidFill>
                <a:latin typeface="Calibri"/>
              </a:rPr>
              <a:t> AUTO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32570" y="6158389"/>
            <a:ext cx="141922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GESTION DES DÉCHETS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9178290" y="6295549"/>
            <a:ext cx="842724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Wastemarket Place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0544176" y="6158389"/>
            <a:ext cx="152947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C2456A"/>
                </a:solidFill>
                <a:latin typeface="Calibri"/>
              </a:rPr>
              <a:t>COMMANDE DE MATÉRIEL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528936" y="6265069"/>
            <a:ext cx="1259205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Pablo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2900" y="6629400"/>
            <a:ext cx="23210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11472863" y="6629400"/>
            <a:ext cx="1062037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1/3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0264140" y="3371731"/>
            <a:ext cx="251460" cy="125790"/>
          </a:xfrm>
          <a:custGeom>
            <a:avLst/>
            <a:gdLst/>
            <a:ahLst/>
            <a:cxnLst/>
            <a:rect l="0" t="0" r="r" b="b"/>
            <a:pathLst>
              <a:path w="251460" h="125790">
                <a:moveTo>
                  <a:pt x="60960" y="64830"/>
                </a:moveTo>
                <a:cubicBezTo>
                  <a:pt x="104140" y="63540"/>
                  <a:pt x="147320" y="62250"/>
                  <a:pt x="190500" y="6096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10264140" y="3459421"/>
            <a:ext cx="251460" cy="339030"/>
          </a:xfrm>
          <a:custGeom>
            <a:avLst/>
            <a:gdLst/>
            <a:ahLst/>
            <a:cxnLst/>
            <a:rect l="0" t="0" r="r" b="b"/>
            <a:pathLst>
              <a:path w="251460" h="339030">
                <a:moveTo>
                  <a:pt x="60960" y="60960"/>
                </a:moveTo>
                <a:cubicBezTo>
                  <a:pt x="104140" y="133330"/>
                  <a:pt x="147320" y="205700"/>
                  <a:pt x="190500" y="278070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8961120" y="3375601"/>
            <a:ext cx="1554480" cy="201870"/>
          </a:xfrm>
          <a:custGeom>
            <a:avLst/>
            <a:gdLst/>
            <a:ahLst/>
            <a:cxnLst/>
            <a:rect l="0" t="0" r="r" b="b"/>
            <a:pathLst>
              <a:path w="1554480" h="201870">
                <a:moveTo>
                  <a:pt x="60960" y="60960"/>
                </a:moveTo>
                <a:cubicBezTo>
                  <a:pt x="705612" y="60960"/>
                  <a:pt x="848868" y="140910"/>
                  <a:pt x="1493520" y="14091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8961120" y="3459421"/>
            <a:ext cx="1554480" cy="422850"/>
          </a:xfrm>
          <a:custGeom>
            <a:avLst/>
            <a:gdLst/>
            <a:ahLst/>
            <a:cxnLst/>
            <a:rect l="0" t="0" r="r" b="b"/>
            <a:pathLst>
              <a:path w="1554480" h="422850">
                <a:moveTo>
                  <a:pt x="60960" y="60960"/>
                </a:moveTo>
                <a:cubicBezTo>
                  <a:pt x="705612" y="60960"/>
                  <a:pt x="848868" y="361890"/>
                  <a:pt x="1493520" y="361890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5113020" y="3333691"/>
            <a:ext cx="152400" cy="205740"/>
          </a:xfrm>
          <a:custGeom>
            <a:avLst/>
            <a:gdLst/>
            <a:ahLst/>
            <a:cxnLst/>
            <a:rect l="0" t="0" r="r" b="b"/>
            <a:pathLst>
              <a:path w="152400" h="205740">
                <a:moveTo>
                  <a:pt x="60960" y="144780"/>
                </a:moveTo>
                <a:cubicBezTo>
                  <a:pt x="71120" y="116840"/>
                  <a:pt x="81280" y="88900"/>
                  <a:pt x="91440" y="6096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504307" y="3511391"/>
            <a:ext cx="2366903" cy="756523"/>
          </a:xfrm>
          <a:custGeom>
            <a:avLst/>
            <a:gdLst/>
            <a:ahLst/>
            <a:cxnLst/>
            <a:rect l="0" t="0" r="r" b="b"/>
            <a:pathLst>
              <a:path w="2366903" h="756523">
                <a:moveTo>
                  <a:pt x="60960" y="695563"/>
                </a:moveTo>
                <a:cubicBezTo>
                  <a:pt x="60960" y="378261"/>
                  <a:pt x="2305943" y="378261"/>
                  <a:pt x="2305943" y="6096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588127" y="3511391"/>
            <a:ext cx="2366903" cy="756523"/>
          </a:xfrm>
          <a:custGeom>
            <a:avLst/>
            <a:gdLst/>
            <a:ahLst/>
            <a:cxnLst/>
            <a:rect l="0" t="0" r="r" b="b"/>
            <a:pathLst>
              <a:path w="2366903" h="756523">
                <a:moveTo>
                  <a:pt x="2305943" y="60960"/>
                </a:moveTo>
                <a:cubicBezTo>
                  <a:pt x="2305943" y="378261"/>
                  <a:pt x="60960" y="378261"/>
                  <a:pt x="60960" y="695563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7044690" y="3511391"/>
            <a:ext cx="121920" cy="152400"/>
          </a:xfrm>
          <a:custGeom>
            <a:avLst/>
            <a:gdLst/>
            <a:ahLst/>
            <a:cxnLst/>
            <a:rect l="0" t="0" r="r" b="b"/>
            <a:pathLst>
              <a:path w="121920" h="152400">
                <a:moveTo>
                  <a:pt x="60960" y="91440"/>
                </a:moveTo>
                <a:cubicBezTo>
                  <a:pt x="60960" y="76200"/>
                  <a:pt x="60960" y="76200"/>
                  <a:pt x="60960" y="6096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9352478" y="3040261"/>
            <a:ext cx="1650802" cy="662940"/>
          </a:xfrm>
          <a:custGeom>
            <a:avLst/>
            <a:gdLst/>
            <a:ahLst/>
            <a:cxnLst/>
            <a:rect l="0" t="0" r="r" b="b"/>
            <a:pathLst>
              <a:path w="1650802" h="662940">
                <a:moveTo>
                  <a:pt x="60960" y="60960"/>
                </a:moveTo>
                <a:cubicBezTo>
                  <a:pt x="60960" y="331470"/>
                  <a:pt x="1589842" y="331470"/>
                  <a:pt x="1589842" y="601980"/>
                </a:cubicBezTo>
              </a:path>
            </a:pathLst>
          </a:custGeom>
          <a:noFill/>
          <a:ln w="15240">
            <a:solidFill>
              <a:srgbClr val="DD7E2C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9531072" y="3855601"/>
            <a:ext cx="1723668" cy="412313"/>
          </a:xfrm>
          <a:custGeom>
            <a:avLst/>
            <a:gdLst/>
            <a:ahLst/>
            <a:cxnLst/>
            <a:rect l="0" t="0" r="r" b="b"/>
            <a:pathLst>
              <a:path w="1723668" h="412313">
                <a:moveTo>
                  <a:pt x="60960" y="351353"/>
                </a:moveTo>
                <a:cubicBezTo>
                  <a:pt x="60960" y="206157"/>
                  <a:pt x="1662708" y="206157"/>
                  <a:pt x="1662708" y="60960"/>
                </a:cubicBezTo>
              </a:path>
            </a:pathLst>
          </a:custGeom>
          <a:noFill/>
          <a:ln w="15240">
            <a:solidFill>
              <a:srgbClr val="C2456A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950720" y="3040261"/>
            <a:ext cx="1731288" cy="405289"/>
          </a:xfrm>
          <a:custGeom>
            <a:avLst/>
            <a:gdLst/>
            <a:ahLst/>
            <a:cxnLst/>
            <a:rect l="0" t="0" r="r" b="b"/>
            <a:pathLst>
              <a:path w="1731288" h="405289">
                <a:moveTo>
                  <a:pt x="60960" y="344329"/>
                </a:moveTo>
                <a:cubicBezTo>
                  <a:pt x="60960" y="202644"/>
                  <a:pt x="1670328" y="202644"/>
                  <a:pt x="1670328" y="6096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866900" y="3040261"/>
            <a:ext cx="1927384" cy="405289"/>
          </a:xfrm>
          <a:custGeom>
            <a:avLst/>
            <a:gdLst/>
            <a:ahLst/>
            <a:cxnLst/>
            <a:rect l="0" t="0" r="r" b="b"/>
            <a:pathLst>
              <a:path w="1927384" h="405289">
                <a:moveTo>
                  <a:pt x="60960" y="344329"/>
                </a:moveTo>
                <a:cubicBezTo>
                  <a:pt x="60960" y="202644"/>
                  <a:pt x="1866424" y="202644"/>
                  <a:pt x="1866424" y="60960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4071938" y="1661041"/>
            <a:ext cx="152400" cy="121920"/>
          </a:xfrm>
          <a:custGeom>
            <a:avLst/>
            <a:gdLst/>
            <a:ahLst/>
            <a:cxnLst/>
            <a:rect l="0" t="0" r="r" b="b"/>
            <a:pathLst>
              <a:path w="152400" h="121920">
                <a:moveTo>
                  <a:pt x="91440" y="60960"/>
                </a:moveTo>
                <a:cubicBezTo>
                  <a:pt x="81280" y="60960"/>
                  <a:pt x="71120" y="60960"/>
                  <a:pt x="60960" y="60960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3847386" y="2209443"/>
            <a:ext cx="152400" cy="121920"/>
          </a:xfrm>
          <a:custGeom>
            <a:avLst/>
            <a:gdLst/>
            <a:ahLst/>
            <a:cxnLst/>
            <a:rect l="0" t="0" r="r" b="b"/>
            <a:pathLst>
              <a:path w="152400" h="121920">
                <a:moveTo>
                  <a:pt x="60960" y="60960"/>
                </a:moveTo>
                <a:cubicBezTo>
                  <a:pt x="71120" y="60960"/>
                  <a:pt x="81280" y="60960"/>
                  <a:pt x="91440" y="6096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0537508" y="51816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3A6BE5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0537508" y="68580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0300716" y="341217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0300716" y="349599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8997696" y="341217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8997696" y="349599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5149596" y="345408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3540883" y="418257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5869686" y="354796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081266" y="357844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9389054" y="307683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7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9567648" y="418257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24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1987296" y="3360206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1903476" y="3360206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138993" y="169761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3883962" y="2246019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9100" y="13906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95826" y="13906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8430" y="1394461"/>
            <a:ext cx="457438" cy="16002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9100" y="171069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95826" y="171069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8430" y="1714500"/>
            <a:ext cx="680204" cy="16002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9100" y="203073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95826" y="203073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8430" y="2034540"/>
            <a:ext cx="457438" cy="16002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100" y="2350771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95826" y="2350771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8430" y="2354581"/>
            <a:ext cx="680204" cy="16002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100" y="267081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95826" y="267081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8430" y="2674620"/>
            <a:ext cx="457438" cy="16002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100" y="2990850"/>
            <a:ext cx="53340" cy="53340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95826" y="29908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8430" y="2994660"/>
            <a:ext cx="457438" cy="16002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9100" y="331089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95826" y="3310890"/>
            <a:ext cx="53340" cy="53340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8430" y="3314700"/>
            <a:ext cx="457438" cy="16002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9100" y="363093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95826" y="363093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8430" y="3634740"/>
            <a:ext cx="457438" cy="16002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19100" y="3950970"/>
            <a:ext cx="53340" cy="53340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95826" y="395097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78430" y="3954780"/>
            <a:ext cx="680204" cy="16002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9100" y="4271010"/>
            <a:ext cx="53340" cy="53340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95826" y="427101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8430" y="4274820"/>
            <a:ext cx="680204" cy="16002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19100" y="459105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95826" y="4591050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8430" y="4594860"/>
            <a:ext cx="457438" cy="16002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19100" y="491109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95826" y="4911090"/>
            <a:ext cx="53340" cy="5334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8430" y="4914901"/>
            <a:ext cx="680204" cy="16002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19100" y="523113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795826" y="5231130"/>
            <a:ext cx="53340" cy="53340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78430" y="5234940"/>
            <a:ext cx="479227" cy="16002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19100" y="5551169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795826" y="5551169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78430" y="5554980"/>
            <a:ext cx="680204" cy="16002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19100" y="5871211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795826" y="5871211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578430" y="5875021"/>
            <a:ext cx="457438" cy="16002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014460" y="1135380"/>
            <a:ext cx="1383031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466070" y="1135380"/>
            <a:ext cx="1383030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014460" y="1728788"/>
            <a:ext cx="1383031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466070" y="1728788"/>
            <a:ext cx="1383030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014460" y="2352675"/>
            <a:ext cx="2834640" cy="1800702"/>
          </a:xfrm>
          <a:prstGeom prst="roundRect">
            <a:avLst>
              <a:gd name="adj" fmla="val 634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151620" y="3081576"/>
            <a:ext cx="2560320" cy="68581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51620" y="3081576"/>
            <a:ext cx="1327547" cy="68581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479167" y="3081576"/>
            <a:ext cx="758548" cy="68581"/>
          </a:xfrm>
          <a:prstGeom prst="rect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37715" y="3081576"/>
            <a:ext cx="474107" cy="68581"/>
          </a:xfrm>
          <a:prstGeom prst="rect">
            <a:avLst/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151620" y="3378755"/>
            <a:ext cx="2560320" cy="68581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51620" y="3378755"/>
            <a:ext cx="1991320" cy="68581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142940" y="3378755"/>
            <a:ext cx="379215" cy="68581"/>
          </a:xfrm>
          <a:prstGeom prst="rect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522155" y="3378755"/>
            <a:ext cx="189547" cy="68581"/>
          </a:xfrm>
          <a:prstGeom prst="rect">
            <a:avLst/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151620" y="3675936"/>
            <a:ext cx="2560320" cy="68580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51620" y="3675936"/>
            <a:ext cx="1706880" cy="68580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858500" y="3675936"/>
            <a:ext cx="853440" cy="68580"/>
          </a:xfrm>
          <a:prstGeom prst="rect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9014460" y="4252436"/>
            <a:ext cx="2834640" cy="2293144"/>
          </a:xfrm>
          <a:prstGeom prst="roundRect">
            <a:avLst>
              <a:gd name="adj" fmla="val 4984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51620" y="4636531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151620" y="5122188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151620" y="5607844"/>
            <a:ext cx="144780" cy="144780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151620" y="6093500"/>
            <a:ext cx="144780" cy="144780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42900" y="312420"/>
            <a:ext cx="1170503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ANNEXE 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2900" y="449580"/>
            <a:ext cx="5665589" cy="4038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Flux de données et modes d'alimentation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2900" y="854869"/>
            <a:ext cx="3702844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Échanges entre outils relevés en entretien, et nature de l'alimentation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9100" y="1120140"/>
            <a:ext cx="1319093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OUTIL SOURCE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56805" y="1120140"/>
            <a:ext cx="90118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30" b="1" spc="94">
                <a:solidFill>
                  <a:srgbClr val="78879F"/>
                </a:solidFill>
                <a:latin typeface="Calibri"/>
              </a:rPr>
              <a:t>SENS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95826" y="1120140"/>
            <a:ext cx="1589961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OUTIL DESTINATAIRE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78430" y="1120140"/>
            <a:ext cx="1338501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51684" y="1120140"/>
            <a:ext cx="1349693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OBJET DU FLUX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9100" y="1451610"/>
            <a:ext cx="885111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8160" y="134647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12764" y="1383030"/>
            <a:ext cx="789384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95826" y="1451610"/>
            <a:ext cx="1116806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94886" y="134647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11730" y="1409700"/>
            <a:ext cx="990838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51684" y="1394460"/>
            <a:ext cx="1748909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Dépôt des tableaux de suivi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" y="1771650"/>
            <a:ext cx="885111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8160" y="166651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12764" y="1703070"/>
            <a:ext cx="789384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95826" y="1771650"/>
            <a:ext cx="1038344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94886" y="166651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11730" y="1729740"/>
            <a:ext cx="12136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1684" y="1714500"/>
            <a:ext cx="2122409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Alimentation de la cabine de pilotage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9100" y="2091690"/>
            <a:ext cx="1257538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8160" y="198655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12764" y="2023110"/>
            <a:ext cx="789384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95826" y="2091690"/>
            <a:ext cx="1116806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894886" y="198655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11730" y="2049781"/>
            <a:ext cx="990838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1684" y="2034540"/>
            <a:ext cx="1849279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Fiches de contrôle vers le DOE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9100" y="2411730"/>
            <a:ext cx="1257538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8160" y="230659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12764" y="2343150"/>
            <a:ext cx="789384" cy="1676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95826" y="2411730"/>
            <a:ext cx="1038344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94886" y="230659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11730" y="2369820"/>
            <a:ext cx="12136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1684" y="2354580"/>
            <a:ext cx="1832610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Indicateurs qualité et sécurité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9100" y="2731770"/>
            <a:ext cx="907375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8160" y="262663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12764" y="2663190"/>
            <a:ext cx="789384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95826" y="2731770"/>
            <a:ext cx="1050012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94886" y="262663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311730" y="2689860"/>
            <a:ext cx="990838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51684" y="2674620"/>
            <a:ext cx="2365891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Commandes vers l'engagement de dépense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9100" y="3051810"/>
            <a:ext cx="1021556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8160" y="2946678"/>
            <a:ext cx="831652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8257E6"/>
                </a:solidFill>
                <a:latin typeface="Calibri"/>
              </a:rPr>
              <a:t>DAF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12764" y="2983230"/>
            <a:ext cx="789384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795826" y="3051810"/>
            <a:ext cx="1050012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894886" y="294667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311730" y="3009900"/>
            <a:ext cx="990838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851684" y="2994660"/>
            <a:ext cx="2024182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Factures fournisseurs harmonisées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9100" y="3371850"/>
            <a:ext cx="1050012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8160" y="326671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12764" y="3303270"/>
            <a:ext cx="789384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95826" y="3371850"/>
            <a:ext cx="1021556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94886" y="3266718"/>
            <a:ext cx="831652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8257E6"/>
                </a:solidFill>
                <a:latin typeface="Calibri"/>
              </a:rPr>
              <a:t>DAF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311730" y="3329940"/>
            <a:ext cx="990838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851684" y="3314700"/>
            <a:ext cx="1646277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Retour de saisie et litiges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19100" y="3691890"/>
            <a:ext cx="1105257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8160" y="358675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12764" y="3623310"/>
            <a:ext cx="789384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795826" y="3691890"/>
            <a:ext cx="91213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894886" y="358675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311730" y="3649980"/>
            <a:ext cx="990838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51684" y="3634740"/>
            <a:ext cx="1754862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Heures chantier vers la paie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19100" y="4011929"/>
            <a:ext cx="1038820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18160" y="3906798"/>
            <a:ext cx="102941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DD7E2C"/>
                </a:solidFill>
                <a:latin typeface="Calibri"/>
              </a:rPr>
              <a:t>TRAVAUX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12764" y="3943350"/>
            <a:ext cx="789384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95826" y="4011929"/>
            <a:ext cx="1038344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94886" y="390679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311730" y="3970020"/>
            <a:ext cx="12136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851684" y="3954781"/>
            <a:ext cx="1419463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Inventaire matériel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19100" y="4331971"/>
            <a:ext cx="1444704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160" y="4226838"/>
            <a:ext cx="176212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C2456A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12764" y="4263390"/>
            <a:ext cx="789384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795826" y="4331971"/>
            <a:ext cx="1038344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894886" y="422683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11730" y="4290060"/>
            <a:ext cx="12136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851684" y="4274820"/>
            <a:ext cx="1347907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Suivi des déchets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19100" y="4652010"/>
            <a:ext cx="1331595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18160" y="4546877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2764" y="4583429"/>
            <a:ext cx="789384" cy="16764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795826" y="4652010"/>
            <a:ext cx="1046202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AutoCAD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894886" y="4546877"/>
            <a:ext cx="12161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311730" y="4610100"/>
            <a:ext cx="990838" cy="12954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851684" y="4594860"/>
            <a:ext cx="1768316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Maquettes vers le dessin 2D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19100" y="4972050"/>
            <a:ext cx="1331595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18160" y="4866919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12764" y="4903471"/>
            <a:ext cx="789384" cy="1676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95826" y="4972050"/>
            <a:ext cx="1177171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894886" y="4866919"/>
            <a:ext cx="12161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311730" y="4930140"/>
            <a:ext cx="12136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851684" y="4914900"/>
            <a:ext cx="2014181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Maquettes vers le nuage de points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19100" y="5292091"/>
            <a:ext cx="1331595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18160" y="5186958"/>
            <a:ext cx="129980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16574" y="5223510"/>
            <a:ext cx="781645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795826" y="5292091"/>
            <a:ext cx="1084302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894886" y="5186958"/>
            <a:ext cx="176212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C2456A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311730" y="5250179"/>
            <a:ext cx="1012627" cy="12954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INDIRECT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851684" y="5234940"/>
            <a:ext cx="2971443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Repérage des constats — flux indirect, par captures d'écran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19100" y="5612130"/>
            <a:ext cx="1026557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La Scene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18160" y="5506998"/>
            <a:ext cx="12161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112764" y="5543550"/>
            <a:ext cx="789384" cy="167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795826" y="5612130"/>
            <a:ext cx="1177171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894886" y="5506998"/>
            <a:ext cx="12161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311730" y="5570221"/>
            <a:ext cx="12136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851684" y="5554980"/>
            <a:ext cx="1686521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Scans vers le retraitement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19100" y="5932170"/>
            <a:ext cx="1046202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AutoCAD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18160" y="5827038"/>
            <a:ext cx="12161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112764" y="5863591"/>
            <a:ext cx="789384" cy="1676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795826" y="5932170"/>
            <a:ext cx="990362" cy="14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894886" y="5827038"/>
            <a:ext cx="12161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11730" y="5890260"/>
            <a:ext cx="990838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851684" y="5875020"/>
            <a:ext cx="1678663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Plans vers les calculs topo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10330" y="1181100"/>
            <a:ext cx="79129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253299" y="1463040"/>
            <a:ext cx="90535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PÔLES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09196" y="1181100"/>
            <a:ext cx="896659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54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499765" y="1463040"/>
            <a:ext cx="131552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OUTILS RECENSÉS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257586" y="1774507"/>
            <a:ext cx="896659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18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067919" y="2056448"/>
            <a:ext cx="127599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SOCLE COMMUN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709196" y="1774507"/>
            <a:ext cx="896659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15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520720" y="2056448"/>
            <a:ext cx="127361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FLUX IDENTIFIÉS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151620" y="2459355"/>
            <a:ext cx="176236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19">
                <a:solidFill>
                  <a:srgbClr val="78879F"/>
                </a:solidFill>
                <a:latin typeface="Calibri"/>
              </a:rPr>
              <a:t>RÉPARTITION DU PARC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151620" y="2929175"/>
            <a:ext cx="926783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Nature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188893" y="2929175"/>
            <a:ext cx="2208847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Externes 28 · Internes 16 · Non renseigné 10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9151620" y="3226356"/>
            <a:ext cx="1140381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Alimentation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0134600" y="3226356"/>
            <a:ext cx="2263140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Manuel 42 · Automatique 8 · Non renseigné 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51620" y="3523536"/>
            <a:ext cx="96726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Position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256639" y="3523536"/>
            <a:ext cx="2141101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Applications métier 36 · Socle commun 18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151620" y="4359117"/>
            <a:ext cx="1701879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19">
                <a:solidFill>
                  <a:srgbClr val="4CC9E8"/>
                </a:solidFill>
                <a:latin typeface="Calibri"/>
              </a:rPr>
              <a:t>POINTS D'ATTENTION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201983" y="4642247"/>
            <a:ext cx="72973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349740" y="4613672"/>
            <a:ext cx="2392680" cy="32694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42 outils sur 54</a:t>
            </a:r>
            <a:r>
              <a:rPr sz="740" b="0">
                <a:solidFill>
                  <a:srgbClr val="C9D5EA"/>
                </a:solidFill>
                <a:latin typeface="Calibri"/>
              </a:rPr>
              <a:t> sont alimentés manuellement : la ressaisie est le principal point de fragilité du dispositif.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9203651" y="5127903"/>
            <a:ext cx="72640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349740" y="5099328"/>
            <a:ext cx="2392680" cy="3269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Excel</a:t>
            </a:r>
            <a:r>
              <a:rPr sz="740" b="0">
                <a:solidFill>
                  <a:srgbClr val="C9D5EA"/>
                </a:solidFill>
                <a:latin typeface="Calibri"/>
              </a:rPr>
              <a:t> est présent dans 7 services et concentre les échanges sans interface formalisée.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204841" y="5613559"/>
            <a:ext cx="7241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349740" y="5584984"/>
            <a:ext cx="2392680" cy="3269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0">
                <a:solidFill>
                  <a:srgbClr val="C9D5EA"/>
                </a:solidFill>
                <a:latin typeface="Calibri"/>
              </a:rPr>
              <a:t>Seuls </a:t>
            </a:r>
            <a:r>
              <a:rPr sz="740" b="1">
                <a:solidFill>
                  <a:srgbClr val="FFFFFF"/>
                </a:solidFill>
                <a:latin typeface="Calibri"/>
              </a:rPr>
              <a:t>8 outils</a:t>
            </a:r>
            <a:r>
              <a:rPr sz="740" b="0">
                <a:solidFill>
                  <a:srgbClr val="C9D5EA"/>
                </a:solidFill>
                <a:latin typeface="Calibri"/>
              </a:rPr>
              <a:t> disposent d'une alimentation automatique, dont Power BI qui dépend d'exports manuels en amont.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9201150" y="6099215"/>
            <a:ext cx="731520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349740" y="6070640"/>
            <a:ext cx="2392680" cy="3269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4 outils</a:t>
            </a:r>
            <a:r>
              <a:rPr sz="740" b="0">
                <a:solidFill>
                  <a:srgbClr val="C9D5EA"/>
                </a:solidFill>
                <a:latin typeface="Calibri"/>
              </a:rPr>
              <a:t> restent à qualifier : aucun entretien ne documente leur nature ni leur alimentation.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42900" y="6629400"/>
            <a:ext cx="23210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1472863" y="6629400"/>
            <a:ext cx="1062037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78928" y="358140"/>
            <a:ext cx="231696" cy="137159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78928" y="556260"/>
            <a:ext cx="302062" cy="13716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478928" y="754380"/>
            <a:ext cx="157877" cy="13716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08114" y="1355526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027170" y="1314450"/>
            <a:ext cx="15787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46226" y="1314450"/>
            <a:ext cx="15787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08114" y="1552099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27170" y="1511023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46226" y="1511023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08114" y="1748672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84314" y="1748672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160514" y="1748672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27170" y="1707594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46226" y="1707594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08114" y="1945242"/>
            <a:ext cx="53340" cy="53341"/>
          </a:xfrm>
          <a:prstGeom prst="ellipse">
            <a:avLst/>
          </a:prstGeom>
          <a:solidFill>
            <a:srgbClr val="5F7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84314" y="1945242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160514" y="1945242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027170" y="1904167"/>
            <a:ext cx="358378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46226" y="1904167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08114" y="2141815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027170" y="2100739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46226" y="2100739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08114" y="2338388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27170" y="2297310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46226" y="2297310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008114" y="2534961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27170" y="2493883"/>
            <a:ext cx="358378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46226" y="2493883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008114" y="2731531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027170" y="2690456"/>
            <a:ext cx="358378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46226" y="2690456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008114" y="2928104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27170" y="2887028"/>
            <a:ext cx="15787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46226" y="2887028"/>
            <a:ext cx="15787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008114" y="312467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27170" y="3083599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46226" y="3083599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08114" y="3321248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27170" y="3280172"/>
            <a:ext cx="15787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46226" y="3280172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008114" y="3517820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027170" y="3476745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46226" y="3476745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008114" y="3714393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027170" y="3673317"/>
            <a:ext cx="15787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46226" y="3673317"/>
            <a:ext cx="308253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08114" y="3910966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84314" y="3910966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027170" y="3869888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46226" y="3869888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08114" y="4107537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84314" y="4107537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027170" y="4066461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46226" y="4066461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008114" y="4304109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084314" y="4304109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027170" y="4263034"/>
            <a:ext cx="358378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6226" y="4263034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008114" y="4500682"/>
            <a:ext cx="53340" cy="53339"/>
          </a:xfrm>
          <a:prstGeom prst="ellipse">
            <a:avLst/>
          </a:prstGeom>
          <a:solidFill>
            <a:srgbClr val="5F7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027170" y="4459604"/>
            <a:ext cx="15787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046226" y="4459604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08114" y="4697255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027170" y="4656177"/>
            <a:ext cx="358378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046226" y="4656177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008114" y="4893826"/>
            <a:ext cx="53340" cy="53341"/>
          </a:xfrm>
          <a:prstGeom prst="ellipse">
            <a:avLst/>
          </a:prstGeom>
          <a:solidFill>
            <a:srgbClr val="5F7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084314" y="4893826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160514" y="4893826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236714" y="4893826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312914" y="4893826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389114" y="4893826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465314" y="4893826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4027170" y="4852750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046226" y="4852750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008114" y="5090398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027170" y="5049321"/>
            <a:ext cx="15787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046226" y="5049321"/>
            <a:ext cx="15787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008114" y="5286971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4027170" y="5245893"/>
            <a:ext cx="358378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046226" y="5245893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008114" y="5483542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027170" y="5442466"/>
            <a:ext cx="358378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5046226" y="5442466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008114" y="5680115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084314" y="568011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160514" y="5680115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027170" y="5639039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046226" y="5639039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008114" y="587668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027170" y="5835612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046226" y="5835612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008114" y="6073258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4027170" y="6032182"/>
            <a:ext cx="15787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5046226" y="6032182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008114" y="6269831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027170" y="6228755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46226" y="6228755"/>
            <a:ext cx="276820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008114" y="6466404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027170" y="6425328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046226" y="6425328"/>
            <a:ext cx="276820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852655" y="1355526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9871710" y="1314450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10890766" y="1314450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852655" y="1552099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928854" y="1552099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005055" y="1552099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9871710" y="1511023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10890766" y="1511023"/>
            <a:ext cx="308254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852655" y="1748672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9871710" y="1707594"/>
            <a:ext cx="15787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10890766" y="1707594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852655" y="1945242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928854" y="1945242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9871710" y="1904167"/>
            <a:ext cx="358379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10890766" y="1904167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852655" y="214181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928854" y="2141815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9871710" y="2100739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10890766" y="2100739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852655" y="2338388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9871710" y="2297310"/>
            <a:ext cx="15787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10890766" y="2297310"/>
            <a:ext cx="15787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852655" y="2534961"/>
            <a:ext cx="53340" cy="53339"/>
          </a:xfrm>
          <a:prstGeom prst="ellipse">
            <a:avLst/>
          </a:prstGeom>
          <a:solidFill>
            <a:srgbClr val="5F7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9871710" y="2493883"/>
            <a:ext cx="358379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10890766" y="2493883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852655" y="2731531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9871710" y="2690456"/>
            <a:ext cx="358379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10890766" y="2690456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852655" y="2928104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8928854" y="2928104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005055" y="2928104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9871710" y="2887028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10890766" y="2887028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852655" y="3124677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9871710" y="3083599"/>
            <a:ext cx="15787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10890766" y="3083599"/>
            <a:ext cx="276820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852655" y="3321248"/>
            <a:ext cx="53340" cy="53341"/>
          </a:xfrm>
          <a:prstGeom prst="ellipse">
            <a:avLst/>
          </a:prstGeom>
          <a:solidFill>
            <a:srgbClr val="5F7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8928854" y="3321248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005055" y="3321248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081254" y="3321248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9871710" y="3280172"/>
            <a:ext cx="358379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10890766" y="3280172"/>
            <a:ext cx="276820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8852655" y="3517820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9871710" y="3476745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10890766" y="3476745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52655" y="3714393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9871710" y="3673317"/>
            <a:ext cx="358379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10890766" y="3673317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852655" y="3910966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9871710" y="3869888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10890766" y="3869888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852655" y="4107537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928854" y="4107537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9005055" y="4107537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9081254" y="4107537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871710" y="4066461"/>
            <a:ext cx="358379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10890766" y="4066461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852655" y="4304109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9871710" y="4263034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10890766" y="4263034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852655" y="4500682"/>
            <a:ext cx="53340" cy="53339"/>
          </a:xfrm>
          <a:prstGeom prst="ellipse">
            <a:avLst/>
          </a:prstGeom>
          <a:solidFill>
            <a:srgbClr val="5F7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9871710" y="4459604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10890766" y="4459604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8852655" y="4697255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9871710" y="4656177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10890766" y="4656177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852655" y="4893826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9871710" y="4852750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10890766" y="4852750"/>
            <a:ext cx="276820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8852655" y="5090398"/>
            <a:ext cx="53340" cy="53341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9871710" y="5049321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10890766" y="5049321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8852655" y="5286971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9871710" y="5245893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10890766" y="5245893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8852655" y="5483542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9871710" y="5442466"/>
            <a:ext cx="358379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10890766" y="5442466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8852655" y="568011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71710" y="5639039"/>
            <a:ext cx="358379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10890766" y="5639039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8852655" y="587668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8928854" y="5876687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9005055" y="5876687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9081254" y="5876687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9157454" y="5876687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9871710" y="5835612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10890766" y="5835612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8852655" y="6073258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0" name="Rounded Rectangle 189"/>
          <p:cNvSpPr/>
          <p:nvPr/>
        </p:nvSpPr>
        <p:spPr>
          <a:xfrm>
            <a:off x="9871710" y="6032182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10890766" y="6032182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8852655" y="6269831"/>
            <a:ext cx="53340" cy="53341"/>
          </a:xfrm>
          <a:prstGeom prst="ellipse">
            <a:avLst/>
          </a:prstGeom>
          <a:solidFill>
            <a:srgbClr val="5F7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8928854" y="6269831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9005055" y="6269831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9871710" y="6228755"/>
            <a:ext cx="36885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6" name="Rounded Rectangle 195"/>
          <p:cNvSpPr/>
          <p:nvPr/>
        </p:nvSpPr>
        <p:spPr>
          <a:xfrm>
            <a:off x="10890766" y="6228755"/>
            <a:ext cx="365403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8852655" y="6466404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8928854" y="6466404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9" name="Rounded Rectangle 198"/>
          <p:cNvSpPr/>
          <p:nvPr/>
        </p:nvSpPr>
        <p:spPr>
          <a:xfrm>
            <a:off x="9871710" y="6425328"/>
            <a:ext cx="358379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0" name="Rounded Rectangle 199"/>
          <p:cNvSpPr/>
          <p:nvPr/>
        </p:nvSpPr>
        <p:spPr>
          <a:xfrm>
            <a:off x="10890766" y="6425328"/>
            <a:ext cx="276820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342900" y="312420"/>
            <a:ext cx="1170503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ANNEXE 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42900" y="449580"/>
            <a:ext cx="3223379" cy="4038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Référentiel des outils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42900" y="854869"/>
            <a:ext cx="3644503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Tous les outils recensés, avec éditeur, nature et mode d'alimentation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771585" y="358140"/>
            <a:ext cx="11683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Outil interne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196989" y="369570"/>
            <a:ext cx="79557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0841950" y="556260"/>
            <a:ext cx="169295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196989" y="567690"/>
            <a:ext cx="86594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697766" y="754380"/>
            <a:ext cx="107930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À qualifier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0196989" y="765810"/>
            <a:ext cx="72175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03860" y="1120140"/>
            <a:ext cx="92213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OUTIL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3008114" y="1120140"/>
            <a:ext cx="105132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SERVICES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027170" y="1120140"/>
            <a:ext cx="9960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NATURE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5046226" y="1120140"/>
            <a:ext cx="127635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03860" y="1316713"/>
            <a:ext cx="947023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Achat +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745230" y="1318260"/>
            <a:ext cx="72175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764286" y="1318260"/>
            <a:ext cx="72175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03860" y="1513284"/>
            <a:ext cx="1034058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Anaconda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745230" y="1514833"/>
            <a:ext cx="93273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4764286" y="1514833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388620" y="168854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AutoCAD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745230" y="1711404"/>
            <a:ext cx="93273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764286" y="1711404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88620" y="1885117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Basware</a:t>
            </a:r>
            <a:r>
              <a:rPr sz="570" b="0">
                <a:solidFill>
                  <a:srgbClr val="78879F"/>
                </a:solidFill>
                <a:latin typeface="Calibri"/>
              </a:rPr>
              <a:t> Soletanche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745230" y="1907976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764286" y="1907976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88620" y="208168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BATIS</a:t>
            </a:r>
            <a:r>
              <a:rPr sz="570" b="0">
                <a:solidFill>
                  <a:srgbClr val="78879F"/>
                </a:solidFill>
                <a:latin typeface="Calibri"/>
              </a:rPr>
              <a:t> Tisseo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745230" y="2104549"/>
            <a:ext cx="93273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764286" y="2104549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88620" y="2278261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BIM Vision</a:t>
            </a:r>
            <a:r>
              <a:rPr sz="570" b="0">
                <a:solidFill>
                  <a:srgbClr val="78879F"/>
                </a:solidFill>
                <a:latin typeface="Calibri"/>
              </a:rPr>
              <a:t> Technologia BIM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3745230" y="2301122"/>
            <a:ext cx="932736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764286" y="2301122"/>
            <a:ext cx="929283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03860" y="2496145"/>
            <a:ext cx="105489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3745230" y="2497693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4764286" y="2497693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403860" y="2692718"/>
            <a:ext cx="1052989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By My Site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3745230" y="2694265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764286" y="2694265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03860" y="2889289"/>
            <a:ext cx="931426" cy="12954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CEMEX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3745230" y="2890838"/>
            <a:ext cx="72175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764286" y="2890838"/>
            <a:ext cx="72175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388620" y="306455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Civil 3D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3745230" y="3087409"/>
            <a:ext cx="93273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4764286" y="3087409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03860" y="3282434"/>
            <a:ext cx="953810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745230" y="3283981"/>
            <a:ext cx="72175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4764286" y="3283981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388620" y="3457693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CWT</a:t>
            </a:r>
            <a:r>
              <a:rPr sz="570" b="0">
                <a:solidFill>
                  <a:srgbClr val="78879F"/>
                </a:solidFill>
                <a:latin typeface="Calibri"/>
              </a:rPr>
              <a:t> CWT EUROPE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3745230" y="3480554"/>
            <a:ext cx="93273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4764286" y="3480554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03860" y="3675578"/>
            <a:ext cx="111823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745230" y="3677127"/>
            <a:ext cx="72175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4764286" y="3677127"/>
            <a:ext cx="8721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Mixte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388620" y="3850839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DocuSign</a:t>
            </a:r>
            <a:r>
              <a:rPr sz="570" b="0">
                <a:solidFill>
                  <a:srgbClr val="78879F"/>
                </a:solidFill>
                <a:latin typeface="Calibri"/>
              </a:rPr>
              <a:t> Docusign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3745230" y="3873698"/>
            <a:ext cx="93273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764286" y="3873698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388620" y="404741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E-Checking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3745230" y="4070270"/>
            <a:ext cx="93273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4764286" y="4070270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388620" y="424398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E-Paraph</a:t>
            </a:r>
            <a:r>
              <a:rPr sz="570" b="0">
                <a:solidFill>
                  <a:srgbClr val="78879F"/>
                </a:solidFill>
                <a:latin typeface="Calibri"/>
              </a:rPr>
              <a:t> E-paraph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3745230" y="4266843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4764286" y="4266843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388620" y="444055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E-Project</a:t>
            </a:r>
            <a:r>
              <a:rPr sz="570" b="0">
                <a:solidFill>
                  <a:srgbClr val="78879F"/>
                </a:solidFill>
                <a:latin typeface="Calibri"/>
              </a:rPr>
              <a:t> Tisseo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3745230" y="4463416"/>
            <a:ext cx="721757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4764286" y="4463416"/>
            <a:ext cx="929283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403860" y="4658440"/>
            <a:ext cx="996553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3745230" y="4659987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764286" y="4659987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388620" y="4833700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3745230" y="4856559"/>
            <a:ext cx="93273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764286" y="4856559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403860" y="5051583"/>
            <a:ext cx="918805" cy="12954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GMAO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3745230" y="5053132"/>
            <a:ext cx="721757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764286" y="5053132"/>
            <a:ext cx="721757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388620" y="522684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H&amp;R For You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3745230" y="5249703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4764286" y="5249703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403860" y="5444729"/>
            <a:ext cx="1006316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745230" y="5446276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764286" y="5446276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388620" y="561998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IDCapture</a:t>
            </a:r>
            <a:r>
              <a:rPr sz="570" b="0">
                <a:solidFill>
                  <a:srgbClr val="78879F"/>
                </a:solidFill>
                <a:latin typeface="Calibri"/>
              </a:rPr>
              <a:t> IDCAPTURE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3745230" y="5642848"/>
            <a:ext cx="93273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4764286" y="5642848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388620" y="581656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Inventor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3745230" y="5839419"/>
            <a:ext cx="93273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4764286" y="5839419"/>
            <a:ext cx="92928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388620" y="6013133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La Scene</a:t>
            </a:r>
            <a:r>
              <a:rPr sz="570" b="0">
                <a:solidFill>
                  <a:srgbClr val="78879F"/>
                </a:solidFill>
                <a:latin typeface="Calibri"/>
              </a:rPr>
              <a:t> Leica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3745230" y="6035992"/>
            <a:ext cx="72175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4764286" y="6035992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403860" y="6231018"/>
            <a:ext cx="980361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Lafarge+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745230" y="6232565"/>
            <a:ext cx="93273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4764286" y="6232565"/>
            <a:ext cx="8407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03860" y="6427590"/>
            <a:ext cx="1104781" cy="12953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Live Objects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3745230" y="6429137"/>
            <a:ext cx="93273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764286" y="6429137"/>
            <a:ext cx="8407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6248400" y="1120140"/>
            <a:ext cx="92213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OUTIL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8852655" y="1120140"/>
            <a:ext cx="105132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SERVICES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871710" y="1120140"/>
            <a:ext cx="9960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NATURE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0890766" y="1120140"/>
            <a:ext cx="127635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6248400" y="1316713"/>
            <a:ext cx="990838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Lucee TP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9589770" y="1318260"/>
            <a:ext cx="93273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10608826" y="1318260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6233160" y="149197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Mezzoteam</a:t>
            </a:r>
            <a:r>
              <a:rPr sz="570" b="0">
                <a:solidFill>
                  <a:srgbClr val="78879F"/>
                </a:solidFill>
                <a:latin typeface="Calibri"/>
              </a:rPr>
              <a:t> MEZZOTEAM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9589770" y="1514833"/>
            <a:ext cx="93273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10608826" y="1514833"/>
            <a:ext cx="87213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Mixte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248400" y="1709856"/>
            <a:ext cx="884515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MIRO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9589770" y="1711404"/>
            <a:ext cx="72175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10608826" y="1711404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6248400" y="1906429"/>
            <a:ext cx="87201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MMS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9589770" y="1907976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10608826" y="1907976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6248400" y="2103002"/>
            <a:ext cx="1063823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MS Project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9589770" y="2104549"/>
            <a:ext cx="93273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0608826" y="2104549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6248400" y="2299573"/>
            <a:ext cx="101548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Neoaccès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9589770" y="2301122"/>
            <a:ext cx="721757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0608826" y="2301122"/>
            <a:ext cx="721757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6233160" y="247483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NotebookLM</a:t>
            </a:r>
            <a:r>
              <a:rPr sz="570" b="0">
                <a:solidFill>
                  <a:srgbClr val="78879F"/>
                </a:solidFill>
                <a:latin typeface="Calibri"/>
              </a:rPr>
              <a:t> GOOGLE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9589770" y="2497693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10608826" y="2497693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6233160" y="2671406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Oasis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9589770" y="2694265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10608826" y="2694265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6233160" y="2867977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  <a:r>
              <a:rPr sz="570" b="0">
                <a:solidFill>
                  <a:srgbClr val="78879F"/>
                </a:solidFill>
                <a:latin typeface="Calibri"/>
              </a:rPr>
              <a:t> Systra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9589770" y="2890838"/>
            <a:ext cx="93273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0608826" y="2890838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6248400" y="3085862"/>
            <a:ext cx="843558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Pixis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9589770" y="3087409"/>
            <a:ext cx="72175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10608826" y="3087409"/>
            <a:ext cx="8407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6233160" y="3261122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9589770" y="3283981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10608826" y="3283981"/>
            <a:ext cx="8407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6248400" y="3479007"/>
            <a:ext cx="1090017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PowerPoint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9589770" y="3480554"/>
            <a:ext cx="93273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10608826" y="3480554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6248400" y="3675578"/>
            <a:ext cx="884991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589770" y="3677127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0608826" y="3677127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6233160" y="3850839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QGIS</a:t>
            </a:r>
            <a:r>
              <a:rPr sz="570" b="0">
                <a:solidFill>
                  <a:srgbClr val="78879F"/>
                </a:solidFill>
                <a:latin typeface="Calibri"/>
              </a:rPr>
              <a:t> QGIS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9589770" y="3873698"/>
            <a:ext cx="93273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0608826" y="3873698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6233160" y="404741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  <a:r>
              <a:rPr sz="570" b="0">
                <a:solidFill>
                  <a:srgbClr val="78879F"/>
                </a:solidFill>
                <a:latin typeface="Calibri"/>
              </a:rPr>
              <a:t> Synologie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9589770" y="4070270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10608826" y="4070270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6233160" y="424398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Revit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9589770" y="4266843"/>
            <a:ext cx="93273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10608826" y="4266843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6233160" y="444055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SharePoint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9589770" y="4463416"/>
            <a:ext cx="932735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10608826" y="4463416"/>
            <a:ext cx="929283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6233160" y="463712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Simple BIM</a:t>
            </a:r>
            <a:r>
              <a:rPr sz="570" b="0">
                <a:solidFill>
                  <a:srgbClr val="78879F"/>
                </a:solidFill>
                <a:latin typeface="Calibri"/>
              </a:rPr>
              <a:t> Licence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9589770" y="4659987"/>
            <a:ext cx="93273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0608826" y="4659987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6248400" y="4855012"/>
            <a:ext cx="945356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Sixense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9589770" y="4856559"/>
            <a:ext cx="93273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10608826" y="4856559"/>
            <a:ext cx="8407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6233160" y="5030271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Sofistik Bridge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9589770" y="5053132"/>
            <a:ext cx="932735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10608826" y="5053132"/>
            <a:ext cx="929283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6233160" y="522684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Tableau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9589770" y="5249703"/>
            <a:ext cx="93273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10608826" y="5249703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6248400" y="5444729"/>
            <a:ext cx="833913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TIPS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589770" y="5446276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0608826" y="5446276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248400" y="5641299"/>
            <a:ext cx="935355" cy="12954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Traktor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9589770" y="5642848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10608826" y="5642848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6233160" y="581656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  <a:r>
              <a:rPr sz="570" b="0">
                <a:solidFill>
                  <a:srgbClr val="78879F"/>
                </a:solidFill>
                <a:latin typeface="Calibri"/>
              </a:rPr>
              <a:t> tekla bimsight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589770" y="5839419"/>
            <a:ext cx="93273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10608826" y="5839419"/>
            <a:ext cx="92928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6248400" y="6034445"/>
            <a:ext cx="1353622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9589770" y="6035992"/>
            <a:ext cx="93273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0608826" y="6035992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6233160" y="620970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Word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9589770" y="6232565"/>
            <a:ext cx="93273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10608826" y="6232565"/>
            <a:ext cx="92928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6248400" y="6427590"/>
            <a:ext cx="971312" cy="12953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YELLOW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9589770" y="6429137"/>
            <a:ext cx="922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0608826" y="6429137"/>
            <a:ext cx="8407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342900" y="6629400"/>
            <a:ext cx="2321004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1472863" y="6629400"/>
            <a:ext cx="1062037" cy="1295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
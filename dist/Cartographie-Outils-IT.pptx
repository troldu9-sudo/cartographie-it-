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08933" y="358140"/>
            <a:ext cx="412551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08933" y="563880"/>
            <a:ext cx="43815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08933" y="769620"/>
            <a:ext cx="521494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2864" y="381000"/>
            <a:ext cx="60960" cy="6096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" y="1074420"/>
            <a:ext cx="2228136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07670" y="1150382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4340" y="1177052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" y="1531144"/>
            <a:ext cx="53494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9768" y="1531144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33049" y="1531144"/>
            <a:ext cx="55626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" y="1720096"/>
            <a:ext cx="43898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3803" y="1720096"/>
            <a:ext cx="46172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96008" y="1720096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64588" y="1772603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86451" y="1720096"/>
            <a:ext cx="3429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4340" y="1909048"/>
            <a:ext cx="3383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3196" y="1909048"/>
            <a:ext cx="5806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343" y="1909048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4340" y="2098000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662476" y="1074420"/>
            <a:ext cx="2228136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7246" y="1150382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53916" y="1177052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753916" y="1531144"/>
            <a:ext cx="457319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41715" y="1531144"/>
            <a:ext cx="728543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10295" y="1583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000738" y="1531144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753916" y="1720096"/>
            <a:ext cx="49851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82910" y="1720096"/>
            <a:ext cx="41314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51490" y="1772603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26538" y="1720096"/>
            <a:ext cx="5715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53916" y="1909048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982051" y="1074420"/>
            <a:ext cx="2228135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46821" y="115038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73491" y="117705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73491" y="1531144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06772" y="1531144"/>
            <a:ext cx="499825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37077" y="1531144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19743" y="1531144"/>
            <a:ext cx="393144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73491" y="1720096"/>
            <a:ext cx="53030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634276" y="1720096"/>
            <a:ext cx="56245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27207" y="1720096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73491" y="1909048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42072" y="19615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77019" y="1909048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73491" y="2098000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885736" y="2098000"/>
            <a:ext cx="572929" cy="158472"/>
          </a:xfrm>
          <a:prstGeom prst="roundRect">
            <a:avLst>
              <a:gd name="adj" fmla="val 50000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954316" y="2150507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01627" y="1074420"/>
            <a:ext cx="2228136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397" y="1150382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93067" y="1177052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93067" y="1531144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21943" y="1531144"/>
            <a:ext cx="499824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52247" y="1531144"/>
            <a:ext cx="35218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834914" y="1531144"/>
            <a:ext cx="53030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93067" y="1720096"/>
            <a:ext cx="32920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752755" y="1720096"/>
            <a:ext cx="56245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345686" y="1720096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414266" y="1772603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393067" y="1909048"/>
            <a:ext cx="448032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871579" y="1909048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263294" y="1909048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31875" y="19615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393067" y="2098000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141375" y="2098000"/>
            <a:ext cx="416124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587978" y="2098000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93067" y="2286952"/>
            <a:ext cx="3458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621203" y="1074420"/>
            <a:ext cx="2228135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685973" y="1150382"/>
            <a:ext cx="121920" cy="121920"/>
          </a:xfrm>
          <a:prstGeom prst="ellipse">
            <a:avLst/>
          </a:prstGeom>
          <a:solidFill>
            <a:srgbClr val="A9761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712643" y="1177052"/>
            <a:ext cx="68580" cy="68580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712643" y="1531144"/>
            <a:ext cx="704135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447258" y="1531144"/>
            <a:ext cx="475655" cy="158472"/>
          </a:xfrm>
          <a:prstGeom prst="roundRect">
            <a:avLst>
              <a:gd name="adj" fmla="val 50000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953393" y="1531144"/>
            <a:ext cx="425172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712643" y="1720096"/>
            <a:ext cx="49839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241518" y="1720096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0624185" y="1720096"/>
            <a:ext cx="635318" cy="158472"/>
          </a:xfrm>
          <a:prstGeom prst="roundRect">
            <a:avLst>
              <a:gd name="adj" fmla="val 50000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1289983" y="1720096"/>
            <a:ext cx="448032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712643" y="1909048"/>
            <a:ext cx="573047" cy="158472"/>
          </a:xfrm>
          <a:prstGeom prst="roundRect">
            <a:avLst>
              <a:gd name="adj" fmla="val 50000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781223" y="19615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0316171" y="1909048"/>
            <a:ext cx="5715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918151" y="1909048"/>
            <a:ext cx="3458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42900" y="3393996"/>
            <a:ext cx="11506200" cy="877729"/>
          </a:xfrm>
          <a:prstGeom prst="roundRect">
            <a:avLst>
              <a:gd name="adj" fmla="val 1389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35636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35636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00451" y="384881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65938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265938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962400" y="357068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204460" y="357068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3962400" y="378404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204460" y="378404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962400" y="399740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49224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49224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79526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79526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183642" y="3848814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795260" y="399740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098280" y="357068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098280" y="378404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098280" y="399740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401301" y="3470195"/>
            <a:ext cx="1333500" cy="710089"/>
          </a:xfrm>
          <a:prstGeom prst="roundRect">
            <a:avLst>
              <a:gd name="adj" fmla="val 10731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10454640" y="3523536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10454640" y="3813096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4290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07670" y="5212437"/>
            <a:ext cx="121920" cy="121920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34340" y="5239107"/>
            <a:ext cx="68580" cy="68580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34340" y="5593199"/>
            <a:ext cx="37790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842724" y="5593199"/>
            <a:ext cx="475655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1348859" y="5593199"/>
            <a:ext cx="3245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703904" y="5593199"/>
            <a:ext cx="5211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2255520" y="5593199"/>
            <a:ext cx="5898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34340" y="5782152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963216" y="5782152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345882" y="5782152"/>
            <a:ext cx="3520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1728430" y="5782152"/>
            <a:ext cx="32920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088118" y="5782152"/>
            <a:ext cx="361355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479953" y="5782152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548533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434340" y="5971103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1182648" y="5971103"/>
            <a:ext cx="44196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655088" y="5971103"/>
            <a:ext cx="34587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031444" y="5971103"/>
            <a:ext cx="572929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100024" y="60236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324231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307080" y="5212437"/>
            <a:ext cx="121920" cy="121920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333750" y="5239107"/>
            <a:ext cx="68580" cy="6858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3333750" y="5593199"/>
            <a:ext cx="570072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3934301" y="5593199"/>
            <a:ext cx="370284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335066" y="5593199"/>
            <a:ext cx="507445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403646" y="5645706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872990" y="5593199"/>
            <a:ext cx="475654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5379125" y="5593199"/>
            <a:ext cx="553283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3333750" y="5782152"/>
            <a:ext cx="52113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3885367" y="5782152"/>
            <a:ext cx="5898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4505682" y="5782152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5034558" y="5782152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3333750" y="5971103"/>
            <a:ext cx="641509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4005739" y="5971103"/>
            <a:ext cx="493871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4530090" y="5971103"/>
            <a:ext cx="521375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5081945" y="5971103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5473660" y="5971103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3333750" y="6160056"/>
            <a:ext cx="320040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614172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206490" y="5212437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233160" y="5239107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233160" y="5593199"/>
            <a:ext cx="429816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6693456" y="5593199"/>
            <a:ext cx="35218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7076122" y="5593199"/>
            <a:ext cx="53030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7636906" y="5593199"/>
            <a:ext cx="566262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7705487" y="5645706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6233160" y="5782152"/>
            <a:ext cx="10759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301740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339608" y="5782152"/>
            <a:ext cx="503039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7873127" y="5782152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941707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6233160" y="5971103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624876" y="5971103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C2456A">
              <a:alpha val="12000"/>
            </a:srgbClr>
          </a:solidFill>
          <a:ln w="7620">
            <a:solidFill>
              <a:srgbClr val="C2456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693456" y="60236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7228404" y="5971103"/>
            <a:ext cx="58971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7848600" y="5971103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C2456A">
              <a:alpha val="12000"/>
            </a:srgbClr>
          </a:solidFill>
          <a:ln w="7620">
            <a:solidFill>
              <a:srgbClr val="C2456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233160" y="6160056"/>
            <a:ext cx="97988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6301740" y="6212562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243525" y="6160056"/>
            <a:ext cx="7817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6233160" y="6349008"/>
            <a:ext cx="884158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9041130" y="5136475"/>
            <a:ext cx="2807970" cy="1454825"/>
          </a:xfrm>
          <a:prstGeom prst="roundRect">
            <a:avLst>
              <a:gd name="adj" fmla="val 8380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9105900" y="5212437"/>
            <a:ext cx="121920" cy="121920"/>
          </a:xfrm>
          <a:prstGeom prst="ellipse">
            <a:avLst/>
          </a:prstGeom>
          <a:solidFill>
            <a:srgbClr val="D9302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132570" y="5239107"/>
            <a:ext cx="68580" cy="6858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9132570" y="5593199"/>
            <a:ext cx="553284" cy="158472"/>
          </a:xfrm>
          <a:prstGeom prst="roundRect">
            <a:avLst>
              <a:gd name="adj" fmla="val 50000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9716333" y="5593199"/>
            <a:ext cx="374928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10121741" y="5593199"/>
            <a:ext cx="969050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132570" y="5782152"/>
            <a:ext cx="859870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022919" y="5782152"/>
            <a:ext cx="361117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10414516" y="5782152"/>
            <a:ext cx="65996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0483096" y="583465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1104960" y="5782152"/>
            <a:ext cx="36123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9132570" y="5971103"/>
            <a:ext cx="573048" cy="158472"/>
          </a:xfrm>
          <a:prstGeom prst="roundRect">
            <a:avLst>
              <a:gd name="adj" fmla="val 50000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201150" y="6023610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736098" y="5971103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10484406" y="5971103"/>
            <a:ext cx="1065371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C2456A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42900" y="312420"/>
            <a:ext cx="38358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· VUE D'ENSEMBLE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42900" y="847249"/>
            <a:ext cx="305181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Neuf pôles, 64 outils et le socle applicatif commun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082445" y="361950"/>
            <a:ext cx="191547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334613" y="373380"/>
            <a:ext cx="96119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108043" y="56769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34613" y="579120"/>
            <a:ext cx="9867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33415C"/>
                </a:solidFill>
                <a:latin typeface="Calibri"/>
              </a:rPr>
              <a:t>Externe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191387" y="773430"/>
            <a:ext cx="18291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Apporté par le brief métier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34613" y="784860"/>
            <a:ext cx="10701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Hors BDD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654784" y="342900"/>
            <a:ext cx="18085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837664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837664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71500" y="1127760"/>
            <a:ext cx="152971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3880" y="1264444"/>
            <a:ext cx="15980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MAQUETTES ET PLANS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63880" y="1386364"/>
            <a:ext cx="106811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11 OUTILS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60020" y="1546384"/>
            <a:ext cx="108358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25448" y="1546384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258729" y="1546384"/>
            <a:ext cx="110490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60020" y="1735336"/>
            <a:ext cx="9876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29483" y="1735336"/>
            <a:ext cx="10103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205508" y="1735336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12131" y="1735336"/>
            <a:ext cx="8915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60020" y="1924288"/>
            <a:ext cx="8870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28876" y="1924288"/>
            <a:ext cx="11293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40023" y="1924288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60020" y="2113240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891076" y="1127760"/>
            <a:ext cx="133457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883456" y="1264444"/>
            <a:ext cx="17256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883456" y="1386364"/>
            <a:ext cx="10291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0E9E78"/>
                </a:solidFill>
                <a:latin typeface="Calibri"/>
              </a:rPr>
              <a:t>7 OUTILS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479596" y="1546384"/>
            <a:ext cx="100595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051215" y="1546384"/>
            <a:ext cx="119336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Cyclone 3DR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726418" y="1546384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479596" y="1735336"/>
            <a:ext cx="104715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092410" y="1735336"/>
            <a:ext cx="8779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Pixis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452217" y="1735336"/>
            <a:ext cx="11201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SharePoint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479596" y="1924288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210652" y="1127760"/>
            <a:ext cx="145018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 tunnel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203031" y="1264444"/>
            <a:ext cx="184189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CREUSEMENT ET TUNNELIER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203031" y="1386364"/>
            <a:ext cx="106811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0F8FA8"/>
                </a:solidFill>
                <a:latin typeface="Calibri"/>
              </a:rPr>
              <a:t>11 OUTILS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799172" y="1546384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5332452" y="1546384"/>
            <a:ext cx="104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ERP MAT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62757" y="1546384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245424" y="1546384"/>
            <a:ext cx="9417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799172" y="1735336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359956" y="1735336"/>
            <a:ext cx="111109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52887" y="1735336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882991" y="1924288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Power BI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402699" y="1924288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Quick Connect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799172" y="2113240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695236" y="2113240"/>
            <a:ext cx="10377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0F8FA8"/>
                </a:solidFill>
                <a:latin typeface="Calibri"/>
              </a:rPr>
              <a:t>YELLOW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530227" y="1127760"/>
            <a:ext cx="109585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522607" y="1264444"/>
            <a:ext cx="16290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CONDUITE DE TRAVAUX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522607" y="1386364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14 OUTILS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118747" y="1546384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E-Paraph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647622" y="1546384"/>
            <a:ext cx="104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8177927" y="1546384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8560594" y="1546384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118747" y="1735336"/>
            <a:ext cx="877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7478435" y="1735336"/>
            <a:ext cx="111109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155186" y="1735336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118747" y="1924288"/>
            <a:ext cx="99667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Outlook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597259" y="1924288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8072795" y="1924288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Power BI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18747" y="2113240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Quick Connect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867054" y="2113240"/>
            <a:ext cx="9647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Traktor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8313658" y="2113240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118747" y="2302193"/>
            <a:ext cx="8945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Word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9849803" y="1127760"/>
            <a:ext cx="107096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Contrat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9842182" y="1264444"/>
            <a:ext cx="171902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CONTRACT MANAGEMENT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9842182" y="1386364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A9761A"/>
                </a:solidFill>
                <a:latin typeface="Calibri"/>
              </a:rPr>
              <a:t>10 OUTILS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9438323" y="1546384"/>
            <a:ext cx="12527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Appli bancaire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10172938" y="1546384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A9761A"/>
                </a:solidFill>
                <a:latin typeface="Calibri"/>
              </a:rPr>
              <a:t>Basware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679073" y="1546384"/>
            <a:ext cx="97381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Chorus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9438323" y="1735336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9967199" y="1735336"/>
            <a:ext cx="90082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10349865" y="1735336"/>
            <a:ext cx="118395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A9761A"/>
                </a:solidFill>
                <a:latin typeface="Calibri"/>
              </a:rPr>
              <a:t>NotebookLM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1015662" y="1735336"/>
            <a:ext cx="99667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Outlook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522143" y="1924288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A9761A"/>
                </a:solidFill>
                <a:latin typeface="Calibri"/>
              </a:rPr>
              <a:t>Power BI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041850" y="1924288"/>
            <a:ext cx="11201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SharePoint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643830" y="1924288"/>
            <a:ext cx="8945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Word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457200" y="3454955"/>
            <a:ext cx="97369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SOCLE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57200" y="3531156"/>
            <a:ext cx="119205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APPLICATIF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7200" y="3622596"/>
            <a:ext cx="116478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Logiciels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457200" y="3744040"/>
            <a:ext cx="1207770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communs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198602" y="3454955"/>
            <a:ext cx="154221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1298496" y="3601165"/>
            <a:ext cx="13425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448991" y="3814524"/>
            <a:ext cx="113299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464832" y="3454955"/>
            <a:ext cx="161579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745819" y="3601165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734270" y="3814524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370308" y="3454955"/>
            <a:ext cx="1637705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111109" y="3601165"/>
            <a:ext cx="9140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5285661" y="3601165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102656" y="3814524"/>
            <a:ext cx="9310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5374124" y="3814524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994666" y="4027884"/>
            <a:ext cx="11469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395442" y="3454955"/>
            <a:ext cx="1420296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6648569" y="3601165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542246" y="3814524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7619643" y="3454955"/>
            <a:ext cx="157805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770019" y="3601165"/>
            <a:ext cx="12773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932182" y="3814524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923609" y="4027884"/>
            <a:ext cx="970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111734" y="3454955"/>
            <a:ext cx="1199912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9259252" y="3601165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262467" y="3814524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9210437" y="4027884"/>
            <a:ext cx="100250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Outlook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0493812" y="3554016"/>
            <a:ext cx="11484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514053" y="3653076"/>
            <a:ext cx="1107876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RÉFÉRENTIEL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0537627" y="3843576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0395466" y="3942636"/>
            <a:ext cx="13450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CABINE DE PILOTAGE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571500" y="5189815"/>
            <a:ext cx="115478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63880" y="5326499"/>
            <a:ext cx="165996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PILOTAGE DU CHANTIER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6388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15 OUTILS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60020" y="5608439"/>
            <a:ext cx="9265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BATIS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68404" y="5608439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Basware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74539" y="5608439"/>
            <a:ext cx="8732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CWT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429584" y="5608439"/>
            <a:ext cx="10697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DocuSign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981200" y="5608439"/>
            <a:ext cx="11384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E-Checking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60020" y="5797391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E-Paraph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688896" y="5797391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71563" y="5797391"/>
            <a:ext cx="9007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454110" y="5797391"/>
            <a:ext cx="877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813798" y="5797391"/>
            <a:ext cx="9099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Oasis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289453" y="5797391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Power BI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60020" y="5986343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Quick Connect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08328" y="5986343"/>
            <a:ext cx="99060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Tableau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380768" y="5986343"/>
            <a:ext cx="8945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Word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1840944" y="5986343"/>
            <a:ext cx="10377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YELLOW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470910" y="5189815"/>
            <a:ext cx="90963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63290" y="5326499"/>
            <a:ext cx="19098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RH · COMPTABILITÉ · GESTION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46329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15 OUTILS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3059430" y="5608439"/>
            <a:ext cx="11187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BIP / BAPS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659981" y="5608439"/>
            <a:ext cx="9189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BYCN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144566" y="5608439"/>
            <a:ext cx="9722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BYMAT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598670" y="5608439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5104805" y="5608439"/>
            <a:ext cx="110192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By My Site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059430" y="5797391"/>
            <a:ext cx="10697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DocuSign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3611047" y="5797391"/>
            <a:ext cx="11384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E-Checking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231362" y="5797391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E-Paraph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760238" y="5797391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3059430" y="5986343"/>
            <a:ext cx="11901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H&amp;R For You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3731419" y="5986343"/>
            <a:ext cx="10425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Harmony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4255770" y="5986343"/>
            <a:ext cx="107001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4807625" y="5986343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5199340" y="5986343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Puma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3059430" y="6175296"/>
            <a:ext cx="86868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TIPS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6370320" y="5189815"/>
            <a:ext cx="1980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362700" y="5326499"/>
            <a:ext cx="180820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CONTRÔLE ET CONFORMITÉ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36270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14 OUTILS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58840" y="5608439"/>
            <a:ext cx="9784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419136" y="5608439"/>
            <a:ext cx="90082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Excel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801802" y="5608439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7446407" y="5608439"/>
            <a:ext cx="10310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Lafarge+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042660" y="5797391"/>
            <a:ext cx="154078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Live Objects (Orange)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7065288" y="5797391"/>
            <a:ext cx="10516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7682627" y="5797391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5958840" y="5986343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434376" y="5986343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C2456A"/>
                </a:solidFill>
                <a:latin typeface="Calibri"/>
              </a:rPr>
              <a:t>Power BI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6954084" y="5986343"/>
            <a:ext cx="11383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7574280" y="5986343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C2456A"/>
                </a:solidFill>
                <a:latin typeface="Calibri"/>
              </a:rPr>
              <a:t>Quick Connect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042660" y="6175296"/>
            <a:ext cx="144470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Sixense Monitoring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6969205" y="6175296"/>
            <a:ext cx="13304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Trimble Connect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5958840" y="6364248"/>
            <a:ext cx="143279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9269730" y="5189815"/>
            <a:ext cx="111299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262110" y="5326499"/>
            <a:ext cx="189035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PRÉVENTION · HABILITATIONS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9262110" y="5448419"/>
            <a:ext cx="10716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93025"/>
                </a:solidFill>
                <a:latin typeface="Calibri"/>
              </a:rPr>
              <a:t>10 OUTILS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8858250" y="5608439"/>
            <a:ext cx="11019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93025"/>
                </a:solidFill>
                <a:latin typeface="Calibri"/>
              </a:rPr>
              <a:t>By My Site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442014" y="5608439"/>
            <a:ext cx="9235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Cority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9847422" y="5608439"/>
            <a:ext cx="1517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HRMYOU / Global HR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8858250" y="5797391"/>
            <a:ext cx="14085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Heures Travaillées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9748600" y="5797391"/>
            <a:ext cx="909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Lotus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224016" y="5797391"/>
            <a:ext cx="112478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Mezzoteam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10830639" y="5797391"/>
            <a:ext cx="90987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Pablo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942070" y="5986343"/>
            <a:ext cx="10378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93025"/>
                </a:solidFill>
                <a:latin typeface="Calibri"/>
              </a:rPr>
              <a:t>Power BI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9461778" y="5986343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93025"/>
                </a:solidFill>
                <a:latin typeface="Calibri"/>
              </a:rPr>
              <a:t>Quick Connect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210086" y="5986343"/>
            <a:ext cx="16140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C4365"/>
                </a:solidFill>
                <a:latin typeface="Calibri"/>
              </a:rPr>
              <a:t>Quick Connect Sécurité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 / 13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10264140" y="3550206"/>
            <a:ext cx="251460" cy="130969"/>
          </a:xfrm>
          <a:custGeom>
            <a:avLst/>
            <a:gdLst/>
            <a:ahLst/>
            <a:cxnLst/>
            <a:rect l="0" t="0" r="r" b="b"/>
            <a:pathLst>
              <a:path w="251460" h="130969">
                <a:moveTo>
                  <a:pt x="60960" y="70009"/>
                </a:moveTo>
                <a:cubicBezTo>
                  <a:pt x="104140" y="66993"/>
                  <a:pt x="147320" y="63976"/>
                  <a:pt x="190500" y="60960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0264140" y="3643075"/>
            <a:ext cx="251460" cy="318611"/>
          </a:xfrm>
          <a:custGeom>
            <a:avLst/>
            <a:gdLst/>
            <a:ahLst/>
            <a:cxnLst/>
            <a:rect l="0" t="0" r="r" b="b"/>
            <a:pathLst>
              <a:path w="251460" h="318611">
                <a:moveTo>
                  <a:pt x="60960" y="60960"/>
                </a:moveTo>
                <a:cubicBezTo>
                  <a:pt x="104140" y="126524"/>
                  <a:pt x="147320" y="192087"/>
                  <a:pt x="190500" y="25765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8961120" y="3559255"/>
            <a:ext cx="1554480" cy="196691"/>
          </a:xfrm>
          <a:custGeom>
            <a:avLst/>
            <a:gdLst/>
            <a:ahLst/>
            <a:cxnLst/>
            <a:rect l="0" t="0" r="r" b="b"/>
            <a:pathLst>
              <a:path w="1554480" h="196691">
                <a:moveTo>
                  <a:pt x="60960" y="60960"/>
                </a:moveTo>
                <a:cubicBezTo>
                  <a:pt x="705612" y="60960"/>
                  <a:pt x="848868" y="135731"/>
                  <a:pt x="1493520" y="135731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961120" y="3643075"/>
            <a:ext cx="1554480" cy="402431"/>
          </a:xfrm>
          <a:custGeom>
            <a:avLst/>
            <a:gdLst/>
            <a:ahLst/>
            <a:cxnLst/>
            <a:rect l="0" t="0" r="r" b="b"/>
            <a:pathLst>
              <a:path w="1554480" h="402431">
                <a:moveTo>
                  <a:pt x="60960" y="60960"/>
                </a:moveTo>
                <a:cubicBezTo>
                  <a:pt x="705612" y="60960"/>
                  <a:pt x="848868" y="341471"/>
                  <a:pt x="1493520" y="34147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113020" y="3517345"/>
            <a:ext cx="152400" cy="205740"/>
          </a:xfrm>
          <a:custGeom>
            <a:avLst/>
            <a:gdLst/>
            <a:ahLst/>
            <a:cxnLst/>
            <a:rect l="0" t="0" r="r" b="b"/>
            <a:pathLst>
              <a:path w="152400" h="205740">
                <a:moveTo>
                  <a:pt x="60960" y="144780"/>
                </a:moveTo>
                <a:cubicBezTo>
                  <a:pt x="71120" y="116840"/>
                  <a:pt x="81280" y="88900"/>
                  <a:pt x="91440" y="60960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5007947" y="3692604"/>
            <a:ext cx="863263" cy="1504831"/>
          </a:xfrm>
          <a:custGeom>
            <a:avLst/>
            <a:gdLst/>
            <a:ahLst/>
            <a:cxnLst/>
            <a:rect l="0" t="0" r="r" b="b"/>
            <a:pathLst>
              <a:path w="863263" h="1504831">
                <a:moveTo>
                  <a:pt x="60960" y="1443871"/>
                </a:moveTo>
                <a:cubicBezTo>
                  <a:pt x="60960" y="752415"/>
                  <a:pt x="802303" y="752415"/>
                  <a:pt x="802303" y="60960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5091767" y="3692604"/>
            <a:ext cx="863263" cy="1504831"/>
          </a:xfrm>
          <a:custGeom>
            <a:avLst/>
            <a:gdLst/>
            <a:ahLst/>
            <a:cxnLst/>
            <a:rect l="0" t="0" r="r" b="b"/>
            <a:pathLst>
              <a:path w="863263" h="1504831">
                <a:moveTo>
                  <a:pt x="802303" y="60960"/>
                </a:moveTo>
                <a:cubicBezTo>
                  <a:pt x="802303" y="752415"/>
                  <a:pt x="60960" y="752415"/>
                  <a:pt x="60960" y="1443871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7044690" y="3692604"/>
            <a:ext cx="121920" cy="152400"/>
          </a:xfrm>
          <a:custGeom>
            <a:avLst/>
            <a:gdLst/>
            <a:ahLst/>
            <a:cxnLst/>
            <a:rect l="0" t="0" r="r" b="b"/>
            <a:pathLst>
              <a:path w="121920" h="152400">
                <a:moveTo>
                  <a:pt x="60960" y="91440"/>
                </a:moveTo>
                <a:cubicBezTo>
                  <a:pt x="60960" y="76200"/>
                  <a:pt x="60960" y="76200"/>
                  <a:pt x="60960" y="60960"/>
                </a:cubicBezTo>
              </a:path>
            </a:pathLst>
          </a:custGeom>
          <a:noFill/>
          <a:ln w="15240">
            <a:solidFill>
              <a:srgbClr val="4CC9E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8110895" y="2468285"/>
            <a:ext cx="2892386" cy="1405771"/>
          </a:xfrm>
          <a:custGeom>
            <a:avLst/>
            <a:gdLst/>
            <a:ahLst/>
            <a:cxnLst/>
            <a:rect l="0" t="0" r="r" b="b"/>
            <a:pathLst>
              <a:path w="2892386" h="1405771">
                <a:moveTo>
                  <a:pt x="60960" y="60960"/>
                </a:moveTo>
                <a:cubicBezTo>
                  <a:pt x="60960" y="702885"/>
                  <a:pt x="2831426" y="702885"/>
                  <a:pt x="2831426" y="1344811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6614279" y="4011216"/>
            <a:ext cx="4640461" cy="1186220"/>
          </a:xfrm>
          <a:custGeom>
            <a:avLst/>
            <a:gdLst/>
            <a:ahLst/>
            <a:cxnLst/>
            <a:rect l="0" t="0" r="r" b="b"/>
            <a:pathLst>
              <a:path w="4640461" h="1186220">
                <a:moveTo>
                  <a:pt x="60960" y="1125260"/>
                </a:moveTo>
                <a:cubicBezTo>
                  <a:pt x="60960" y="593110"/>
                  <a:pt x="4579501" y="593110"/>
                  <a:pt x="4579501" y="60960"/>
                </a:cubicBezTo>
              </a:path>
            </a:pathLst>
          </a:custGeom>
          <a:noFill/>
          <a:ln w="15240">
            <a:solidFill>
              <a:srgbClr val="C2456A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950720" y="2468285"/>
            <a:ext cx="1155323" cy="1163360"/>
          </a:xfrm>
          <a:custGeom>
            <a:avLst/>
            <a:gdLst/>
            <a:ahLst/>
            <a:cxnLst/>
            <a:rect l="0" t="0" r="r" b="b"/>
            <a:pathLst>
              <a:path w="1155323" h="1163360">
                <a:moveTo>
                  <a:pt x="60960" y="1102400"/>
                </a:moveTo>
                <a:cubicBezTo>
                  <a:pt x="60960" y="581680"/>
                  <a:pt x="1094363" y="581680"/>
                  <a:pt x="1094363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866900" y="2468285"/>
            <a:ext cx="1800046" cy="1163360"/>
          </a:xfrm>
          <a:custGeom>
            <a:avLst/>
            <a:gdLst/>
            <a:ahLst/>
            <a:cxnLst/>
            <a:rect l="0" t="0" r="r" b="b"/>
            <a:pathLst>
              <a:path w="1800046" h="1163360">
                <a:moveTo>
                  <a:pt x="60960" y="1102400"/>
                </a:moveTo>
                <a:cubicBezTo>
                  <a:pt x="60960" y="581680"/>
                  <a:pt x="1739086" y="581680"/>
                  <a:pt x="1739086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900303" y="1628656"/>
            <a:ext cx="143232" cy="152400"/>
          </a:xfrm>
          <a:custGeom>
            <a:avLst/>
            <a:gdLst/>
            <a:ahLst/>
            <a:cxnLst/>
            <a:rect l="0" t="0" r="r" b="b"/>
            <a:pathLst>
              <a:path w="143232" h="152400">
                <a:moveTo>
                  <a:pt x="60960" y="91440"/>
                </a:moveTo>
                <a:cubicBezTo>
                  <a:pt x="60960" y="76200"/>
                  <a:pt x="82272" y="76200"/>
                  <a:pt x="82272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0479524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0479524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10300716" y="359583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300716" y="367965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997696" y="359583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997696" y="367965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149596" y="363774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5044523" y="511209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5869686" y="372918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081266" y="375966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8147471" y="250486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6650855" y="511209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24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987296" y="354630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1903476" y="354630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936879" y="169571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08933" y="358140"/>
            <a:ext cx="412551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08933" y="563880"/>
            <a:ext cx="43815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08933" y="769620"/>
            <a:ext cx="521494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2864" y="381000"/>
            <a:ext cx="60960" cy="6096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" y="1074420"/>
            <a:ext cx="3774400" cy="1032986"/>
          </a:xfrm>
          <a:prstGeom prst="roundRect">
            <a:avLst>
              <a:gd name="adj" fmla="val 118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07670" y="1150382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4340" y="1177052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" y="1401604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" y="1621631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3A6BE5">
              <a:alpha val="12000"/>
            </a:srgbClr>
          </a:solidFill>
          <a:ln w="7620">
            <a:solidFill>
              <a:srgbClr val="3A6BE5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8740" y="1074420"/>
            <a:ext cx="3774400" cy="1032986"/>
          </a:xfrm>
          <a:prstGeom prst="roundRect">
            <a:avLst>
              <a:gd name="adj" fmla="val 118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3510" y="1150382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00180" y="1177052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00180" y="1401604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00180" y="1621631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0E9E78">
              <a:alpha val="12000"/>
            </a:srgbClr>
          </a:solidFill>
          <a:ln w="7620">
            <a:solidFill>
              <a:srgbClr val="0E9E78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0180" y="1841659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0E9E78">
              <a:alpha val="12000"/>
            </a:srgbClr>
          </a:solidFill>
          <a:ln w="7620">
            <a:solidFill>
              <a:srgbClr val="0E9E78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74581" y="1074420"/>
            <a:ext cx="3774401" cy="1032986"/>
          </a:xfrm>
          <a:prstGeom prst="roundRect">
            <a:avLst>
              <a:gd name="adj" fmla="val 118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9351" y="115038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66021" y="117705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66021" y="1401604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66021" y="1621631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66021" y="1841659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0F8FA8">
              <a:alpha val="12000"/>
            </a:srgbClr>
          </a:solidFill>
          <a:ln w="7620">
            <a:solidFill>
              <a:srgbClr val="0F8FA8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2900" y="2766298"/>
            <a:ext cx="3774400" cy="1473041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7670" y="2842260"/>
            <a:ext cx="121920" cy="121921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4340" y="2868930"/>
            <a:ext cx="68580" cy="6858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4340" y="3093482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340" y="3313509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4340" y="3533537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4340" y="3753565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34340" y="3973592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08740" y="2766298"/>
            <a:ext cx="3774400" cy="1473041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73510" y="2842260"/>
            <a:ext cx="121920" cy="121921"/>
          </a:xfrm>
          <a:prstGeom prst="ellipse">
            <a:avLst/>
          </a:prstGeom>
          <a:solidFill>
            <a:srgbClr val="A9761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00180" y="2868930"/>
            <a:ext cx="68580" cy="68581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300180" y="3093482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300180" y="3313509"/>
            <a:ext cx="3591520" cy="181928"/>
          </a:xfrm>
          <a:prstGeom prst="roundRect">
            <a:avLst>
              <a:gd name="adj" fmla="val 33507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00180" y="3533537"/>
            <a:ext cx="3591520" cy="181928"/>
          </a:xfrm>
          <a:prstGeom prst="roundRect">
            <a:avLst>
              <a:gd name="adj" fmla="val 33507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00180" y="3753565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A9761A">
              <a:alpha val="12000"/>
            </a:srgbClr>
          </a:solidFill>
          <a:ln w="7620">
            <a:solidFill>
              <a:srgbClr val="A9761A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74581" y="2766298"/>
            <a:ext cx="3774401" cy="1473041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39351" y="2842260"/>
            <a:ext cx="121920" cy="121921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66021" y="2868930"/>
            <a:ext cx="68580" cy="6858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66021" y="3093482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66021" y="3313509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66021" y="3533537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66021" y="3753565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66021" y="3973592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42900" y="4898232"/>
            <a:ext cx="3774400" cy="1693068"/>
          </a:xfrm>
          <a:prstGeom prst="roundRect">
            <a:avLst>
              <a:gd name="adj" fmla="val 7201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07670" y="4974193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34340" y="5000863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34340" y="5225415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34340" y="5445443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34340" y="5665470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34340" y="5885497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4340" y="6105526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4340" y="6325552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208740" y="4898232"/>
            <a:ext cx="3774400" cy="1693068"/>
          </a:xfrm>
          <a:prstGeom prst="roundRect">
            <a:avLst>
              <a:gd name="adj" fmla="val 7201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73510" y="4974193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300180" y="5000863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00180" y="5225415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00180" y="5445443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00180" y="5665470"/>
            <a:ext cx="3591520" cy="181928"/>
          </a:xfrm>
          <a:prstGeom prst="roundRect">
            <a:avLst>
              <a:gd name="adj" fmla="val 33507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00180" y="5885497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300180" y="6105526"/>
            <a:ext cx="3591520" cy="181927"/>
          </a:xfrm>
          <a:prstGeom prst="roundRect">
            <a:avLst>
              <a:gd name="adj" fmla="val 33507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00180" y="6325552"/>
            <a:ext cx="3591520" cy="181928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074581" y="4898232"/>
            <a:ext cx="3774401" cy="1693068"/>
          </a:xfrm>
          <a:prstGeom prst="roundRect">
            <a:avLst>
              <a:gd name="adj" fmla="val 7201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139351" y="4974193"/>
            <a:ext cx="121920" cy="121920"/>
          </a:xfrm>
          <a:prstGeom prst="ellipse">
            <a:avLst/>
          </a:prstGeom>
          <a:solidFill>
            <a:srgbClr val="D9302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166021" y="5000863"/>
            <a:ext cx="68580" cy="6858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166021" y="5225415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166021" y="5445443"/>
            <a:ext cx="3591521" cy="181927"/>
          </a:xfrm>
          <a:prstGeom prst="roundRect">
            <a:avLst>
              <a:gd name="adj" fmla="val 33507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166021" y="5665470"/>
            <a:ext cx="3591521" cy="181928"/>
          </a:xfrm>
          <a:prstGeom prst="roundRect">
            <a:avLst>
              <a:gd name="adj" fmla="val 33507"/>
            </a:avLst>
          </a:prstGeom>
          <a:solidFill>
            <a:srgbClr val="D93025">
              <a:alpha val="12000"/>
            </a:srgbClr>
          </a:solidFill>
          <a:ln w="7620">
            <a:solidFill>
              <a:srgbClr val="D93025">
                <a:alpha val="3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2900" y="312420"/>
            <a:ext cx="42844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· ÉCHANGES ENTRE PÔLES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2900" y="457200"/>
            <a:ext cx="326362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Flux inter-services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2900" y="847248"/>
            <a:ext cx="411980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14 échanges entre pôles ; 4 enchaînements internes détaillés en annexe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82445" y="361950"/>
            <a:ext cx="191547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34613" y="373380"/>
            <a:ext cx="96119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08043" y="56769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34613" y="579120"/>
            <a:ext cx="9867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33415C"/>
                </a:solidFill>
                <a:latin typeface="Calibri"/>
              </a:rPr>
              <a:t>Externe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1387" y="773430"/>
            <a:ext cx="18291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Apporté par le brief métier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34613" y="784860"/>
            <a:ext cx="10701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Hors BDD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54784" y="342900"/>
            <a:ext cx="18085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37664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37664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1500" y="1127760"/>
            <a:ext cx="152971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3880" y="1264444"/>
            <a:ext cx="15980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MAQUETTES ET PLANS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52801" y="1432084"/>
            <a:ext cx="1554599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Production de maquettes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8877" y="1652111"/>
            <a:ext cx="148232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A6BE5"/>
                </a:solidFill>
                <a:latin typeface="Calibri"/>
              </a:rPr>
              <a:t>Gestion des maquettes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437340" y="1127760"/>
            <a:ext cx="133457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29721" y="1264444"/>
            <a:ext cx="17256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48476" y="1432084"/>
            <a:ext cx="2294811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Acquisition et traitement des nuages de points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9936" y="1652111"/>
            <a:ext cx="17918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0E9E78"/>
                </a:solidFill>
                <a:latin typeface="Calibri"/>
              </a:rPr>
              <a:t>Reporting et diffusion des plans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91031" y="1872139"/>
            <a:ext cx="140981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0E9E78"/>
                </a:solidFill>
                <a:latin typeface="Calibri"/>
              </a:rPr>
              <a:t>Guidage du tunnelier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03181" y="1127760"/>
            <a:ext cx="145018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 tunnel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95561" y="1264444"/>
            <a:ext cx="184189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CREUSEMENT ET TUNNELIER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80922" y="1432084"/>
            <a:ext cx="1361599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0F8FA8"/>
                </a:solidFill>
                <a:latin typeface="Calibri"/>
              </a:rPr>
              <a:t>Gestion de chantier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97208" y="1652111"/>
            <a:ext cx="17291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0F8FA8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70920" y="1872139"/>
            <a:ext cx="138172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0F8FA8"/>
                </a:solidFill>
                <a:latin typeface="Calibri"/>
              </a:rPr>
              <a:t>Commande chantier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1500" y="2819638"/>
            <a:ext cx="115478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3880" y="2956322"/>
            <a:ext cx="1659969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PILOTAGE DU CHANTIER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13535" y="3123962"/>
            <a:ext cx="12330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44097" y="3343989"/>
            <a:ext cx="177200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Validation contrats et dépenses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23655" y="3564017"/>
            <a:ext cx="121277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Gestion des 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30216" y="3784044"/>
            <a:ext cx="99964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Matériels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67220" y="4004072"/>
            <a:ext cx="132576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Services généraux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37340" y="2819638"/>
            <a:ext cx="107096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Contrat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29721" y="2956322"/>
            <a:ext cx="1719024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CONTRACT MANAGEMENT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92936" y="3123962"/>
            <a:ext cx="14058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Gestion des contrats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31368" y="3343989"/>
            <a:ext cx="17291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A9761A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76255" y="3564017"/>
            <a:ext cx="163937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A9761A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70791" y="3784044"/>
            <a:ext cx="145018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A9761A"/>
                </a:solidFill>
                <a:latin typeface="Calibri"/>
              </a:rPr>
              <a:t>Facturation partenaire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03181" y="2819638"/>
            <a:ext cx="90963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95561" y="2956322"/>
            <a:ext cx="1909881" cy="1066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RH · COMPTABILITÉ · GESTION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74969" y="3123962"/>
            <a:ext cx="137362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88411" y="3343989"/>
            <a:ext cx="154674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8257E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12900" y="3564017"/>
            <a:ext cx="20977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8257E6"/>
                </a:solidFill>
                <a:latin typeface="Calibri"/>
              </a:rPr>
              <a:t>Engagement des dépenses et facturation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12091" y="3784044"/>
            <a:ext cx="169926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8257E6"/>
                </a:solidFill>
                <a:latin typeface="Calibri"/>
              </a:rPr>
              <a:t>Onboarding RH et formations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111972" y="4004072"/>
            <a:ext cx="169949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8257E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1500" y="4951571"/>
            <a:ext cx="1980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3880" y="5088255"/>
            <a:ext cx="180820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CONTRÔLE ET CONFORMITÉ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11630" y="5255895"/>
            <a:ext cx="123682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Contrôle qualité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56492" y="5475923"/>
            <a:ext cx="1547098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MaD et levées de réserve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500902" y="5695950"/>
            <a:ext cx="145827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Suivi environnemental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40656" y="5915977"/>
            <a:ext cx="15788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Suivi des consommations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33168" y="6136005"/>
            <a:ext cx="139386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Gestion des déchets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88877" y="6356033"/>
            <a:ext cx="1482447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Commande de matériel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437340" y="4951571"/>
            <a:ext cx="109585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29721" y="5088255"/>
            <a:ext cx="16290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CONDUITE DE TRAVAUX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201841" y="5255895"/>
            <a:ext cx="178808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Gestion de chantier et imprévus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231368" y="5475923"/>
            <a:ext cx="1729145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DD7E2C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56133" y="5695950"/>
            <a:ext cx="167949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DD7E2C"/>
                </a:solidFill>
                <a:latin typeface="Calibri"/>
              </a:rPr>
              <a:t>Commande matériel chantier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55657" y="5915977"/>
            <a:ext cx="16804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DD7E2C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09129" y="6136005"/>
            <a:ext cx="137362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DD7E2C"/>
                </a:solidFill>
                <a:latin typeface="Calibri"/>
              </a:rPr>
              <a:t>Contrôle budgétaire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83743" y="6356033"/>
            <a:ext cx="1824395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Gestion des contrats et avenants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303181" y="4951571"/>
            <a:ext cx="111299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95561" y="5088255"/>
            <a:ext cx="189035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PRÉVENTION · HABILITATIONS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7558" y="5255895"/>
            <a:ext cx="184832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D93025"/>
                </a:solidFill>
                <a:latin typeface="Calibri"/>
              </a:rPr>
              <a:t>Accueil, formation et habilitations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74242" y="5475923"/>
            <a:ext cx="1574959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33415C"/>
                </a:solidFill>
                <a:latin typeface="Calibri"/>
              </a:rPr>
              <a:t>Prévention et suivi terrain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11246" y="5695950"/>
            <a:ext cx="19009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>
                <a:solidFill>
                  <a:srgbClr val="D93025"/>
                </a:solidFill>
                <a:latin typeface="Calibri"/>
              </a:rPr>
              <a:t>Événements et indicateurs sécurité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 / 13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905440" y="4178379"/>
            <a:ext cx="3599141" cy="780813"/>
          </a:xfrm>
          <a:custGeom>
            <a:avLst/>
            <a:gdLst/>
            <a:ahLst/>
            <a:cxnLst/>
            <a:rect l="0" t="0" r="r" b="b"/>
            <a:pathLst>
              <a:path w="3599141" h="780813">
                <a:moveTo>
                  <a:pt x="60960" y="719853"/>
                </a:moveTo>
                <a:cubicBezTo>
                  <a:pt x="60960" y="390406"/>
                  <a:pt x="3538181" y="390406"/>
                  <a:pt x="3538181" y="60960"/>
                </a:cubicBezTo>
              </a:path>
            </a:pathLst>
          </a:custGeom>
          <a:noFill/>
          <a:ln w="15240">
            <a:solidFill>
              <a:srgbClr val="DD7E2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423600" y="4178379"/>
            <a:ext cx="3164801" cy="780813"/>
          </a:xfrm>
          <a:custGeom>
            <a:avLst/>
            <a:gdLst/>
            <a:ahLst/>
            <a:cxnLst/>
            <a:rect l="0" t="0" r="r" b="b"/>
            <a:pathLst>
              <a:path w="3164801" h="780813">
                <a:moveTo>
                  <a:pt x="3103841" y="60960"/>
                </a:moveTo>
                <a:cubicBezTo>
                  <a:pt x="3103841" y="390406"/>
                  <a:pt x="60960" y="390406"/>
                  <a:pt x="60960" y="719853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922180" y="3343513"/>
            <a:ext cx="213360" cy="561975"/>
          </a:xfrm>
          <a:custGeom>
            <a:avLst/>
            <a:gdLst/>
            <a:ahLst/>
            <a:cxnLst/>
            <a:rect l="0" t="0" r="r" b="b"/>
            <a:pathLst>
              <a:path w="213360" h="561975">
                <a:moveTo>
                  <a:pt x="152400" y="60960"/>
                </a:moveTo>
                <a:cubicBezTo>
                  <a:pt x="121920" y="207645"/>
                  <a:pt x="91440" y="354330"/>
                  <a:pt x="60960" y="501015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641741" y="4178379"/>
            <a:ext cx="640080" cy="780813"/>
          </a:xfrm>
          <a:custGeom>
            <a:avLst/>
            <a:gdLst/>
            <a:ahLst/>
            <a:cxnLst/>
            <a:rect l="0" t="0" r="r" b="b"/>
            <a:pathLst>
              <a:path w="640080" h="780813">
                <a:moveTo>
                  <a:pt x="579120" y="60960"/>
                </a:moveTo>
                <a:cubicBezTo>
                  <a:pt x="579120" y="390406"/>
                  <a:pt x="60960" y="390406"/>
                  <a:pt x="60960" y="719853"/>
                </a:cubicBezTo>
              </a:path>
            </a:pathLst>
          </a:custGeom>
          <a:noFill/>
          <a:ln w="15240">
            <a:solidFill>
              <a:srgbClr val="8257E6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164520" y="4178379"/>
            <a:ext cx="4376381" cy="780813"/>
          </a:xfrm>
          <a:custGeom>
            <a:avLst/>
            <a:gdLst/>
            <a:ahLst/>
            <a:cxnLst/>
            <a:rect l="0" t="0" r="r" b="b"/>
            <a:pathLst>
              <a:path w="4376381" h="780813">
                <a:moveTo>
                  <a:pt x="60960" y="719853"/>
                </a:moveTo>
                <a:cubicBezTo>
                  <a:pt x="60960" y="390406"/>
                  <a:pt x="4315421" y="390406"/>
                  <a:pt x="4315421" y="60960"/>
                </a:cubicBezTo>
              </a:path>
            </a:pathLst>
          </a:custGeom>
          <a:noFill/>
          <a:ln w="15240">
            <a:solidFill>
              <a:srgbClr val="DD7E2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646360" y="4178379"/>
            <a:ext cx="381000" cy="780813"/>
          </a:xfrm>
          <a:custGeom>
            <a:avLst/>
            <a:gdLst/>
            <a:ahLst/>
            <a:cxnLst/>
            <a:rect l="0" t="0" r="r" b="b"/>
            <a:pathLst>
              <a:path w="381000" h="780813">
                <a:moveTo>
                  <a:pt x="60960" y="719853"/>
                </a:moveTo>
                <a:cubicBezTo>
                  <a:pt x="60960" y="390406"/>
                  <a:pt x="320040" y="390406"/>
                  <a:pt x="320040" y="60960"/>
                </a:cubicBezTo>
              </a:path>
            </a:pathLst>
          </a:custGeom>
          <a:noFill/>
          <a:ln w="15240">
            <a:solidFill>
              <a:srgbClr val="DD7E2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50980" y="4178379"/>
            <a:ext cx="4117300" cy="780813"/>
          </a:xfrm>
          <a:custGeom>
            <a:avLst/>
            <a:gdLst/>
            <a:ahLst/>
            <a:cxnLst/>
            <a:rect l="0" t="0" r="r" b="b"/>
            <a:pathLst>
              <a:path w="4117300" h="780813">
                <a:moveTo>
                  <a:pt x="4056340" y="719853"/>
                </a:moveTo>
                <a:cubicBezTo>
                  <a:pt x="4056340" y="390406"/>
                  <a:pt x="60960" y="390406"/>
                  <a:pt x="60960" y="60960"/>
                </a:cubicBezTo>
              </a:path>
            </a:pathLst>
          </a:custGeom>
          <a:noFill/>
          <a:ln w="15240">
            <a:solidFill>
              <a:srgbClr val="DD7E2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567160" y="2046446"/>
            <a:ext cx="8455581" cy="780812"/>
          </a:xfrm>
          <a:custGeom>
            <a:avLst/>
            <a:gdLst/>
            <a:ahLst/>
            <a:cxnLst/>
            <a:rect l="0" t="0" r="r" b="b"/>
            <a:pathLst>
              <a:path w="8455581" h="780812">
                <a:moveTo>
                  <a:pt x="8394621" y="60960"/>
                </a:moveTo>
                <a:cubicBezTo>
                  <a:pt x="8394621" y="390406"/>
                  <a:pt x="60960" y="390406"/>
                  <a:pt x="60960" y="719852"/>
                </a:cubicBezTo>
              </a:path>
            </a:pathLst>
          </a:custGeom>
          <a:noFill/>
          <a:ln w="15240">
            <a:solidFill>
              <a:srgbClr val="0F8FA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905440" y="2046446"/>
            <a:ext cx="4201121" cy="780812"/>
          </a:xfrm>
          <a:custGeom>
            <a:avLst/>
            <a:gdLst/>
            <a:ahLst/>
            <a:cxnLst/>
            <a:rect l="0" t="0" r="r" b="b"/>
            <a:pathLst>
              <a:path w="4201121" h="780812">
                <a:moveTo>
                  <a:pt x="4140161" y="60960"/>
                </a:moveTo>
                <a:cubicBezTo>
                  <a:pt x="4140161" y="390406"/>
                  <a:pt x="60960" y="390406"/>
                  <a:pt x="60960" y="719852"/>
                </a:cubicBezTo>
              </a:path>
            </a:pathLst>
          </a:custGeom>
          <a:noFill/>
          <a:ln w="15240">
            <a:solidFill>
              <a:srgbClr val="0F8FA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298841" y="2046446"/>
            <a:ext cx="982980" cy="780812"/>
          </a:xfrm>
          <a:custGeom>
            <a:avLst/>
            <a:gdLst/>
            <a:ahLst/>
            <a:cxnLst/>
            <a:rect l="0" t="0" r="r" b="b"/>
            <a:pathLst>
              <a:path w="982980" h="780812">
                <a:moveTo>
                  <a:pt x="922020" y="60960"/>
                </a:moveTo>
                <a:cubicBezTo>
                  <a:pt x="922020" y="390406"/>
                  <a:pt x="60960" y="390406"/>
                  <a:pt x="60960" y="719852"/>
                </a:cubicBezTo>
              </a:path>
            </a:pathLst>
          </a:custGeom>
          <a:noFill/>
          <a:ln w="15240">
            <a:solidFill>
              <a:srgbClr val="0F8FA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056340" y="1651635"/>
            <a:ext cx="213360" cy="121920"/>
          </a:xfrm>
          <a:custGeom>
            <a:avLst/>
            <a:gdLst/>
            <a:ahLst/>
            <a:cxnLst/>
            <a:rect l="0" t="0" r="r" b="b"/>
            <a:pathLst>
              <a:path w="213360" h="121920">
                <a:moveTo>
                  <a:pt x="152400" y="60960"/>
                </a:moveTo>
                <a:cubicBezTo>
                  <a:pt x="121920" y="60960"/>
                  <a:pt x="91440" y="60960"/>
                  <a:pt x="60960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922180" y="1431608"/>
            <a:ext cx="213360" cy="341947"/>
          </a:xfrm>
          <a:custGeom>
            <a:avLst/>
            <a:gdLst/>
            <a:ahLst/>
            <a:cxnLst/>
            <a:rect l="0" t="0" r="r" b="b"/>
            <a:pathLst>
              <a:path w="213360" h="341947">
                <a:moveTo>
                  <a:pt x="60960" y="280987"/>
                </a:moveTo>
                <a:cubicBezTo>
                  <a:pt x="91440" y="207645"/>
                  <a:pt x="121920" y="134302"/>
                  <a:pt x="152400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922180" y="1567815"/>
            <a:ext cx="213360" cy="425767"/>
          </a:xfrm>
          <a:custGeom>
            <a:avLst/>
            <a:gdLst/>
            <a:ahLst/>
            <a:cxnLst/>
            <a:rect l="0" t="0" r="r" b="b"/>
            <a:pathLst>
              <a:path w="213360" h="425767">
                <a:moveTo>
                  <a:pt x="60960" y="364807"/>
                </a:moveTo>
                <a:cubicBezTo>
                  <a:pt x="91440" y="263525"/>
                  <a:pt x="121920" y="162242"/>
                  <a:pt x="152400" y="60960"/>
                </a:cubicBezTo>
              </a:path>
            </a:pathLst>
          </a:custGeom>
          <a:noFill/>
          <a:ln w="15240">
            <a:solidFill>
              <a:srgbClr val="0E9E78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34800" y="4178379"/>
            <a:ext cx="8547021" cy="780813"/>
          </a:xfrm>
          <a:custGeom>
            <a:avLst/>
            <a:gdLst/>
            <a:ahLst/>
            <a:cxnLst/>
            <a:rect l="0" t="0" r="r" b="b"/>
            <a:pathLst>
              <a:path w="8547021" h="780813">
                <a:moveTo>
                  <a:pt x="8486061" y="719853"/>
                </a:moveTo>
                <a:cubicBezTo>
                  <a:pt x="8486061" y="390406"/>
                  <a:pt x="60960" y="390406"/>
                  <a:pt x="60960" y="60960"/>
                </a:cubicBezTo>
              </a:path>
            </a:pathLst>
          </a:custGeom>
          <a:noFill/>
          <a:ln w="15240">
            <a:solidFill>
              <a:srgbClr val="D93025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479524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479524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942016" y="487384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503057" y="421495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050196" y="3380089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196477" y="421495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201096" y="487384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682936" y="487384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682936" y="487384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937397" y="208302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0021217" y="208302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0196477" y="208302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4184356" y="168821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958756" y="168821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958756" y="190823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0196477" y="487384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19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39"/>
            <a:ext cx="30480" cy="987505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158240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30591" y="1431607"/>
            <a:ext cx="749618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25929" y="1431607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6489" y="1431607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67049" y="1431607"/>
            <a:ext cx="624839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37609" y="1431607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8169" y="1431607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6560" y="1165860"/>
            <a:ext cx="1158241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900" y="2168604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520" y="2176224"/>
            <a:ext cx="30480" cy="987505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2260044"/>
            <a:ext cx="1158240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63540" y="2525792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4100" y="2525792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04660" y="2525792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75220" y="2525792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576560" y="2260044"/>
            <a:ext cx="1158241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2900" y="3262789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0520" y="3270409"/>
            <a:ext cx="30480" cy="987505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28800" y="3354229"/>
            <a:ext cx="1158240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39289" y="3619976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9849" y="3619976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80409" y="3619976"/>
            <a:ext cx="743902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76560" y="3354229"/>
            <a:ext cx="1158241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2900" y="4356974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0520" y="4364594"/>
            <a:ext cx="30480" cy="987505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828800" y="4448414"/>
            <a:ext cx="1158240" cy="819863"/>
          </a:xfrm>
          <a:prstGeom prst="roundRect">
            <a:avLst>
              <a:gd name="adj" fmla="val 9294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69380" y="4714161"/>
            <a:ext cx="624840" cy="288250"/>
          </a:xfrm>
          <a:prstGeom prst="roundRect">
            <a:avLst>
              <a:gd name="adj" fmla="val 26435"/>
            </a:avLst>
          </a:prstGeom>
          <a:solidFill>
            <a:srgbClr val="5B57D6">
              <a:alpha val="10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576560" y="4448414"/>
            <a:ext cx="1158241" cy="819863"/>
          </a:xfrm>
          <a:prstGeom prst="roundRect">
            <a:avLst>
              <a:gd name="adj" fmla="val 9294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" y="5451157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0520" y="5458776"/>
            <a:ext cx="30480" cy="987505"/>
          </a:xfrm>
          <a:prstGeom prst="roundRect">
            <a:avLst>
              <a:gd name="adj" fmla="val 50000"/>
            </a:avLst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828800" y="5542599"/>
            <a:ext cx="1158240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8000"/>
            </a:srgbClr>
          </a:solidFill>
          <a:ln w="7620">
            <a:solidFill>
              <a:srgbClr val="5B57D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98820" y="5808344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69380" y="5808344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139940" y="5808344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576560" y="5542599"/>
            <a:ext cx="1158241" cy="819865"/>
          </a:xfrm>
          <a:prstGeom prst="roundRect">
            <a:avLst>
              <a:gd name="adj" fmla="val 9294"/>
            </a:avLst>
          </a:prstGeom>
          <a:solidFill>
            <a:srgbClr val="5B57D6">
              <a:alpha val="15000"/>
            </a:srgbClr>
          </a:solidFill>
          <a:ln w="7620">
            <a:solidFill>
              <a:srgbClr val="5B57D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" y="312420"/>
            <a:ext cx="24269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DIRECTION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" y="457200"/>
            <a:ext cx="195203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" y="847248"/>
            <a:ext cx="3810714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Missions et outils rattachés — processus non recueilli en entretien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07792" y="361950"/>
            <a:ext cx="14887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15 outils rattachés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0894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5 missions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0894" y="579120"/>
            <a:ext cx="11314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3 échanges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1449466"/>
            <a:ext cx="1391484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592341"/>
            <a:ext cx="144994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1792" y="1477447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5231" y="1556622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3835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52963" y="1469708"/>
            <a:ext cx="904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63892" y="1577817"/>
            <a:ext cx="128301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7580" y="1469708"/>
            <a:ext cx="88141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75064" y="1577817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6472" y="1469708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39552" y="1577817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57142" y="1469708"/>
            <a:ext cx="10445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55356" y="1577817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00806" y="1469708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0673" y="1577817"/>
            <a:ext cx="11387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98381" y="1469708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6476" y="1577817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7547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58595" y="1477447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92991" y="1556622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2487453"/>
            <a:ext cx="162818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Validation contrats 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2920" y="2599849"/>
            <a:ext cx="111764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dépenses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2742724"/>
            <a:ext cx="144994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51792" y="2571632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45231" y="2650807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38356" y="25975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60539" y="2563893"/>
            <a:ext cx="10307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12675" y="267200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08000" y="2563893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77163" y="2672000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90110" y="2563893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53795" y="267200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35203" y="2563893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18283" y="2672000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75476" y="25975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58595" y="2571632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92991" y="2650807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3637836"/>
            <a:ext cx="136588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" y="3780711"/>
            <a:ext cx="144994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51792" y="3665815"/>
            <a:ext cx="91225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45231" y="3744992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03835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86174" y="3658077"/>
            <a:ext cx="93106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2352" y="3766185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8745" y="3658077"/>
            <a:ext cx="11469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52912" y="3766185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3709" y="3658077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89075" y="3766185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7547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658595" y="3665815"/>
            <a:ext cx="994171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92991" y="3744992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4732020"/>
            <a:ext cx="109025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Matériels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4874895"/>
            <a:ext cx="144994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51792" y="4760000"/>
            <a:ext cx="91225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45231" y="4839177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3835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24719" y="4752260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Oasis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18515" y="4860369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47547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8595" y="4760000"/>
            <a:ext cx="994171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592991" y="4839177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2920" y="5826205"/>
            <a:ext cx="151161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Services généraux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2920" y="5969080"/>
            <a:ext cx="139993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MISSION PROPOSÉE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51792" y="5854184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DÉBUT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45231" y="5933361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3835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72852" y="5846445"/>
            <a:ext cx="8766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CWT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41883" y="5954554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83524" y="5846445"/>
            <a:ext cx="9964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Tableau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212443" y="5954554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003137" y="5846445"/>
            <a:ext cx="89844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83003" y="5954554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7547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658595" y="585418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5B57D6"/>
                </a:solidFill>
                <a:latin typeface="Calibri"/>
              </a:rPr>
              <a:t>FINALITÉ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92991" y="5933361"/>
            <a:ext cx="112537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2900" y="6507479"/>
            <a:ext cx="332493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Alimentation et nature reprises de la BDD. Le processus reste à documenter.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7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19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39"/>
            <a:ext cx="30480" cy="98750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82140" y="1692711"/>
            <a:ext cx="1417320" cy="175023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05200" y="1165860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81600" y="1165860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1165860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34400" y="1165860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10801" y="1165860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64140" y="1590437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900" y="2168604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520" y="2176224"/>
            <a:ext cx="30480" cy="98750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2260044"/>
            <a:ext cx="185928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40480" y="2260044"/>
            <a:ext cx="185928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260044"/>
            <a:ext cx="185928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63841" y="2260044"/>
            <a:ext cx="1859279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1" y="2260044"/>
            <a:ext cx="185928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28860" y="2578060"/>
            <a:ext cx="1752600" cy="175023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928860" y="2791182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2900" y="3262789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0520" y="3270409"/>
            <a:ext cx="30480" cy="98750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28800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6100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3400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00700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0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15301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72600" y="3354229"/>
            <a:ext cx="11049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29900" y="3354229"/>
            <a:ext cx="1104901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683241" y="3778805"/>
            <a:ext cx="998220" cy="175023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" y="4356974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0520" y="4364594"/>
            <a:ext cx="30480" cy="98750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828800" y="4448414"/>
            <a:ext cx="1524000" cy="819863"/>
          </a:xfrm>
          <a:prstGeom prst="roundRect">
            <a:avLst>
              <a:gd name="adj" fmla="val 9294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05200" y="4448414"/>
            <a:ext cx="1524000" cy="819863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181600" y="4448414"/>
            <a:ext cx="1524000" cy="819863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0" y="4448414"/>
            <a:ext cx="1524000" cy="819863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534400" y="4448414"/>
            <a:ext cx="1524000" cy="819863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10801" y="4448414"/>
            <a:ext cx="1524000" cy="819863"/>
          </a:xfrm>
          <a:prstGeom prst="roundRect">
            <a:avLst>
              <a:gd name="adj" fmla="val 9294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264140" y="4872990"/>
            <a:ext cx="1417320" cy="175021"/>
          </a:xfrm>
          <a:prstGeom prst="roundRect">
            <a:avLst>
              <a:gd name="adj" fmla="val 50000"/>
            </a:avLst>
          </a:prstGeom>
          <a:solidFill>
            <a:srgbClr val="D93025">
              <a:alpha val="14000"/>
            </a:srgbClr>
          </a:solidFill>
          <a:ln w="7620">
            <a:solidFill>
              <a:srgbClr val="D93025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" y="5451157"/>
            <a:ext cx="11506200" cy="1002745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520" y="5458776"/>
            <a:ext cx="30480" cy="987505"/>
          </a:xfrm>
          <a:prstGeom prst="roundRect">
            <a:avLst>
              <a:gd name="adj" fmla="val 50000"/>
            </a:avLst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28800" y="5542599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8000"/>
            </a:srgbClr>
          </a:solidFill>
          <a:ln w="7620">
            <a:solidFill>
              <a:srgbClr val="8257E6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82140" y="5967174"/>
            <a:ext cx="1417320" cy="175023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05200" y="5542599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181600" y="5542599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858000" y="5542599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534400" y="5542599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210801" y="5542599"/>
            <a:ext cx="1524000" cy="819865"/>
          </a:xfrm>
          <a:prstGeom prst="roundRect">
            <a:avLst>
              <a:gd name="adj" fmla="val 9294"/>
            </a:avLst>
          </a:prstGeom>
          <a:solidFill>
            <a:srgbClr val="8257E6">
              <a:alpha val="15000"/>
            </a:srgbClr>
          </a:solidFill>
          <a:ln w="7620">
            <a:solidFill>
              <a:srgbClr val="8257E6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264140" y="5967174"/>
            <a:ext cx="1417320" cy="175023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2900" y="312419"/>
            <a:ext cx="20376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DAF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457200"/>
            <a:ext cx="1293971" cy="3657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847249"/>
            <a:ext cx="3496747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 — de son entrée à sa finalité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7792" y="361950"/>
            <a:ext cx="14887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15 outils rattachés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0894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5 missions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0894" y="579120"/>
            <a:ext cx="11314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9 échanges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1449466"/>
            <a:ext cx="157269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1592341"/>
            <a:ext cx="1770817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CONJOINT AVEC LES TRAVAUX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14074" y="1268611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27622" y="1347788"/>
            <a:ext cx="13262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VALO main-d'œuvre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66900" y="1450062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Extraction matériel · </a:t>
            </a:r>
            <a:r>
              <a:rPr sz="530" b="1">
                <a:solidFill>
                  <a:srgbClr val="0D1526"/>
                </a:solidFill>
                <a:latin typeface="Calibri"/>
              </a:rPr>
              <a:t>BYMAT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66900" y="1552338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Dépenses diverses · </a:t>
            </a:r>
            <a:r>
              <a:rPr sz="53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09907" y="1700331"/>
            <a:ext cx="96178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← Travaux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72139" y="1764982"/>
            <a:ext cx="1437204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Commande matériel chantier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0411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29489" y="1418630"/>
            <a:ext cx="147542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Constitution de la PC100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14763" y="1520904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97843" y="1629013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8051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50750" y="1418630"/>
            <a:ext cx="17855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Ventilation par centre d'imputation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91162" y="1520904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74243" y="1629013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5691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8010" y="1418630"/>
            <a:ext cx="136386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Ventilation par atelier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67563" y="1520904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50643" y="1629013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3331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71059" y="1418630"/>
            <a:ext cx="165056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Contrôle des écarts au budget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43963" y="1520904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27044" y="1629013"/>
            <a:ext cx="11387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09716" y="1503403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475714" y="1370885"/>
            <a:ext cx="994171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31278" y="1450062"/>
            <a:ext cx="148304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Budget par atelier arbitré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1907" y="1598057"/>
            <a:ext cx="96178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→ Travaux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9035" y="1662708"/>
            <a:ext cx="120741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Contrôle budgétaire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2598539"/>
            <a:ext cx="17948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1714" y="2469356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66900" y="2548533"/>
            <a:ext cx="179832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Factures partenaires · </a:t>
            </a:r>
            <a:r>
              <a:rPr sz="53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6900" y="2650807"/>
            <a:ext cx="1798320" cy="147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Pointage main-d'œuvre · </a:t>
            </a:r>
            <a:r>
              <a:rPr sz="53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66900" y="2753083"/>
            <a:ext cx="179832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Heures intérim · </a:t>
            </a:r>
            <a:r>
              <a:rPr sz="53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39396" y="25975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4080" y="2512815"/>
            <a:ext cx="14120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Extraction du pointage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7683" y="2615088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00763" y="2723198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51076" y="25975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8374" y="2512815"/>
            <a:ext cx="148673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Préfacturation mensuelle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29362" y="2615088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212443" y="2723198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762755" y="25975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30183" y="2512815"/>
            <a:ext cx="132647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Circuit de validation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6510" y="2615088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30195" y="2723198"/>
            <a:ext cx="1126451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774436" y="25975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308074" y="2358510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71459" y="2437687"/>
            <a:ext cx="206740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Valorisation de la main-d'œuvre (VALO MO)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30101" y="2585680"/>
            <a:ext cx="950119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71629" y="2650331"/>
            <a:ext cx="1266944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Facturation partenaire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72011" y="2798802"/>
            <a:ext cx="866299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01394" y="2863453"/>
            <a:ext cx="1207413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3636526"/>
            <a:ext cx="189202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Engagement des dépenses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2920" y="3748921"/>
            <a:ext cx="127587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et facturation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904524" y="3665815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86890" y="3744992"/>
            <a:ext cx="118872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Besoin chantier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9850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995732" y="3606999"/>
            <a:ext cx="128551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Bon de commande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1469" y="3709273"/>
            <a:ext cx="9140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69193" y="3817382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2423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20753" y="3606999"/>
            <a:ext cx="155007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Engagement de la dépense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71261" y="3709273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332565" y="3817382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996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495449" y="3606999"/>
            <a:ext cx="13154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Facture fournisseur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37729" y="3709273"/>
            <a:ext cx="10307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589866" y="3817382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569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788110" y="3606999"/>
            <a:ext cx="124456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Validation interne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883480" y="3709273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47166" y="3817382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142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170188" y="3606999"/>
            <a:ext cx="99500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Signature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230" y="3709273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098393" y="3817382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2715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02711" y="3606999"/>
            <a:ext cx="12446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Mise en paiement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488924" y="3709273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361765" y="3817382"/>
            <a:ext cx="1126451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528816" y="3691771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685264" y="355925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407254" y="3638432"/>
            <a:ext cx="155019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Dépense engagée et réglée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749201" y="3786426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578584" y="3851077"/>
            <a:ext cx="120741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4730710"/>
            <a:ext cx="148554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Onboarding RH et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" y="4843106"/>
            <a:ext cx="116847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formations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4074" y="4760000"/>
            <a:ext cx="95345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03822" y="4839177"/>
            <a:ext cx="117383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Nouvel arrivant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40411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29370" y="4701184"/>
            <a:ext cx="147566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Vérification travail illégal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693676" y="4803458"/>
            <a:ext cx="11469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97843" y="4911567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8051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289471" y="4701184"/>
            <a:ext cx="130813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Badge et accès site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404961" y="4803458"/>
            <a:ext cx="107727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247084" y="4911567"/>
            <a:ext cx="13929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alim. TODO · int/ext TODO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75691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993970" y="4701184"/>
            <a:ext cx="125194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 de formation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65050" y="4803458"/>
            <a:ext cx="110978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56715" y="4911567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3331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558689" y="4701184"/>
            <a:ext cx="147542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Commande de formation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839319" y="4803458"/>
            <a:ext cx="9140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727044" y="4911567"/>
            <a:ext cx="11387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109716" y="478595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475714" y="4653439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117694" y="4732616"/>
            <a:ext cx="171021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Collaborateur habilité et sur site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486787" y="4880609"/>
            <a:ext cx="972026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93025"/>
                </a:solidFill>
                <a:latin typeface="Calibri"/>
              </a:rPr>
              <a:t>→ Sécurité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186750" y="4945262"/>
            <a:ext cx="157198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93025"/>
                </a:solidFill>
                <a:latin typeface="Calibri"/>
              </a:rPr>
              <a:t>Accueil, formation et habilitations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02920" y="5770007"/>
            <a:ext cx="175414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du personnel et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2920" y="5882401"/>
            <a:ext cx="89916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paye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02920" y="6025276"/>
            <a:ext cx="1312426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BYCN ET INTÉRIM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114074" y="574762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ENTRÉE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66900" y="5826799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Pointage chantier · </a:t>
            </a:r>
            <a:r>
              <a:rPr sz="53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09907" y="5974794"/>
            <a:ext cx="961787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← Travaux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73329" y="6039445"/>
            <a:ext cx="1434822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0411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89509" y="5795367"/>
            <a:ext cx="115526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Heures intérim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03797" y="5897643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703915" y="600575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8051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5176" y="5795367"/>
            <a:ext cx="145673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Compagnons Bouygues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81876" y="5897643"/>
            <a:ext cx="9233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BYCN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381863" y="6005750"/>
            <a:ext cx="1123355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5691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917651" y="5795367"/>
            <a:ext cx="140470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Congés et attestations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20163" y="5897643"/>
            <a:ext cx="11996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56715" y="6005750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43331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629412" y="5795367"/>
            <a:ext cx="13339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Contrôle des heures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843963" y="5897643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727044" y="6005750"/>
            <a:ext cx="11387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109716" y="5880140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475714" y="574762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8257E6"/>
                </a:solidFill>
                <a:latin typeface="Calibri"/>
              </a:rPr>
              <a:t>FINALITÉ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145435" y="5826799"/>
            <a:ext cx="165473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Paye émise, heures valorisées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539651" y="5974794"/>
            <a:ext cx="866299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302479" y="6039445"/>
            <a:ext cx="1340644" cy="838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2900" y="6507479"/>
            <a:ext cx="44193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Chaînes issues du brief métier ; nature et alimentation reprises de la BDD. 9 échanges avec les autres pôles.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1344990" y="6644640"/>
            <a:ext cx="11899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7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7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19"/>
            <a:ext cx="11506200" cy="1276351"/>
          </a:xfrm>
          <a:prstGeom prst="roundRect">
            <a:avLst>
              <a:gd name="adj" fmla="val 835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39"/>
            <a:ext cx="30480" cy="1261111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524000" cy="1093471"/>
          </a:xfrm>
          <a:prstGeom prst="roundRect">
            <a:avLst>
              <a:gd name="adj" fmla="val 6968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5200" y="1165860"/>
            <a:ext cx="1524000" cy="1093471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600" y="1165860"/>
            <a:ext cx="1524000" cy="1093471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165860"/>
            <a:ext cx="1524000" cy="1093471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34400" y="1165860"/>
            <a:ext cx="1524000" cy="1093471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0801" y="1165860"/>
            <a:ext cx="1524000" cy="1093471"/>
          </a:xfrm>
          <a:prstGeom prst="roundRect">
            <a:avLst>
              <a:gd name="adj" fmla="val 6968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" y="2442211"/>
            <a:ext cx="11506200" cy="1276351"/>
          </a:xfrm>
          <a:prstGeom prst="roundRect">
            <a:avLst>
              <a:gd name="adj" fmla="val 835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" y="2449831"/>
            <a:ext cx="30480" cy="1261108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2533651"/>
            <a:ext cx="1859280" cy="1093469"/>
          </a:xfrm>
          <a:prstGeom prst="roundRect">
            <a:avLst>
              <a:gd name="adj" fmla="val 6968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82140" y="3095029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DD7E2C">
              <a:alpha val="14000"/>
            </a:srgbClr>
          </a:solidFill>
          <a:ln w="7620">
            <a:solidFill>
              <a:srgbClr val="DD7E2C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0" y="2533651"/>
            <a:ext cx="1859280" cy="1093469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2160" y="2533651"/>
            <a:ext cx="1859280" cy="1093469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63841" y="2533651"/>
            <a:ext cx="1859279" cy="1093469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75521" y="2533651"/>
            <a:ext cx="1859280" cy="1093469"/>
          </a:xfrm>
          <a:prstGeom prst="roundRect">
            <a:avLst>
              <a:gd name="adj" fmla="val 6968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28860" y="3095029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" y="3810000"/>
            <a:ext cx="11506200" cy="1276349"/>
          </a:xfrm>
          <a:prstGeom prst="roundRect">
            <a:avLst>
              <a:gd name="adj" fmla="val 835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0520" y="3817620"/>
            <a:ext cx="30480" cy="1261110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828800" y="3901438"/>
            <a:ext cx="1284565" cy="1093473"/>
          </a:xfrm>
          <a:prstGeom prst="roundRect">
            <a:avLst>
              <a:gd name="adj" fmla="val 6968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65765" y="3901438"/>
            <a:ext cx="1284565" cy="1093473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02731" y="3901438"/>
            <a:ext cx="1284566" cy="1093473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39696" y="3901438"/>
            <a:ext cx="1284566" cy="1093473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76661" y="3901438"/>
            <a:ext cx="1284565" cy="1093473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13626" y="3901438"/>
            <a:ext cx="1284566" cy="1093473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50592" y="3901438"/>
            <a:ext cx="1284565" cy="1093473"/>
          </a:xfrm>
          <a:prstGeom prst="roundRect">
            <a:avLst>
              <a:gd name="adj" fmla="val 6968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2900" y="5177791"/>
            <a:ext cx="11506200" cy="1276349"/>
          </a:xfrm>
          <a:prstGeom prst="roundRect">
            <a:avLst>
              <a:gd name="adj" fmla="val 8358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0520" y="5185411"/>
            <a:ext cx="30480" cy="1261110"/>
          </a:xfrm>
          <a:prstGeom prst="roundRect">
            <a:avLst>
              <a:gd name="adj" fmla="val 50000"/>
            </a:avLst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828800" y="5269229"/>
            <a:ext cx="2362200" cy="1093469"/>
          </a:xfrm>
          <a:prstGeom prst="roundRect">
            <a:avLst>
              <a:gd name="adj" fmla="val 6968"/>
            </a:avLst>
          </a:prstGeom>
          <a:solidFill>
            <a:srgbClr val="A9761A">
              <a:alpha val="8000"/>
            </a:srgbClr>
          </a:solidFill>
          <a:ln w="7620">
            <a:solidFill>
              <a:srgbClr val="A9761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882140" y="5830611"/>
            <a:ext cx="225552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343400" y="5269229"/>
            <a:ext cx="2362200" cy="1093469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5269229"/>
            <a:ext cx="2362200" cy="1093469"/>
          </a:xfrm>
          <a:prstGeom prst="roundRect">
            <a:avLst>
              <a:gd name="adj" fmla="val 6968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72600" y="5269229"/>
            <a:ext cx="2362200" cy="1093469"/>
          </a:xfrm>
          <a:prstGeom prst="roundRect">
            <a:avLst>
              <a:gd name="adj" fmla="val 6968"/>
            </a:avLst>
          </a:prstGeom>
          <a:solidFill>
            <a:srgbClr val="A9761A">
              <a:alpha val="15000"/>
            </a:srgbClr>
          </a:solidFill>
          <a:ln w="7620">
            <a:solidFill>
              <a:srgbClr val="A9761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" y="312419"/>
            <a:ext cx="233588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CONTRAT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" y="457200"/>
            <a:ext cx="1726763" cy="3657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Contrat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" y="847249"/>
            <a:ext cx="3496747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 — de son entrée à sa finalité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7792" y="361950"/>
            <a:ext cx="148875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10 outils rattachés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0894" y="373380"/>
            <a:ext cx="111025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4 missions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28985" y="567690"/>
            <a:ext cx="160591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10894" y="579120"/>
            <a:ext cx="113145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4 échanges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1641158"/>
            <a:ext cx="161424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contrats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14074" y="1614250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6790" y="1693426"/>
            <a:ext cx="130802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Marché et avenants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4116" y="164020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00212" y="1555432"/>
            <a:ext cx="133397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Dépôt documentaire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02963" y="1657708"/>
            <a:ext cx="112835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97843" y="1765815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0516" y="164020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8982" y="1555432"/>
            <a:ext cx="15092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Mémoires et réclamations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6859" y="1657708"/>
            <a:ext cx="119336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80315" y="1765815"/>
            <a:ext cx="1126450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56916" y="164020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5056" y="1555432"/>
            <a:ext cx="100988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Rédaction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0777" y="1657708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50643" y="1765815"/>
            <a:ext cx="1138714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3316" y="164020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3347" y="1555432"/>
            <a:ext cx="12259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contractuel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3963" y="1657708"/>
            <a:ext cx="90487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27044" y="1765815"/>
            <a:ext cx="1138713" cy="990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9716" y="1640205"/>
            <a:ext cx="735568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75714" y="1614250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16396" y="1693426"/>
            <a:ext cx="151280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Dossier contractuel à jour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2952750"/>
            <a:ext cx="164258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Avancement et jalons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065145"/>
            <a:ext cx="1048822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chantier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81714" y="2875477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7760" y="2954656"/>
            <a:ext cx="136136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Avancement chantier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77547" y="3102648"/>
            <a:ext cx="96178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← Travaux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19776" y="3167301"/>
            <a:ext cx="147732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DD7E2C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39396" y="3007995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03740" y="2923223"/>
            <a:ext cx="11326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Consolidation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7683" y="3025497"/>
            <a:ext cx="90487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00763" y="313360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51076" y="3007995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66961" y="2923223"/>
            <a:ext cx="122955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Note de situation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2577" y="3025497"/>
            <a:ext cx="89844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12443" y="3133606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62755" y="3007995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94119" y="2923223"/>
            <a:ext cx="11986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Tableau de bord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71153" y="3025497"/>
            <a:ext cx="104453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69367" y="3133606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74436" y="3007995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08074" y="2875477"/>
            <a:ext cx="99417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30063" y="2954656"/>
            <a:ext cx="155007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Situation mensuelle établie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30101" y="3102648"/>
            <a:ext cx="950119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1620" y="3167301"/>
            <a:ext cx="140696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4320541"/>
            <a:ext cx="1220510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4432937"/>
            <a:ext cx="1356479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encaissements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94297" y="430625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6900" y="4385429"/>
            <a:ext cx="1223605" cy="2350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Suivi des avancements et jalons · </a:t>
            </a:r>
            <a:r>
              <a:rPr sz="53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64681" y="4375786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79777" y="4291011"/>
            <a:ext cx="185654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Situation envoyée au maître d'œuvre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6735" y="4393288"/>
            <a:ext cx="100250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Outlook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46371" y="4501397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01647" y="4375786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81776" y="4291011"/>
            <a:ext cx="132647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Circuit de validation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18102" y="4393288"/>
            <a:ext cx="105382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03445" y="4501397"/>
            <a:ext cx="128301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8612" y="4375786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925026" y="4345902"/>
            <a:ext cx="171390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Validation et paiement du maître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80190" y="4432937"/>
            <a:ext cx="100345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d'ouvrage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75578" y="4375786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76887" y="4291011"/>
            <a:ext cx="148411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Facture maître d'ouvrage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729299" y="4393288"/>
            <a:ext cx="97917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Chorus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57267" y="4501397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12543" y="4375786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83873" y="4291011"/>
            <a:ext cx="114407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Envoi par mail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54597" y="4393288"/>
            <a:ext cx="100250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Outlook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094232" y="4501397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49508" y="4375786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95729" y="4251366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327125" y="4330541"/>
            <a:ext cx="153150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Dispatch entre partenaires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61189" y="4432815"/>
            <a:ext cx="126337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Appli bancaire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31198" y="4540924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2920" y="5744526"/>
            <a:ext cx="167056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Facturation partenaire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533174" y="5611059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ENTRÉE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61699" y="5690234"/>
            <a:ext cx="1696403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Valorisation de la main-d'œuvre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576751" y="5838231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← DAF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339578" y="5902880"/>
            <a:ext cx="1340644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42316" y="5743573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89064" y="5658802"/>
            <a:ext cx="1270754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Facture partenaire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009078" y="5761076"/>
            <a:ext cx="1030724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61215" y="5869185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56916" y="5743573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65908" y="5658802"/>
            <a:ext cx="154626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Activation de la facturation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512129" y="5761076"/>
            <a:ext cx="105382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97592" y="5869185"/>
            <a:ext cx="128301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271516" y="5743573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56614" y="5717619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A9761A"/>
                </a:solidFill>
                <a:latin typeface="Calibri"/>
              </a:rPr>
              <a:t>FINALITÉ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925764" y="5796794"/>
            <a:ext cx="125587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Partenaire facturé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2900" y="6507479"/>
            <a:ext cx="44193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Chaînes issues du brief métier ; nature et alimentation reprises de la BDD. 4 échanges avec les autres pôles.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2900" y="6644640"/>
            <a:ext cx="2586990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77034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777961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861779"/>
            <a:ext cx="1158240" cy="1417322"/>
          </a:xfrm>
          <a:prstGeom prst="roundRect">
            <a:avLst>
              <a:gd name="adj" fmla="val 6578"/>
            </a:avLst>
          </a:prstGeom>
          <a:solidFill>
            <a:srgbClr val="3A6BE5">
              <a:alpha val="8000"/>
            </a:srgbClr>
          </a:solidFill>
          <a:ln w="7620">
            <a:solidFill>
              <a:srgbClr val="3A6BE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798820" y="242625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69380" y="242625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9940" y="242625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76560" y="1861779"/>
            <a:ext cx="1158241" cy="1417322"/>
          </a:xfrm>
          <a:prstGeom prst="roundRect">
            <a:avLst>
              <a:gd name="adj" fmla="val 6578"/>
            </a:avLst>
          </a:prstGeom>
          <a:solidFill>
            <a:srgbClr val="3A6BE5">
              <a:alpha val="15000"/>
            </a:srgbClr>
          </a:solidFill>
          <a:ln w="7620">
            <a:solidFill>
              <a:srgbClr val="3A6BE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" y="4157901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520" y="4165521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4249339"/>
            <a:ext cx="1158240" cy="1417322"/>
          </a:xfrm>
          <a:prstGeom prst="roundRect">
            <a:avLst>
              <a:gd name="adj" fmla="val 6578"/>
            </a:avLst>
          </a:prstGeom>
          <a:solidFill>
            <a:srgbClr val="3A6BE5">
              <a:alpha val="8000"/>
            </a:srgbClr>
          </a:solidFill>
          <a:ln w="7620">
            <a:solidFill>
              <a:srgbClr val="3A6BE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0734" y="481381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41294" y="481381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11855" y="481381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82415" y="481381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52975" y="481381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23534" y="4813815"/>
            <a:ext cx="743903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3157" y="4813815"/>
            <a:ext cx="624840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83717" y="4813815"/>
            <a:ext cx="809149" cy="288252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76560" y="4249339"/>
            <a:ext cx="1158241" cy="1417322"/>
          </a:xfrm>
          <a:prstGeom prst="roundRect">
            <a:avLst>
              <a:gd name="adj" fmla="val 6578"/>
            </a:avLst>
          </a:prstGeom>
          <a:solidFill>
            <a:srgbClr val="3A6BE5">
              <a:alpha val="15000"/>
            </a:srgbClr>
          </a:solidFill>
          <a:ln w="7620">
            <a:solidFill>
              <a:srgbClr val="3A6BE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" y="312421"/>
            <a:ext cx="2785467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MÉTHODES &amp; BIM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" y="457198"/>
            <a:ext cx="2971205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" y="847249"/>
            <a:ext cx="3810714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Missions et outils rattachés — processus non recueilli en entretien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7792" y="361948"/>
            <a:ext cx="148375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11 outils rattachés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2 missions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1 échanges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2444114"/>
            <a:ext cx="1807131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Production de maquettes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586989"/>
            <a:ext cx="1449943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1792" y="2472096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DÉBUT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5231" y="2551271"/>
            <a:ext cx="112537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8356" y="249804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82007" y="2464354"/>
            <a:ext cx="105834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1883" y="257246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5071" y="2464354"/>
            <a:ext cx="993338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2443" y="257246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06948" y="2464354"/>
            <a:ext cx="89082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3003" y="257246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5476" y="249804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58595" y="2472096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FINALITÉ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92991" y="2551271"/>
            <a:ext cx="112537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31674"/>
            <a:ext cx="1713905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maquettes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974549"/>
            <a:ext cx="1449943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1792" y="4859656"/>
            <a:ext cx="91225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DÉBUT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45231" y="4938831"/>
            <a:ext cx="112537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38356" y="488560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37610" y="4851918"/>
            <a:ext cx="10910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13798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97336" y="4851918"/>
            <a:ext cx="111275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84358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15997" y="4851918"/>
            <a:ext cx="101655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54918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7041" y="4851918"/>
            <a:ext cx="89546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25478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96514" y="4851918"/>
            <a:ext cx="113764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96038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56834" y="4851918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26129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59078" y="4851918"/>
            <a:ext cx="113299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95392" y="4960023"/>
            <a:ext cx="106037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17017" y="4851918"/>
            <a:ext cx="13425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18935" y="4960023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75476" y="488560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58595" y="4859656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3A6BE5"/>
                </a:solidFill>
                <a:latin typeface="Calibri"/>
              </a:rPr>
              <a:t>FINALITÉ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92991" y="4938831"/>
            <a:ext cx="112537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2900" y="6507479"/>
            <a:ext cx="332493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Alimentation et nature reprises de la BDD. Le processus reste à documenter.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" y="6644640"/>
            <a:ext cx="2586990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21"/>
            <a:ext cx="11506200" cy="820457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41"/>
            <a:ext cx="30480" cy="805217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0"/>
            <a:ext cx="15240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5200" y="1165860"/>
            <a:ext cx="15240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600" y="1165860"/>
            <a:ext cx="15240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165860"/>
            <a:ext cx="15240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34400" y="1165860"/>
            <a:ext cx="15240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0801" y="1165860"/>
            <a:ext cx="15240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" y="1986320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" y="1993940"/>
            <a:ext cx="30480" cy="805221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2077758"/>
            <a:ext cx="185928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0480" y="2077758"/>
            <a:ext cx="185928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52160" y="2077758"/>
            <a:ext cx="185928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1" y="2077758"/>
            <a:ext cx="1859279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1" y="2077758"/>
            <a:ext cx="185928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8860" y="2304695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28860" y="2517815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5B57D6">
              <a:alpha val="14000"/>
            </a:srgbClr>
          </a:solidFill>
          <a:ln w="7620">
            <a:solidFill>
              <a:srgbClr val="5B57D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" y="2898219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0520" y="2905839"/>
            <a:ext cx="30480" cy="805221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828800" y="2989661"/>
            <a:ext cx="1859280" cy="637577"/>
          </a:xfrm>
          <a:prstGeom prst="roundRect">
            <a:avLst>
              <a:gd name="adj" fmla="val 11951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40480" y="2989661"/>
            <a:ext cx="1859280" cy="637577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852160" y="2989661"/>
            <a:ext cx="1859280" cy="637577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1" y="2989661"/>
            <a:ext cx="1859279" cy="637577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1" y="2989661"/>
            <a:ext cx="1859280" cy="637577"/>
          </a:xfrm>
          <a:prstGeom prst="roundRect">
            <a:avLst>
              <a:gd name="adj" fmla="val 11951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28860" y="3323036"/>
            <a:ext cx="175260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2900" y="3810118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0520" y="3817738"/>
            <a:ext cx="30480" cy="805221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828800" y="3901560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43400" y="3901560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0" y="3901560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2600" y="3901560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25940" y="4234935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2900" y="4722020"/>
            <a:ext cx="11506200" cy="820457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0520" y="4729640"/>
            <a:ext cx="30480" cy="805217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28800" y="4813458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82140" y="5146833"/>
            <a:ext cx="2255520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43400" y="4813458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0" y="4813458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72600" y="4813458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" y="5633919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520" y="5641539"/>
            <a:ext cx="30480" cy="805221"/>
          </a:xfrm>
          <a:prstGeom prst="roundRect">
            <a:avLst>
              <a:gd name="adj" fmla="val 50000"/>
            </a:avLst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28800" y="5725357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8000"/>
            </a:srgbClr>
          </a:solidFill>
          <a:ln w="7620">
            <a:solidFill>
              <a:srgbClr val="DD7E2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343400" y="5725357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58000" y="5725357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372600" y="5725357"/>
            <a:ext cx="2362200" cy="637580"/>
          </a:xfrm>
          <a:prstGeom prst="roundRect">
            <a:avLst>
              <a:gd name="adj" fmla="val 11951"/>
            </a:avLst>
          </a:prstGeom>
          <a:solidFill>
            <a:srgbClr val="DD7E2C">
              <a:alpha val="15000"/>
            </a:srgbClr>
          </a:solidFill>
          <a:ln w="7620">
            <a:solidFill>
              <a:srgbClr val="DD7E2C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2900" y="312421"/>
            <a:ext cx="232505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TRAVAUX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2900" y="457198"/>
            <a:ext cx="1795462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" y="847249"/>
            <a:ext cx="3496747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 — de son entrée à sa finalité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7792" y="361948"/>
            <a:ext cx="148875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14 outils rattachés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6 missions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5 échanges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1356955"/>
            <a:ext cx="166520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 chantier 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469351"/>
            <a:ext cx="110180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14074" y="1386246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66900" y="1465421"/>
            <a:ext cx="14630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Relevé terrain · </a:t>
            </a:r>
            <a:r>
              <a:rPr sz="53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04116" y="14122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4497" y="1327429"/>
            <a:ext cx="134540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Constats et réserves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24037" y="1429703"/>
            <a:ext cx="1086327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97843" y="153781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80516" y="14122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95186" y="1327429"/>
            <a:ext cx="129682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Plans et maquettes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72326" y="1429703"/>
            <a:ext cx="13425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74243" y="153781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56916" y="14122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2768" y="1327429"/>
            <a:ext cx="143446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Diffusion documentaire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3501" y="1429703"/>
            <a:ext cx="113299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89815" y="1537812"/>
            <a:ext cx="1060371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33316" y="14122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79181" y="1327429"/>
            <a:ext cx="123444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d'exécution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43963" y="1429703"/>
            <a:ext cx="90487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27044" y="1537812"/>
            <a:ext cx="1138713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9716" y="14122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75714" y="1386246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19479" y="1465421"/>
            <a:ext cx="170652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Chantier piloté, imprévus tracés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920" y="2268854"/>
            <a:ext cx="164258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Avancement et jalons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2381250"/>
            <a:ext cx="1048822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chantier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81714" y="229814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03834" y="2377320"/>
            <a:ext cx="130921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Avancement terrain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39396" y="23240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27909" y="2239328"/>
            <a:ext cx="108442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Planification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0526" y="2341601"/>
            <a:ext cx="1119068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0763" y="244971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51076" y="23240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68259" y="2239328"/>
            <a:ext cx="142708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Adhérence au planning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41031" y="2341601"/>
            <a:ext cx="88142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18515" y="2449711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62755" y="23240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4119" y="2239328"/>
            <a:ext cx="11986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Tableau de bord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71153" y="2341601"/>
            <a:ext cx="1044535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69367" y="2449711"/>
            <a:ext cx="104810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74436" y="23240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08074" y="2085142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57354" y="2164318"/>
            <a:ext cx="1095613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Jalons tenus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330101" y="2312314"/>
            <a:ext cx="95011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066497" y="2376963"/>
            <a:ext cx="147732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08312" y="2525435"/>
            <a:ext cx="99357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→ Direction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54854" y="2590087"/>
            <a:ext cx="110061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2920" y="3180753"/>
            <a:ext cx="158007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Commande matériel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3293148"/>
            <a:ext cx="1048822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chantier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81714" y="321004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5866" y="3289219"/>
            <a:ext cx="118502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Besoin matériel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39396" y="323600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90035" y="3151226"/>
            <a:ext cx="1360170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Demande de matériel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85060" y="3253500"/>
            <a:ext cx="97000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06836" y="3361609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51076" y="323600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83142" y="3151226"/>
            <a:ext cx="139719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Coffrage, grue, engins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54115" y="3253500"/>
            <a:ext cx="105537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18515" y="3361609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762755" y="323600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150661" y="3151226"/>
            <a:ext cx="128551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Bon de commande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36399" y="3253500"/>
            <a:ext cx="91404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4123" y="3361609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774436" y="323600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08074" y="3103484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61734" y="3182659"/>
            <a:ext cx="148685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Matériel mobilisé sur site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372011" y="3330655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01394" y="3395305"/>
            <a:ext cx="120741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4092655"/>
            <a:ext cx="1606391" cy="24955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33174" y="4121943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77189" y="4201122"/>
            <a:ext cx="14653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Besoin en main-d'œuvre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242316" y="4147900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892873" y="4063129"/>
            <a:ext cx="126325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Demande par mail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3247" y="4165403"/>
            <a:ext cx="100250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Outlook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962763" y="4273512"/>
            <a:ext cx="1123355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756916" y="4147900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246858" y="4161591"/>
            <a:ext cx="15844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Contact de la boîte d'intérim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271516" y="4147900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056614" y="4015383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43242" y="4094558"/>
            <a:ext cx="1620917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Personnel affecté au chantier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20551" y="4242554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826347" y="4307207"/>
            <a:ext cx="1454586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02920" y="5005982"/>
            <a:ext cx="157269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2920" y="5148857"/>
            <a:ext cx="1540431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CONJOINT AVEC LA DAF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533174" y="4927281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234803" y="5006460"/>
            <a:ext cx="155019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Dépenses chantier (PC100)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576751" y="5154453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← DAF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06134" y="5219106"/>
            <a:ext cx="120741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42316" y="50597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42510" y="4975028"/>
            <a:ext cx="136386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Ventilation par atelier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72063" y="5077302"/>
            <a:ext cx="90487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55143" y="518541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56916" y="50597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92472" y="4975028"/>
            <a:ext cx="129325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Analyse des écarts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586662" y="5077302"/>
            <a:ext cx="90487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69743" y="5185411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271516" y="50597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6614" y="503384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741456" y="5113020"/>
            <a:ext cx="162448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Arbitrage budgétaire chantier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2920" y="5916453"/>
            <a:ext cx="172259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Gestion des contrats et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" y="6028849"/>
            <a:ext cx="109120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avenants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33174" y="594574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ENTRÉE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912" y="6024919"/>
            <a:ext cx="947857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Avenant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242316" y="597169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19556" y="5886927"/>
            <a:ext cx="100988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Rédaction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75277" y="5989200"/>
            <a:ext cx="89844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955143" y="6097310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756916" y="597169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416761" y="5886927"/>
            <a:ext cx="124455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Validation interne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512129" y="5989200"/>
            <a:ext cx="105382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75816" y="6097310"/>
            <a:ext cx="1126450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271516" y="597169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6614" y="5945744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D7E2C"/>
                </a:solidFill>
                <a:latin typeface="Calibri"/>
              </a:rPr>
              <a:t>FINALITÉ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982915" y="6024919"/>
            <a:ext cx="114157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Avenant signé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2900" y="6507479"/>
            <a:ext cx="44193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Chaînes issues du brief métier ; nature et alimentation reprises de la BDD. 5 échanges avec les autres pôles.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2900" y="6644640"/>
            <a:ext cx="2586990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173479"/>
            <a:ext cx="11506200" cy="1600202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181099"/>
            <a:ext cx="30480" cy="1584963"/>
          </a:xfrm>
          <a:prstGeom prst="roundRect">
            <a:avLst>
              <a:gd name="adj" fmla="val 50000"/>
            </a:avLst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64921"/>
            <a:ext cx="1524000" cy="1417318"/>
          </a:xfrm>
          <a:prstGeom prst="roundRect">
            <a:avLst>
              <a:gd name="adj" fmla="val 5376"/>
            </a:avLst>
          </a:prstGeom>
          <a:solidFill>
            <a:srgbClr val="0F8FA8">
              <a:alpha val="8000"/>
            </a:srgbClr>
          </a:solidFill>
          <a:ln w="7620">
            <a:solidFill>
              <a:srgbClr val="0F8FA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5200" y="1264921"/>
            <a:ext cx="15240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600" y="1264921"/>
            <a:ext cx="15240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264921"/>
            <a:ext cx="15240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34400" y="1264921"/>
            <a:ext cx="15240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10801" y="1264921"/>
            <a:ext cx="1524000" cy="1417318"/>
          </a:xfrm>
          <a:prstGeom prst="roundRect">
            <a:avLst>
              <a:gd name="adj" fmla="val 5376"/>
            </a:avLst>
          </a:prstGeom>
          <a:solidFill>
            <a:srgbClr val="0F8FA8">
              <a:alpha val="15000"/>
            </a:srgbClr>
          </a:solidFill>
          <a:ln w="7620">
            <a:solidFill>
              <a:srgbClr val="0F8FA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" y="2964182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" y="2971802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0F8FA8">
              <a:alpha val="8000"/>
            </a:srgbClr>
          </a:solidFill>
          <a:ln w="7620">
            <a:solidFill>
              <a:srgbClr val="0F8FA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726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0F8FA8">
              <a:alpha val="15000"/>
            </a:srgbClr>
          </a:solidFill>
          <a:ln w="7620">
            <a:solidFill>
              <a:srgbClr val="0F8FA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25940" y="3672364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5B57D6">
              <a:alpha val="14000"/>
            </a:srgbClr>
          </a:solidFill>
          <a:ln w="7620">
            <a:solidFill>
              <a:srgbClr val="5B57D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25940" y="3885485"/>
            <a:ext cx="2255521" cy="175025"/>
          </a:xfrm>
          <a:prstGeom prst="roundRect">
            <a:avLst>
              <a:gd name="adj" fmla="val 50000"/>
            </a:avLst>
          </a:prstGeom>
          <a:solidFill>
            <a:srgbClr val="A9761A">
              <a:alpha val="14000"/>
            </a:srgbClr>
          </a:solidFill>
          <a:ln w="7620">
            <a:solidFill>
              <a:srgbClr val="A9761A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2900" y="4754880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0520" y="476250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828800" y="4846322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0F8FA8">
              <a:alpha val="8000"/>
            </a:srgbClr>
          </a:solidFill>
          <a:ln w="7620">
            <a:solidFill>
              <a:srgbClr val="0F8FA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43400" y="4846322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4846322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72600" y="4846322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0F8FA8">
              <a:alpha val="15000"/>
            </a:srgbClr>
          </a:solidFill>
          <a:ln w="7620">
            <a:solidFill>
              <a:srgbClr val="0F8FA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25940" y="5569627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" y="312421"/>
            <a:ext cx="28055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TRAVAUX TUNNEL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" y="457198"/>
            <a:ext cx="275165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Travaux tunnel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" y="847249"/>
            <a:ext cx="3496747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 — de son entrée à sa finalité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7792" y="361948"/>
            <a:ext cx="148375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11 outils rattachés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5 échanges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847253"/>
            <a:ext cx="1556980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Gestion de chantier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1990128"/>
            <a:ext cx="135802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CHAÎNE À VALIDER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14074" y="187523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ENTRÉE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6900" y="1954409"/>
            <a:ext cx="1463040" cy="1479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Relevé terrain tunnel · </a:t>
            </a:r>
            <a:r>
              <a:rPr sz="53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411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923" y="1816417"/>
            <a:ext cx="1382554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Réserves et contrôles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24037" y="1918690"/>
            <a:ext cx="1086327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97843" y="20268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51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16974" y="1816417"/>
            <a:ext cx="1253133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Plans d'exécution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4367" y="1918690"/>
            <a:ext cx="1058346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74243" y="20268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5691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11246" y="1816417"/>
            <a:ext cx="1017389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Maquettes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8726" y="1918690"/>
            <a:ext cx="134254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50643" y="20268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3331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9181" y="1816417"/>
            <a:ext cx="1234440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d'exécution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43963" y="1918690"/>
            <a:ext cx="904874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27044" y="2026800"/>
            <a:ext cx="1138713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971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5714" y="1875234"/>
            <a:ext cx="994171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FINALITÉ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483" y="1954409"/>
            <a:ext cx="127063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Creusement piloté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3581757"/>
            <a:ext cx="1642586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Avancement et jalons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3694153"/>
            <a:ext cx="1048822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chantier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837028"/>
            <a:ext cx="1358027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CHAÎNE À VALIDER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33174" y="3665933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ENTRÉE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66900" y="3745111"/>
            <a:ext cx="23012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Avancement tunnelier · </a:t>
            </a:r>
            <a:r>
              <a:rPr sz="53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42316" y="369189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82289" y="3607119"/>
            <a:ext cx="108442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Planification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64907" y="3709393"/>
            <a:ext cx="111906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55143" y="381750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56916" y="369189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39739" y="3607119"/>
            <a:ext cx="119860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Tableau de bord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16773" y="3709393"/>
            <a:ext cx="104453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14988" y="3817502"/>
            <a:ext cx="1048106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71516" y="369189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6614" y="3452812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FINALITÉ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95999" y="3531987"/>
            <a:ext cx="1315284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Jalons tunnel tenus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6852" y="3679984"/>
            <a:ext cx="993576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→ Direction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03393" y="3744633"/>
            <a:ext cx="1100614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78640" y="3893104"/>
            <a:ext cx="950119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→ Contrat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15036" y="3957757"/>
            <a:ext cx="1477327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A9761A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5428654"/>
            <a:ext cx="1585317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Commande chantier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" y="5571529"/>
            <a:ext cx="135802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CHAÎNE À VALIDER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33174" y="5456635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ENTRÉE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66900" y="5535810"/>
            <a:ext cx="2301240" cy="1479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Besoin — stock tunnel · </a:t>
            </a:r>
            <a:r>
              <a:rPr sz="53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42316" y="548258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1681" y="5397817"/>
            <a:ext cx="128551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Bon de commande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67419" y="5500091"/>
            <a:ext cx="914043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55143" y="56082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56916" y="548258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88781" y="5397817"/>
            <a:ext cx="1300520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Matériel et coffrage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11415" y="5500091"/>
            <a:ext cx="105537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5816" y="5608200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71516" y="548258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056614" y="535007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F8FA8"/>
                </a:solidFill>
                <a:latin typeface="Calibri"/>
              </a:rPr>
              <a:t>FINALITÉ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87282" y="5429250"/>
            <a:ext cx="173271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Consommables et matériel livrés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20551" y="5577246"/>
            <a:ext cx="866299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→ DAF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49934" y="5641895"/>
            <a:ext cx="120741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Contrôle budgétaire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2900" y="6507479"/>
            <a:ext cx="44193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Chaînes issues du brief métier ; nature et alimentation reprises de la BDD. 5 échanges avec les autres pôles.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2900" y="6644640"/>
            <a:ext cx="2586990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344990" y="6644640"/>
            <a:ext cx="1189911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40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80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173479"/>
            <a:ext cx="11506200" cy="1600202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181099"/>
            <a:ext cx="30480" cy="1584963"/>
          </a:xfrm>
          <a:prstGeom prst="roundRect">
            <a:avLst>
              <a:gd name="adj" fmla="val 50000"/>
            </a:avLst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64921"/>
            <a:ext cx="1859280" cy="1417318"/>
          </a:xfrm>
          <a:prstGeom prst="roundRect">
            <a:avLst>
              <a:gd name="adj" fmla="val 5376"/>
            </a:avLst>
          </a:prstGeom>
          <a:solidFill>
            <a:srgbClr val="0E9E78">
              <a:alpha val="8000"/>
            </a:srgbClr>
          </a:solidFill>
          <a:ln w="7620">
            <a:solidFill>
              <a:srgbClr val="0E9E7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0" y="1264921"/>
            <a:ext cx="185928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52160" y="1264921"/>
            <a:ext cx="185928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1" y="1264921"/>
            <a:ext cx="1859279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1" y="1264921"/>
            <a:ext cx="1859280" cy="1417318"/>
          </a:xfrm>
          <a:prstGeom prst="roundRect">
            <a:avLst>
              <a:gd name="adj" fmla="val 5376"/>
            </a:avLst>
          </a:prstGeom>
          <a:solidFill>
            <a:srgbClr val="0E9E78">
              <a:alpha val="15000"/>
            </a:srgbClr>
          </a:solidFill>
          <a:ln w="7620">
            <a:solidFill>
              <a:srgbClr val="0E9E7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" y="2964182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0520" y="2971802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0E9E78">
              <a:alpha val="8000"/>
            </a:srgbClr>
          </a:solidFill>
          <a:ln w="7620">
            <a:solidFill>
              <a:srgbClr val="0E9E7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72600" y="3055620"/>
            <a:ext cx="2362200" cy="1417318"/>
          </a:xfrm>
          <a:prstGeom prst="roundRect">
            <a:avLst>
              <a:gd name="adj" fmla="val 5376"/>
            </a:avLst>
          </a:prstGeom>
          <a:solidFill>
            <a:srgbClr val="0E9E78">
              <a:alpha val="15000"/>
            </a:srgbClr>
          </a:solidFill>
          <a:ln w="7620">
            <a:solidFill>
              <a:srgbClr val="0E9E7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425940" y="3672364"/>
            <a:ext cx="2255521" cy="175021"/>
          </a:xfrm>
          <a:prstGeom prst="roundRect">
            <a:avLst>
              <a:gd name="adj" fmla="val 50000"/>
            </a:avLst>
          </a:prstGeom>
          <a:solidFill>
            <a:srgbClr val="3A6BE5">
              <a:alpha val="14000"/>
            </a:srgbClr>
          </a:solidFill>
          <a:ln w="7620">
            <a:solidFill>
              <a:srgbClr val="3A6BE5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25940" y="3885485"/>
            <a:ext cx="2255521" cy="175025"/>
          </a:xfrm>
          <a:prstGeom prst="roundRect">
            <a:avLst>
              <a:gd name="adj" fmla="val 50000"/>
            </a:avLst>
          </a:prstGeom>
          <a:solidFill>
            <a:srgbClr val="0F8FA8">
              <a:alpha val="14000"/>
            </a:srgbClr>
          </a:solidFill>
          <a:ln w="7620">
            <a:solidFill>
              <a:srgbClr val="0F8FA8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2900" y="4754880"/>
            <a:ext cx="11506200" cy="1600202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0520" y="476250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828800" y="4846322"/>
            <a:ext cx="3200400" cy="1417315"/>
          </a:xfrm>
          <a:prstGeom prst="roundRect">
            <a:avLst>
              <a:gd name="adj" fmla="val 5376"/>
            </a:avLst>
          </a:prstGeom>
          <a:solidFill>
            <a:srgbClr val="0E9E78">
              <a:alpha val="8000"/>
            </a:srgbClr>
          </a:solidFill>
          <a:ln w="7620">
            <a:solidFill>
              <a:srgbClr val="0E9E7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81600" y="4846322"/>
            <a:ext cx="320040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34400" y="4846322"/>
            <a:ext cx="3200401" cy="1417315"/>
          </a:xfrm>
          <a:prstGeom prst="roundRect">
            <a:avLst>
              <a:gd name="adj" fmla="val 5376"/>
            </a:avLst>
          </a:prstGeom>
          <a:solidFill>
            <a:srgbClr val="0E9E78">
              <a:alpha val="15000"/>
            </a:srgbClr>
          </a:solidFill>
          <a:ln w="7620">
            <a:solidFill>
              <a:srgbClr val="0E9E78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87740" y="5569627"/>
            <a:ext cx="3093721" cy="175021"/>
          </a:xfrm>
          <a:prstGeom prst="roundRect">
            <a:avLst>
              <a:gd name="adj" fmla="val 50000"/>
            </a:avLst>
          </a:prstGeom>
          <a:solidFill>
            <a:srgbClr val="0F8FA8">
              <a:alpha val="14000"/>
            </a:srgbClr>
          </a:solidFill>
          <a:ln w="7620">
            <a:solidFill>
              <a:srgbClr val="0F8FA8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" y="312421"/>
            <a:ext cx="2617351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TOPOGRAPHIE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" y="457198"/>
            <a:ext cx="244185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" y="847249"/>
            <a:ext cx="3496747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 — de son entrée à sa finalité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7792" y="361948"/>
            <a:ext cx="1437918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7 outils rattachés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0894" y="373380"/>
            <a:ext cx="1110258" cy="1142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8985" y="567692"/>
            <a:ext cx="160591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0894" y="579120"/>
            <a:ext cx="113145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3 échanges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845947"/>
            <a:ext cx="1778675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Acquisition et traitement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1958339"/>
            <a:ext cx="1640681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des nuages de points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1714" y="1875234"/>
            <a:ext cx="95345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ENTRÉE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66900" y="1954409"/>
            <a:ext cx="1798320" cy="1479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Acquisition des plans · </a:t>
            </a:r>
            <a:r>
              <a:rPr sz="53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939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1461" y="1816417"/>
            <a:ext cx="1397318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Exploitation des plans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8845" y="1918690"/>
            <a:ext cx="134254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0763" y="2026800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5107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30265" y="1816417"/>
            <a:ext cx="170295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Assemblage des scans chantier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4830" y="1918690"/>
            <a:ext cx="1053941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0291" y="2026800"/>
            <a:ext cx="128301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2755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543" y="1816417"/>
            <a:ext cx="1661756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Création des nuages de points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7465" y="1918690"/>
            <a:ext cx="101191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51971" y="2026800"/>
            <a:ext cx="128301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int/ext TODO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74436" y="1901192"/>
            <a:ext cx="735568" cy="1447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8074" y="1875234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FINALITÉ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7086" y="1954409"/>
            <a:ext cx="1576030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Nuage de points exploitable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3636645"/>
            <a:ext cx="1841064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Reporting et diffusion des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3749041"/>
            <a:ext cx="929878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plans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33174" y="3665933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ENTRÉE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66900" y="3745111"/>
            <a:ext cx="2301240" cy="1479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690"/>
              </a:lnSpc>
            </a:pPr>
            <a:r>
              <a:rPr sz="530" b="1">
                <a:solidFill>
                  <a:srgbClr val="33415C"/>
                </a:solidFill>
                <a:latin typeface="Calibri"/>
              </a:rPr>
              <a:t>Ouverture des plans · </a:t>
            </a:r>
            <a:r>
              <a:rPr sz="53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2316" y="369189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25923" y="3607119"/>
            <a:ext cx="199703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Assemblage et vérification de conformité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22996" y="3709393"/>
            <a:ext cx="120288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22163" y="3817502"/>
            <a:ext cx="120467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int/ext TODO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56916" y="369189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77708" y="3607119"/>
            <a:ext cx="132266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Rapport de contrôle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6662" y="3709393"/>
            <a:ext cx="90487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69743" y="3817502"/>
            <a:ext cx="1138714" cy="9905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516" y="369189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6614" y="3452812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FINALITÉ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32169" y="3531987"/>
            <a:ext cx="1642943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Rapport de conformité diffusé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3746" y="3679984"/>
            <a:ext cx="1179790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3A6BE5"/>
                </a:solidFill>
                <a:latin typeface="Calibri"/>
              </a:rPr>
              <a:t>→ Méthodes &amp; BIM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09453" y="3744633"/>
            <a:ext cx="1288375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3A6BE5"/>
                </a:solidFill>
                <a:latin typeface="Calibri"/>
              </a:rPr>
              <a:t>Gestion des maquettes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82438" y="3893104"/>
            <a:ext cx="1142404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→ Travaux tunnel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4221" y="3957757"/>
            <a:ext cx="1198840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Gestion de chantier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483542"/>
            <a:ext cx="1619369" cy="13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Guidage du tunnelier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52274" y="5456635"/>
            <a:ext cx="953453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ENTRÉE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52725" y="5535810"/>
            <a:ext cx="135243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Position du tunnelier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80516" y="548258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27790" y="5397817"/>
            <a:ext cx="1308021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Guidage temps réel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41031" y="5500091"/>
            <a:ext cx="881538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9463" y="5608200"/>
            <a:ext cx="120467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int/ext TODO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33316" y="548258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37514" y="5350075"/>
            <a:ext cx="994172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0E9E78"/>
                </a:solidFill>
                <a:latin typeface="Calibri"/>
              </a:rPr>
              <a:t>FINALITÉ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79982" y="5429250"/>
            <a:ext cx="15092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Tracé guidé en temps réel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63338" y="5577246"/>
            <a:ext cx="1142404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→ Travaux tunnel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5936" y="5641895"/>
            <a:ext cx="1477328" cy="838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0F8FA8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2900" y="6507479"/>
            <a:ext cx="44193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Chaînes issues du brief métier ; nature et alimentation reprises de la BDD. 3 échanges avec les autres pôles.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2900" y="6644636"/>
            <a:ext cx="2586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344990" y="6644636"/>
            <a:ext cx="11899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37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76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074418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082041"/>
            <a:ext cx="30480" cy="805221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165863"/>
            <a:ext cx="1158240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6053" y="1340524"/>
            <a:ext cx="859512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21285" y="1340524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1846" y="1340524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62406" y="1340524"/>
            <a:ext cx="624839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32966" y="1340524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3526" y="1340524"/>
            <a:ext cx="743902" cy="288248"/>
          </a:xfrm>
          <a:prstGeom prst="roundRect">
            <a:avLst>
              <a:gd name="adj" fmla="val 26435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76560" y="1165863"/>
            <a:ext cx="1158241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2900" y="1986316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520" y="1993940"/>
            <a:ext cx="30480" cy="805221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2077762"/>
            <a:ext cx="1158240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946" y="2252423"/>
            <a:ext cx="624840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12506" y="2252423"/>
            <a:ext cx="809148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76560" y="2077762"/>
            <a:ext cx="1158241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2900" y="2898223"/>
            <a:ext cx="11506200" cy="820453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0520" y="2905839"/>
            <a:ext cx="30480" cy="805221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828800" y="2989661"/>
            <a:ext cx="1158240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39289" y="3164321"/>
            <a:ext cx="624840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9849" y="3164321"/>
            <a:ext cx="624840" cy="288256"/>
          </a:xfrm>
          <a:prstGeom prst="roundRect">
            <a:avLst>
              <a:gd name="adj" fmla="val 26434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0409" y="3164321"/>
            <a:ext cx="743902" cy="288256"/>
          </a:xfrm>
          <a:prstGeom prst="roundRect">
            <a:avLst>
              <a:gd name="adj" fmla="val 26434"/>
            </a:avLst>
          </a:prstGeom>
          <a:solidFill>
            <a:srgbClr val="C2456A">
              <a:alpha val="10000"/>
            </a:srgbClr>
          </a:solidFill>
          <a:ln w="7620">
            <a:solidFill>
              <a:srgbClr val="C2456A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76560" y="2989661"/>
            <a:ext cx="1158241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2900" y="3810121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0520" y="3817738"/>
            <a:ext cx="30480" cy="805221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28800" y="3901560"/>
            <a:ext cx="1158240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13853" y="4076220"/>
            <a:ext cx="624840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84413" y="4076220"/>
            <a:ext cx="1023461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3595" y="4076220"/>
            <a:ext cx="624840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524155" y="4076220"/>
            <a:ext cx="925592" cy="288256"/>
          </a:xfrm>
          <a:prstGeom prst="roundRect">
            <a:avLst>
              <a:gd name="adj" fmla="val 264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576560" y="3901560"/>
            <a:ext cx="1158241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2900" y="4722020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0520" y="4729636"/>
            <a:ext cx="30480" cy="805221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28800" y="4813458"/>
            <a:ext cx="1158240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25076" y="4988126"/>
            <a:ext cx="913448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76560" y="4813458"/>
            <a:ext cx="1158241" cy="637577"/>
          </a:xfrm>
          <a:prstGeom prst="roundRect">
            <a:avLst>
              <a:gd name="adj" fmla="val 11951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42900" y="5633919"/>
            <a:ext cx="11506200" cy="820461"/>
          </a:xfrm>
          <a:prstGeom prst="roundRect">
            <a:avLst>
              <a:gd name="adj" fmla="val 1300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520" y="5641535"/>
            <a:ext cx="30480" cy="805221"/>
          </a:xfrm>
          <a:prstGeom prst="roundRect">
            <a:avLst>
              <a:gd name="adj" fmla="val 50000"/>
            </a:avLst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828800" y="5725357"/>
            <a:ext cx="1158240" cy="637584"/>
          </a:xfrm>
          <a:prstGeom prst="roundRect">
            <a:avLst>
              <a:gd name="adj" fmla="val 11951"/>
            </a:avLst>
          </a:prstGeom>
          <a:solidFill>
            <a:srgbClr val="C2456A">
              <a:alpha val="8000"/>
            </a:srgbClr>
          </a:solidFill>
          <a:ln w="7620">
            <a:solidFill>
              <a:srgbClr val="C2456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69380" y="5900025"/>
            <a:ext cx="624840" cy="288248"/>
          </a:xfrm>
          <a:prstGeom prst="roundRect">
            <a:avLst>
              <a:gd name="adj" fmla="val 26435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76560" y="5725357"/>
            <a:ext cx="1158241" cy="637584"/>
          </a:xfrm>
          <a:prstGeom prst="roundRect">
            <a:avLst>
              <a:gd name="adj" fmla="val 11951"/>
            </a:avLst>
          </a:prstGeom>
          <a:solidFill>
            <a:srgbClr val="C2456A">
              <a:alpha val="15000"/>
            </a:srgbClr>
          </a:solidFill>
          <a:ln w="7620">
            <a:solidFill>
              <a:srgbClr val="C2456A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2900" y="312417"/>
            <a:ext cx="341137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QUALITÉ &amp; ENVIRONNEMENT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900" y="457198"/>
            <a:ext cx="418683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" y="847249"/>
            <a:ext cx="3810714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Missions et outils rattachés — processus non recueilli en entretien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7792" y="361948"/>
            <a:ext cx="1488758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14 outils rattachés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0894" y="373384"/>
            <a:ext cx="1110258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6 missions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8985" y="567688"/>
            <a:ext cx="1605915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0894" y="579123"/>
            <a:ext cx="113145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0 échanges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1358383"/>
            <a:ext cx="1395651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Contrôle qualité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1501258"/>
            <a:ext cx="1449943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51792" y="1386243"/>
            <a:ext cx="91225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45231" y="1465418"/>
            <a:ext cx="1125379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38356" y="1412204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53784" y="1378627"/>
            <a:ext cx="98393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49353" y="1486732"/>
            <a:ext cx="1392912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alim. TODO · int/ext TODO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90542" y="1378627"/>
            <a:ext cx="1086327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64349" y="1486732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51828" y="1378627"/>
            <a:ext cx="90487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34909" y="1486732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08326" y="1378627"/>
            <a:ext cx="113299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44640" y="1486732"/>
            <a:ext cx="106037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23058" y="1378627"/>
            <a:ext cx="104453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21272" y="1486732"/>
            <a:ext cx="104810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36825" y="1378627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12192" y="1486732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5476" y="1412204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58595" y="1386243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92991" y="1465418"/>
            <a:ext cx="1125379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2270282"/>
            <a:ext cx="1796177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MaD et levées de réserve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2413157"/>
            <a:ext cx="1449943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1792" y="2298141"/>
            <a:ext cx="91225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45231" y="2377324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38356" y="232410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11203" y="2290525"/>
            <a:ext cx="108632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85009" y="2398631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45806" y="2290525"/>
            <a:ext cx="13425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47723" y="2398631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75476" y="2324103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8595" y="2298141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92991" y="2377324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3182180"/>
            <a:ext cx="1682115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Suivi environnemental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3325055"/>
            <a:ext cx="1449943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51792" y="3210048"/>
            <a:ext cx="912257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5231" y="3289223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38356" y="3236002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78185" y="3202424"/>
            <a:ext cx="11469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2352" y="3310529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99942" y="3202424"/>
            <a:ext cx="104453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98156" y="3310529"/>
            <a:ext cx="104810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13709" y="3202424"/>
            <a:ext cx="127730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89075" y="3310529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75476" y="3236002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58595" y="3210048"/>
            <a:ext cx="994171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92991" y="3289223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2920" y="4094087"/>
            <a:ext cx="1839040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Suivi des consommations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4236962"/>
            <a:ext cx="1399937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MISSION PROPOSÉE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1792" y="4121946"/>
            <a:ext cx="912257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45231" y="420112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38356" y="41479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7399" y="4114323"/>
            <a:ext cx="10376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96088" y="4222436"/>
            <a:ext cx="1060370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517713" y="4114323"/>
            <a:ext cx="155686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65959" y="4222436"/>
            <a:ext cx="1060371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36782" y="4114323"/>
            <a:ext cx="105846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96658" y="4222436"/>
            <a:ext cx="1138714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57454" y="4114323"/>
            <a:ext cx="145899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56765" y="4222436"/>
            <a:ext cx="1060370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475476" y="4147900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58595" y="4121946"/>
            <a:ext cx="994171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592991" y="4201122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2920" y="5005986"/>
            <a:ext cx="1599367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33415C"/>
                </a:solidFill>
                <a:latin typeface="Calibri"/>
              </a:rPr>
              <a:t>Gestion des déchets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02920" y="5148861"/>
            <a:ext cx="1399937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MISSION PROPOSÉE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51792" y="5033845"/>
            <a:ext cx="912257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45231" y="5113020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038356" y="50597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58377" y="5026222"/>
            <a:ext cx="144684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212443" y="5134335"/>
            <a:ext cx="1138714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75476" y="5059799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658595" y="5033845"/>
            <a:ext cx="994171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92991" y="5113020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02920" y="5917884"/>
            <a:ext cx="1714857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Commande de matériel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2920" y="6060759"/>
            <a:ext cx="1449943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" b="1" spc="48">
                <a:solidFill>
                  <a:srgbClr val="78879F"/>
                </a:solidFill>
                <a:latin typeface="Calibri"/>
              </a:rPr>
              <a:t>ORDRE NON ATTESTÉ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51792" y="5945744"/>
            <a:ext cx="91225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DÉBUT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45231" y="6024919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038356" y="597169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24719" y="5938120"/>
            <a:ext cx="91404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12443" y="6046233"/>
            <a:ext cx="1138714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475476" y="597169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658595" y="5945744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C2456A"/>
                </a:solidFill>
                <a:latin typeface="Calibri"/>
              </a:rPr>
              <a:t>FINALITÉ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592991" y="6024919"/>
            <a:ext cx="1125379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à documenter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2900" y="6507479"/>
            <a:ext cx="332493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Alimentation et nature reprises de la BDD. Le processus reste à documenter.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2900" y="6644636"/>
            <a:ext cx="2586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02603" y="6644636"/>
            <a:ext cx="123229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285215" y="358137"/>
            <a:ext cx="561617" cy="14478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85215" y="563876"/>
            <a:ext cx="582810" cy="144781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2900" y="1173479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0520" y="1181103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0" y="1264918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D93025">
              <a:alpha val="8000"/>
            </a:srgbClr>
          </a:solidFill>
          <a:ln w="7620">
            <a:solidFill>
              <a:srgbClr val="D9302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82140" y="1988222"/>
            <a:ext cx="1417320" cy="175025"/>
          </a:xfrm>
          <a:prstGeom prst="roundRect">
            <a:avLst>
              <a:gd name="adj" fmla="val 50000"/>
            </a:avLst>
          </a:prstGeom>
          <a:solidFill>
            <a:srgbClr val="8257E6">
              <a:alpha val="14000"/>
            </a:srgbClr>
          </a:solidFill>
          <a:ln w="7620">
            <a:solidFill>
              <a:srgbClr val="8257E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05200" y="1264918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81600" y="1264918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1264918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34400" y="1264918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10801" y="1264918"/>
            <a:ext cx="1524000" cy="1417322"/>
          </a:xfrm>
          <a:prstGeom prst="roundRect">
            <a:avLst>
              <a:gd name="adj" fmla="val 5376"/>
            </a:avLst>
          </a:prstGeom>
          <a:solidFill>
            <a:srgbClr val="D93025">
              <a:alpha val="15000"/>
            </a:srgbClr>
          </a:solidFill>
          <a:ln w="7620">
            <a:solidFill>
              <a:srgbClr val="D9302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" y="2964178"/>
            <a:ext cx="11506200" cy="160019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0520" y="2971802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28800" y="3055624"/>
            <a:ext cx="1284565" cy="1417315"/>
          </a:xfrm>
          <a:prstGeom prst="roundRect">
            <a:avLst>
              <a:gd name="adj" fmla="val 5931"/>
            </a:avLst>
          </a:prstGeom>
          <a:solidFill>
            <a:srgbClr val="D93025">
              <a:alpha val="8000"/>
            </a:srgbClr>
          </a:solidFill>
          <a:ln w="7620">
            <a:solidFill>
              <a:srgbClr val="D9302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65765" y="3055624"/>
            <a:ext cx="1284565" cy="1417315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02731" y="3055624"/>
            <a:ext cx="1284566" cy="1417315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9696" y="3055624"/>
            <a:ext cx="1284566" cy="1417315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76661" y="3055624"/>
            <a:ext cx="1284565" cy="1417315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3626" y="3055624"/>
            <a:ext cx="1284566" cy="1417315"/>
          </a:xfrm>
          <a:prstGeom prst="roundRect">
            <a:avLst>
              <a:gd name="adj" fmla="val 5931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50592" y="3055624"/>
            <a:ext cx="1284565" cy="1417315"/>
          </a:xfrm>
          <a:prstGeom prst="roundRect">
            <a:avLst>
              <a:gd name="adj" fmla="val 5931"/>
            </a:avLst>
          </a:prstGeom>
          <a:solidFill>
            <a:srgbClr val="D93025">
              <a:alpha val="15000"/>
            </a:srgbClr>
          </a:solidFill>
          <a:ln w="7620">
            <a:solidFill>
              <a:srgbClr val="D9302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2900" y="4754876"/>
            <a:ext cx="11506200" cy="1600206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0520" y="4762500"/>
            <a:ext cx="30480" cy="1584959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28800" y="484632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D93025">
              <a:alpha val="8000"/>
            </a:srgbClr>
          </a:solidFill>
          <a:ln w="7620">
            <a:solidFill>
              <a:srgbClr val="D93025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0480" y="484632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852160" y="484632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63841" y="4846322"/>
            <a:ext cx="1859279" cy="1417315"/>
          </a:xfrm>
          <a:prstGeom prst="roundRect">
            <a:avLst>
              <a:gd name="adj" fmla="val 5376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1" y="4846322"/>
            <a:ext cx="1859280" cy="1417315"/>
          </a:xfrm>
          <a:prstGeom prst="roundRect">
            <a:avLst>
              <a:gd name="adj" fmla="val 5376"/>
            </a:avLst>
          </a:prstGeom>
          <a:solidFill>
            <a:srgbClr val="D93025">
              <a:alpha val="15000"/>
            </a:srgbClr>
          </a:solidFill>
          <a:ln w="7620">
            <a:solidFill>
              <a:srgbClr val="D93025">
                <a:alpha val="4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28860" y="5569627"/>
            <a:ext cx="1752600" cy="175017"/>
          </a:xfrm>
          <a:prstGeom prst="roundRect">
            <a:avLst>
              <a:gd name="adj" fmla="val 50000"/>
            </a:avLst>
          </a:prstGeom>
          <a:solidFill>
            <a:srgbClr val="5B57D6">
              <a:alpha val="14000"/>
            </a:srgbClr>
          </a:solidFill>
          <a:ln w="7620">
            <a:solidFill>
              <a:srgbClr val="5B57D6">
                <a:alpha val="4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" y="312417"/>
            <a:ext cx="2372916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AFFICHE SERVICE · SÉCURITÉ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" y="457198"/>
            <a:ext cx="183987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" y="847249"/>
            <a:ext cx="3496747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Flux de la donnée par mission — de son entrée à sa finalité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7792" y="361948"/>
            <a:ext cx="1488758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10 outils rattachés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0894" y="373384"/>
            <a:ext cx="1110258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3 missions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8985" y="567688"/>
            <a:ext cx="1605915" cy="1371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avec les autres pôles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0894" y="579123"/>
            <a:ext cx="113145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2 échanges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845947"/>
            <a:ext cx="1607939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Accueil, formation 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958342"/>
            <a:ext cx="1234440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habilitations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14074" y="1768670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ENTRÉE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3822" y="1847853"/>
            <a:ext cx="11738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Nouvel arrivant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651" y="1995846"/>
            <a:ext cx="866299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← DAF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64281" y="2060495"/>
            <a:ext cx="1452920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8257E6"/>
                </a:solidFill>
                <a:latin typeface="Calibri"/>
              </a:rPr>
              <a:t>Onboarding RH et formations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4116" y="190118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9465" y="1816417"/>
            <a:ext cx="185547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Accueil de site et formation au poste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8549" y="1918690"/>
            <a:ext cx="127730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915" y="2026803"/>
            <a:ext cx="1126450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80516" y="190118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7057" y="1772839"/>
            <a:ext cx="183308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Habilitations élec. et autorisation 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61040" y="1859873"/>
            <a:ext cx="965120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conduite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4949" y="1962147"/>
            <a:ext cx="127730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0315" y="2070260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56916" y="190118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7416" y="1816417"/>
            <a:ext cx="13451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des formations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050" y="1918690"/>
            <a:ext cx="110978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56715" y="2026803"/>
            <a:ext cx="1126450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3316" y="190118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08815" y="1816417"/>
            <a:ext cx="137505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Dossier collaborateur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9638" y="1918690"/>
            <a:ext cx="1533406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HRMYOU / Global HR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34664" y="2026803"/>
            <a:ext cx="1123355" cy="990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09716" y="1901188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75714" y="1875234"/>
            <a:ext cx="994171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FINALITÉ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8172" y="1954409"/>
            <a:ext cx="166913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Collaborateur habilité au poste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3692843"/>
            <a:ext cx="1829991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Prévention et suivi terrain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4297" y="3665933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ENTRÉE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0810" y="3745108"/>
            <a:ext cx="150054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Terrain · ¼ heure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4681" y="36918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94434" y="3607115"/>
            <a:ext cx="162722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Visite sécurité et ¼ h sécurité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69337" y="3709389"/>
            <a:ext cx="127730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44823" y="3817502"/>
            <a:ext cx="112645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interne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01647" y="36918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66868" y="3607115"/>
            <a:ext cx="175617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Suivi IDV, addictions, organismes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29257" y="3709389"/>
            <a:ext cx="1631394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Quick Connect Sécurité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83336" y="3817502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8612" y="36918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65295" y="3607115"/>
            <a:ext cx="1233249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Comptage tunnel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4957" y="3709389"/>
            <a:ext cx="91404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Lotus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0301" y="3817502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75578" y="36918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01652" y="3607115"/>
            <a:ext cx="143446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Diffusion documentaire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52385" y="3709389"/>
            <a:ext cx="113299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8699" y="3817502"/>
            <a:ext cx="1060370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externe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12543" y="36918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8010" y="3607115"/>
            <a:ext cx="1635680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Commande EPI et prestations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98888" y="3709389"/>
            <a:ext cx="91404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86493" y="3817502"/>
            <a:ext cx="1138714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manuel · externe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49508" y="3691886"/>
            <a:ext cx="735568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95729" y="3665933"/>
            <a:ext cx="99417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FINALITÉ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34506" y="3745108"/>
            <a:ext cx="151673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Risques maîtrisés sur site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" y="5427344"/>
            <a:ext cx="1869043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Événements et indicateurs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5539739"/>
            <a:ext cx="1043583" cy="13715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spc="-7">
                <a:solidFill>
                  <a:srgbClr val="0D1526"/>
                </a:solidFill>
                <a:latin typeface="Calibri"/>
              </a:rPr>
              <a:t>sécurité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81714" y="5456631"/>
            <a:ext cx="953452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ENTRÉE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28813" y="5535814"/>
            <a:ext cx="1659136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Événement ATB, AT, PAT, HIPO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39396" y="5482592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84439" y="5397821"/>
            <a:ext cx="137124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Reporting événement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06134" y="5500095"/>
            <a:ext cx="92797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Cority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08383" y="5608200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751076" y="5482592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10513" y="5397821"/>
            <a:ext cx="154257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Volume d'heures exposées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70759" y="5500095"/>
            <a:ext cx="142208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Heures Travaillées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20063" y="5608200"/>
            <a:ext cx="1123355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AC597A"/>
                </a:solidFill>
                <a:latin typeface="Calibri"/>
              </a:rPr>
              <a:t>hors BDD · brief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62755" y="5482592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33874" y="5397821"/>
            <a:ext cx="131921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Indicateurs sécurité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271153" y="5500095"/>
            <a:ext cx="1044535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69367" y="5608200"/>
            <a:ext cx="1048107" cy="990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30" b="1" spc="9">
                <a:solidFill>
                  <a:srgbClr val="78879F"/>
                </a:solidFill>
                <a:latin typeface="Calibri"/>
              </a:rPr>
              <a:t>auto · interne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74436" y="5482592"/>
            <a:ext cx="735568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1">
                <a:solidFill>
                  <a:srgbClr val="78879F"/>
                </a:solidFill>
                <a:latin typeface="Calibri"/>
              </a:rPr>
              <a:t>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08074" y="5350075"/>
            <a:ext cx="994172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20" b="1" spc="67">
                <a:solidFill>
                  <a:srgbClr val="D93025"/>
                </a:solidFill>
                <a:latin typeface="Calibri"/>
              </a:rPr>
              <a:t>FINALITÉ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35158" y="5429250"/>
            <a:ext cx="1940004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30" b="1">
                <a:solidFill>
                  <a:srgbClr val="33415C"/>
                </a:solidFill>
                <a:latin typeface="Calibri"/>
              </a:rPr>
              <a:t>Taux de fréquence et de gravité publiés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08312" y="5577243"/>
            <a:ext cx="993577" cy="838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→ Direction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4854" y="5641899"/>
            <a:ext cx="1100614" cy="838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09" b="1" spc="12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2900" y="6507479"/>
            <a:ext cx="44193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0">
                <a:solidFill>
                  <a:srgbClr val="78879F"/>
                </a:solidFill>
                <a:latin typeface="Calibri"/>
              </a:rPr>
              <a:t>Chaînes issues du brief métier ; nature et alimentation reprises de la BDD. 2 échanges avec les autres pôles.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" y="6644636"/>
            <a:ext cx="2586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306771" y="6644636"/>
            <a:ext cx="122812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0099" y="373376"/>
            <a:ext cx="60960" cy="60966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0099" y="510541"/>
            <a:ext cx="60960" cy="6095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0099" y="647698"/>
            <a:ext cx="60960" cy="6095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06759" y="373376"/>
            <a:ext cx="60960" cy="60966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6759" y="510541"/>
            <a:ext cx="60960" cy="60959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06759" y="647698"/>
            <a:ext cx="60960" cy="6095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27908" y="373376"/>
            <a:ext cx="60960" cy="60966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7908" y="510541"/>
            <a:ext cx="60960" cy="6095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27908" y="647698"/>
            <a:ext cx="60960" cy="60959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8061" y="373376"/>
            <a:ext cx="60961" cy="60966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03860" y="1448394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80586" y="1448394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17864" y="1415530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3860" y="1591512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0586" y="1591512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17864" y="1558648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03860" y="1734622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80586" y="1734622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17864" y="1701758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03860" y="1877733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80586" y="1877733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17864" y="1844876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3860" y="2020851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80586" y="2020851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17864" y="1987987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03860" y="2163961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80586" y="2163961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17864" y="2131097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3860" y="2307071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80586" y="2307071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17864" y="2274215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3860" y="2450189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80586" y="2450189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17864" y="2417326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3860" y="2593300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80586" y="2593300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817864" y="2560436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3860" y="2736410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780586" y="2736410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17864" y="2703554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3860" y="2879528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80586" y="2879528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17864" y="2846664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3860" y="3022638"/>
            <a:ext cx="53340" cy="53343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80586" y="3022638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17864" y="2989775"/>
            <a:ext cx="663892" cy="12191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3860" y="3165756"/>
            <a:ext cx="53340" cy="53335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780586" y="3165756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817864" y="3132893"/>
            <a:ext cx="473273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3860" y="3308867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780586" y="3308867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17864" y="3276003"/>
            <a:ext cx="435887" cy="12191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3860" y="4015861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950250" y="4015861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3860" y="4158972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950250" y="4158972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03860" y="4302082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950250" y="4302082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03860" y="4445200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50250" y="4445200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03860" y="4588310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950250" y="4588310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3860" y="4731428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950250" y="4731428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03860" y="4874539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950250" y="487453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03860" y="501764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950250" y="501764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03860" y="5160767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950250" y="5160767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03860" y="5303877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950250" y="5303877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03860" y="5446988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950250" y="5446988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03860" y="5590106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950250" y="5590106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03860" y="5733216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950250" y="5733216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03860" y="5876327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950250" y="5876327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03860" y="6019445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950250" y="6019445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03860" y="6162555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950250" y="6162555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03860" y="6305665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2950250" y="6305665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03860" y="6448783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950250" y="6448783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9014460" y="1028698"/>
            <a:ext cx="1383031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10466070" y="1028698"/>
            <a:ext cx="1383030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014460" y="1622105"/>
            <a:ext cx="1383031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466070" y="1622105"/>
            <a:ext cx="1383030" cy="524832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014460" y="2245999"/>
            <a:ext cx="2834640" cy="1799028"/>
          </a:xfrm>
          <a:prstGeom prst="roundRect">
            <a:avLst>
              <a:gd name="adj" fmla="val 6353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151620" y="2974064"/>
            <a:ext cx="2560320" cy="68575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151620" y="2974064"/>
            <a:ext cx="1280160" cy="68575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431780" y="2974064"/>
            <a:ext cx="840105" cy="68575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1271885" y="2974064"/>
            <a:ext cx="440055" cy="68575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151620" y="3263619"/>
            <a:ext cx="2560320" cy="68582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151620" y="3263619"/>
            <a:ext cx="2000250" cy="68582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151870" y="3263619"/>
            <a:ext cx="360045" cy="68582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511915" y="3263619"/>
            <a:ext cx="200025" cy="68582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9151620" y="3553180"/>
            <a:ext cx="2560320" cy="68582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51620" y="3553180"/>
            <a:ext cx="1800225" cy="68582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951845" y="3553180"/>
            <a:ext cx="760095" cy="68582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014460" y="4144089"/>
            <a:ext cx="2834640" cy="2447327"/>
          </a:xfrm>
          <a:prstGeom prst="roundRect">
            <a:avLst>
              <a:gd name="adj" fmla="val 467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151620" y="4524140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151620" y="5016935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151620" y="5509739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151620" y="6002534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2900" y="312417"/>
            <a:ext cx="1239202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2900" y="457198"/>
            <a:ext cx="460331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Matrice des flux de données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2900" y="847249"/>
            <a:ext cx="4320778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relevés entre outils, et échanges entre missions décrits par le brief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32019" y="342897"/>
            <a:ext cx="130813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Méthodes &amp; BIM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32019" y="480062"/>
            <a:ext cx="116443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Topographie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32019" y="617219"/>
            <a:ext cx="125051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 tunnel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428678" y="342897"/>
            <a:ext cx="988338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428678" y="480062"/>
            <a:ext cx="97036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Contrat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28678" y="617219"/>
            <a:ext cx="10326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Direction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49828" y="342897"/>
            <a:ext cx="850344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DAF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049828" y="480062"/>
            <a:ext cx="164163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49828" y="617219"/>
            <a:ext cx="100155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Sécurité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279982" y="342897"/>
            <a:ext cx="125491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Socle commun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7660" y="1013458"/>
            <a:ext cx="8534401" cy="152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30" b="1" spc="88">
                <a:solidFill>
                  <a:srgbClr val="33415C"/>
                </a:solidFill>
                <a:latin typeface="Calibri"/>
              </a:rPr>
              <a:t>FLUX APPLICATIFS — D'OUTIL À OUTIL </a:t>
            </a:r>
            <a:r>
              <a:rPr sz="570" b="1" spc="23">
                <a:solidFill>
                  <a:srgbClr val="78879F"/>
                </a:solidFill>
                <a:latin typeface="Calibri"/>
              </a:rPr>
              <a:t> · 14 relevés en entretien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3860" y="1272541"/>
            <a:ext cx="106072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SOURCE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80586" y="1272541"/>
            <a:ext cx="134028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DESTINATAIRE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817864" y="1272541"/>
            <a:ext cx="135231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921335" y="1272541"/>
            <a:ext cx="140219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0" y="1413275"/>
            <a:ext cx="88868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57412" y="1402796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79646" y="1413275"/>
            <a:ext cx="109561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35924" y="1423153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921335" y="1415537"/>
            <a:ext cx="170830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2920" y="1556385"/>
            <a:ext cx="88868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57412" y="1545906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79646" y="1556385"/>
            <a:ext cx="10179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35924" y="1566264"/>
            <a:ext cx="122777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21335" y="1558648"/>
            <a:ext cx="205323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" y="1699495"/>
            <a:ext cx="123360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57412" y="1689024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79646" y="1699495"/>
            <a:ext cx="109561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35924" y="1709382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21335" y="1701758"/>
            <a:ext cx="182915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2920" y="1842613"/>
            <a:ext cx="123360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57412" y="1832135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79646" y="1842613"/>
            <a:ext cx="101798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35924" y="1852492"/>
            <a:ext cx="122777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21335" y="1844876"/>
            <a:ext cx="178165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2920" y="1985724"/>
            <a:ext cx="8972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57412" y="1975245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879646" y="1985724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35924" y="1995610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921335" y="1987987"/>
            <a:ext cx="230052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02920" y="2128834"/>
            <a:ext cx="10052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57412" y="2118363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79646" y="2128834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535924" y="2138721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921335" y="2131097"/>
            <a:ext cx="200167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2920" y="2271952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57412" y="226147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879646" y="2271952"/>
            <a:ext cx="10052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35924" y="2281831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921335" y="2274215"/>
            <a:ext cx="162198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2415063"/>
            <a:ext cx="10941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57412" y="2404584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879646" y="2415063"/>
            <a:ext cx="8972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35924" y="2424949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921335" y="2417325"/>
            <a:ext cx="171712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02920" y="2558181"/>
            <a:ext cx="1027986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157412" y="2547702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79646" y="2558181"/>
            <a:ext cx="101798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35924" y="2568059"/>
            <a:ext cx="122777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921335" y="2560436"/>
            <a:ext cx="137183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Inventaire matériel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02920" y="2701291"/>
            <a:ext cx="139065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157412" y="2690812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879646" y="2701291"/>
            <a:ext cx="10179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35924" y="2711170"/>
            <a:ext cx="122777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921335" y="2703554"/>
            <a:ext cx="134159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Suivi des déchets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02920" y="2844401"/>
            <a:ext cx="12940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157412" y="283392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79646" y="2844401"/>
            <a:ext cx="102679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535924" y="2854288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921335" y="2846664"/>
            <a:ext cx="1977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Plans vers l'assemblage des scans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02920" y="2987519"/>
            <a:ext cx="129409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157412" y="2977041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879646" y="2987519"/>
            <a:ext cx="1164669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35924" y="2997398"/>
            <a:ext cx="1227773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21335" y="2989782"/>
            <a:ext cx="220003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Maquettes vers le contrôle de conformité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02920" y="3130630"/>
            <a:ext cx="12940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165390" y="3120151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879646" y="3130630"/>
            <a:ext cx="105679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535924" y="3140509"/>
            <a:ext cx="1037153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21335" y="3132892"/>
            <a:ext cx="290024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02920" y="3273740"/>
            <a:ext cx="102679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157412" y="3263261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879646" y="3273740"/>
            <a:ext cx="9878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35924" y="3283627"/>
            <a:ext cx="999768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27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921335" y="3276003"/>
            <a:ext cx="230386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Scans assemblés vers les nuages de points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7660" y="3580926"/>
            <a:ext cx="8534401" cy="152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630" b="1" spc="88">
                <a:solidFill>
                  <a:srgbClr val="33415C"/>
                </a:solidFill>
                <a:latin typeface="Calibri"/>
              </a:rPr>
              <a:t>ÉCHANGES INTER-SERVICES — DE MISSION À MISSION </a:t>
            </a:r>
            <a:r>
              <a:rPr sz="570" b="1" spc="23">
                <a:solidFill>
                  <a:srgbClr val="78879F"/>
                </a:solidFill>
                <a:latin typeface="Calibri"/>
              </a:rPr>
              <a:t> · 18 issus du brief · ⇢ enchaînement interne à un pôle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03860" y="3840001"/>
            <a:ext cx="16144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MISSION ÉMETTRICE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950250" y="3840001"/>
            <a:ext cx="175295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MISSION DESTINATAIRE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157192" y="3840001"/>
            <a:ext cx="168687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OBJET DE L'ÉCHANGE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02920" y="3980734"/>
            <a:ext cx="175140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Commande matériel chantier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327077" y="3970256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049310" y="3980734"/>
            <a:ext cx="14233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57192" y="3982997"/>
            <a:ext cx="21122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Extraction BYMAT — matériel mobilisé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123852"/>
            <a:ext cx="142339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327077" y="4113374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049310" y="4123852"/>
            <a:ext cx="142339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157192" y="4126108"/>
            <a:ext cx="214860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PC100 — dépenses ventilées par atelier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02920" y="4266963"/>
            <a:ext cx="16090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327077" y="4256484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049310" y="4266963"/>
            <a:ext cx="150542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Facturation partenaire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157192" y="4269226"/>
            <a:ext cx="172128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Valorisation MO à refacturer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02920" y="4410073"/>
            <a:ext cx="16090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335054" y="4399594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049310" y="4410073"/>
            <a:ext cx="14233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157192" y="4412336"/>
            <a:ext cx="20571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VALO MO — coût de la main-d'œuvre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2920" y="4553191"/>
            <a:ext cx="220003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Engagement des dépenses et facturation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335054" y="4542712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049310" y="4553191"/>
            <a:ext cx="142339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157192" y="4555454"/>
            <a:ext cx="237720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Dépenses diverses — factures et commandes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6302"/>
            <a:ext cx="177260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Onboarding RH et formations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327077" y="468582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049310" y="4696302"/>
            <a:ext cx="19323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Accueil, formation et habilitations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157192" y="4698564"/>
            <a:ext cx="197167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Nouvel arrivant à accueillir sur site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02920" y="4839412"/>
            <a:ext cx="175248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Commande de main-d'œuvre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327077" y="4828933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049310" y="4839412"/>
            <a:ext cx="17728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157192" y="4841675"/>
            <a:ext cx="186785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Besoin en personnel intérimaire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02920" y="4982530"/>
            <a:ext cx="177284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du personnel et paye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35054" y="4972051"/>
            <a:ext cx="768906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049310" y="4982530"/>
            <a:ext cx="160901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Préfacturation partenaire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157192" y="4984793"/>
            <a:ext cx="1699855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Heures pointées à valoriser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502920" y="5125640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327077" y="5115162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049310" y="5125640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157192" y="5127903"/>
            <a:ext cx="2205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Avancement et jalons relevés au chantier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02920" y="5268751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2335054" y="5258280"/>
            <a:ext cx="768906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049310" y="5268751"/>
            <a:ext cx="170842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des encaissements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157192" y="5271014"/>
            <a:ext cx="186368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Situation mensuelle à encaisser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02920" y="5411869"/>
            <a:ext cx="180463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327077" y="5401390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049310" y="5411869"/>
            <a:ext cx="1272540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5157192" y="5414131"/>
            <a:ext cx="212800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Avancement consolidé pour le pilotage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02920" y="5554979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2327077" y="5544500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049310" y="5554979"/>
            <a:ext cx="12725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5157192" y="5557242"/>
            <a:ext cx="171842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Avancement du creusement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502920" y="5698089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2327077" y="5687618"/>
            <a:ext cx="784860" cy="14477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049310" y="5698089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5157192" y="5700352"/>
            <a:ext cx="181153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Jalons tunnel pour la situation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502920" y="5841207"/>
            <a:ext cx="14320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Commande chantier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2327077" y="5830729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049310" y="5841207"/>
            <a:ext cx="142339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Contrôle budgétaire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157192" y="5843470"/>
            <a:ext cx="1626394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Dépenses matériel tunnel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502920" y="5984318"/>
            <a:ext cx="187190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Reporting et diffusion des plans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327077" y="5973839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049310" y="5984318"/>
            <a:ext cx="153995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des maquettes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5157192" y="5986581"/>
            <a:ext cx="201441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Plans contrôlés et nuages de points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502920" y="6127436"/>
            <a:ext cx="187190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Reporting et diffusion des plans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327077" y="6116957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049310" y="6127436"/>
            <a:ext cx="141053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Gestion de chantier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5157192" y="6129691"/>
            <a:ext cx="181272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Plans d'implantation du tunnel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502920" y="6270546"/>
            <a:ext cx="146220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Guidage du tunnelier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327077" y="6260068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049310" y="6270546"/>
            <a:ext cx="180463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Avancement et jalons chantier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5157192" y="6272809"/>
            <a:ext cx="175557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Position et tracé du tunnelier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02920" y="6413657"/>
            <a:ext cx="198882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Événements et indicateurs sécurité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327077" y="6403178"/>
            <a:ext cx="784860" cy="1447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049310" y="6413657"/>
            <a:ext cx="12725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Récolte des KPI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5157192" y="6415919"/>
            <a:ext cx="185928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0">
                <a:solidFill>
                  <a:srgbClr val="78879F"/>
                </a:solidFill>
                <a:latin typeface="Calibri"/>
              </a:rPr>
              <a:t>Indicateurs sécurité du chantier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9304854" y="1089657"/>
            <a:ext cx="802124" cy="274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9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9224010" y="1363979"/>
            <a:ext cx="96381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10698362" y="1089657"/>
            <a:ext cx="918447" cy="27432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64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0423922" y="1363979"/>
            <a:ext cx="146732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9246751" y="1683071"/>
            <a:ext cx="918448" cy="2743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32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882777" y="1957386"/>
            <a:ext cx="164639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CARTOGRAPHIÉS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698362" y="1683071"/>
            <a:ext cx="918447" cy="27431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429994" y="1957386"/>
            <a:ext cx="145518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HORS BDD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151620" y="2352676"/>
            <a:ext cx="193333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151620" y="2829283"/>
            <a:ext cx="95131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9955650" y="2829283"/>
            <a:ext cx="2442091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32 · Internes 21 · Non renseigné 11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51620" y="3118845"/>
            <a:ext cx="119348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9926479" y="3118845"/>
            <a:ext cx="2471261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50 · Automatique 9 · Non renseigné 5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9151620" y="3408399"/>
            <a:ext cx="1016437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030302" y="3408399"/>
            <a:ext cx="2367438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45 · Socle commun 19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9151620" y="4250766"/>
            <a:ext cx="1846541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9197816" y="4537473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9349740" y="4501276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50 outils sur 64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reste le principal point de fragilité du dispositif.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9197816" y="5030269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9349740" y="4994079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7 pôles et concentre les échanges sans interface formalisée.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9197816" y="5523072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9349740" y="5486875"/>
            <a:ext cx="2392680" cy="3269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6 pôles sur 9</a:t>
            </a:r>
            <a:r>
              <a:rPr sz="740" b="0">
                <a:solidFill>
                  <a:srgbClr val="C9D5EA"/>
                </a:solidFill>
                <a:latin typeface="Calibri"/>
              </a:rPr>
              <a:t> ont un processus recueilli ; les autres n'ont qu'un inventaire d'outils, sans ordre attesté.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197816" y="6015868"/>
            <a:ext cx="73818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349740" y="5979678"/>
            <a:ext cx="2392680" cy="4599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10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viennent du brief métier et non de la base d'entretiens : leur nature et leur alimentation restent à confirmer.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42900" y="6644636"/>
            <a:ext cx="2586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11302603" y="6644636"/>
            <a:ext cx="123229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26203" y="358137"/>
            <a:ext cx="244793" cy="129541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26203" y="533397"/>
            <a:ext cx="331471" cy="129541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53538" y="373376"/>
            <a:ext cx="60960" cy="60966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53538" y="510541"/>
            <a:ext cx="60960" cy="6095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53538" y="647698"/>
            <a:ext cx="60960" cy="6095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0198" y="373376"/>
            <a:ext cx="60960" cy="60966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50198" y="510541"/>
            <a:ext cx="60960" cy="60959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50198" y="647698"/>
            <a:ext cx="60960" cy="6095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71346" y="373376"/>
            <a:ext cx="60960" cy="60966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71346" y="510541"/>
            <a:ext cx="60960" cy="6095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71346" y="647698"/>
            <a:ext cx="60960" cy="60959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27170" y="1158953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46226" y="1158953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08114" y="1359932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27170" y="131885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46226" y="1318853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08114" y="1519831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27170" y="1478759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46226" y="1478759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08114" y="1679730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84314" y="1679730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27170" y="1638658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46226" y="1638658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008114" y="1839637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84314" y="1839637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60514" y="1839637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27170" y="1798558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46226" y="1798558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008114" y="1999536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027170" y="1958457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46226" y="1958457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008114" y="2159435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27170" y="2118363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46226" y="2118363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008114" y="2319334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27170" y="2278262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46226" y="2278262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08114" y="2479241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084314" y="2479241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027170" y="2438162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46226" y="2438162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008114" y="2639140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027170" y="2598061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46226" y="2598061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008114" y="2799039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027170" y="2757967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46226" y="2757967"/>
            <a:ext cx="294561" cy="13560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08114" y="2958939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027170" y="2917867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46226" y="2917867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08114" y="3118845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27170" y="3077766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46226" y="3077766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08114" y="3278744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27170" y="3237665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046226" y="3237665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008114" y="3438643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027170" y="3397564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46226" y="3397564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008114" y="3598543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027170" y="3557471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46226" y="3557471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008114" y="3758449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027170" y="3717370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46226" y="3717370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008114" y="3918348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027170" y="3877269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46226" y="3877269"/>
            <a:ext cx="317897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008114" y="4078248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084314" y="4078248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027170" y="4037168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046226" y="4037168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008114" y="4238147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084314" y="4238147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027170" y="4197075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46226" y="4197075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008114" y="4398053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084314" y="4398053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160514" y="4398053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027170" y="4356974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046226" y="4356974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08114" y="4557952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4027170" y="4516873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046226" y="4516873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008114" y="4717852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84314" y="4717852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27170" y="4676772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46226" y="4676772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008114" y="4877751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084314" y="4877751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160514" y="4877751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236714" y="4877751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312914" y="4877751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389114" y="4877751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465314" y="4877751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027170" y="4836679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046226" y="4836679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008114" y="5037650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027170" y="4996578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046226" y="4996578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008114" y="5197557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027170" y="5156477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046226" y="5156477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008114" y="5357456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027170" y="5316376"/>
            <a:ext cx="379452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046226" y="5316376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008114" y="5517355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027170" y="5476283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046226" y="5476283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08114" y="5677254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4027170" y="5636182"/>
            <a:ext cx="37945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046226" y="5636182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008114" y="5837161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084314" y="5837161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160514" y="5837161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4027170" y="5796081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5046226" y="5796081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008114" y="5997060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4027170" y="5955980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046226" y="5955980"/>
            <a:ext cx="382905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008114" y="6156959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4027170" y="6115887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5046226" y="6115887"/>
            <a:ext cx="382905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852655" y="1200033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871710" y="115895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10890766" y="1158953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852655" y="1359932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9871710" y="131885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0890766" y="1318853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852655" y="1519831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9871710" y="1478759"/>
            <a:ext cx="167997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10890766" y="1478759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52655" y="1679730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9871710" y="1638658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10890766" y="1638658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852655" y="1839637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928854" y="1839637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005055" y="1839637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081254" y="1839637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9871710" y="1798558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890766" y="1798558"/>
            <a:ext cx="317897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852655" y="1999536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9871710" y="1958457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0890766" y="1958457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52655" y="2159435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928854" y="2159435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9871710" y="2118363"/>
            <a:ext cx="379453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0890766" y="2118363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852655" y="2319334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928854" y="2319334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9871710" y="2278262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10890766" y="2278262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852655" y="2479241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9871710" y="2438162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10890766" y="2438162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852655" y="2639140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9871710" y="2598061"/>
            <a:ext cx="379453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10890766" y="2598061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852655" y="2799039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9871710" y="2757967"/>
            <a:ext cx="379453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10890766" y="2757967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852655" y="2958939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928854" y="2958939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871710" y="2917867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10890766" y="2917867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852655" y="3118845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928854" y="3118845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05055" y="3118845"/>
            <a:ext cx="53340" cy="53335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081254" y="3118845"/>
            <a:ext cx="53340" cy="53335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157454" y="3118845"/>
            <a:ext cx="53340" cy="53335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871710" y="3077766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890766" y="3077766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852655" y="3278744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871710" y="3237665"/>
            <a:ext cx="167997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0890766" y="3237665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8852655" y="3438643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8928854" y="3438643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005055" y="3438643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081254" y="3438643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157454" y="3438643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233655" y="3438643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9871710" y="3397564"/>
            <a:ext cx="379453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10890766" y="3397564"/>
            <a:ext cx="294561" cy="135616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8852655" y="3598543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9871710" y="3557471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10890766" y="3557471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8852655" y="3758449"/>
            <a:ext cx="53340" cy="53335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9871710" y="3717370"/>
            <a:ext cx="379453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10890766" y="3717370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8852655" y="3918348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Rounded Rectangle 191"/>
          <p:cNvSpPr/>
          <p:nvPr/>
        </p:nvSpPr>
        <p:spPr>
          <a:xfrm>
            <a:off x="9871710" y="3877269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10890766" y="3877269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8852655" y="4078248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928854" y="4078248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9005055" y="4078248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081254" y="4078248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157454" y="4078248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9871710" y="4037168"/>
            <a:ext cx="379453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10890766" y="4037168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8852655" y="4238147"/>
            <a:ext cx="53340" cy="53343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9871710" y="4197075"/>
            <a:ext cx="379453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10890766" y="4197075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8852655" y="4398053"/>
            <a:ext cx="53340" cy="53335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9871710" y="4356974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10890766" y="4356974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8852655" y="4557952"/>
            <a:ext cx="53340" cy="53335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8928854" y="4557952"/>
            <a:ext cx="53340" cy="53335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9871710" y="4516873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10890766" y="4516873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8852655" y="4717852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9871710" y="4676772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10890766" y="4676772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8852655" y="4877751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5" name="Rounded Rectangle 214"/>
          <p:cNvSpPr/>
          <p:nvPr/>
        </p:nvSpPr>
        <p:spPr>
          <a:xfrm>
            <a:off x="9871710" y="4836679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0890766" y="4836679"/>
            <a:ext cx="294561" cy="13560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852655" y="5037650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9871710" y="4996578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10890766" y="4996578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852655" y="5197557"/>
            <a:ext cx="53340" cy="53335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1" name="Rounded Rectangle 220"/>
          <p:cNvSpPr/>
          <p:nvPr/>
        </p:nvSpPr>
        <p:spPr>
          <a:xfrm>
            <a:off x="9871710" y="5156477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10890766" y="5156477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8852655" y="5357456"/>
            <a:ext cx="53340" cy="53343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9871710" y="5316376"/>
            <a:ext cx="379453" cy="135616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10890766" y="5316376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8852655" y="5517355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7" name="Rounded Rectangle 226"/>
          <p:cNvSpPr/>
          <p:nvPr/>
        </p:nvSpPr>
        <p:spPr>
          <a:xfrm>
            <a:off x="9871710" y="5476283"/>
            <a:ext cx="379453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10890766" y="5476283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8852655" y="5677254"/>
            <a:ext cx="53340" cy="53343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8928854" y="5677254"/>
            <a:ext cx="53340" cy="53343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9005055" y="5677254"/>
            <a:ext cx="53340" cy="53343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9081254" y="5677254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157454" y="5677254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9871710" y="5636182"/>
            <a:ext cx="402312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5" name="Rounded Rectangle 234"/>
          <p:cNvSpPr/>
          <p:nvPr/>
        </p:nvSpPr>
        <p:spPr>
          <a:xfrm>
            <a:off x="10890766" y="5636182"/>
            <a:ext cx="382906" cy="13560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8852655" y="5837161"/>
            <a:ext cx="53340" cy="53335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7" name="Rounded Rectangle 236"/>
          <p:cNvSpPr/>
          <p:nvPr/>
        </p:nvSpPr>
        <p:spPr>
          <a:xfrm>
            <a:off x="9871710" y="5796081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8" name="Rounded Rectangle 237"/>
          <p:cNvSpPr/>
          <p:nvPr/>
        </p:nvSpPr>
        <p:spPr>
          <a:xfrm>
            <a:off x="10890766" y="5796081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8852655" y="5997060"/>
            <a:ext cx="53340" cy="53343"/>
          </a:xfrm>
          <a:prstGeom prst="ellipse">
            <a:avLst/>
          </a:prstGeom>
          <a:solidFill>
            <a:srgbClr val="A97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8928854" y="5997060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9005055" y="5997060"/>
            <a:ext cx="53340" cy="53343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2" name="Rounded Rectangle 241"/>
          <p:cNvSpPr/>
          <p:nvPr/>
        </p:nvSpPr>
        <p:spPr>
          <a:xfrm>
            <a:off x="9871710" y="5955980"/>
            <a:ext cx="402312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3" name="Rounded Rectangle 242"/>
          <p:cNvSpPr/>
          <p:nvPr/>
        </p:nvSpPr>
        <p:spPr>
          <a:xfrm>
            <a:off x="10890766" y="5955980"/>
            <a:ext cx="382906" cy="135616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8852655" y="6156959"/>
            <a:ext cx="53340" cy="53343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928854" y="6156959"/>
            <a:ext cx="53340" cy="53343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9871710" y="6115887"/>
            <a:ext cx="379453" cy="135608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10890766" y="6115887"/>
            <a:ext cx="294561" cy="135608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2900" y="312417"/>
            <a:ext cx="1239202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42900" y="457198"/>
            <a:ext cx="3634383" cy="3657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42900" y="847249"/>
            <a:ext cx="4160758" cy="15239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pôles servis, nature et alimentation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8031957" y="361948"/>
            <a:ext cx="115704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444264" y="369572"/>
            <a:ext cx="80867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8118634" y="537208"/>
            <a:ext cx="166830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444264" y="544832"/>
            <a:ext cx="895350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7965043" y="693417"/>
            <a:ext cx="1545313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Hors base d'entretiens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726203" y="693417"/>
            <a:ext cx="863680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Nom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375458" y="342897"/>
            <a:ext cx="1308139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Méthodes &amp; BIM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375458" y="480062"/>
            <a:ext cx="116443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Topographie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375458" y="617219"/>
            <a:ext cx="125051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 tunnel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272117" y="342897"/>
            <a:ext cx="988338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Travaux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272117" y="480062"/>
            <a:ext cx="970360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Contrat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272117" y="617219"/>
            <a:ext cx="1032629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Direction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893267" y="342897"/>
            <a:ext cx="850344" cy="1219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DAF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0893267" y="480062"/>
            <a:ext cx="1641633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0893267" y="617219"/>
            <a:ext cx="1001554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0">
                <a:solidFill>
                  <a:srgbClr val="33415C"/>
                </a:solidFill>
                <a:latin typeface="Calibri"/>
              </a:rPr>
              <a:t>Sécurité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03860" y="1013458"/>
            <a:ext cx="95726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008114" y="1013458"/>
            <a:ext cx="98548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027170" y="1013458"/>
            <a:ext cx="104727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046226" y="1013458"/>
            <a:ext cx="135231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03860" y="1164906"/>
            <a:ext cx="96845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45230" y="1170381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764286" y="1170381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03860" y="1324805"/>
            <a:ext cx="106108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745230" y="1330288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64286" y="1330288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403860" y="1484712"/>
            <a:ext cx="1220748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Appli bancaire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745230" y="1490187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764286" y="149018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88620" y="1619651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3745230" y="165008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764286" y="165008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388620" y="1779558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3745230" y="1809985"/>
            <a:ext cx="94333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764286" y="1809985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388620" y="1939457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3745230" y="196989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4764286" y="196989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88620" y="2099356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BIM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3745230" y="2129791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4764286" y="212979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403860" y="2284215"/>
            <a:ext cx="109418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745230" y="2289690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764286" y="228969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03860" y="2444114"/>
            <a:ext cx="107846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3745230" y="2449589"/>
            <a:ext cx="94333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4764286" y="2449589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388620" y="2579061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BYCN</a:t>
            </a:r>
            <a:r>
              <a:rPr sz="570" b="0">
                <a:solidFill>
                  <a:srgbClr val="78879F"/>
                </a:solidFill>
                <a:latin typeface="Calibri"/>
              </a:rPr>
              <a:t> Bouygues Construction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3745230" y="2609496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764286" y="2609496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88620" y="2738960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BYMAT</a:t>
            </a:r>
            <a:r>
              <a:rPr sz="570" b="0">
                <a:solidFill>
                  <a:srgbClr val="78879F"/>
                </a:solidFill>
                <a:latin typeface="Calibri"/>
              </a:rPr>
              <a:t> Bouygues Construction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3745230" y="2769395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764286" y="2769395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03860" y="2923819"/>
            <a:ext cx="96190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745230" y="292929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764286" y="292929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388620" y="3058766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Chorus</a:t>
            </a:r>
            <a:r>
              <a:rPr sz="570" b="0">
                <a:solidFill>
                  <a:srgbClr val="78879F"/>
                </a:solidFill>
                <a:latin typeface="Calibri"/>
              </a:rPr>
              <a:t> AIFE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3745230" y="3089193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764286" y="3089193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388620" y="3218665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745230" y="3249100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4764286" y="324910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88620" y="3378564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Cority</a:t>
            </a:r>
            <a:r>
              <a:rPr sz="570" b="0">
                <a:solidFill>
                  <a:srgbClr val="78879F"/>
                </a:solidFill>
                <a:latin typeface="Calibri"/>
              </a:rPr>
              <a:t> Cority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3745230" y="3408999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764286" y="3408999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03860" y="3563423"/>
            <a:ext cx="98786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3745230" y="3568898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764286" y="3568898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88620" y="3698370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3745230" y="3728797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764286" y="372879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403860" y="3883222"/>
            <a:ext cx="1164669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3745230" y="388870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764286" y="3888704"/>
            <a:ext cx="8817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388620" y="4018168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3745230" y="4048603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4764286" y="4048603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388620" y="4178067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3745230" y="420850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764286" y="420850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88620" y="4337974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745230" y="436840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4764286" y="436840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388620" y="4497873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3745230" y="4528300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4764286" y="4528300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403860" y="4682725"/>
            <a:ext cx="1027986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3745230" y="4688207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764286" y="468820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388620" y="4817671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3745230" y="484810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4764286" y="484810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403860" y="5002531"/>
            <a:ext cx="92737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3745230" y="5008005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4764286" y="5008005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388620" y="5137477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3745230" y="5167904"/>
            <a:ext cx="94333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4764286" y="5167904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403860" y="5322329"/>
            <a:ext cx="10223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3745230" y="532781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4764286" y="532781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403860" y="5482236"/>
            <a:ext cx="1367671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Heures Travaillées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3745230" y="5487710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4764286" y="548771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388620" y="5617175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HRMYOU / Global HR</a:t>
            </a:r>
            <a:r>
              <a:rPr sz="570" b="0">
                <a:solidFill>
                  <a:srgbClr val="78879F"/>
                </a:solidFill>
                <a:latin typeface="Calibri"/>
              </a:rPr>
              <a:t> Bouygues Construction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745230" y="5647609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4764286" y="5647609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88620" y="5777081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745230" y="5807509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764286" y="5807509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388620" y="5936980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745230" y="5967415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4764286" y="596741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388620" y="6096880"/>
            <a:ext cx="2528054" cy="2002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3745230" y="6127314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4764286" y="6127314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8400" y="1013458"/>
            <a:ext cx="9572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852655" y="1013458"/>
            <a:ext cx="98548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9871710" y="1013458"/>
            <a:ext cx="1047274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0890766" y="1013458"/>
            <a:ext cx="135231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6248400" y="1164906"/>
            <a:ext cx="10115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9589770" y="1170381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608826" y="1170381"/>
            <a:ext cx="858441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6248400" y="1324805"/>
            <a:ext cx="1492568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9589770" y="1330288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0608826" y="1330288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6248400" y="1484712"/>
            <a:ext cx="897136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8F3857"/>
                </a:solidFill>
                <a:latin typeface="Calibri"/>
              </a:rPr>
              <a:t>Lotus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9589770" y="1490187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0608826" y="149018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6248400" y="1644611"/>
            <a:ext cx="103096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9589770" y="165008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608826" y="165008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6233160" y="1779558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9589770" y="1809985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10608826" y="1809985"/>
            <a:ext cx="8817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6248400" y="1964409"/>
            <a:ext cx="888563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9589770" y="196989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608826" y="196989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6248400" y="2124316"/>
            <a:ext cx="867013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9589770" y="212979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0608826" y="212979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6248400" y="2284215"/>
            <a:ext cx="108704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9589770" y="2289690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10608826" y="228969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6248400" y="2444114"/>
            <a:ext cx="104834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9589770" y="2449589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10608826" y="2449589"/>
            <a:ext cx="731877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6233160" y="2579061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9589770" y="2609496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10608826" y="260949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6233160" y="2738960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9589770" y="2769395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608826" y="276939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6233160" y="2898859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Outlook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9589770" y="2929294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0608826" y="2929294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6233160" y="3058766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9589770" y="3089193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608826" y="3089193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6248400" y="3243618"/>
            <a:ext cx="867132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9589770" y="3249100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0608826" y="3249100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6233160" y="3378564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9589770" y="3408999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10608826" y="3408999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6248400" y="3563423"/>
            <a:ext cx="111287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9589770" y="3568898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608826" y="3568898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6248400" y="3723322"/>
            <a:ext cx="897255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9589770" y="3728797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608826" y="372879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6233160" y="3858269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9589770" y="3888704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10608826" y="3888704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6233160" y="4018168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9589770" y="4048603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10608826" y="4048603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6233160" y="4178067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8F3857"/>
                </a:solidFill>
                <a:latin typeface="Calibri"/>
              </a:rPr>
              <a:t>Quick Connect Sécurité</a:t>
            </a:r>
            <a:r>
              <a:rPr sz="570" b="0">
                <a:solidFill>
                  <a:srgbClr val="78879F"/>
                </a:solidFill>
                <a:latin typeface="Calibri"/>
              </a:rPr>
              <a:t> Bouygues Construction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9589770" y="4208502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Interne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10608826" y="420850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6233160" y="4337974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9589770" y="4368401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608826" y="436840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6233160" y="4497873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9589770" y="4528300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0608826" y="4528300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6233160" y="4657772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9589770" y="4688207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0608826" y="4688207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6248400" y="4842631"/>
            <a:ext cx="1401842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9589770" y="484810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0608826" y="4848106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6233160" y="4977578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9589770" y="5008005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0608826" y="500800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6233160" y="5137477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9589770" y="5167904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608826" y="5167904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6248400" y="5322329"/>
            <a:ext cx="858441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9589770" y="5327811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0608826" y="5327811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248400" y="5482236"/>
            <a:ext cx="949047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9589770" y="5487710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10608826" y="5487710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6233160" y="5617175"/>
            <a:ext cx="2528054" cy="20410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9589770" y="5647609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0608826" y="5647609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6248400" y="5802034"/>
            <a:ext cx="139065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9589770" y="5807509"/>
            <a:ext cx="966192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0608826" y="5807509"/>
            <a:ext cx="946785" cy="1066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6233160" y="5936980"/>
            <a:ext cx="2528054" cy="2040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30"/>
              </a:lnSpc>
            </a:pPr>
            <a:r>
              <a:rPr sz="61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9589770" y="5967415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10608826" y="5967415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6248400" y="6121840"/>
            <a:ext cx="1017865" cy="11429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1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9589770" y="6127314"/>
            <a:ext cx="94333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608826" y="6127314"/>
            <a:ext cx="858441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342900" y="6644636"/>
            <a:ext cx="2586990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11302603" y="6644636"/>
            <a:ext cx="1232297" cy="11430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
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631555" y="358140"/>
            <a:ext cx="412552" cy="144780"/>
          </a:xfrm>
          <a:prstGeom prst="roundRect">
            <a:avLst>
              <a:gd name="adj" fmla="val 50000"/>
            </a:avLst>
          </a:prstGeom>
          <a:solidFill>
            <a:srgbClr val="5B57D6">
              <a:alpha val="13000"/>
            </a:srgbClr>
          </a:solidFill>
          <a:ln w="7620">
            <a:solidFill>
              <a:srgbClr val="5B57D6">
                <a:alpha val="3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631555" y="563880"/>
            <a:ext cx="438151" cy="144780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631555" y="769620"/>
            <a:ext cx="543282" cy="144780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532864" y="381000"/>
            <a:ext cx="60960" cy="60960"/>
          </a:xfrm>
          <a:prstGeom prst="ellipse">
            <a:avLst/>
          </a:prstGeom>
          <a:solidFill>
            <a:srgbClr val="4CC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42900" y="1074420"/>
            <a:ext cx="2987040" cy="1366242"/>
          </a:xfrm>
          <a:prstGeom prst="roundRect">
            <a:avLst>
              <a:gd name="adj" fmla="val 8923"/>
            </a:avLst>
          </a:prstGeom>
          <a:solidFill>
            <a:srgbClr val="FFFFFF"/>
          </a:solidFill>
          <a:ln w="7620">
            <a:solidFill>
              <a:srgbClr val="E1E7F1"/>
            </a:solidFill>
          </a:ln>
          <a:effectLst>
            <a:outerShdw blurRad="228600" dist="76200" dir="5400000" rotWithShape="0">
              <a:srgbClr val="0D152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430530" y="1177409"/>
            <a:ext cx="121920" cy="121920"/>
          </a:xfrm>
          <a:prstGeom prst="ellipse">
            <a:avLst/>
          </a:prstGeom>
          <a:solidFill>
            <a:srgbClr val="3A6BE5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57200" y="1204079"/>
            <a:ext cx="68580" cy="68580"/>
          </a:xfrm>
          <a:prstGeom prst="ellipse">
            <a:avLst/>
          </a:prstGeom>
          <a:solidFill>
            <a:srgbClr val="3A6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57200" y="1569125"/>
            <a:ext cx="591264" cy="194310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094184" y="1569125"/>
            <a:ext cx="557094" cy="194310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696998" y="1569125"/>
            <a:ext cx="614005" cy="194310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356723" y="1569125"/>
            <a:ext cx="489109" cy="194310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57200" y="1809155"/>
            <a:ext cx="513397" cy="194310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016318" y="1809155"/>
            <a:ext cx="386834" cy="194310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448872" y="1809155"/>
            <a:ext cx="381953" cy="194310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876544" y="1809155"/>
            <a:ext cx="639961" cy="194310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57200" y="2049185"/>
            <a:ext cx="786051" cy="194310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42900" y="2532102"/>
            <a:ext cx="2987040" cy="1126212"/>
          </a:xfrm>
          <a:prstGeom prst="roundRect">
            <a:avLst>
              <a:gd name="adj" fmla="val 10825"/>
            </a:avLst>
          </a:prstGeom>
          <a:solidFill>
            <a:srgbClr val="FFFFFF"/>
          </a:solidFill>
          <a:ln w="7620">
            <a:solidFill>
              <a:srgbClr val="E1E7F1"/>
            </a:solidFill>
          </a:ln>
          <a:effectLst>
            <a:outerShdw blurRad="228600" dist="76200" dir="5400000" rotWithShape="0">
              <a:srgbClr val="0D152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30530" y="2635091"/>
            <a:ext cx="121920" cy="121920"/>
          </a:xfrm>
          <a:prstGeom prst="ellipse">
            <a:avLst/>
          </a:prstGeom>
          <a:solidFill>
            <a:srgbClr val="0E9E78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57200" y="2661761"/>
            <a:ext cx="68580" cy="68580"/>
          </a:xfrm>
          <a:prstGeom prst="ellipse">
            <a:avLst/>
          </a:prstGeom>
          <a:solidFill>
            <a:srgbClr val="0E9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57200" y="3026807"/>
            <a:ext cx="557093" cy="194310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1060013" y="3026807"/>
            <a:ext cx="508635" cy="194310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614368" y="3026807"/>
            <a:ext cx="799624" cy="194310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698188" y="3097292"/>
            <a:ext cx="53340" cy="53340"/>
          </a:xfrm>
          <a:prstGeom prst="ellipse">
            <a:avLst/>
          </a:prstGeom>
          <a:solidFill>
            <a:srgbClr val="4CC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2459712" y="3026807"/>
            <a:ext cx="552450" cy="194310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457200" y="3266837"/>
            <a:ext cx="463749" cy="194310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41020" y="3337322"/>
            <a:ext cx="53340" cy="53340"/>
          </a:xfrm>
          <a:prstGeom prst="ellipse">
            <a:avLst/>
          </a:prstGeom>
          <a:solidFill>
            <a:srgbClr val="4CC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342900" y="3749755"/>
            <a:ext cx="2987040" cy="886182"/>
          </a:xfrm>
          <a:prstGeom prst="roundRect">
            <a:avLst>
              <a:gd name="adj" fmla="val 13757"/>
            </a:avLst>
          </a:prstGeom>
          <a:solidFill>
            <a:srgbClr val="FFFFFF"/>
          </a:solidFill>
          <a:ln w="7620">
            <a:solidFill>
              <a:srgbClr val="E1E7F1"/>
            </a:solidFill>
          </a:ln>
          <a:effectLst>
            <a:outerShdw blurRad="228600" dist="76200" dir="5400000" rotWithShape="0">
              <a:srgbClr val="0D152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430530" y="3852743"/>
            <a:ext cx="121920" cy="121920"/>
          </a:xfrm>
          <a:prstGeom prst="ellipse">
            <a:avLst/>
          </a:prstGeom>
          <a:solidFill>
            <a:srgbClr val="0F8FA8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57200" y="3879413"/>
            <a:ext cx="68580" cy="68580"/>
          </a:xfrm>
          <a:prstGeom prst="ellipse">
            <a:avLst/>
          </a:prstGeom>
          <a:solidFill>
            <a:srgbClr val="0F8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457200" y="4244459"/>
            <a:ext cx="557093" cy="194310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060013" y="4244459"/>
            <a:ext cx="440293" cy="194310"/>
          </a:xfrm>
          <a:prstGeom prst="roundRect">
            <a:avLst>
              <a:gd name="adj" fmla="val 50000"/>
            </a:avLst>
          </a:prstGeom>
          <a:noFill/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1546027" y="4244459"/>
            <a:ext cx="586383" cy="194310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2178130" y="4244459"/>
            <a:ext cx="620554" cy="194310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342900" y="4727377"/>
            <a:ext cx="2987040" cy="886182"/>
          </a:xfrm>
          <a:prstGeom prst="roundRect">
            <a:avLst>
              <a:gd name="adj" fmla="val 13757"/>
            </a:avLst>
          </a:prstGeom>
          <a:solidFill>
            <a:srgbClr val="FFFFFF"/>
          </a:solidFill>
          <a:ln w="7620">
            <a:solidFill>
              <a:srgbClr val="E1E7F1"/>
            </a:solidFill>
          </a:ln>
          <a:effectLst>
            <a:outerShdw blurRad="228600" dist="76200" dir="5400000" rotWithShape="0">
              <a:srgbClr val="0D152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430530" y="4830366"/>
            <a:ext cx="121920" cy="121920"/>
          </a:xfrm>
          <a:prstGeom prst="ellipse">
            <a:avLst/>
          </a:prstGeom>
          <a:solidFill>
            <a:srgbClr val="DD7E2C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457200" y="4857036"/>
            <a:ext cx="68580" cy="68580"/>
          </a:xfrm>
          <a:prstGeom prst="ellipse">
            <a:avLst/>
          </a:prstGeom>
          <a:solidFill>
            <a:srgbClr val="DD7E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457200" y="5222081"/>
            <a:ext cx="553998" cy="194310"/>
          </a:xfrm>
          <a:prstGeom prst="roundRect">
            <a:avLst>
              <a:gd name="adj" fmla="val 50000"/>
            </a:avLst>
          </a:prstGeom>
          <a:solidFill>
            <a:srgbClr val="DD7E2C">
              <a:alpha val="12000"/>
            </a:srgbClr>
          </a:solidFill>
          <a:ln w="7620">
            <a:solidFill>
              <a:srgbClr val="DD7E2C">
                <a:alpha val="3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1056918" y="5222081"/>
            <a:ext cx="586383" cy="194310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1689021" y="5222081"/>
            <a:ext cx="372189" cy="194310"/>
          </a:xfrm>
          <a:prstGeom prst="roundRect">
            <a:avLst>
              <a:gd name="adj" fmla="val 50000"/>
            </a:avLst>
          </a:prstGeom>
          <a:solidFill>
            <a:srgbClr val="DD7E2C">
              <a:alpha val="12000"/>
            </a:srgbClr>
          </a:solidFill>
          <a:ln w="7620">
            <a:solidFill>
              <a:srgbClr val="DD7E2C">
                <a:alpha val="3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2106930" y="5222081"/>
            <a:ext cx="620554" cy="194310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342900" y="5704999"/>
            <a:ext cx="2987040" cy="886182"/>
          </a:xfrm>
          <a:prstGeom prst="roundRect">
            <a:avLst>
              <a:gd name="adj" fmla="val 13757"/>
            </a:avLst>
          </a:prstGeom>
          <a:solidFill>
            <a:srgbClr val="FFFFFF"/>
          </a:solidFill>
          <a:ln w="7620">
            <a:solidFill>
              <a:srgbClr val="E1E7F1"/>
            </a:solidFill>
          </a:ln>
          <a:effectLst>
            <a:outerShdw blurRad="228600" dist="76200" dir="5400000" rotWithShape="0">
              <a:srgbClr val="0D152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430530" y="5807988"/>
            <a:ext cx="121920" cy="121920"/>
          </a:xfrm>
          <a:prstGeom prst="ellipse">
            <a:avLst/>
          </a:prstGeom>
          <a:solidFill>
            <a:srgbClr val="C2456A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457200" y="5834658"/>
            <a:ext cx="68580" cy="68580"/>
          </a:xfrm>
          <a:prstGeom prst="ellipse">
            <a:avLst/>
          </a:prstGeom>
          <a:solidFill>
            <a:srgbClr val="C2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457200" y="6199704"/>
            <a:ext cx="479346" cy="194310"/>
          </a:xfrm>
          <a:prstGeom prst="roundRect">
            <a:avLst>
              <a:gd name="adj" fmla="val 50000"/>
            </a:avLst>
          </a:prstGeom>
          <a:noFill/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982266" y="6199704"/>
            <a:ext cx="586383" cy="194310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4274820" y="1074420"/>
            <a:ext cx="3657599" cy="5516880"/>
          </a:xfrm>
          <a:prstGeom prst="roundRect">
            <a:avLst>
              <a:gd name="adj" fmla="val 3750"/>
            </a:avLst>
          </a:prstGeom>
          <a:gradFill rotWithShape="1">
            <a:gsLst>
              <a:gs pos="0">
                <a:srgbClr val="18233C"/>
              </a:gs>
              <a:gs pos="62000">
                <a:srgbClr val="0F1729"/>
              </a:gs>
            </a:gsLst>
            <a:lin scaled="0" ang="16920000"/>
          </a:gradFill>
          <a:ln w="7620">
            <a:solidFill>
              <a:srgbClr val="FFFFFF">
                <a:alpha val="8000"/>
              </a:srgbClr>
            </a:solidFill>
          </a:ln>
          <a:effectLst>
            <a:outerShdw blurRad="228600" dist="76200" dir="5400000" rotWithShape="0">
              <a:srgbClr val="0D152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4419600" y="1943100"/>
            <a:ext cx="1592580" cy="243840"/>
          </a:xfrm>
          <a:prstGeom prst="roundRect">
            <a:avLst>
              <a:gd name="adj" fmla="val 28125"/>
            </a:avLst>
          </a:prstGeom>
          <a:solidFill>
            <a:srgbClr val="FFFFFF">
              <a:alpha val="6000"/>
            </a:srgbClr>
          </a:solidFill>
          <a:ln w="7620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6195060" y="1943100"/>
            <a:ext cx="1592581" cy="243840"/>
          </a:xfrm>
          <a:prstGeom prst="roundRect">
            <a:avLst>
              <a:gd name="adj" fmla="val 28125"/>
            </a:avLst>
          </a:prstGeom>
          <a:solidFill>
            <a:srgbClr val="FFFFFF">
              <a:alpha val="6000"/>
            </a:srgbClr>
          </a:solidFill>
          <a:ln w="7620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6687741" y="2038350"/>
            <a:ext cx="53340" cy="53340"/>
          </a:xfrm>
          <a:prstGeom prst="ellipse">
            <a:avLst/>
          </a:prstGeom>
          <a:solidFill>
            <a:srgbClr val="4CC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4419600" y="2505432"/>
            <a:ext cx="1592580" cy="243840"/>
          </a:xfrm>
          <a:prstGeom prst="roundRect">
            <a:avLst>
              <a:gd name="adj" fmla="val 28125"/>
            </a:avLst>
          </a:prstGeom>
          <a:solidFill>
            <a:srgbClr val="4CC9E8">
              <a:alpha val="13000"/>
            </a:srgbClr>
          </a:solidFill>
          <a:ln w="7620">
            <a:solidFill>
              <a:srgbClr val="4CC9E8">
                <a:alpha val="4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6195060" y="2505432"/>
            <a:ext cx="1592581" cy="243840"/>
          </a:xfrm>
          <a:prstGeom prst="roundRect">
            <a:avLst>
              <a:gd name="adj" fmla="val 28125"/>
            </a:avLst>
          </a:prstGeom>
          <a:solidFill>
            <a:srgbClr val="FFFFFF">
              <a:alpha val="6000"/>
            </a:srgbClr>
          </a:solidFill>
          <a:ln w="7620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4419600" y="3067764"/>
            <a:ext cx="1592580" cy="243840"/>
          </a:xfrm>
          <a:prstGeom prst="roundRect">
            <a:avLst>
              <a:gd name="adj" fmla="val 28124"/>
            </a:avLst>
          </a:prstGeom>
          <a:solidFill>
            <a:srgbClr val="FFFFFF">
              <a:alpha val="6000"/>
            </a:srgbClr>
          </a:solidFill>
          <a:ln w="7620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6195060" y="3067764"/>
            <a:ext cx="1592581" cy="243840"/>
          </a:xfrm>
          <a:prstGeom prst="roundRect">
            <a:avLst>
              <a:gd name="adj" fmla="val 28124"/>
            </a:avLst>
          </a:prstGeom>
          <a:solidFill>
            <a:srgbClr val="4CC9E8">
              <a:alpha val="13000"/>
            </a:srgbClr>
          </a:solidFill>
          <a:ln w="7620">
            <a:solidFill>
              <a:srgbClr val="4CC9E8">
                <a:alpha val="4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4419600" y="3357324"/>
            <a:ext cx="1592580" cy="243840"/>
          </a:xfrm>
          <a:prstGeom prst="roundRect">
            <a:avLst>
              <a:gd name="adj" fmla="val 28125"/>
            </a:avLst>
          </a:prstGeom>
          <a:solidFill>
            <a:srgbClr val="FFFFFF">
              <a:alpha val="6000"/>
            </a:srgbClr>
          </a:solidFill>
          <a:ln w="7620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6195060" y="3357324"/>
            <a:ext cx="1592581" cy="243840"/>
          </a:xfrm>
          <a:prstGeom prst="roundRect">
            <a:avLst>
              <a:gd name="adj" fmla="val 28125"/>
            </a:avLst>
          </a:prstGeom>
          <a:solidFill>
            <a:srgbClr val="4CC9E8">
              <a:alpha val="13000"/>
            </a:srgbClr>
          </a:solidFill>
          <a:ln w="7620">
            <a:solidFill>
              <a:srgbClr val="4CC9E8">
                <a:alpha val="4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4419600" y="3646884"/>
            <a:ext cx="3368040" cy="243840"/>
          </a:xfrm>
          <a:prstGeom prst="roundRect">
            <a:avLst>
              <a:gd name="adj" fmla="val 28124"/>
            </a:avLst>
          </a:prstGeom>
          <a:solidFill>
            <a:srgbClr val="FFFFFF">
              <a:alpha val="6000"/>
            </a:srgbClr>
          </a:solidFill>
          <a:ln w="7620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4419600" y="4209217"/>
            <a:ext cx="1592580" cy="243840"/>
          </a:xfrm>
          <a:prstGeom prst="roundRect">
            <a:avLst>
              <a:gd name="adj" fmla="val 28125"/>
            </a:avLst>
          </a:prstGeom>
          <a:solidFill>
            <a:srgbClr val="4CC9E8">
              <a:alpha val="13000"/>
            </a:srgbClr>
          </a:solidFill>
          <a:ln w="7620">
            <a:solidFill>
              <a:srgbClr val="4CC9E8">
                <a:alpha val="4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6195060" y="4209217"/>
            <a:ext cx="1592581" cy="243840"/>
          </a:xfrm>
          <a:prstGeom prst="roundRect">
            <a:avLst>
              <a:gd name="adj" fmla="val 28125"/>
            </a:avLst>
          </a:prstGeom>
          <a:solidFill>
            <a:srgbClr val="4CC9E8">
              <a:alpha val="13000"/>
            </a:srgbClr>
          </a:solidFill>
          <a:ln w="7620">
            <a:solidFill>
              <a:srgbClr val="4CC9E8">
                <a:alpha val="4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4419600" y="4771549"/>
            <a:ext cx="1592580" cy="243840"/>
          </a:xfrm>
          <a:prstGeom prst="roundRect">
            <a:avLst>
              <a:gd name="adj" fmla="val 28125"/>
            </a:avLst>
          </a:prstGeom>
          <a:solidFill>
            <a:srgbClr val="4CC9E8">
              <a:alpha val="13000"/>
            </a:srgbClr>
          </a:solidFill>
          <a:ln w="7620">
            <a:solidFill>
              <a:srgbClr val="4CC9E8">
                <a:alpha val="4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6195060" y="4771549"/>
            <a:ext cx="1592581" cy="243840"/>
          </a:xfrm>
          <a:prstGeom prst="roundRect">
            <a:avLst>
              <a:gd name="adj" fmla="val 28125"/>
            </a:avLst>
          </a:prstGeom>
          <a:solidFill>
            <a:srgbClr val="4CC9E8">
              <a:alpha val="13000"/>
            </a:srgbClr>
          </a:solidFill>
          <a:ln w="7620">
            <a:solidFill>
              <a:srgbClr val="4CC9E8">
                <a:alpha val="4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6738104" y="4866799"/>
            <a:ext cx="53340" cy="53340"/>
          </a:xfrm>
          <a:prstGeom prst="ellipse">
            <a:avLst/>
          </a:prstGeom>
          <a:solidFill>
            <a:srgbClr val="4CC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4419600" y="5061109"/>
            <a:ext cx="3368040" cy="243840"/>
          </a:xfrm>
          <a:prstGeom prst="roundRect">
            <a:avLst>
              <a:gd name="adj" fmla="val 28125"/>
            </a:avLst>
          </a:prstGeom>
          <a:solidFill>
            <a:srgbClr val="4CC9E8">
              <a:alpha val="13000"/>
            </a:srgbClr>
          </a:solidFill>
          <a:ln w="7620">
            <a:solidFill>
              <a:srgbClr val="4CC9E8">
                <a:alpha val="4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4419600" y="5623441"/>
            <a:ext cx="1592580" cy="243840"/>
          </a:xfrm>
          <a:prstGeom prst="roundRect">
            <a:avLst>
              <a:gd name="adj" fmla="val 28125"/>
            </a:avLst>
          </a:prstGeom>
          <a:solidFill>
            <a:srgbClr val="FFFFFF">
              <a:alpha val="6000"/>
            </a:srgbClr>
          </a:solidFill>
          <a:ln w="7620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6195060" y="5623441"/>
            <a:ext cx="1592581" cy="243840"/>
          </a:xfrm>
          <a:prstGeom prst="roundRect">
            <a:avLst>
              <a:gd name="adj" fmla="val 28125"/>
            </a:avLst>
          </a:prstGeom>
          <a:solidFill>
            <a:srgbClr val="FFFFFF">
              <a:alpha val="6000"/>
            </a:srgbClr>
          </a:solidFill>
          <a:ln w="7620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6" name="Rounded Rectangle 65"/>
          <p:cNvSpPr/>
          <p:nvPr/>
        </p:nvSpPr>
        <p:spPr>
          <a:xfrm>
            <a:off x="4419600" y="5943600"/>
            <a:ext cx="3368040" cy="533400"/>
          </a:xfrm>
          <a:prstGeom prst="roundRect">
            <a:avLst>
              <a:gd name="adj" fmla="val 17142"/>
            </a:avLst>
          </a:prstGeom>
          <a:solidFill>
            <a:srgbClr val="4CC9E8">
              <a:alpha val="7000"/>
            </a:srgbClr>
          </a:solidFill>
          <a:ln w="7620">
            <a:solidFill>
              <a:srgbClr val="4CC9E8">
                <a:alpha val="2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4503420" y="6027420"/>
            <a:ext cx="1508760" cy="365760"/>
          </a:xfrm>
          <a:prstGeom prst="roundRect">
            <a:avLst>
              <a:gd name="adj" fmla="val 18749"/>
            </a:avLst>
          </a:prstGeom>
          <a:solidFill>
            <a:srgbClr val="FFFFFF">
              <a:alpha val="5000"/>
            </a:srgbClr>
          </a:solidFill>
          <a:ln w="7620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8" name="Rounded Rectangle 67"/>
          <p:cNvSpPr/>
          <p:nvPr/>
        </p:nvSpPr>
        <p:spPr>
          <a:xfrm>
            <a:off x="6195060" y="6027420"/>
            <a:ext cx="1508760" cy="365760"/>
          </a:xfrm>
          <a:prstGeom prst="roundRect">
            <a:avLst>
              <a:gd name="adj" fmla="val 18749"/>
            </a:avLst>
          </a:prstGeom>
          <a:solidFill>
            <a:srgbClr val="FFFFFF">
              <a:alpha val="5000"/>
            </a:srgbClr>
          </a:solidFill>
          <a:ln w="7620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9" name="Rounded Rectangle 68"/>
          <p:cNvSpPr/>
          <p:nvPr/>
        </p:nvSpPr>
        <p:spPr>
          <a:xfrm>
            <a:off x="8862060" y="1074420"/>
            <a:ext cx="2987040" cy="1370648"/>
          </a:xfrm>
          <a:prstGeom prst="roundRect">
            <a:avLst>
              <a:gd name="adj" fmla="val 8895"/>
            </a:avLst>
          </a:prstGeom>
          <a:solidFill>
            <a:srgbClr val="FFFFFF"/>
          </a:solidFill>
          <a:ln w="7620">
            <a:solidFill>
              <a:srgbClr val="E1E7F1"/>
            </a:solidFill>
          </a:ln>
          <a:effectLst>
            <a:outerShdw blurRad="228600" dist="76200" dir="5400000" rotWithShape="0">
              <a:srgbClr val="0D152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8949690" y="1177409"/>
            <a:ext cx="121920" cy="121920"/>
          </a:xfrm>
          <a:prstGeom prst="ellipse">
            <a:avLst/>
          </a:prstGeom>
          <a:solidFill>
            <a:srgbClr val="5B57D6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8976360" y="1204079"/>
            <a:ext cx="68580" cy="68580"/>
          </a:xfrm>
          <a:prstGeom prst="ellipse">
            <a:avLst/>
          </a:prstGeom>
          <a:solidFill>
            <a:srgbClr val="5B57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2" name="Rounded Rectangle 71"/>
          <p:cNvSpPr/>
          <p:nvPr/>
        </p:nvSpPr>
        <p:spPr>
          <a:xfrm>
            <a:off x="8976360" y="1691283"/>
            <a:ext cx="528161" cy="194310"/>
          </a:xfrm>
          <a:prstGeom prst="roundRect">
            <a:avLst>
              <a:gd name="adj" fmla="val 50000"/>
            </a:avLst>
          </a:prstGeom>
          <a:solidFill>
            <a:srgbClr val="5B57D6">
              <a:alpha val="12000"/>
            </a:srgbClr>
          </a:solidFill>
          <a:ln w="7620">
            <a:solidFill>
              <a:srgbClr val="5B57D6">
                <a:alpha val="3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3" name="Rounded Rectangle 72"/>
          <p:cNvSpPr/>
          <p:nvPr/>
        </p:nvSpPr>
        <p:spPr>
          <a:xfrm>
            <a:off x="9550241" y="1691283"/>
            <a:ext cx="367189" cy="194310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4" name="Rounded Rectangle 73"/>
          <p:cNvSpPr/>
          <p:nvPr/>
        </p:nvSpPr>
        <p:spPr>
          <a:xfrm>
            <a:off x="9963150" y="1691283"/>
            <a:ext cx="396479" cy="194310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5" name="Rounded Rectangle 74"/>
          <p:cNvSpPr/>
          <p:nvPr/>
        </p:nvSpPr>
        <p:spPr>
          <a:xfrm>
            <a:off x="10405349" y="1691283"/>
            <a:ext cx="372189" cy="194310"/>
          </a:xfrm>
          <a:prstGeom prst="roundRect">
            <a:avLst>
              <a:gd name="adj" fmla="val 50000"/>
            </a:avLst>
          </a:prstGeom>
          <a:solidFill>
            <a:srgbClr val="5B57D6">
              <a:alpha val="12000"/>
            </a:srgbClr>
          </a:solidFill>
          <a:ln w="7620">
            <a:solidFill>
              <a:srgbClr val="5B57D6">
                <a:alpha val="3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6" name="Rounded Rectangle 75"/>
          <p:cNvSpPr/>
          <p:nvPr/>
        </p:nvSpPr>
        <p:spPr>
          <a:xfrm>
            <a:off x="10823258" y="1691283"/>
            <a:ext cx="406361" cy="194310"/>
          </a:xfrm>
          <a:prstGeom prst="roundRect">
            <a:avLst>
              <a:gd name="adj" fmla="val 50000"/>
            </a:avLst>
          </a:prstGeom>
          <a:solidFill>
            <a:srgbClr val="5B57D6">
              <a:alpha val="12000"/>
            </a:srgbClr>
          </a:solidFill>
          <a:ln w="7620">
            <a:solidFill>
              <a:srgbClr val="5B57D6">
                <a:alpha val="3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8976360" y="1931313"/>
            <a:ext cx="492323" cy="194310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8" name="Rounded Rectangle 77"/>
          <p:cNvSpPr/>
          <p:nvPr/>
        </p:nvSpPr>
        <p:spPr>
          <a:xfrm>
            <a:off x="8862060" y="2536507"/>
            <a:ext cx="2987040" cy="1130618"/>
          </a:xfrm>
          <a:prstGeom prst="roundRect">
            <a:avLst>
              <a:gd name="adj" fmla="val 10783"/>
            </a:avLst>
          </a:prstGeom>
          <a:solidFill>
            <a:srgbClr val="FFFFFF"/>
          </a:solidFill>
          <a:ln w="7620">
            <a:solidFill>
              <a:srgbClr val="E1E7F1"/>
            </a:solidFill>
          </a:ln>
          <a:effectLst>
            <a:outerShdw blurRad="228600" dist="76200" dir="5400000" rotWithShape="0">
              <a:srgbClr val="0D152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8949690" y="2639497"/>
            <a:ext cx="121920" cy="121920"/>
          </a:xfrm>
          <a:prstGeom prst="ellipse">
            <a:avLst/>
          </a:prstGeom>
          <a:solidFill>
            <a:srgbClr val="8257E6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8976360" y="2666167"/>
            <a:ext cx="68580" cy="68580"/>
          </a:xfrm>
          <a:prstGeom prst="ellipse">
            <a:avLst/>
          </a:prstGeom>
          <a:solidFill>
            <a:srgbClr val="8257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1" name="Rounded Rectangle 80"/>
          <p:cNvSpPr/>
          <p:nvPr/>
        </p:nvSpPr>
        <p:spPr>
          <a:xfrm>
            <a:off x="8976360" y="3153370"/>
            <a:ext cx="486727" cy="194310"/>
          </a:xfrm>
          <a:prstGeom prst="roundRect">
            <a:avLst>
              <a:gd name="adj" fmla="val 50000"/>
            </a:avLst>
          </a:prstGeom>
          <a:noFill/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2" name="Rounded Rectangle 81"/>
          <p:cNvSpPr/>
          <p:nvPr/>
        </p:nvSpPr>
        <p:spPr>
          <a:xfrm>
            <a:off x="9508807" y="3153370"/>
            <a:ext cx="528161" cy="194310"/>
          </a:xfrm>
          <a:prstGeom prst="roundRect">
            <a:avLst>
              <a:gd name="adj" fmla="val 50000"/>
            </a:avLst>
          </a:prstGeom>
          <a:solidFill>
            <a:srgbClr val="8257E6">
              <a:alpha val="12000"/>
            </a:srgbClr>
          </a:solidFill>
          <a:ln w="7620">
            <a:solidFill>
              <a:srgbClr val="8257E6">
                <a:alpha val="3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3" name="Rounded Rectangle 82"/>
          <p:cNvSpPr/>
          <p:nvPr/>
        </p:nvSpPr>
        <p:spPr>
          <a:xfrm>
            <a:off x="10082689" y="3153370"/>
            <a:ext cx="552450" cy="194310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4" name="Rounded Rectangle 83"/>
          <p:cNvSpPr/>
          <p:nvPr/>
        </p:nvSpPr>
        <p:spPr>
          <a:xfrm>
            <a:off x="10680859" y="3153370"/>
            <a:ext cx="698301" cy="194310"/>
          </a:xfrm>
          <a:prstGeom prst="roundRect">
            <a:avLst>
              <a:gd name="adj" fmla="val 50000"/>
            </a:avLst>
          </a:prstGeom>
          <a:solidFill>
            <a:srgbClr val="8257E6">
              <a:alpha val="12000"/>
            </a:srgbClr>
          </a:solidFill>
          <a:ln w="7620">
            <a:solidFill>
              <a:srgbClr val="8257E6">
                <a:alpha val="3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5" name="Rounded Rectangle 84"/>
          <p:cNvSpPr/>
          <p:nvPr/>
        </p:nvSpPr>
        <p:spPr>
          <a:xfrm>
            <a:off x="8862060" y="3758565"/>
            <a:ext cx="2987040" cy="1130618"/>
          </a:xfrm>
          <a:prstGeom prst="roundRect">
            <a:avLst>
              <a:gd name="adj" fmla="val 10783"/>
            </a:avLst>
          </a:prstGeom>
          <a:solidFill>
            <a:srgbClr val="FFFFFF"/>
          </a:solidFill>
          <a:ln w="7620">
            <a:solidFill>
              <a:srgbClr val="E1E7F1"/>
            </a:solidFill>
          </a:ln>
          <a:effectLst>
            <a:outerShdw blurRad="228600" dist="76200" dir="5400000" rotWithShape="0">
              <a:srgbClr val="0D152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8949690" y="3861554"/>
            <a:ext cx="121920" cy="121920"/>
          </a:xfrm>
          <a:prstGeom prst="ellipse">
            <a:avLst/>
          </a:prstGeom>
          <a:solidFill>
            <a:srgbClr val="B4562A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8976360" y="3888224"/>
            <a:ext cx="68580" cy="68580"/>
          </a:xfrm>
          <a:prstGeom prst="ellipse">
            <a:avLst/>
          </a:prstGeom>
          <a:solidFill>
            <a:srgbClr val="B45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8" name="Rounded Rectangle 87"/>
          <p:cNvSpPr/>
          <p:nvPr/>
        </p:nvSpPr>
        <p:spPr>
          <a:xfrm>
            <a:off x="8976360" y="4375428"/>
            <a:ext cx="610909" cy="194310"/>
          </a:xfrm>
          <a:prstGeom prst="roundRect">
            <a:avLst>
              <a:gd name="adj" fmla="val 50000"/>
            </a:avLst>
          </a:prstGeom>
          <a:solidFill>
            <a:srgbClr val="B4562A">
              <a:alpha val="12000"/>
            </a:srgbClr>
          </a:solidFill>
          <a:ln w="7620">
            <a:solidFill>
              <a:srgbClr val="B4562A">
                <a:alpha val="3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9" name="Rounded Rectangle 88"/>
          <p:cNvSpPr/>
          <p:nvPr/>
        </p:nvSpPr>
        <p:spPr>
          <a:xfrm>
            <a:off x="9632990" y="4375428"/>
            <a:ext cx="704850" cy="194310"/>
          </a:xfrm>
          <a:prstGeom prst="roundRect">
            <a:avLst>
              <a:gd name="adj" fmla="val 50000"/>
            </a:avLst>
          </a:prstGeom>
          <a:solidFill>
            <a:srgbClr val="B4562A">
              <a:alpha val="12000"/>
            </a:srgbClr>
          </a:solidFill>
          <a:ln w="7620">
            <a:solidFill>
              <a:srgbClr val="B4562A">
                <a:alpha val="3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0" name="Rounded Rectangle 89"/>
          <p:cNvSpPr/>
          <p:nvPr/>
        </p:nvSpPr>
        <p:spPr>
          <a:xfrm>
            <a:off x="10383560" y="4375428"/>
            <a:ext cx="576977" cy="194310"/>
          </a:xfrm>
          <a:prstGeom prst="roundRect">
            <a:avLst>
              <a:gd name="adj" fmla="val 50000"/>
            </a:avLst>
          </a:prstGeom>
          <a:noFill/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1" name="Rounded Rectangle 90"/>
          <p:cNvSpPr/>
          <p:nvPr/>
        </p:nvSpPr>
        <p:spPr>
          <a:xfrm>
            <a:off x="8862060" y="4980622"/>
            <a:ext cx="2987040" cy="1610678"/>
          </a:xfrm>
          <a:prstGeom prst="roundRect">
            <a:avLst>
              <a:gd name="adj" fmla="val 7569"/>
            </a:avLst>
          </a:prstGeom>
          <a:solidFill>
            <a:srgbClr val="FFFFFF"/>
          </a:solidFill>
          <a:ln w="7620">
            <a:solidFill>
              <a:srgbClr val="E1E7F1"/>
            </a:solidFill>
          </a:ln>
          <a:effectLst>
            <a:outerShdw blurRad="228600" dist="76200" dir="5400000" rotWithShape="0">
              <a:srgbClr val="0D152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8949690" y="5083612"/>
            <a:ext cx="121920" cy="121920"/>
          </a:xfrm>
          <a:prstGeom prst="ellipse">
            <a:avLst/>
          </a:prstGeom>
          <a:solidFill>
            <a:srgbClr val="2E8B49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8976360" y="5110282"/>
            <a:ext cx="68580" cy="68580"/>
          </a:xfrm>
          <a:prstGeom prst="ellipse">
            <a:avLst/>
          </a:prstGeom>
          <a:solidFill>
            <a:srgbClr val="2E8B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4" name="Rounded Rectangle 93"/>
          <p:cNvSpPr/>
          <p:nvPr/>
        </p:nvSpPr>
        <p:spPr>
          <a:xfrm>
            <a:off x="8976360" y="5597486"/>
            <a:ext cx="586383" cy="194310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5" name="Rounded Rectangle 94"/>
          <p:cNvSpPr/>
          <p:nvPr/>
        </p:nvSpPr>
        <p:spPr>
          <a:xfrm>
            <a:off x="9608463" y="5597486"/>
            <a:ext cx="626863" cy="194310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9692283" y="5667971"/>
            <a:ext cx="53341" cy="53340"/>
          </a:xfrm>
          <a:prstGeom prst="ellipse">
            <a:avLst/>
          </a:prstGeom>
          <a:solidFill>
            <a:srgbClr val="4CC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7" name="Rounded Rectangle 96"/>
          <p:cNvSpPr/>
          <p:nvPr/>
        </p:nvSpPr>
        <p:spPr>
          <a:xfrm>
            <a:off x="10281047" y="5597486"/>
            <a:ext cx="1169789" cy="194310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10364867" y="5667971"/>
            <a:ext cx="53340" cy="53340"/>
          </a:xfrm>
          <a:prstGeom prst="ellipse">
            <a:avLst/>
          </a:prstGeom>
          <a:solidFill>
            <a:srgbClr val="4CC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9" name="Rounded Rectangle 98"/>
          <p:cNvSpPr/>
          <p:nvPr/>
        </p:nvSpPr>
        <p:spPr>
          <a:xfrm>
            <a:off x="8976360" y="5837516"/>
            <a:ext cx="557331" cy="194310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0" name="Rounded Rectangle 99"/>
          <p:cNvSpPr/>
          <p:nvPr/>
        </p:nvSpPr>
        <p:spPr>
          <a:xfrm>
            <a:off x="9579411" y="5837516"/>
            <a:ext cx="649724" cy="194310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1" name="Rounded Rectangle 100"/>
          <p:cNvSpPr/>
          <p:nvPr/>
        </p:nvSpPr>
        <p:spPr>
          <a:xfrm>
            <a:off x="10274856" y="5837516"/>
            <a:ext cx="1067396" cy="194310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10358676" y="5908001"/>
            <a:ext cx="53340" cy="53340"/>
          </a:xfrm>
          <a:prstGeom prst="ellipse">
            <a:avLst/>
          </a:prstGeom>
          <a:solidFill>
            <a:srgbClr val="4CC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3" name="Rounded Rectangle 102"/>
          <p:cNvSpPr/>
          <p:nvPr/>
        </p:nvSpPr>
        <p:spPr>
          <a:xfrm>
            <a:off x="8976360" y="6077546"/>
            <a:ext cx="963335" cy="194310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342900" y="312420"/>
            <a:ext cx="3835836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60" b="1" spc="132">
                <a:solidFill>
                  <a:srgbClr val="78879F"/>
                </a:solidFill>
                <a:latin typeface="Calibri"/>
              </a:rPr>
              <a:t>SYSTÈME D'INFORMATION CHANTIER · VUE D'ENSEMBLE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42900" y="457200"/>
            <a:ext cx="4287084" cy="3657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2400" b="1" spc="-48">
                <a:solidFill>
                  <a:srgbClr val="0D1526"/>
                </a:solidFill>
                <a:latin typeface="Calibri"/>
              </a:rPr>
              <a:t>Cartographie des outils IT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42900" y="847249"/>
            <a:ext cx="3454956" cy="152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40" b="0">
                <a:solidFill>
                  <a:srgbClr val="78879F"/>
                </a:solidFill>
                <a:latin typeface="Calibri"/>
              </a:rPr>
              <a:t>Socle applicatif commun et applications métier, par service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9105066" y="361950"/>
            <a:ext cx="1915478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>
                <a:solidFill>
                  <a:srgbClr val="33415C"/>
                </a:solidFill>
                <a:latin typeface="Calibri"/>
              </a:rPr>
              <a:t>Développé / porté en interne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357235" y="373380"/>
            <a:ext cx="961192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00" b="1" spc="24">
                <a:solidFill>
                  <a:srgbClr val="5B57D6"/>
                </a:solidFill>
                <a:latin typeface="Calibri"/>
              </a:rPr>
              <a:t>Interne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130665" y="567690"/>
            <a:ext cx="1488639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>
                <a:solidFill>
                  <a:srgbClr val="33415C"/>
                </a:solidFill>
                <a:latin typeface="Calibri"/>
              </a:rPr>
              <a:t>Éditeur du marché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8357235" y="579120"/>
            <a:ext cx="98679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00" b="1" spc="24">
                <a:solidFill>
                  <a:srgbClr val="33415C"/>
                </a:solidFill>
                <a:latin typeface="Calibri"/>
              </a:rPr>
              <a:t>Externe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9235797" y="773430"/>
            <a:ext cx="1620798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>
                <a:solidFill>
                  <a:srgbClr val="33415C"/>
                </a:solidFill>
                <a:latin typeface="Calibri"/>
              </a:rPr>
              <a:t>Entretien à compléter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8357235" y="784860"/>
            <a:ext cx="1091922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00" b="1" spc="24">
                <a:solidFill>
                  <a:srgbClr val="78879F"/>
                </a:solidFill>
                <a:latin typeface="Calibri"/>
              </a:rPr>
              <a:t>À qualifier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654784" y="342900"/>
            <a:ext cx="1808560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>
                <a:solidFill>
                  <a:srgbClr val="33415C"/>
                </a:solidFill>
                <a:latin typeface="Calibri"/>
              </a:rPr>
              <a:t>Alimentation automatique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0837664" y="510540"/>
            <a:ext cx="1381959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>
                <a:solidFill>
                  <a:srgbClr val="33415C"/>
                </a:solidFill>
                <a:latin typeface="Calibri"/>
              </a:rPr>
              <a:t>Flux automatisé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837664" y="678180"/>
            <a:ext cx="1697236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>
                <a:solidFill>
                  <a:srgbClr val="33415C"/>
                </a:solidFill>
                <a:latin typeface="Calibri"/>
              </a:rPr>
              <a:t>Flux manuel (ressaisie)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94360" y="1158240"/>
            <a:ext cx="1587937" cy="1600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30" b="1" spc="-9">
                <a:solidFill>
                  <a:srgbClr val="0D1526"/>
                </a:solidFill>
                <a:latin typeface="Calibri"/>
              </a:rPr>
              <a:t>Méthodes &amp; BIM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94360" y="1310997"/>
            <a:ext cx="1417082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70" b="1" spc="57">
                <a:solidFill>
                  <a:srgbClr val="78879F"/>
                </a:solidFill>
                <a:latin typeface="Calibri"/>
              </a:rPr>
              <a:t>INGÉNIERIE · BIM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98120" y="1599605"/>
            <a:ext cx="1109424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90" b="1">
                <a:solidFill>
                  <a:srgbClr val="33415C"/>
                </a:solidFill>
                <a:latin typeface="Calibri"/>
              </a:rPr>
              <a:t>Anaconda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835104" y="1599605"/>
            <a:ext cx="1075253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90" b="1">
                <a:solidFill>
                  <a:srgbClr val="33415C"/>
                </a:solidFill>
                <a:latin typeface="Calibri"/>
              </a:rPr>
              <a:t>AutoCAD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437918" y="1599605"/>
            <a:ext cx="1132165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90" b="1">
                <a:solidFill>
                  <a:srgbClr val="33415C"/>
                </a:solidFill>
                <a:latin typeface="Calibri"/>
              </a:rPr>
              <a:t>BIM Vision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2097643" y="1599605"/>
            <a:ext cx="1007269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90" b="1">
                <a:solidFill>
                  <a:srgbClr val="33415C"/>
                </a:solidFill>
                <a:latin typeface="Calibri"/>
              </a:rPr>
              <a:t>Civil 3D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98120" y="1839635"/>
            <a:ext cx="1031557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90" b="1">
                <a:solidFill>
                  <a:srgbClr val="33415C"/>
                </a:solidFill>
                <a:latin typeface="Calibri"/>
              </a:rPr>
              <a:t>Inventor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757238" y="1839635"/>
            <a:ext cx="904994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90" b="1">
                <a:solidFill>
                  <a:srgbClr val="33415C"/>
                </a:solidFill>
                <a:latin typeface="Calibri"/>
              </a:rPr>
              <a:t>QGIS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189791" y="1839635"/>
            <a:ext cx="900112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90" b="1">
                <a:solidFill>
                  <a:srgbClr val="33415C"/>
                </a:solidFill>
                <a:latin typeface="Calibri"/>
              </a:rPr>
              <a:t>Revit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617464" y="1839635"/>
            <a:ext cx="1158121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90" b="1">
                <a:solidFill>
                  <a:srgbClr val="33415C"/>
                </a:solidFill>
                <a:latin typeface="Calibri"/>
              </a:rPr>
              <a:t>Simple BIM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98120" y="2079665"/>
            <a:ext cx="1304211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90" b="1">
                <a:solidFill>
                  <a:srgbClr val="33415C"/>
                </a:solidFill>
                <a:latin typeface="Calibri"/>
              </a:rPr>
              <a:t>Sofistik Bridge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94360" y="2615922"/>
            <a:ext cx="1379220" cy="1600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30" b="1" spc="-9">
                <a:solidFill>
                  <a:srgbClr val="0D1526"/>
                </a:solidFill>
                <a:latin typeface="Calibri"/>
              </a:rPr>
              <a:t>Topographie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594360" y="2768680"/>
            <a:ext cx="1783556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70" b="1" spc="57">
                <a:solidFill>
                  <a:srgbClr val="78879F"/>
                </a:solidFill>
                <a:latin typeface="Calibri"/>
              </a:rPr>
              <a:t>RELEVÉS · IMPLANTATION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198120" y="3057287"/>
            <a:ext cx="1075253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90" b="1">
                <a:solidFill>
                  <a:srgbClr val="33415C"/>
                </a:solidFill>
                <a:latin typeface="Calibri"/>
              </a:rPr>
              <a:t>AutoCAD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800933" y="3057287"/>
            <a:ext cx="1026795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90" b="1">
                <a:solidFill>
                  <a:srgbClr val="33415C"/>
                </a:solidFill>
                <a:latin typeface="Calibri"/>
              </a:rPr>
              <a:t>Covadis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446728" y="3057287"/>
            <a:ext cx="1226344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90" b="1">
                <a:solidFill>
                  <a:srgbClr val="33415C"/>
                </a:solidFill>
                <a:latin typeface="Calibri"/>
              </a:rPr>
              <a:t>Cyclone 3DR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2200632" y="3057287"/>
            <a:ext cx="1070610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90" b="1">
                <a:solidFill>
                  <a:srgbClr val="33415C"/>
                </a:solidFill>
                <a:latin typeface="Calibri"/>
              </a:rPr>
              <a:t>La Scene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289560" y="3297317"/>
            <a:ext cx="890469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90" b="1">
                <a:solidFill>
                  <a:srgbClr val="33415C"/>
                </a:solidFill>
                <a:latin typeface="Calibri"/>
              </a:rPr>
              <a:t>Pixis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594360" y="3833574"/>
            <a:ext cx="1057037" cy="1600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30" b="1" spc="-9">
                <a:solidFill>
                  <a:srgbClr val="0D1526"/>
                </a:solidFill>
                <a:latin typeface="Calibri"/>
              </a:rPr>
              <a:t>Tunnel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94360" y="3986332"/>
            <a:ext cx="1680924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70" b="1" spc="57">
                <a:solidFill>
                  <a:srgbClr val="78879F"/>
                </a:solidFill>
                <a:latin typeface="Calibri"/>
              </a:rPr>
              <a:t>OUVRAGE SOUTERRAIN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198120" y="4274939"/>
            <a:ext cx="1075253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90" b="1">
                <a:solidFill>
                  <a:srgbClr val="33415C"/>
                </a:solidFill>
                <a:latin typeface="Calibri"/>
              </a:rPr>
              <a:t>AutoCAD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800933" y="4274939"/>
            <a:ext cx="958453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90" b="1">
                <a:solidFill>
                  <a:srgbClr val="78879F"/>
                </a:solidFill>
                <a:latin typeface="Calibri"/>
              </a:rPr>
              <a:t>GMAO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286947" y="4274939"/>
            <a:ext cx="1104543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90" b="1">
                <a:solidFill>
                  <a:srgbClr val="33415C"/>
                </a:solidFill>
                <a:latin typeface="Calibri"/>
              </a:rPr>
              <a:t>IDCapture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919049" y="4274939"/>
            <a:ext cx="1138714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90" b="1">
                <a:solidFill>
                  <a:srgbClr val="33415C"/>
                </a:solidFill>
                <a:latin typeface="Calibri"/>
              </a:rPr>
              <a:t>MS Project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94360" y="4811197"/>
            <a:ext cx="1124069" cy="1600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30" b="1" spc="-9">
                <a:solidFill>
                  <a:srgbClr val="0D1526"/>
                </a:solidFill>
                <a:latin typeface="Calibri"/>
              </a:rPr>
              <a:t>Travaux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94360" y="4963954"/>
            <a:ext cx="1632585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70" b="1" spc="57">
                <a:solidFill>
                  <a:srgbClr val="78879F"/>
                </a:solidFill>
                <a:latin typeface="Calibri"/>
              </a:rPr>
              <a:t>EXÉCUTION CHANTIER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98120" y="5252561"/>
            <a:ext cx="1072158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90" b="1">
                <a:solidFill>
                  <a:srgbClr val="DD7E2C"/>
                </a:solidFill>
                <a:latin typeface="Calibri"/>
              </a:rPr>
              <a:t>ERP MAT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97838" y="5252561"/>
            <a:ext cx="1104543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90" b="1">
                <a:solidFill>
                  <a:srgbClr val="33415C"/>
                </a:solidFill>
                <a:latin typeface="Calibri"/>
              </a:rPr>
              <a:t>IDCapture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429941" y="5252561"/>
            <a:ext cx="890349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90" b="1">
                <a:solidFill>
                  <a:srgbClr val="DD7E2C"/>
                </a:solidFill>
                <a:latin typeface="Calibri"/>
              </a:rPr>
              <a:t>MMS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847850" y="5252561"/>
            <a:ext cx="1138714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90" b="1">
                <a:solidFill>
                  <a:srgbClr val="33415C"/>
                </a:solidFill>
                <a:latin typeface="Calibri"/>
              </a:rPr>
              <a:t>MS Project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594360" y="5788819"/>
            <a:ext cx="1077992" cy="1600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30" b="1" spc="-9">
                <a:solidFill>
                  <a:srgbClr val="0D1526"/>
                </a:solidFill>
                <a:latin typeface="Calibri"/>
              </a:rPr>
              <a:t>Qualité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594360" y="5941576"/>
            <a:ext cx="1686877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70" b="1" spc="57">
                <a:solidFill>
                  <a:srgbClr val="78879F"/>
                </a:solidFill>
                <a:latin typeface="Calibri"/>
              </a:rPr>
              <a:t>CONTRÔLE · RÉSERVES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98120" y="6230184"/>
            <a:ext cx="997506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90" b="1">
                <a:solidFill>
                  <a:srgbClr val="78879F"/>
                </a:solidFill>
                <a:latin typeface="Calibri"/>
              </a:rPr>
              <a:t>CEMEX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723186" y="6230184"/>
            <a:ext cx="1104543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90" b="1">
                <a:solidFill>
                  <a:srgbClr val="33415C"/>
                </a:solidFill>
                <a:latin typeface="Calibri"/>
              </a:rPr>
              <a:t>IDCapture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5252442" y="1226820"/>
            <a:ext cx="1702355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00" b="1" spc="144">
                <a:solidFill>
                  <a:srgbClr val="4CC9E8"/>
                </a:solidFill>
                <a:latin typeface="Calibri"/>
              </a:rPr>
              <a:t>SOCLE APPLICATIF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957524" y="1371600"/>
            <a:ext cx="2292191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380" b="1" spc="-14">
                <a:solidFill>
                  <a:srgbClr val="FFFFFF"/>
                </a:solidFill>
                <a:latin typeface="Calibri"/>
              </a:rPr>
              <a:t>Logiciels communs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922044" y="1615440"/>
            <a:ext cx="2363033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60" b="0">
                <a:solidFill>
                  <a:srgbClr val="95A5C2"/>
                </a:solidFill>
                <a:latin typeface="Calibri"/>
              </a:rPr>
              <a:t>Plateformes partagées par plusieurs services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246370" y="1805940"/>
            <a:ext cx="1714381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81">
                <a:solidFill>
                  <a:srgbClr val="95A5C2"/>
                </a:solidFill>
                <a:latin typeface="Calibri"/>
              </a:rPr>
              <a:t>GED &amp; COLLABORATION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499848" y="1996440"/>
            <a:ext cx="1432084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Calibri"/>
              </a:rPr>
              <a:t>Trimble Connect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443901" y="1996440"/>
            <a:ext cx="1193959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Calibri"/>
              </a:rPr>
              <a:t>Mezzoteam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199817" y="2368272"/>
            <a:ext cx="1807488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81">
                <a:solidFill>
                  <a:srgbClr val="95A5C2"/>
                </a:solidFill>
                <a:latin typeface="Calibri"/>
              </a:rPr>
              <a:t>VALIDATION &amp; SIGNATURE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4663797" y="2558772"/>
            <a:ext cx="1104067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Calibri"/>
              </a:rPr>
              <a:t>E-Paraph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426160" y="2558772"/>
            <a:ext cx="1130379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Calibri"/>
              </a:rPr>
              <a:t>DocuSign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5185767" y="2930604"/>
            <a:ext cx="1835586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81">
                <a:solidFill>
                  <a:srgbClr val="95A5C2"/>
                </a:solidFill>
                <a:latin typeface="Calibri"/>
              </a:rPr>
              <a:t>ACHATS, FINANCE &amp; TIERS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4743212" y="3121104"/>
            <a:ext cx="945237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Calibri"/>
              </a:rPr>
              <a:t>Pablo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6441996" y="3121104"/>
            <a:ext cx="1098709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Calibri"/>
              </a:rPr>
              <a:t>Harmony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4733568" y="3410665"/>
            <a:ext cx="964525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Calibri"/>
              </a:rPr>
              <a:t>BATIS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6542485" y="3410665"/>
            <a:ext cx="897612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Calibri"/>
              </a:rPr>
              <a:t>TIPS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5498664" y="3700225"/>
            <a:ext cx="1209794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Calibri"/>
              </a:rPr>
              <a:t>E-Checking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5318403" y="4072057"/>
            <a:ext cx="1570435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81">
                <a:solidFill>
                  <a:srgbClr val="95A5C2"/>
                </a:solidFill>
                <a:latin typeface="Calibri"/>
              </a:rPr>
              <a:t>RH &amp; MAIN-D'ŒUVRE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743212" y="4262557"/>
            <a:ext cx="945237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Calibri"/>
              </a:rPr>
              <a:t>Puma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397823" y="4262557"/>
            <a:ext cx="1186934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Calibri"/>
              </a:rPr>
              <a:t>BIP / BAPS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5222796" y="4634389"/>
            <a:ext cx="1761648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81">
                <a:solidFill>
                  <a:srgbClr val="95A5C2"/>
                </a:solidFill>
                <a:latin typeface="Calibri"/>
              </a:rPr>
              <a:t>TERRAIN &amp; INTÉGRATION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36877" y="4824889"/>
            <a:ext cx="1358027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Calibri"/>
              </a:rPr>
              <a:t>Quick Connect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494264" y="4824889"/>
            <a:ext cx="1093232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Calibri"/>
              </a:rPr>
              <a:t>YELLOW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99152" y="5114449"/>
            <a:ext cx="1008817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Calibri"/>
              </a:rPr>
              <a:t>Traktor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5452586" y="5486281"/>
            <a:ext cx="1301948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81">
                <a:solidFill>
                  <a:srgbClr val="95A5C2"/>
                </a:solidFill>
                <a:latin typeface="Calibri"/>
              </a:rPr>
              <a:t>BUREAUTIQUE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748451" y="5676781"/>
            <a:ext cx="934760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Calibri"/>
              </a:rPr>
              <a:t>Excel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6527602" y="5676781"/>
            <a:ext cx="927497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Calibri"/>
              </a:rPr>
              <a:t>Word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643319" y="6088380"/>
            <a:ext cx="1228844" cy="1447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810" b="1">
                <a:solidFill>
                  <a:srgbClr val="FFFFFF"/>
                </a:solidFill>
                <a:latin typeface="Calibri"/>
              </a:rPr>
              <a:t>SharePoint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4661654" y="6225540"/>
            <a:ext cx="1192292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0" spc="22">
                <a:solidFill>
                  <a:srgbClr val="95A5C2"/>
                </a:solidFill>
                <a:latin typeface="Calibri"/>
              </a:rPr>
              <a:t>RÉFÉRENTIEL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6386394" y="6088380"/>
            <a:ext cx="1125974" cy="1447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810" b="1">
                <a:solidFill>
                  <a:srgbClr val="FFFFFF"/>
                </a:solidFill>
                <a:latin typeface="Calibri"/>
              </a:rPr>
              <a:t>Power BI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6210896" y="6225540"/>
            <a:ext cx="1476971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0" spc="22">
                <a:solidFill>
                  <a:srgbClr val="95A5C2"/>
                </a:solidFill>
                <a:latin typeface="Calibri"/>
              </a:rPr>
              <a:t>CABINE DE PILOTAGE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9113521" y="1158240"/>
            <a:ext cx="1187171" cy="1600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30" b="1" spc="-9">
                <a:solidFill>
                  <a:srgbClr val="0D1526"/>
                </a:solidFill>
                <a:latin typeface="Calibri"/>
              </a:rPr>
              <a:t>Direction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9113521" y="1310997"/>
            <a:ext cx="1937861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70" b="1" spc="57">
                <a:solidFill>
                  <a:srgbClr val="78879F"/>
                </a:solidFill>
                <a:latin typeface="Calibri"/>
              </a:rPr>
              <a:t>PILOTAGE · SOUS-TRAITANCE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8717280" y="1721763"/>
            <a:ext cx="1046322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90" b="1">
                <a:solidFill>
                  <a:srgbClr val="5B57D6"/>
                </a:solidFill>
                <a:latin typeface="Calibri"/>
              </a:rPr>
              <a:t>Basware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9291161" y="1721763"/>
            <a:ext cx="885349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90" b="1">
                <a:solidFill>
                  <a:srgbClr val="33415C"/>
                </a:solidFill>
                <a:latin typeface="Calibri"/>
              </a:rPr>
              <a:t>CWT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9704070" y="1721763"/>
            <a:ext cx="914638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90" b="1">
                <a:solidFill>
                  <a:srgbClr val="33415C"/>
                </a:solidFill>
                <a:latin typeface="Calibri"/>
              </a:rPr>
              <a:t>MIRO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0146268" y="1721763"/>
            <a:ext cx="890349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90" b="1">
                <a:solidFill>
                  <a:srgbClr val="5B57D6"/>
                </a:solidFill>
                <a:latin typeface="Calibri"/>
              </a:rPr>
              <a:t>MMS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10564178" y="1721763"/>
            <a:ext cx="924520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90" b="1">
                <a:solidFill>
                  <a:srgbClr val="5B57D6"/>
                </a:solidFill>
                <a:latin typeface="Calibri"/>
              </a:rPr>
              <a:t>Oasis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8717280" y="1961793"/>
            <a:ext cx="1010484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90" b="1">
                <a:solidFill>
                  <a:srgbClr val="33415C"/>
                </a:solidFill>
                <a:latin typeface="Calibri"/>
              </a:rPr>
              <a:t>Tableau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113521" y="2620328"/>
            <a:ext cx="1740812" cy="1600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30" b="1" spc="-9">
                <a:solidFill>
                  <a:srgbClr val="0D1526"/>
                </a:solidFill>
                <a:latin typeface="Calibri"/>
              </a:rPr>
              <a:t>Contrats &amp; Gestion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9113521" y="2773085"/>
            <a:ext cx="2254686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70" b="1" spc="57">
                <a:solidFill>
                  <a:srgbClr val="78879F"/>
                </a:solidFill>
                <a:latin typeface="Calibri"/>
              </a:rPr>
              <a:t>CONTRATS · COMPTA · FACTURATION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8717280" y="3183850"/>
            <a:ext cx="1004888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90" b="1">
                <a:solidFill>
                  <a:srgbClr val="78879F"/>
                </a:solidFill>
                <a:latin typeface="Calibri"/>
              </a:rPr>
              <a:t>Achat +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9249728" y="3183850"/>
            <a:ext cx="1046321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90" b="1">
                <a:solidFill>
                  <a:srgbClr val="8257E6"/>
                </a:solidFill>
                <a:latin typeface="Calibri"/>
              </a:rPr>
              <a:t>Basware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9823609" y="3183850"/>
            <a:ext cx="1070610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90" b="1">
                <a:solidFill>
                  <a:srgbClr val="33415C"/>
                </a:solidFill>
                <a:latin typeface="Calibri"/>
              </a:rPr>
              <a:t>E-Project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10421779" y="3183850"/>
            <a:ext cx="1216461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90" b="1">
                <a:solidFill>
                  <a:srgbClr val="8257E6"/>
                </a:solidFill>
                <a:latin typeface="Calibri"/>
              </a:rPr>
              <a:t>NotebookLM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9113521" y="3842385"/>
            <a:ext cx="1930360" cy="1600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30" b="1" spc="-9">
                <a:solidFill>
                  <a:srgbClr val="0D1526"/>
                </a:solidFill>
                <a:latin typeface="Calibri"/>
              </a:rPr>
              <a:t>Ressources Humaines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9113521" y="3995142"/>
            <a:ext cx="178427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70" b="1" spc="57">
                <a:solidFill>
                  <a:srgbClr val="78879F"/>
                </a:solidFill>
                <a:latin typeface="Calibri"/>
              </a:rPr>
              <a:t>PERSONNEL · FORMATION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8717280" y="4405908"/>
            <a:ext cx="1129071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90" b="1">
                <a:solidFill>
                  <a:srgbClr val="B4562A"/>
                </a:solidFill>
                <a:latin typeface="Calibri"/>
              </a:rPr>
              <a:t>By My Site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9373910" y="4405908"/>
            <a:ext cx="1223010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90" b="1">
                <a:solidFill>
                  <a:srgbClr val="B4562A"/>
                </a:solidFill>
                <a:latin typeface="Calibri"/>
              </a:rPr>
              <a:t>H&amp;R For You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10124480" y="4405908"/>
            <a:ext cx="1095137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90" b="1">
                <a:solidFill>
                  <a:srgbClr val="78879F"/>
                </a:solidFill>
                <a:latin typeface="Calibri"/>
              </a:rPr>
              <a:t>Neoaccès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9113521" y="5064443"/>
            <a:ext cx="1530191" cy="1600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30" b="1" spc="-9">
                <a:solidFill>
                  <a:srgbClr val="0D1526"/>
                </a:solidFill>
                <a:latin typeface="Calibri"/>
              </a:rPr>
              <a:t>Environnement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9113521" y="5217200"/>
            <a:ext cx="1659969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70" b="1" spc="57">
                <a:solidFill>
                  <a:srgbClr val="78879F"/>
                </a:solidFill>
                <a:latin typeface="Calibri"/>
              </a:rPr>
              <a:t>DÉCHETS · NUISANCES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8717280" y="5627966"/>
            <a:ext cx="1104543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90" b="1">
                <a:solidFill>
                  <a:srgbClr val="33415C"/>
                </a:solidFill>
                <a:latin typeface="Calibri"/>
              </a:rPr>
              <a:t>IDCapture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9440823" y="5627966"/>
            <a:ext cx="1053584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90" b="1">
                <a:solidFill>
                  <a:srgbClr val="33415C"/>
                </a:solidFill>
                <a:latin typeface="Calibri"/>
              </a:rPr>
              <a:t>Lafarge+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10113407" y="5627966"/>
            <a:ext cx="1596509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90" b="1">
                <a:solidFill>
                  <a:srgbClr val="33415C"/>
                </a:solidFill>
                <a:latin typeface="Calibri"/>
              </a:rPr>
              <a:t>Live Objects (Orange)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8717280" y="5867996"/>
            <a:ext cx="1075492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90" b="1">
                <a:solidFill>
                  <a:srgbClr val="33415C"/>
                </a:solidFill>
                <a:latin typeface="Calibri"/>
              </a:rPr>
              <a:t>Lucee TP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9320332" y="5867996"/>
            <a:ext cx="1167884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90" b="1">
                <a:solidFill>
                  <a:srgbClr val="33415C"/>
                </a:solidFill>
                <a:latin typeface="Calibri"/>
              </a:rPr>
              <a:t>PowerPoint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10107216" y="5867996"/>
            <a:ext cx="1494115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90" b="1">
                <a:solidFill>
                  <a:srgbClr val="33415C"/>
                </a:solidFill>
                <a:latin typeface="Calibri"/>
              </a:rPr>
              <a:t>Sixense Monitoring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8717280" y="6108026"/>
            <a:ext cx="1481495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90" b="1">
                <a:solidFill>
                  <a:srgbClr val="33415C"/>
                </a:solidFill>
                <a:latin typeface="Calibri"/>
              </a:rPr>
              <a:t>Wastemarket Place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342900" y="6644640"/>
            <a:ext cx="258699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>
                <a:solidFill>
                  <a:srgbClr val="78879F"/>
                </a:solidFill>
                <a:latin typeface="Calibri"/>
              </a:rPr>
              <a:t>Source : BDD Cartographie Outils IT — 16 entretiens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11429762" y="6644640"/>
            <a:ext cx="1105138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>
                <a:solidFill>
                  <a:srgbClr val="78879F"/>
                </a:solidFill>
                <a:latin typeface="Calibri"/>
              </a:rPr>
              <a:t>Planche 1/3</a:t>
            </a:r>
          </a:p>
        </p:txBody>
      </p:sp>
      <p:sp>
        <p:nvSpPr>
          <p:cNvPr id="209" name="Rectangle 208"/>
          <p:cNvSpPr/>
          <p:nvPr/>
        </p:nvSpPr>
        <p:spPr>
          <a:xfrm>
            <a:off x="5951220" y="5642491"/>
            <a:ext cx="472440" cy="670679"/>
          </a:xfrm>
          <a:custGeom>
            <a:avLst/>
            <a:gdLst/>
            <a:ahLst/>
            <a:cxnLst/>
            <a:rect l="0" t="0" r="r" b="b"/>
            <a:pathLst>
              <a:path w="472440" h="670679">
                <a:moveTo>
                  <a:pt x="60960" y="60960"/>
                </a:moveTo>
                <a:cubicBezTo>
                  <a:pt x="411480" y="60960"/>
                  <a:pt x="411480" y="609719"/>
                  <a:pt x="60960" y="609719"/>
                </a:cubicBezTo>
              </a:path>
            </a:pathLst>
          </a:custGeom>
          <a:noFill/>
          <a:ln w="15240">
            <a:solidFill>
              <a:srgbClr val="4CC9E8"/>
            </a:solidFill>
            <a:round/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Rectangle 209"/>
          <p:cNvSpPr/>
          <p:nvPr/>
        </p:nvSpPr>
        <p:spPr>
          <a:xfrm>
            <a:off x="5951220" y="5726311"/>
            <a:ext cx="304800" cy="628769"/>
          </a:xfrm>
          <a:custGeom>
            <a:avLst/>
            <a:gdLst/>
            <a:ahLst/>
            <a:cxnLst/>
            <a:rect l="0" t="0" r="r" b="b"/>
            <a:pathLst>
              <a:path w="304800" h="628769">
                <a:moveTo>
                  <a:pt x="60960" y="60960"/>
                </a:moveTo>
                <a:cubicBezTo>
                  <a:pt x="121920" y="229910"/>
                  <a:pt x="182880" y="398859"/>
                  <a:pt x="243840" y="567809"/>
                </a:cubicBezTo>
              </a:path>
            </a:pathLst>
          </a:custGeom>
          <a:noFill/>
          <a:ln w="15240">
            <a:solidFill>
              <a:srgbClr val="4CC9E8"/>
            </a:solidFill>
            <a:round/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Rectangle 210"/>
          <p:cNvSpPr/>
          <p:nvPr/>
        </p:nvSpPr>
        <p:spPr>
          <a:xfrm>
            <a:off x="5951220" y="4790599"/>
            <a:ext cx="472440" cy="1438751"/>
          </a:xfrm>
          <a:custGeom>
            <a:avLst/>
            <a:gdLst/>
            <a:ahLst/>
            <a:cxnLst/>
            <a:rect l="0" t="0" r="r" b="b"/>
            <a:pathLst>
              <a:path w="472440" h="1438751">
                <a:moveTo>
                  <a:pt x="60960" y="60960"/>
                </a:moveTo>
                <a:cubicBezTo>
                  <a:pt x="411480" y="60960"/>
                  <a:pt x="411480" y="1377791"/>
                  <a:pt x="60960" y="1377791"/>
                </a:cubicBezTo>
              </a:path>
            </a:pathLst>
          </a:custGeom>
          <a:noFill/>
          <a:ln w="15240">
            <a:solidFill>
              <a:srgbClr val="4CC9E8"/>
            </a:solidFill>
            <a:round/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Rectangle 211"/>
          <p:cNvSpPr/>
          <p:nvPr/>
        </p:nvSpPr>
        <p:spPr>
          <a:xfrm>
            <a:off x="5951220" y="4874419"/>
            <a:ext cx="304800" cy="1313021"/>
          </a:xfrm>
          <a:custGeom>
            <a:avLst/>
            <a:gdLst/>
            <a:ahLst/>
            <a:cxnLst/>
            <a:rect l="0" t="0" r="r" b="b"/>
            <a:pathLst>
              <a:path w="304800" h="1313021">
                <a:moveTo>
                  <a:pt x="60960" y="60960"/>
                </a:moveTo>
                <a:cubicBezTo>
                  <a:pt x="121920" y="457994"/>
                  <a:pt x="182880" y="855028"/>
                  <a:pt x="243840" y="1252061"/>
                </a:cubicBezTo>
              </a:path>
            </a:pathLst>
          </a:custGeom>
          <a:noFill/>
          <a:ln w="15240">
            <a:solidFill>
              <a:srgbClr val="4CC9E8"/>
            </a:solidFill>
            <a:round/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Rectangle 212"/>
          <p:cNvSpPr/>
          <p:nvPr/>
        </p:nvSpPr>
        <p:spPr>
          <a:xfrm>
            <a:off x="5951220" y="3128724"/>
            <a:ext cx="304800" cy="121920"/>
          </a:xfrm>
          <a:custGeom>
            <a:avLst/>
            <a:gdLst/>
            <a:ahLst/>
            <a:cxnLst/>
            <a:rect l="0" t="0" r="r" b="b"/>
            <a:pathLst>
              <a:path w="304800" h="121920">
                <a:moveTo>
                  <a:pt x="60960" y="60960"/>
                </a:moveTo>
                <a:cubicBezTo>
                  <a:pt x="121920" y="60960"/>
                  <a:pt x="182880" y="60960"/>
                  <a:pt x="243840" y="60960"/>
                </a:cubicBezTo>
              </a:path>
            </a:pathLst>
          </a:custGeom>
          <a:noFill/>
          <a:ln w="15240">
            <a:solidFill>
              <a:srgbClr val="4CC9E8"/>
            </a:solidFill>
            <a:round/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Rectangle 213"/>
          <p:cNvSpPr/>
          <p:nvPr/>
        </p:nvSpPr>
        <p:spPr>
          <a:xfrm>
            <a:off x="7726680" y="3086814"/>
            <a:ext cx="1196339" cy="182761"/>
          </a:xfrm>
          <a:custGeom>
            <a:avLst/>
            <a:gdLst/>
            <a:ahLst/>
            <a:cxnLst/>
            <a:rect l="0" t="0" r="r" b="b"/>
            <a:pathLst>
              <a:path w="1196339" h="182761">
                <a:moveTo>
                  <a:pt x="1135379" y="121801"/>
                </a:moveTo>
                <a:cubicBezTo>
                  <a:pt x="651891" y="121801"/>
                  <a:pt x="544449" y="60960"/>
                  <a:pt x="60960" y="60960"/>
                </a:cubicBezTo>
              </a:path>
            </a:pathLst>
          </a:custGeom>
          <a:noFill/>
          <a:ln w="15240">
            <a:solidFill>
              <a:srgbClr val="8257E6"/>
            </a:solidFill>
            <a:round/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Rectangle 214"/>
          <p:cNvSpPr/>
          <p:nvPr/>
        </p:nvSpPr>
        <p:spPr>
          <a:xfrm>
            <a:off x="7726680" y="3170634"/>
            <a:ext cx="1196339" cy="182761"/>
          </a:xfrm>
          <a:custGeom>
            <a:avLst/>
            <a:gdLst/>
            <a:ahLst/>
            <a:cxnLst/>
            <a:rect l="0" t="0" r="r" b="b"/>
            <a:pathLst>
              <a:path w="1196339" h="182761">
                <a:moveTo>
                  <a:pt x="60960" y="60960"/>
                </a:moveTo>
                <a:cubicBezTo>
                  <a:pt x="544449" y="60960"/>
                  <a:pt x="651891" y="121801"/>
                  <a:pt x="1135379" y="121801"/>
                </a:cubicBezTo>
              </a:path>
            </a:pathLst>
          </a:custGeom>
          <a:noFill/>
          <a:ln w="15240">
            <a:solidFill>
              <a:srgbClr val="8257E6"/>
            </a:solidFill>
            <a:round/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Rectangle 215"/>
          <p:cNvSpPr/>
          <p:nvPr/>
        </p:nvSpPr>
        <p:spPr>
          <a:xfrm>
            <a:off x="5951220" y="4270177"/>
            <a:ext cx="304800" cy="121920"/>
          </a:xfrm>
          <a:custGeom>
            <a:avLst/>
            <a:gdLst/>
            <a:ahLst/>
            <a:cxnLst/>
            <a:rect l="0" t="0" r="r" b="b"/>
            <a:pathLst>
              <a:path w="304800" h="121920">
                <a:moveTo>
                  <a:pt x="243840" y="60960"/>
                </a:moveTo>
                <a:cubicBezTo>
                  <a:pt x="182880" y="60960"/>
                  <a:pt x="121920" y="60960"/>
                  <a:pt x="60960" y="60960"/>
                </a:cubicBezTo>
              </a:path>
            </a:pathLst>
          </a:custGeom>
          <a:noFill/>
          <a:ln w="15240">
            <a:solidFill>
              <a:srgbClr val="4CC9E8"/>
            </a:solidFill>
            <a:round/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Rectangle 216"/>
          <p:cNvSpPr/>
          <p:nvPr/>
        </p:nvSpPr>
        <p:spPr>
          <a:xfrm>
            <a:off x="3268980" y="5258276"/>
            <a:ext cx="2987040" cy="1012984"/>
          </a:xfrm>
          <a:custGeom>
            <a:avLst/>
            <a:gdLst/>
            <a:ahLst/>
            <a:cxnLst/>
            <a:rect l="0" t="0" r="r" b="b"/>
            <a:pathLst>
              <a:path w="2987040" h="1012984">
                <a:moveTo>
                  <a:pt x="60960" y="60960"/>
                </a:moveTo>
                <a:cubicBezTo>
                  <a:pt x="1350264" y="60960"/>
                  <a:pt x="1636776" y="952024"/>
                  <a:pt x="2926080" y="952024"/>
                </a:cubicBezTo>
              </a:path>
            </a:pathLst>
          </a:custGeom>
          <a:noFill/>
          <a:ln w="15240">
            <a:solidFill>
              <a:srgbClr val="DD7E2C"/>
            </a:solidFill>
            <a:round/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Rectangle 217"/>
          <p:cNvSpPr/>
          <p:nvPr/>
        </p:nvSpPr>
        <p:spPr>
          <a:xfrm>
            <a:off x="7642860" y="6113740"/>
            <a:ext cx="1280160" cy="157520"/>
          </a:xfrm>
          <a:custGeom>
            <a:avLst/>
            <a:gdLst/>
            <a:ahLst/>
            <a:cxnLst/>
            <a:rect l="0" t="0" r="r" b="b"/>
            <a:pathLst>
              <a:path w="1280160" h="157520">
                <a:moveTo>
                  <a:pt x="1219200" y="60960"/>
                </a:moveTo>
                <a:cubicBezTo>
                  <a:pt x="697992" y="60960"/>
                  <a:pt x="582168" y="96560"/>
                  <a:pt x="60960" y="96560"/>
                </a:cubicBezTo>
              </a:path>
            </a:pathLst>
          </a:custGeom>
          <a:noFill/>
          <a:ln w="15240">
            <a:solidFill>
              <a:srgbClr val="2E8B49"/>
            </a:solidFill>
            <a:round/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Rectangle 218"/>
          <p:cNvSpPr/>
          <p:nvPr/>
        </p:nvSpPr>
        <p:spPr>
          <a:xfrm>
            <a:off x="3268980" y="1962150"/>
            <a:ext cx="1211580" cy="1180862"/>
          </a:xfrm>
          <a:custGeom>
            <a:avLst/>
            <a:gdLst/>
            <a:ahLst/>
            <a:cxnLst/>
            <a:rect l="0" t="0" r="r" b="b"/>
            <a:pathLst>
              <a:path w="1211580" h="1180862">
                <a:moveTo>
                  <a:pt x="1150620" y="60960"/>
                </a:moveTo>
                <a:cubicBezTo>
                  <a:pt x="660273" y="60960"/>
                  <a:pt x="551307" y="1119902"/>
                  <a:pt x="60960" y="1119902"/>
                </a:cubicBezTo>
              </a:path>
            </a:pathLst>
          </a:custGeom>
          <a:noFill/>
          <a:ln w="15240">
            <a:solidFill>
              <a:srgbClr val="0E9E78"/>
            </a:solidFill>
            <a:round/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Rectangle 219"/>
          <p:cNvSpPr/>
          <p:nvPr/>
        </p:nvSpPr>
        <p:spPr>
          <a:xfrm>
            <a:off x="3268980" y="2045970"/>
            <a:ext cx="1211580" cy="1097042"/>
          </a:xfrm>
          <a:custGeom>
            <a:avLst/>
            <a:gdLst/>
            <a:ahLst/>
            <a:cxnLst/>
            <a:rect l="0" t="0" r="r" b="b"/>
            <a:pathLst>
              <a:path w="1211580" h="1097042">
                <a:moveTo>
                  <a:pt x="1150620" y="60960"/>
                </a:moveTo>
                <a:cubicBezTo>
                  <a:pt x="660273" y="60960"/>
                  <a:pt x="551307" y="1036082"/>
                  <a:pt x="60960" y="1036082"/>
                </a:cubicBezTo>
              </a:path>
            </a:pathLst>
          </a:custGeom>
          <a:noFill/>
          <a:ln w="15240">
            <a:solidFill>
              <a:srgbClr val="0E9E78"/>
            </a:solidFill>
            <a:round/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Rectangle 220"/>
          <p:cNvSpPr/>
          <p:nvPr/>
        </p:nvSpPr>
        <p:spPr>
          <a:xfrm>
            <a:off x="2353032" y="3063002"/>
            <a:ext cx="167640" cy="163830"/>
          </a:xfrm>
          <a:custGeom>
            <a:avLst/>
            <a:gdLst/>
            <a:ahLst/>
            <a:cxnLst/>
            <a:rect l="0" t="0" r="r" b="b"/>
            <a:pathLst>
              <a:path w="167640" h="163830">
                <a:moveTo>
                  <a:pt x="106680" y="60960"/>
                </a:moveTo>
                <a:cubicBezTo>
                  <a:pt x="91440" y="74930"/>
                  <a:pt x="76200" y="88900"/>
                  <a:pt x="60960" y="102870"/>
                </a:cubicBezTo>
              </a:path>
            </a:pathLst>
          </a:custGeom>
          <a:noFill/>
          <a:ln w="15240">
            <a:solidFill>
              <a:srgbClr val="0E9E78"/>
            </a:solidFill>
            <a:round/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Rectangle 221"/>
          <p:cNvSpPr/>
          <p:nvPr/>
        </p:nvSpPr>
        <p:spPr>
          <a:xfrm>
            <a:off x="953333" y="3063002"/>
            <a:ext cx="167640" cy="163830"/>
          </a:xfrm>
          <a:custGeom>
            <a:avLst/>
            <a:gdLst/>
            <a:ahLst/>
            <a:cxnLst/>
            <a:rect l="0" t="0" r="r" b="b"/>
            <a:pathLst>
              <a:path w="167640" h="163830">
                <a:moveTo>
                  <a:pt x="60960" y="102870"/>
                </a:moveTo>
                <a:cubicBezTo>
                  <a:pt x="76200" y="88900"/>
                  <a:pt x="91440" y="74930"/>
                  <a:pt x="106680" y="60960"/>
                </a:cubicBezTo>
              </a:path>
            </a:pathLst>
          </a:custGeom>
          <a:noFill/>
          <a:ln w="15240">
            <a:solidFill>
              <a:srgbClr val="0E9E78"/>
            </a:solidFill>
            <a:round/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Rectangle 222"/>
          <p:cNvSpPr/>
          <p:nvPr/>
        </p:nvSpPr>
        <p:spPr>
          <a:xfrm>
            <a:off x="10479524" y="518160"/>
            <a:ext cx="358140" cy="121920"/>
          </a:xfrm>
          <a:custGeom>
            <a:avLst/>
            <a:gdLst/>
            <a:ahLst/>
            <a:cxnLst/>
            <a:rect l="0" t="0" r="r" b="b"/>
            <a:pathLst>
              <a:path w="358140" h="121920">
                <a:moveTo>
                  <a:pt x="60960" y="60960"/>
                </a:moveTo>
                <a:cubicBezTo>
                  <a:pt x="129540" y="60960"/>
                  <a:pt x="236220" y="60960"/>
                  <a:pt x="297180" y="60960"/>
                </a:cubicBezTo>
              </a:path>
            </a:pathLst>
          </a:custGeom>
          <a:noFill/>
          <a:ln w="15240">
            <a:solidFill>
              <a:srgbClr val="33415C"/>
            </a:solidFill>
            <a:round/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Rectangle 223"/>
          <p:cNvSpPr/>
          <p:nvPr/>
        </p:nvSpPr>
        <p:spPr>
          <a:xfrm>
            <a:off x="10479524" y="685800"/>
            <a:ext cx="358140" cy="121920"/>
          </a:xfrm>
          <a:custGeom>
            <a:avLst/>
            <a:gdLst/>
            <a:ahLst/>
            <a:cxnLst/>
            <a:rect l="0" t="0" r="r" b="b"/>
            <a:pathLst>
              <a:path w="358140" h="121920">
                <a:moveTo>
                  <a:pt x="60960" y="60960"/>
                </a:moveTo>
                <a:cubicBezTo>
                  <a:pt x="129540" y="60960"/>
                  <a:pt x="236220" y="60960"/>
                  <a:pt x="297180" y="60960"/>
                </a:cubicBezTo>
              </a:path>
            </a:pathLst>
          </a:custGeom>
          <a:noFill/>
          <a:ln w="15240">
            <a:solidFill>
              <a:srgbClr val="33415C"/>
            </a:solidFill>
            <a:prstDash val="dash"/>
            <a:round/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Oval 224"/>
          <p:cNvSpPr/>
          <p:nvPr/>
        </p:nvSpPr>
        <p:spPr>
          <a:xfrm>
            <a:off x="5987796" y="5679067"/>
            <a:ext cx="48768" cy="4876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4CC9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Oval 225"/>
          <p:cNvSpPr/>
          <p:nvPr/>
        </p:nvSpPr>
        <p:spPr>
          <a:xfrm>
            <a:off x="5987796" y="5762887"/>
            <a:ext cx="48768" cy="4876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4CC9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Oval 226"/>
          <p:cNvSpPr/>
          <p:nvPr/>
        </p:nvSpPr>
        <p:spPr>
          <a:xfrm>
            <a:off x="5987796" y="4827175"/>
            <a:ext cx="48768" cy="4876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4CC9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Oval 227"/>
          <p:cNvSpPr/>
          <p:nvPr/>
        </p:nvSpPr>
        <p:spPr>
          <a:xfrm>
            <a:off x="5987796" y="4910995"/>
            <a:ext cx="48768" cy="4876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4CC9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Oval 228"/>
          <p:cNvSpPr/>
          <p:nvPr/>
        </p:nvSpPr>
        <p:spPr>
          <a:xfrm>
            <a:off x="5987796" y="3165300"/>
            <a:ext cx="48768" cy="4876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4CC9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Oval 229"/>
          <p:cNvSpPr/>
          <p:nvPr/>
        </p:nvSpPr>
        <p:spPr>
          <a:xfrm>
            <a:off x="8837676" y="3184231"/>
            <a:ext cx="48768" cy="4876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8257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Oval 230"/>
          <p:cNvSpPr/>
          <p:nvPr/>
        </p:nvSpPr>
        <p:spPr>
          <a:xfrm>
            <a:off x="7763256" y="3207210"/>
            <a:ext cx="48768" cy="4876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8257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Oval 231"/>
          <p:cNvSpPr/>
          <p:nvPr/>
        </p:nvSpPr>
        <p:spPr>
          <a:xfrm>
            <a:off x="6170676" y="4306753"/>
            <a:ext cx="48768" cy="4876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4CC9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Oval 232"/>
          <p:cNvSpPr/>
          <p:nvPr/>
        </p:nvSpPr>
        <p:spPr>
          <a:xfrm>
            <a:off x="3305556" y="5294852"/>
            <a:ext cx="48768" cy="4876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DD7E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Oval 233"/>
          <p:cNvSpPr/>
          <p:nvPr/>
        </p:nvSpPr>
        <p:spPr>
          <a:xfrm>
            <a:off x="8837676" y="6150316"/>
            <a:ext cx="48768" cy="4876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2E8B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Oval 234"/>
          <p:cNvSpPr/>
          <p:nvPr/>
        </p:nvSpPr>
        <p:spPr>
          <a:xfrm>
            <a:off x="4395216" y="1998726"/>
            <a:ext cx="48768" cy="4876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0E9E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Oval 235"/>
          <p:cNvSpPr/>
          <p:nvPr/>
        </p:nvSpPr>
        <p:spPr>
          <a:xfrm>
            <a:off x="4395216" y="2082546"/>
            <a:ext cx="48768" cy="4876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0E9E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Oval 236"/>
          <p:cNvSpPr/>
          <p:nvPr/>
        </p:nvSpPr>
        <p:spPr>
          <a:xfrm>
            <a:off x="2435328" y="3099578"/>
            <a:ext cx="48768" cy="4876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0E9E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Oval 237"/>
          <p:cNvSpPr/>
          <p:nvPr/>
        </p:nvSpPr>
        <p:spPr>
          <a:xfrm>
            <a:off x="989909" y="3141488"/>
            <a:ext cx="48768" cy="4876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0E9E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19100" y="1375410"/>
            <a:ext cx="53340" cy="53340"/>
          </a:xfrm>
          <a:prstGeom prst="ellipse">
            <a:avLst/>
          </a:prstGeom>
          <a:solidFill>
            <a:srgbClr val="4CC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795826" y="1375410"/>
            <a:ext cx="53340" cy="53340"/>
          </a:xfrm>
          <a:prstGeom prst="ellipse">
            <a:avLst/>
          </a:prstGeom>
          <a:solidFill>
            <a:srgbClr val="4CC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8430" y="1386840"/>
            <a:ext cx="501253" cy="144780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19100" y="1695450"/>
            <a:ext cx="53340" cy="53340"/>
          </a:xfrm>
          <a:prstGeom prst="ellipse">
            <a:avLst/>
          </a:prstGeom>
          <a:solidFill>
            <a:srgbClr val="4CC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795826" y="1695450"/>
            <a:ext cx="53340" cy="53340"/>
          </a:xfrm>
          <a:prstGeom prst="ellipse">
            <a:avLst/>
          </a:prstGeom>
          <a:solidFill>
            <a:srgbClr val="4CC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8430" y="1706880"/>
            <a:ext cx="754499" cy="144780"/>
          </a:xfrm>
          <a:prstGeom prst="roundRect">
            <a:avLst>
              <a:gd name="adj" fmla="val 50000"/>
            </a:avLst>
          </a:prstGeom>
          <a:solidFill>
            <a:srgbClr val="4CC9E8">
              <a:alpha val="17000"/>
            </a:srgbClr>
          </a:solidFill>
          <a:ln w="7620">
            <a:solidFill>
              <a:srgbClr val="4CC9E8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19100" y="2015490"/>
            <a:ext cx="53340" cy="53341"/>
          </a:xfrm>
          <a:prstGeom prst="ellipse">
            <a:avLst/>
          </a:prstGeom>
          <a:solidFill>
            <a:srgbClr val="4CC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795826" y="2015490"/>
            <a:ext cx="53340" cy="53341"/>
          </a:xfrm>
          <a:prstGeom prst="ellipse">
            <a:avLst/>
          </a:prstGeom>
          <a:solidFill>
            <a:srgbClr val="4CC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578430" y="2026920"/>
            <a:ext cx="501253" cy="144780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19100" y="2335530"/>
            <a:ext cx="53340" cy="53340"/>
          </a:xfrm>
          <a:prstGeom prst="ellipse">
            <a:avLst/>
          </a:prstGeom>
          <a:solidFill>
            <a:srgbClr val="4CC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795826" y="2335530"/>
            <a:ext cx="53340" cy="53340"/>
          </a:xfrm>
          <a:prstGeom prst="ellipse">
            <a:avLst/>
          </a:prstGeom>
          <a:solidFill>
            <a:srgbClr val="4CC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578430" y="2346961"/>
            <a:ext cx="754499" cy="144780"/>
          </a:xfrm>
          <a:prstGeom prst="roundRect">
            <a:avLst>
              <a:gd name="adj" fmla="val 50000"/>
            </a:avLst>
          </a:prstGeom>
          <a:solidFill>
            <a:srgbClr val="4CC9E8">
              <a:alpha val="17000"/>
            </a:srgbClr>
          </a:solidFill>
          <a:ln w="7620">
            <a:solidFill>
              <a:srgbClr val="4CC9E8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19100" y="2655570"/>
            <a:ext cx="53340" cy="53340"/>
          </a:xfrm>
          <a:prstGeom prst="ellipse">
            <a:avLst/>
          </a:prstGeom>
          <a:solidFill>
            <a:srgbClr val="4CC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795826" y="2655570"/>
            <a:ext cx="53340" cy="53340"/>
          </a:xfrm>
          <a:prstGeom prst="ellipse">
            <a:avLst/>
          </a:prstGeom>
          <a:solidFill>
            <a:srgbClr val="4CC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578430" y="2667000"/>
            <a:ext cx="501253" cy="144780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19100" y="2975610"/>
            <a:ext cx="53340" cy="53341"/>
          </a:xfrm>
          <a:prstGeom prst="ellipse">
            <a:avLst/>
          </a:prstGeom>
          <a:solidFill>
            <a:srgbClr val="8257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795826" y="2975610"/>
            <a:ext cx="53340" cy="53341"/>
          </a:xfrm>
          <a:prstGeom prst="ellipse">
            <a:avLst/>
          </a:prstGeom>
          <a:solidFill>
            <a:srgbClr val="4CC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578430" y="2987040"/>
            <a:ext cx="501253" cy="144780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19100" y="3295650"/>
            <a:ext cx="53340" cy="53340"/>
          </a:xfrm>
          <a:prstGeom prst="ellipse">
            <a:avLst/>
          </a:prstGeom>
          <a:solidFill>
            <a:srgbClr val="4CC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2795826" y="3295650"/>
            <a:ext cx="53340" cy="53340"/>
          </a:xfrm>
          <a:prstGeom prst="ellipse">
            <a:avLst/>
          </a:prstGeom>
          <a:solidFill>
            <a:srgbClr val="8257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578430" y="3307081"/>
            <a:ext cx="501253" cy="144780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19100" y="3615690"/>
            <a:ext cx="53340" cy="53340"/>
          </a:xfrm>
          <a:prstGeom prst="ellipse">
            <a:avLst/>
          </a:prstGeom>
          <a:solidFill>
            <a:srgbClr val="4CC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2795826" y="3615690"/>
            <a:ext cx="53340" cy="53340"/>
          </a:xfrm>
          <a:prstGeom prst="ellipse">
            <a:avLst/>
          </a:prstGeom>
          <a:solidFill>
            <a:srgbClr val="4CC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4578430" y="3627120"/>
            <a:ext cx="501253" cy="144780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419100" y="3935730"/>
            <a:ext cx="53340" cy="53340"/>
          </a:xfrm>
          <a:prstGeom prst="ellipse">
            <a:avLst/>
          </a:prstGeom>
          <a:solidFill>
            <a:srgbClr val="DD7E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2795826" y="3935730"/>
            <a:ext cx="53340" cy="53340"/>
          </a:xfrm>
          <a:prstGeom prst="ellipse">
            <a:avLst/>
          </a:prstGeom>
          <a:solidFill>
            <a:srgbClr val="4CC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578430" y="3947160"/>
            <a:ext cx="754499" cy="144780"/>
          </a:xfrm>
          <a:prstGeom prst="roundRect">
            <a:avLst>
              <a:gd name="adj" fmla="val 50000"/>
            </a:avLst>
          </a:prstGeom>
          <a:solidFill>
            <a:srgbClr val="4CC9E8">
              <a:alpha val="17000"/>
            </a:srgbClr>
          </a:solidFill>
          <a:ln w="7620">
            <a:solidFill>
              <a:srgbClr val="4CC9E8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419100" y="4255771"/>
            <a:ext cx="53340" cy="53339"/>
          </a:xfrm>
          <a:prstGeom prst="ellipse">
            <a:avLst/>
          </a:prstGeom>
          <a:solidFill>
            <a:srgbClr val="2E8B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2795826" y="4255771"/>
            <a:ext cx="53340" cy="53339"/>
          </a:xfrm>
          <a:prstGeom prst="ellipse">
            <a:avLst/>
          </a:prstGeom>
          <a:solidFill>
            <a:srgbClr val="4CC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4578430" y="4267200"/>
            <a:ext cx="754499" cy="144780"/>
          </a:xfrm>
          <a:prstGeom prst="roundRect">
            <a:avLst>
              <a:gd name="adj" fmla="val 50000"/>
            </a:avLst>
          </a:prstGeom>
          <a:solidFill>
            <a:srgbClr val="4CC9E8">
              <a:alpha val="17000"/>
            </a:srgbClr>
          </a:solidFill>
          <a:ln w="7620">
            <a:solidFill>
              <a:srgbClr val="4CC9E8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419100" y="4575810"/>
            <a:ext cx="53340" cy="53341"/>
          </a:xfrm>
          <a:prstGeom prst="ellipse">
            <a:avLst/>
          </a:prstGeom>
          <a:solidFill>
            <a:srgbClr val="4CC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2795826" y="4575810"/>
            <a:ext cx="53340" cy="53341"/>
          </a:xfrm>
          <a:prstGeom prst="ellipse">
            <a:avLst/>
          </a:prstGeom>
          <a:solidFill>
            <a:srgbClr val="0E9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4578430" y="4587240"/>
            <a:ext cx="501253" cy="144780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419100" y="4895850"/>
            <a:ext cx="53340" cy="53340"/>
          </a:xfrm>
          <a:prstGeom prst="ellipse">
            <a:avLst/>
          </a:prstGeom>
          <a:solidFill>
            <a:srgbClr val="4CC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2795826" y="4895850"/>
            <a:ext cx="53340" cy="53340"/>
          </a:xfrm>
          <a:prstGeom prst="ellipse">
            <a:avLst/>
          </a:prstGeom>
          <a:solidFill>
            <a:srgbClr val="0E9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4578430" y="4907281"/>
            <a:ext cx="754499" cy="144780"/>
          </a:xfrm>
          <a:prstGeom prst="roundRect">
            <a:avLst>
              <a:gd name="adj" fmla="val 50000"/>
            </a:avLst>
          </a:prstGeom>
          <a:solidFill>
            <a:srgbClr val="4CC9E8">
              <a:alpha val="17000"/>
            </a:srgbClr>
          </a:solidFill>
          <a:ln w="7620">
            <a:solidFill>
              <a:srgbClr val="4CC9E8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419100" y="5215890"/>
            <a:ext cx="53340" cy="53339"/>
          </a:xfrm>
          <a:prstGeom prst="ellipse">
            <a:avLst/>
          </a:prstGeom>
          <a:solidFill>
            <a:srgbClr val="4CC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2795826" y="5215890"/>
            <a:ext cx="53340" cy="53339"/>
          </a:xfrm>
          <a:prstGeom prst="ellipse">
            <a:avLst/>
          </a:prstGeom>
          <a:solidFill>
            <a:srgbClr val="2E8B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4578430" y="5227320"/>
            <a:ext cx="542806" cy="144780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419100" y="5535930"/>
            <a:ext cx="53340" cy="53341"/>
          </a:xfrm>
          <a:prstGeom prst="ellipse">
            <a:avLst/>
          </a:prstGeom>
          <a:solidFill>
            <a:srgbClr val="0E9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2795826" y="5535930"/>
            <a:ext cx="53340" cy="53341"/>
          </a:xfrm>
          <a:prstGeom prst="ellipse">
            <a:avLst/>
          </a:prstGeom>
          <a:solidFill>
            <a:srgbClr val="0E9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4578430" y="5547360"/>
            <a:ext cx="754499" cy="144780"/>
          </a:xfrm>
          <a:prstGeom prst="roundRect">
            <a:avLst>
              <a:gd name="adj" fmla="val 50000"/>
            </a:avLst>
          </a:prstGeom>
          <a:solidFill>
            <a:srgbClr val="4CC9E8">
              <a:alpha val="17000"/>
            </a:srgbClr>
          </a:solidFill>
          <a:ln w="7620">
            <a:solidFill>
              <a:srgbClr val="4CC9E8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419100" y="5855970"/>
            <a:ext cx="53340" cy="53340"/>
          </a:xfrm>
          <a:prstGeom prst="ellipse">
            <a:avLst/>
          </a:prstGeom>
          <a:solidFill>
            <a:srgbClr val="0E9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2795826" y="5855970"/>
            <a:ext cx="53340" cy="53340"/>
          </a:xfrm>
          <a:prstGeom prst="ellipse">
            <a:avLst/>
          </a:prstGeom>
          <a:solidFill>
            <a:srgbClr val="0E9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4578430" y="5867401"/>
            <a:ext cx="501253" cy="144780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9014460" y="1135380"/>
            <a:ext cx="1383031" cy="524827"/>
          </a:xfrm>
          <a:prstGeom prst="roundRect">
            <a:avLst>
              <a:gd name="adj" fmla="val 17422"/>
            </a:avLst>
          </a:prstGeom>
          <a:solidFill>
            <a:srgbClr val="FFFFFF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10466070" y="1135380"/>
            <a:ext cx="1383030" cy="524827"/>
          </a:xfrm>
          <a:prstGeom prst="roundRect">
            <a:avLst>
              <a:gd name="adj" fmla="val 17422"/>
            </a:avLst>
          </a:prstGeom>
          <a:solidFill>
            <a:srgbClr val="FFFFFF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9014460" y="1728788"/>
            <a:ext cx="1383031" cy="524827"/>
          </a:xfrm>
          <a:prstGeom prst="roundRect">
            <a:avLst>
              <a:gd name="adj" fmla="val 17422"/>
            </a:avLst>
          </a:prstGeom>
          <a:solidFill>
            <a:srgbClr val="FFFFFF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10466070" y="1728788"/>
            <a:ext cx="1383030" cy="524827"/>
          </a:xfrm>
          <a:prstGeom prst="roundRect">
            <a:avLst>
              <a:gd name="adj" fmla="val 17422"/>
            </a:avLst>
          </a:prstGeom>
          <a:solidFill>
            <a:srgbClr val="FFFFFF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9014460" y="2352675"/>
            <a:ext cx="2834640" cy="1722836"/>
          </a:xfrm>
          <a:prstGeom prst="roundRect">
            <a:avLst>
              <a:gd name="adj" fmla="val 6634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9151620" y="3042642"/>
            <a:ext cx="2560320" cy="68581"/>
          </a:xfrm>
          <a:prstGeom prst="roundRect">
            <a:avLst>
              <a:gd name="adj" fmla="val 50000"/>
            </a:avLst>
          </a:prstGeom>
          <a:solidFill>
            <a:srgbClr val="E1E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9151620" y="3042642"/>
            <a:ext cx="1327547" cy="68581"/>
          </a:xfrm>
          <a:prstGeom prst="rect">
            <a:avLst/>
          </a:prstGeom>
          <a:solidFill>
            <a:srgbClr val="788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10479167" y="3042642"/>
            <a:ext cx="758548" cy="68581"/>
          </a:xfrm>
          <a:prstGeom prst="rect">
            <a:avLst/>
          </a:prstGeom>
          <a:solidFill>
            <a:srgbClr val="5B57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1237715" y="3042642"/>
            <a:ext cx="474107" cy="68581"/>
          </a:xfrm>
          <a:prstGeom prst="rect">
            <a:avLst/>
          </a:prstGeom>
          <a:solidFill>
            <a:srgbClr val="E1E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9151620" y="3332202"/>
            <a:ext cx="2560320" cy="68581"/>
          </a:xfrm>
          <a:prstGeom prst="roundRect">
            <a:avLst>
              <a:gd name="adj" fmla="val 50000"/>
            </a:avLst>
          </a:prstGeom>
          <a:solidFill>
            <a:srgbClr val="E1E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9151620" y="3332202"/>
            <a:ext cx="1991320" cy="68581"/>
          </a:xfrm>
          <a:prstGeom prst="rect">
            <a:avLst/>
          </a:prstGeom>
          <a:solidFill>
            <a:srgbClr val="788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11142940" y="3332202"/>
            <a:ext cx="379215" cy="68581"/>
          </a:xfrm>
          <a:prstGeom prst="rect">
            <a:avLst/>
          </a:prstGeom>
          <a:solidFill>
            <a:srgbClr val="4CC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11522155" y="3332202"/>
            <a:ext cx="189547" cy="68581"/>
          </a:xfrm>
          <a:prstGeom prst="rect">
            <a:avLst/>
          </a:prstGeom>
          <a:solidFill>
            <a:srgbClr val="E1E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9151620" y="3621763"/>
            <a:ext cx="2560320" cy="68580"/>
          </a:xfrm>
          <a:prstGeom prst="roundRect">
            <a:avLst>
              <a:gd name="adj" fmla="val 50000"/>
            </a:avLst>
          </a:prstGeom>
          <a:solidFill>
            <a:srgbClr val="E1E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9151620" y="3621763"/>
            <a:ext cx="1706880" cy="68580"/>
          </a:xfrm>
          <a:prstGeom prst="rect">
            <a:avLst/>
          </a:prstGeom>
          <a:solidFill>
            <a:srgbClr val="788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10858500" y="3621763"/>
            <a:ext cx="853440" cy="68580"/>
          </a:xfrm>
          <a:prstGeom prst="rect">
            <a:avLst/>
          </a:prstGeom>
          <a:solidFill>
            <a:srgbClr val="3A6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9014460" y="4174570"/>
            <a:ext cx="2834640" cy="2371129"/>
          </a:xfrm>
          <a:prstGeom prst="roundRect">
            <a:avLst>
              <a:gd name="adj" fmla="val 4820"/>
            </a:avLst>
          </a:prstGeom>
          <a:gradFill rotWithShape="1">
            <a:gsLst>
              <a:gs pos="0">
                <a:srgbClr val="18233C"/>
              </a:gs>
              <a:gs pos="62000">
                <a:srgbClr val="0F1729"/>
              </a:gs>
            </a:gsLst>
            <a:lin scaled="0" ang="16920000"/>
          </a:gradFill>
          <a:ln w="7620">
            <a:solidFill>
              <a:srgbClr val="FFFFFF">
                <a:alpha val="8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9151620" y="4545091"/>
            <a:ext cx="144780" cy="144781"/>
          </a:xfrm>
          <a:prstGeom prst="roundRect">
            <a:avLst>
              <a:gd name="adj" fmla="val 31578"/>
            </a:avLst>
          </a:prstGeom>
          <a:solidFill>
            <a:srgbClr val="FFFFFF">
              <a:alpha val="7000"/>
            </a:srgbClr>
          </a:solidFill>
          <a:ln w="7620">
            <a:solidFill>
              <a:srgbClr val="FFFFFF">
                <a:alpha val="1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9151620" y="5018841"/>
            <a:ext cx="144780" cy="144781"/>
          </a:xfrm>
          <a:prstGeom prst="roundRect">
            <a:avLst>
              <a:gd name="adj" fmla="val 31578"/>
            </a:avLst>
          </a:prstGeom>
          <a:solidFill>
            <a:srgbClr val="FFFFFF">
              <a:alpha val="7000"/>
            </a:srgbClr>
          </a:solidFill>
          <a:ln w="7620">
            <a:solidFill>
              <a:srgbClr val="FFFFFF">
                <a:alpha val="1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6" name="Rounded Rectangle 65"/>
          <p:cNvSpPr/>
          <p:nvPr/>
        </p:nvSpPr>
        <p:spPr>
          <a:xfrm>
            <a:off x="9151620" y="5492591"/>
            <a:ext cx="144780" cy="144780"/>
          </a:xfrm>
          <a:prstGeom prst="roundRect">
            <a:avLst>
              <a:gd name="adj" fmla="val 31578"/>
            </a:avLst>
          </a:prstGeom>
          <a:solidFill>
            <a:srgbClr val="FFFFFF">
              <a:alpha val="7000"/>
            </a:srgbClr>
          </a:solidFill>
          <a:ln w="7620">
            <a:solidFill>
              <a:srgbClr val="FFFFFF">
                <a:alpha val="1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9151620" y="6099333"/>
            <a:ext cx="144780" cy="144781"/>
          </a:xfrm>
          <a:prstGeom prst="roundRect">
            <a:avLst>
              <a:gd name="adj" fmla="val 31578"/>
            </a:avLst>
          </a:prstGeom>
          <a:solidFill>
            <a:srgbClr val="FFFFFF">
              <a:alpha val="7000"/>
            </a:srgbClr>
          </a:solidFill>
          <a:ln w="7620">
            <a:solidFill>
              <a:srgbClr val="FFFFFF">
                <a:alpha val="1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342900" y="312420"/>
            <a:ext cx="1239202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60" b="1" spc="132">
                <a:solidFill>
                  <a:srgbClr val="78879F"/>
                </a:solidFill>
                <a:latin typeface="Calibri"/>
              </a:rPr>
              <a:t>ANNEXE 1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42900" y="457200"/>
            <a:ext cx="6414373" cy="3657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2400" b="1" spc="-48">
                <a:solidFill>
                  <a:srgbClr val="0D1526"/>
                </a:solidFill>
                <a:latin typeface="Calibri"/>
              </a:rPr>
              <a:t>Flux de données et modes d'alimentation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42900" y="847248"/>
            <a:ext cx="3956090" cy="152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40" b="0">
                <a:solidFill>
                  <a:srgbClr val="78879F"/>
                </a:solidFill>
                <a:latin typeface="Calibri"/>
              </a:rPr>
              <a:t>Échanges entre outils relevés en entretien, et nature de l'alimentation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19100" y="1120140"/>
            <a:ext cx="1432917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30" b="1" spc="94">
                <a:solidFill>
                  <a:srgbClr val="78879F"/>
                </a:solidFill>
                <a:latin typeface="Calibri"/>
              </a:rPr>
              <a:t>OUTIL SOURCE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031564" y="1120140"/>
            <a:ext cx="951786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30" b="1" spc="94">
                <a:solidFill>
                  <a:srgbClr val="78879F"/>
                </a:solidFill>
                <a:latin typeface="Calibri"/>
              </a:rPr>
              <a:t>SENS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795826" y="1120140"/>
            <a:ext cx="1742003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30" b="1" spc="94">
                <a:solidFill>
                  <a:srgbClr val="78879F"/>
                </a:solidFill>
                <a:latin typeface="Calibri"/>
              </a:rPr>
              <a:t>OUTIL DESTINATAIRE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578430" y="1120140"/>
            <a:ext cx="1422439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30" b="1" spc="94">
                <a:solidFill>
                  <a:srgbClr val="78879F"/>
                </a:solidFill>
                <a:latin typeface="Calibri"/>
              </a:rPr>
              <a:t>ALIMENTATION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851684" y="1120140"/>
            <a:ext cx="1477566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30" b="1" spc="94">
                <a:solidFill>
                  <a:srgbClr val="78879F"/>
                </a:solidFill>
                <a:latin typeface="Calibri"/>
              </a:rPr>
              <a:t>OBJET DU FLUX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19100" y="1443990"/>
            <a:ext cx="934760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>
                <a:solidFill>
                  <a:srgbClr val="0D1526"/>
                </a:solidFill>
                <a:latin typeface="Calibri"/>
              </a:rPr>
              <a:t>Excel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18160" y="1338858"/>
            <a:ext cx="1400532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30" b="1" spc="31">
                <a:solidFill>
                  <a:srgbClr val="4CC9E8"/>
                </a:solidFill>
                <a:latin typeface="Calibri"/>
              </a:rPr>
              <a:t>SOCLE COMMUN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107406" y="1375410"/>
            <a:ext cx="800100" cy="1600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900" b="1">
                <a:solidFill>
                  <a:srgbClr val="33415C"/>
                </a:solidFill>
                <a:latin typeface="Calibri"/>
              </a:rPr>
              <a:t>→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795826" y="1443990"/>
            <a:ext cx="1188720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>
                <a:solidFill>
                  <a:srgbClr val="0D1526"/>
                </a:solidFill>
                <a:latin typeface="Calibri"/>
              </a:rPr>
              <a:t>SharePoint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2894886" y="1338858"/>
            <a:ext cx="1400532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30" b="1" spc="31">
                <a:solidFill>
                  <a:srgbClr val="4CC9E8"/>
                </a:solidFill>
                <a:latin typeface="Calibri"/>
              </a:rPr>
              <a:t>SOCLE COMMUN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311730" y="1402080"/>
            <a:ext cx="1034653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00" b="1" spc="30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851684" y="1386841"/>
            <a:ext cx="1856066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0">
                <a:solidFill>
                  <a:srgbClr val="33415C"/>
                </a:solidFill>
                <a:latin typeface="Calibri"/>
              </a:rPr>
              <a:t>Dépôt des tableaux de suivi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19100" y="1764030"/>
            <a:ext cx="934760" cy="13716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>
                <a:solidFill>
                  <a:srgbClr val="0D1526"/>
                </a:solidFill>
                <a:latin typeface="Calibri"/>
              </a:rPr>
              <a:t>Excel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18160" y="1658898"/>
            <a:ext cx="1400532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30" b="1" spc="31">
                <a:solidFill>
                  <a:srgbClr val="4CC9E8"/>
                </a:solidFill>
                <a:latin typeface="Calibri"/>
              </a:rPr>
              <a:t>SOCLE COMMUN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2107406" y="1695450"/>
            <a:ext cx="800100" cy="1600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900" b="1">
                <a:solidFill>
                  <a:srgbClr val="33415C"/>
                </a:solidFill>
                <a:latin typeface="Calibri"/>
              </a:rPr>
              <a:t>→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2795826" y="1764030"/>
            <a:ext cx="1093470" cy="13716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>
                <a:solidFill>
                  <a:srgbClr val="0D1526"/>
                </a:solidFill>
                <a:latin typeface="Calibri"/>
              </a:rPr>
              <a:t>Power BI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894886" y="1658898"/>
            <a:ext cx="1400532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30" b="1" spc="31">
                <a:solidFill>
                  <a:srgbClr val="4CC9E8"/>
                </a:solidFill>
                <a:latin typeface="Calibri"/>
              </a:rPr>
              <a:t>SOCLE COMMUN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311730" y="1722120"/>
            <a:ext cx="1287899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00" b="1" spc="30">
                <a:solidFill>
                  <a:srgbClr val="0B7E99"/>
                </a:solidFill>
                <a:latin typeface="Calibri"/>
              </a:rPr>
              <a:t>AUTOMATIQUE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5851684" y="1706880"/>
            <a:ext cx="2242661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0">
                <a:solidFill>
                  <a:srgbClr val="33415C"/>
                </a:solidFill>
                <a:latin typeface="Calibri"/>
              </a:rPr>
              <a:t>Alimentation de la cabine de pilotage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419100" y="2084070"/>
            <a:ext cx="1358027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>
                <a:solidFill>
                  <a:srgbClr val="0D1526"/>
                </a:solidFill>
                <a:latin typeface="Calibri"/>
              </a:rPr>
              <a:t>Quick Connect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518160" y="1978937"/>
            <a:ext cx="1400532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30" b="1" spc="31">
                <a:solidFill>
                  <a:srgbClr val="4CC9E8"/>
                </a:solidFill>
                <a:latin typeface="Calibri"/>
              </a:rPr>
              <a:t>SOCLE COMMUN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2107406" y="2015490"/>
            <a:ext cx="800100" cy="1600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900" b="1">
                <a:solidFill>
                  <a:srgbClr val="33415C"/>
                </a:solidFill>
                <a:latin typeface="Calibri"/>
              </a:rPr>
              <a:t>→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795826" y="2084070"/>
            <a:ext cx="1188720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>
                <a:solidFill>
                  <a:srgbClr val="0D1526"/>
                </a:solidFill>
                <a:latin typeface="Calibri"/>
              </a:rPr>
              <a:t>SharePoint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2894886" y="1978937"/>
            <a:ext cx="1400532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30" b="1" spc="31">
                <a:solidFill>
                  <a:srgbClr val="4CC9E8"/>
                </a:solidFill>
                <a:latin typeface="Calibri"/>
              </a:rPr>
              <a:t>SOCLE COMMUN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311730" y="2042160"/>
            <a:ext cx="1034653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00" b="1" spc="30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851684" y="2026920"/>
            <a:ext cx="2004060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0">
                <a:solidFill>
                  <a:srgbClr val="33415C"/>
                </a:solidFill>
                <a:latin typeface="Calibri"/>
              </a:rPr>
              <a:t>Fiches de contrôle vers le DOE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19100" y="2404110"/>
            <a:ext cx="1358027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>
                <a:solidFill>
                  <a:srgbClr val="0D1526"/>
                </a:solidFill>
                <a:latin typeface="Calibri"/>
              </a:rPr>
              <a:t>Quick Connect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18160" y="2298978"/>
            <a:ext cx="1400532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30" b="1" spc="31">
                <a:solidFill>
                  <a:srgbClr val="4CC9E8"/>
                </a:solidFill>
                <a:latin typeface="Calibri"/>
              </a:rPr>
              <a:t>SOCLE COMMUN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2107406" y="2335531"/>
            <a:ext cx="800100" cy="16001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900" b="1">
                <a:solidFill>
                  <a:srgbClr val="33415C"/>
                </a:solidFill>
                <a:latin typeface="Calibri"/>
              </a:rPr>
              <a:t>→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2795826" y="2404110"/>
            <a:ext cx="1093470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>
                <a:solidFill>
                  <a:srgbClr val="0D1526"/>
                </a:solidFill>
                <a:latin typeface="Calibri"/>
              </a:rPr>
              <a:t>Power BI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2894886" y="2298978"/>
            <a:ext cx="1400532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30" b="1" spc="31">
                <a:solidFill>
                  <a:srgbClr val="4CC9E8"/>
                </a:solidFill>
                <a:latin typeface="Calibri"/>
              </a:rPr>
              <a:t>SOCLE COMMUN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311730" y="2362200"/>
            <a:ext cx="1287899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00" b="1" spc="30">
                <a:solidFill>
                  <a:srgbClr val="0B7E99"/>
                </a:solidFill>
                <a:latin typeface="Calibri"/>
              </a:rPr>
              <a:t>AUTOMATIQUE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851684" y="2346960"/>
            <a:ext cx="1924765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0">
                <a:solidFill>
                  <a:srgbClr val="33415C"/>
                </a:solidFill>
                <a:latin typeface="Calibri"/>
              </a:rPr>
              <a:t>Indicateurs qualité et sécurité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419100" y="2724150"/>
            <a:ext cx="945237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>
                <a:solidFill>
                  <a:srgbClr val="0D1526"/>
                </a:solidFill>
                <a:latin typeface="Calibri"/>
              </a:rPr>
              <a:t>Pablo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518160" y="2619018"/>
            <a:ext cx="1400532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30" b="1" spc="31">
                <a:solidFill>
                  <a:srgbClr val="4CC9E8"/>
                </a:solidFill>
                <a:latin typeface="Calibri"/>
              </a:rPr>
              <a:t>SOCLE COMMUN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2107406" y="2655570"/>
            <a:ext cx="800100" cy="1600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900" b="1">
                <a:solidFill>
                  <a:srgbClr val="33415C"/>
                </a:solidFill>
                <a:latin typeface="Calibri"/>
              </a:rPr>
              <a:t>→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795826" y="2724150"/>
            <a:ext cx="1098709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>
                <a:solidFill>
                  <a:srgbClr val="0D1526"/>
                </a:solidFill>
                <a:latin typeface="Calibri"/>
              </a:rPr>
              <a:t>Harmony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2894886" y="2619018"/>
            <a:ext cx="1400532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30" b="1" spc="31">
                <a:solidFill>
                  <a:srgbClr val="4CC9E8"/>
                </a:solidFill>
                <a:latin typeface="Calibri"/>
              </a:rPr>
              <a:t>SOCLE COMMUN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4311730" y="2682240"/>
            <a:ext cx="1034653" cy="11429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00" b="1" spc="30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5851684" y="2667000"/>
            <a:ext cx="2551986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0">
                <a:solidFill>
                  <a:srgbClr val="33415C"/>
                </a:solidFill>
                <a:latin typeface="Calibri"/>
              </a:rPr>
              <a:t>Commandes vers l'engagement de dépense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419100" y="3044190"/>
            <a:ext cx="1077754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>
                <a:solidFill>
                  <a:srgbClr val="0D1526"/>
                </a:solidFill>
                <a:latin typeface="Calibri"/>
              </a:rPr>
              <a:t>Basware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518160" y="2939058"/>
            <a:ext cx="1658779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30" b="1" spc="31">
                <a:solidFill>
                  <a:srgbClr val="8257E6"/>
                </a:solidFill>
                <a:latin typeface="Calibri"/>
              </a:rPr>
              <a:t>CONTRATS &amp; GESTION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2107406" y="2975610"/>
            <a:ext cx="800100" cy="1600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900" b="1">
                <a:solidFill>
                  <a:srgbClr val="33415C"/>
                </a:solidFill>
                <a:latin typeface="Calibri"/>
              </a:rPr>
              <a:t>→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2795826" y="3044190"/>
            <a:ext cx="1098709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>
                <a:solidFill>
                  <a:srgbClr val="0D1526"/>
                </a:solidFill>
                <a:latin typeface="Calibri"/>
              </a:rPr>
              <a:t>Harmony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894886" y="2939058"/>
            <a:ext cx="1400532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30" b="1" spc="31">
                <a:solidFill>
                  <a:srgbClr val="4CC9E8"/>
                </a:solidFill>
                <a:latin typeface="Calibri"/>
              </a:rPr>
              <a:t>SOCLE COMMUN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4311730" y="3002281"/>
            <a:ext cx="1034653" cy="11429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00" b="1" spc="30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851684" y="2987040"/>
            <a:ext cx="2173486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0">
                <a:solidFill>
                  <a:srgbClr val="33415C"/>
                </a:solidFill>
                <a:latin typeface="Calibri"/>
              </a:rPr>
              <a:t>Factures fournisseurs harmonisées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419100" y="3364230"/>
            <a:ext cx="1098709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>
                <a:solidFill>
                  <a:srgbClr val="0D1526"/>
                </a:solidFill>
                <a:latin typeface="Calibri"/>
              </a:rPr>
              <a:t>Harmony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518160" y="3259098"/>
            <a:ext cx="1400532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30" b="1" spc="31">
                <a:solidFill>
                  <a:srgbClr val="4CC9E8"/>
                </a:solidFill>
                <a:latin typeface="Calibri"/>
              </a:rPr>
              <a:t>SOCLE COMMUN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2107406" y="3295650"/>
            <a:ext cx="800100" cy="16001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900" b="1">
                <a:solidFill>
                  <a:srgbClr val="33415C"/>
                </a:solidFill>
                <a:latin typeface="Calibri"/>
              </a:rPr>
              <a:t>→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2795826" y="3364230"/>
            <a:ext cx="1077754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>
                <a:solidFill>
                  <a:srgbClr val="0D1526"/>
                </a:solidFill>
                <a:latin typeface="Calibri"/>
              </a:rPr>
              <a:t>Basware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894886" y="3259098"/>
            <a:ext cx="1658779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30" b="1" spc="31">
                <a:solidFill>
                  <a:srgbClr val="8257E6"/>
                </a:solidFill>
                <a:latin typeface="Calibri"/>
              </a:rPr>
              <a:t>CONTRATS &amp; GESTION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4311730" y="3322320"/>
            <a:ext cx="1034653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00" b="1" spc="30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5851684" y="3307080"/>
            <a:ext cx="1749981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0">
                <a:solidFill>
                  <a:srgbClr val="33415C"/>
                </a:solidFill>
                <a:latin typeface="Calibri"/>
              </a:rPr>
              <a:t>Retour de saisie et litiges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19100" y="3684270"/>
            <a:ext cx="1186934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>
                <a:solidFill>
                  <a:srgbClr val="0D1526"/>
                </a:solidFill>
                <a:latin typeface="Calibri"/>
              </a:rPr>
              <a:t>BIP / BAPS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18160" y="3579138"/>
            <a:ext cx="1400532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30" b="1" spc="31">
                <a:solidFill>
                  <a:srgbClr val="4CC9E8"/>
                </a:solidFill>
                <a:latin typeface="Calibri"/>
              </a:rPr>
              <a:t>SOCLE COMMUN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2107406" y="3615690"/>
            <a:ext cx="800100" cy="1600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900" b="1">
                <a:solidFill>
                  <a:srgbClr val="33415C"/>
                </a:solidFill>
                <a:latin typeface="Calibri"/>
              </a:rPr>
              <a:t>→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2795826" y="3684270"/>
            <a:ext cx="945237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>
                <a:solidFill>
                  <a:srgbClr val="0D1526"/>
                </a:solidFill>
                <a:latin typeface="Calibri"/>
              </a:rPr>
              <a:t>Puma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2894886" y="3579138"/>
            <a:ext cx="1400532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30" b="1" spc="31">
                <a:solidFill>
                  <a:srgbClr val="4CC9E8"/>
                </a:solidFill>
                <a:latin typeface="Calibri"/>
              </a:rPr>
              <a:t>SOCLE COMMUN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4311730" y="3642360"/>
            <a:ext cx="1034653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00" b="1" spc="30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5851684" y="3627120"/>
            <a:ext cx="1871782" cy="13716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0">
                <a:solidFill>
                  <a:srgbClr val="33415C"/>
                </a:solidFill>
                <a:latin typeface="Calibri"/>
              </a:rPr>
              <a:t>Heures chantier vers la paie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419100" y="4004310"/>
            <a:ext cx="1105733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>
                <a:solidFill>
                  <a:srgbClr val="0D1526"/>
                </a:solidFill>
                <a:latin typeface="Calibri"/>
              </a:rPr>
              <a:t>ERP MAT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18160" y="3899178"/>
            <a:ext cx="1088708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30" b="1" spc="31">
                <a:solidFill>
                  <a:srgbClr val="DD7E2C"/>
                </a:solidFill>
                <a:latin typeface="Calibri"/>
              </a:rPr>
              <a:t>TRAVAUX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2107406" y="3935730"/>
            <a:ext cx="800100" cy="1600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900" b="1">
                <a:solidFill>
                  <a:srgbClr val="33415C"/>
                </a:solidFill>
                <a:latin typeface="Calibri"/>
              </a:rPr>
              <a:t>→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795826" y="4004310"/>
            <a:ext cx="1093470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>
                <a:solidFill>
                  <a:srgbClr val="0D1526"/>
                </a:solidFill>
                <a:latin typeface="Calibri"/>
              </a:rPr>
              <a:t>Power BI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94886" y="3899178"/>
            <a:ext cx="1400532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30" b="1" spc="31">
                <a:solidFill>
                  <a:srgbClr val="4CC9E8"/>
                </a:solidFill>
                <a:latin typeface="Calibri"/>
              </a:rPr>
              <a:t>SOCLE COMMUN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4311730" y="3962400"/>
            <a:ext cx="1287899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00" b="1" spc="30">
                <a:solidFill>
                  <a:srgbClr val="0B7E99"/>
                </a:solidFill>
                <a:latin typeface="Calibri"/>
              </a:rPr>
              <a:t>AUTOMATIQUE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5851684" y="3947160"/>
            <a:ext cx="1469351" cy="13716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0">
                <a:solidFill>
                  <a:srgbClr val="33415C"/>
                </a:solidFill>
                <a:latin typeface="Calibri"/>
              </a:rPr>
              <a:t>Inventaire matériel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19100" y="4324350"/>
            <a:ext cx="1550670" cy="13716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>
                <a:solidFill>
                  <a:srgbClr val="0D1526"/>
                </a:solidFill>
                <a:latin typeface="Calibri"/>
              </a:rPr>
              <a:t>Wastemarket Place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18160" y="4219218"/>
            <a:ext cx="1440180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30" b="1" spc="31">
                <a:solidFill>
                  <a:srgbClr val="2E8B49"/>
                </a:solidFill>
                <a:latin typeface="Calibri"/>
              </a:rPr>
              <a:t>ENVIRONNEMENT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2107406" y="4255770"/>
            <a:ext cx="800100" cy="16001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900" b="1">
                <a:solidFill>
                  <a:srgbClr val="33415C"/>
                </a:solidFill>
                <a:latin typeface="Calibri"/>
              </a:rPr>
              <a:t>→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2795826" y="4324350"/>
            <a:ext cx="1093470" cy="13716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>
                <a:solidFill>
                  <a:srgbClr val="0D1526"/>
                </a:solidFill>
                <a:latin typeface="Calibri"/>
              </a:rPr>
              <a:t>Power BI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2894886" y="4219218"/>
            <a:ext cx="1400532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30" b="1" spc="31">
                <a:solidFill>
                  <a:srgbClr val="4CC9E8"/>
                </a:solidFill>
                <a:latin typeface="Calibri"/>
              </a:rPr>
              <a:t>SOCLE COMMUN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4311730" y="4282440"/>
            <a:ext cx="1287899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00" b="1" spc="30">
                <a:solidFill>
                  <a:srgbClr val="0B7E99"/>
                </a:solidFill>
                <a:latin typeface="Calibri"/>
              </a:rPr>
              <a:t>AUTOMATIQUE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5851684" y="4267200"/>
            <a:ext cx="1432441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0">
                <a:solidFill>
                  <a:srgbClr val="33415C"/>
                </a:solidFill>
                <a:latin typeface="Calibri"/>
              </a:rPr>
              <a:t>Suivi des déchets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419100" y="4644390"/>
            <a:ext cx="1432084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>
                <a:solidFill>
                  <a:srgbClr val="0D1526"/>
                </a:solidFill>
                <a:latin typeface="Calibri"/>
              </a:rPr>
              <a:t>Trimble Connect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518160" y="4539258"/>
            <a:ext cx="1400532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30" b="1" spc="31">
                <a:solidFill>
                  <a:srgbClr val="4CC9E8"/>
                </a:solidFill>
                <a:latin typeface="Calibri"/>
              </a:rPr>
              <a:t>SOCLE COMMUN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07406" y="4575810"/>
            <a:ext cx="800100" cy="1600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900" b="1">
                <a:solidFill>
                  <a:srgbClr val="33415C"/>
                </a:solidFill>
                <a:latin typeface="Calibri"/>
              </a:rPr>
              <a:t>→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795826" y="4644390"/>
            <a:ext cx="1109067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>
                <a:solidFill>
                  <a:srgbClr val="0D1526"/>
                </a:solidFill>
                <a:latin typeface="Calibri"/>
              </a:rPr>
              <a:t>AutoCAD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2894886" y="4539258"/>
            <a:ext cx="1319689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30" b="1" spc="31">
                <a:solidFill>
                  <a:srgbClr val="0E9E78"/>
                </a:solidFill>
                <a:latin typeface="Calibri"/>
              </a:rPr>
              <a:t>TOPOGRAPHIE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311730" y="4602480"/>
            <a:ext cx="1034653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00" b="1" spc="30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5851684" y="4587239"/>
            <a:ext cx="1887617" cy="13716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0">
                <a:solidFill>
                  <a:srgbClr val="33415C"/>
                </a:solidFill>
                <a:latin typeface="Calibri"/>
              </a:rPr>
              <a:t>Maquettes vers le dessin 2D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419100" y="4964429"/>
            <a:ext cx="1432084" cy="13716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>
                <a:solidFill>
                  <a:srgbClr val="0D1526"/>
                </a:solidFill>
                <a:latin typeface="Calibri"/>
              </a:rPr>
              <a:t>Trimble Connect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518160" y="4859298"/>
            <a:ext cx="1400532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30" b="1" spc="31">
                <a:solidFill>
                  <a:srgbClr val="4CC9E8"/>
                </a:solidFill>
                <a:latin typeface="Calibri"/>
              </a:rPr>
              <a:t>SOCLE COMMUN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2107406" y="4895850"/>
            <a:ext cx="800100" cy="1600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900" b="1">
                <a:solidFill>
                  <a:srgbClr val="33415C"/>
                </a:solidFill>
                <a:latin typeface="Calibri"/>
              </a:rPr>
              <a:t>→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2795826" y="4964429"/>
            <a:ext cx="1273373" cy="13716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>
                <a:solidFill>
                  <a:srgbClr val="0D1526"/>
                </a:solidFill>
                <a:latin typeface="Calibri"/>
              </a:rPr>
              <a:t>Cyclone 3DR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2894886" y="4859298"/>
            <a:ext cx="1319689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30" b="1" spc="31">
                <a:solidFill>
                  <a:srgbClr val="0E9E78"/>
                </a:solidFill>
                <a:latin typeface="Calibri"/>
              </a:rPr>
              <a:t>TOPOGRAPHIE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4311730" y="4922520"/>
            <a:ext cx="1287899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00" b="1" spc="30">
                <a:solidFill>
                  <a:srgbClr val="0B7E99"/>
                </a:solidFill>
                <a:latin typeface="Calibri"/>
              </a:rPr>
              <a:t>AUTOMATIQUE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5851684" y="4907281"/>
            <a:ext cx="2142054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0">
                <a:solidFill>
                  <a:srgbClr val="33415C"/>
                </a:solidFill>
                <a:latin typeface="Calibri"/>
              </a:rPr>
              <a:t>Maquettes vers le nuage de points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419100" y="5284471"/>
            <a:ext cx="1432084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>
                <a:solidFill>
                  <a:srgbClr val="0D1526"/>
                </a:solidFill>
                <a:latin typeface="Calibri"/>
              </a:rPr>
              <a:t>Trimble Connect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518160" y="5179338"/>
            <a:ext cx="1400532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30" b="1" spc="31">
                <a:solidFill>
                  <a:srgbClr val="4CC9E8"/>
                </a:solidFill>
                <a:latin typeface="Calibri"/>
              </a:rPr>
              <a:t>SOCLE COMMUN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2116574" y="5215890"/>
            <a:ext cx="781645" cy="16001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900" b="1">
                <a:solidFill>
                  <a:srgbClr val="33415C"/>
                </a:solidFill>
                <a:latin typeface="Calibri"/>
              </a:rPr>
              <a:t>⇢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2795826" y="5284471"/>
            <a:ext cx="1140976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>
                <a:solidFill>
                  <a:srgbClr val="0D1526"/>
                </a:solidFill>
                <a:latin typeface="Calibri"/>
              </a:rPr>
              <a:t>IDCapture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2894886" y="5179338"/>
            <a:ext cx="1440180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30" b="1" spc="31">
                <a:solidFill>
                  <a:srgbClr val="2E8B49"/>
                </a:solidFill>
                <a:latin typeface="Calibri"/>
              </a:rPr>
              <a:t>ENVIRONNEMENT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4311730" y="5242560"/>
            <a:ext cx="1076206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00" b="1" spc="30">
                <a:solidFill>
                  <a:srgbClr val="78879F"/>
                </a:solidFill>
                <a:latin typeface="Calibri"/>
              </a:rPr>
              <a:t>INDIRECT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5851684" y="5227320"/>
            <a:ext cx="3213616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0">
                <a:solidFill>
                  <a:srgbClr val="33415C"/>
                </a:solidFill>
                <a:latin typeface="Calibri"/>
              </a:rPr>
              <a:t>Repérage des constats — flux indirect, par captures d'écran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419100" y="5604510"/>
            <a:ext cx="1104067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>
                <a:solidFill>
                  <a:srgbClr val="0D1526"/>
                </a:solidFill>
                <a:latin typeface="Calibri"/>
              </a:rPr>
              <a:t>La Scene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518160" y="5499377"/>
            <a:ext cx="1319689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30" b="1" spc="31">
                <a:solidFill>
                  <a:srgbClr val="0E9E78"/>
                </a:solidFill>
                <a:latin typeface="Calibri"/>
              </a:rPr>
              <a:t>TOPOGRAPHIE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2107406" y="5535929"/>
            <a:ext cx="800100" cy="16002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900" b="1">
                <a:solidFill>
                  <a:srgbClr val="33415C"/>
                </a:solidFill>
                <a:latin typeface="Calibri"/>
              </a:rPr>
              <a:t>→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2795826" y="5604510"/>
            <a:ext cx="1273373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>
                <a:solidFill>
                  <a:srgbClr val="0D1526"/>
                </a:solidFill>
                <a:latin typeface="Calibri"/>
              </a:rPr>
              <a:t>Cyclone 3DR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2894886" y="5499377"/>
            <a:ext cx="1319689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30" b="1" spc="31">
                <a:solidFill>
                  <a:srgbClr val="0E9E78"/>
                </a:solidFill>
                <a:latin typeface="Calibri"/>
              </a:rPr>
              <a:t>TOPOGRAPHIE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4311730" y="5562600"/>
            <a:ext cx="1287899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00" b="1" spc="30">
                <a:solidFill>
                  <a:srgbClr val="0B7E99"/>
                </a:solidFill>
                <a:latin typeface="Calibri"/>
              </a:rPr>
              <a:t>AUTOMATIQUE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5851684" y="5547360"/>
            <a:ext cx="1792248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0">
                <a:solidFill>
                  <a:srgbClr val="33415C"/>
                </a:solidFill>
                <a:latin typeface="Calibri"/>
              </a:rPr>
              <a:t>Scans vers le retraitement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419100" y="5924550"/>
            <a:ext cx="1109067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>
                <a:solidFill>
                  <a:srgbClr val="0D1526"/>
                </a:solidFill>
                <a:latin typeface="Calibri"/>
              </a:rPr>
              <a:t>AutoCAD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518160" y="5819419"/>
            <a:ext cx="1319689" cy="12191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30" b="1" spc="31">
                <a:solidFill>
                  <a:srgbClr val="0E9E78"/>
                </a:solidFill>
                <a:latin typeface="Calibri"/>
              </a:rPr>
              <a:t>TOPOGRAPHIE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2107406" y="5855971"/>
            <a:ext cx="800100" cy="16001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900" b="1">
                <a:solidFill>
                  <a:srgbClr val="33415C"/>
                </a:solidFill>
                <a:latin typeface="Calibri"/>
              </a:rPr>
              <a:t>→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2795826" y="5924550"/>
            <a:ext cx="1056441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>
                <a:solidFill>
                  <a:srgbClr val="0D1526"/>
                </a:solidFill>
                <a:latin typeface="Calibri"/>
              </a:rPr>
              <a:t>Covadis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2894886" y="5819419"/>
            <a:ext cx="1319689" cy="12191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30" b="1" spc="31">
                <a:solidFill>
                  <a:srgbClr val="0E9E78"/>
                </a:solidFill>
                <a:latin typeface="Calibri"/>
              </a:rPr>
              <a:t>TOPOGRAPHIE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4311730" y="5882640"/>
            <a:ext cx="1034653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00" b="1" spc="30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5851684" y="5867400"/>
            <a:ext cx="1808202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0">
                <a:solidFill>
                  <a:srgbClr val="33415C"/>
                </a:solidFill>
                <a:latin typeface="Calibri"/>
              </a:rPr>
              <a:t>Plans vers les calculs topo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9304854" y="1196341"/>
            <a:ext cx="802124" cy="2743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739" b="1" spc="-52">
                <a:solidFill>
                  <a:srgbClr val="0D1526"/>
                </a:solidFill>
                <a:latin typeface="Calibri"/>
              </a:rPr>
              <a:t>9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9154597" y="1470660"/>
            <a:ext cx="1102756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70" b="1" spc="51">
                <a:solidFill>
                  <a:srgbClr val="78879F"/>
                </a:solidFill>
                <a:latin typeface="Calibri"/>
              </a:rPr>
              <a:t>SERVICES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698362" y="1196341"/>
            <a:ext cx="918447" cy="2743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739" b="1" spc="-52">
                <a:solidFill>
                  <a:srgbClr val="0D1526"/>
                </a:solidFill>
                <a:latin typeface="Calibri"/>
              </a:rPr>
              <a:t>54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0423922" y="1470660"/>
            <a:ext cx="1467327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70" b="1" spc="51">
                <a:solidFill>
                  <a:srgbClr val="78879F"/>
                </a:solidFill>
                <a:latin typeface="Calibri"/>
              </a:rPr>
              <a:t>OUTILS RECENSÉS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9246751" y="1789747"/>
            <a:ext cx="918448" cy="27432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739" b="1" spc="-52">
                <a:solidFill>
                  <a:srgbClr val="0D1526"/>
                </a:solidFill>
                <a:latin typeface="Calibri"/>
              </a:rPr>
              <a:t>18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9022319" y="2064067"/>
            <a:ext cx="1367313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70" b="1" spc="51">
                <a:solidFill>
                  <a:srgbClr val="78879F"/>
                </a:solidFill>
                <a:latin typeface="Calibri"/>
              </a:rPr>
              <a:t>SOCLE COMMUN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10698362" y="1789747"/>
            <a:ext cx="918447" cy="27432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739" b="1" spc="-52">
                <a:solidFill>
                  <a:srgbClr val="0D1526"/>
                </a:solidFill>
                <a:latin typeface="Calibri"/>
              </a:rPr>
              <a:t>15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0462141" y="2064067"/>
            <a:ext cx="1390887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70" b="1" spc="51">
                <a:solidFill>
                  <a:srgbClr val="78879F"/>
                </a:solidFill>
                <a:latin typeface="Calibri"/>
              </a:rPr>
              <a:t>FLUX IDENTIFIÉS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9151620" y="2459355"/>
            <a:ext cx="1933338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60" b="1" spc="119">
                <a:solidFill>
                  <a:srgbClr val="78879F"/>
                </a:solidFill>
                <a:latin typeface="Calibri"/>
              </a:rPr>
              <a:t>RÉPARTITION DU PARC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9151620" y="2897862"/>
            <a:ext cx="951310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60" b="1">
                <a:solidFill>
                  <a:srgbClr val="33415C"/>
                </a:solidFill>
                <a:latin typeface="Calibri"/>
              </a:rPr>
              <a:t>Nature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9951006" y="2897862"/>
            <a:ext cx="2446734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60" b="0">
                <a:solidFill>
                  <a:srgbClr val="78879F"/>
                </a:solidFill>
                <a:latin typeface="Calibri"/>
              </a:rPr>
              <a:t>Externes 28 · Internes 16 · Non renseigné 10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9151620" y="3187423"/>
            <a:ext cx="1193483" cy="12191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60" b="1">
                <a:solidFill>
                  <a:srgbClr val="33415C"/>
                </a:solidFill>
                <a:latin typeface="Calibri"/>
              </a:rPr>
              <a:t>Alimentation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9926479" y="3187423"/>
            <a:ext cx="2471261" cy="12191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60" b="0">
                <a:solidFill>
                  <a:srgbClr val="78879F"/>
                </a:solidFill>
                <a:latin typeface="Calibri"/>
              </a:rPr>
              <a:t>Manuel 42 · Automatique 8 · Non renseigné 4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9151620" y="3476983"/>
            <a:ext cx="1016437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60" b="1">
                <a:solidFill>
                  <a:srgbClr val="33415C"/>
                </a:solidFill>
                <a:latin typeface="Calibri"/>
              </a:rPr>
              <a:t>Position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0030302" y="3476983"/>
            <a:ext cx="2367438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60" b="0">
                <a:solidFill>
                  <a:srgbClr val="78879F"/>
                </a:solidFill>
                <a:latin typeface="Calibri"/>
              </a:rPr>
              <a:t>Applications métier 36 · Socle commun 18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9151620" y="4281250"/>
            <a:ext cx="1846541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60" b="1" spc="119">
                <a:solidFill>
                  <a:srgbClr val="4CC9E8"/>
                </a:solidFill>
                <a:latin typeface="Calibri"/>
              </a:rPr>
              <a:t>POINTS D'ATTENTION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9197816" y="4558427"/>
            <a:ext cx="738188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70" b="1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9349740" y="4522231"/>
            <a:ext cx="2392680" cy="32694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050"/>
              </a:lnSpc>
            </a:pPr>
            <a:r>
              <a:rPr sz="740" b="1">
                <a:solidFill>
                  <a:srgbClr val="FFFFFF"/>
                </a:solidFill>
                <a:latin typeface="Calibri"/>
              </a:rPr>
              <a:t>42 outils sur 54</a:t>
            </a:r>
            <a:r>
              <a:rPr sz="740" b="0">
                <a:solidFill>
                  <a:srgbClr val="C9D5EA"/>
                </a:solidFill>
                <a:latin typeface="Calibri"/>
              </a:rPr>
              <a:t> sont alimentés manuellement : la ressaisie est le principal point de fragilité du dispositif.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9197816" y="5032177"/>
            <a:ext cx="738188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70" b="1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9349740" y="4995981"/>
            <a:ext cx="2392680" cy="32694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050"/>
              </a:lnSpc>
            </a:pPr>
            <a:r>
              <a:rPr sz="740" b="1">
                <a:solidFill>
                  <a:srgbClr val="FFFFFF"/>
                </a:solidFill>
                <a:latin typeface="Calibri"/>
              </a:rPr>
              <a:t>Excel</a:t>
            </a:r>
            <a:r>
              <a:rPr sz="740" b="0">
                <a:solidFill>
                  <a:srgbClr val="C9D5EA"/>
                </a:solidFill>
                <a:latin typeface="Calibri"/>
              </a:rPr>
              <a:t> est présent dans 7 services et concentre les échanges sans interface formalisée.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9197816" y="5505927"/>
            <a:ext cx="738188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70" b="1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9349740" y="5469731"/>
            <a:ext cx="2392680" cy="45993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050"/>
              </a:lnSpc>
            </a:pPr>
            <a:r>
              <a:rPr sz="740" b="0">
                <a:solidFill>
                  <a:srgbClr val="C9D5EA"/>
                </a:solidFill>
                <a:latin typeface="Calibri"/>
              </a:rPr>
              <a:t>Seuls </a:t>
            </a:r>
            <a:r>
              <a:rPr sz="740" b="1">
                <a:solidFill>
                  <a:srgbClr val="FFFFFF"/>
                </a:solidFill>
                <a:latin typeface="Calibri"/>
              </a:rPr>
              <a:t>8 outils</a:t>
            </a:r>
            <a:r>
              <a:rPr sz="740" b="0">
                <a:solidFill>
                  <a:srgbClr val="C9D5EA"/>
                </a:solidFill>
                <a:latin typeface="Calibri"/>
              </a:rPr>
              <a:t> disposent d'une alimentation automatique, dont Power BI qui dépend d'exports manuels en amont.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9197816" y="6112669"/>
            <a:ext cx="738188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70" b="1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9349740" y="6076474"/>
            <a:ext cx="2392680" cy="32694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050"/>
              </a:lnSpc>
            </a:pPr>
            <a:r>
              <a:rPr sz="740" b="1">
                <a:solidFill>
                  <a:srgbClr val="FFFFFF"/>
                </a:solidFill>
                <a:latin typeface="Calibri"/>
              </a:rPr>
              <a:t>4 outils</a:t>
            </a:r>
            <a:r>
              <a:rPr sz="740" b="0">
                <a:solidFill>
                  <a:srgbClr val="C9D5EA"/>
                </a:solidFill>
                <a:latin typeface="Calibri"/>
              </a:rPr>
              <a:t> restent à qualifier : aucun entretien ne documente leur nature ni leur alimentation.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342900" y="6644640"/>
            <a:ext cx="258699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>
                <a:solidFill>
                  <a:srgbClr val="78879F"/>
                </a:solidFill>
                <a:latin typeface="Calibri"/>
              </a:rPr>
              <a:t>Source : BDD Cartographie Outils IT — 16 entretiens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11429762" y="6644640"/>
            <a:ext cx="1105138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>
                <a:solidFill>
                  <a:srgbClr val="78879F"/>
                </a:solidFill>
                <a:latin typeface="Calibri"/>
              </a:rPr>
              <a:t>Planche 2/3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0333911" y="358140"/>
            <a:ext cx="244792" cy="129539"/>
          </a:xfrm>
          <a:prstGeom prst="roundRect">
            <a:avLst>
              <a:gd name="adj" fmla="val 50000"/>
            </a:avLst>
          </a:prstGeom>
          <a:solidFill>
            <a:srgbClr val="5B57D6">
              <a:alpha val="13000"/>
            </a:srgbClr>
          </a:solidFill>
          <a:ln w="7620">
            <a:solidFill>
              <a:srgbClr val="5B57D6">
                <a:alpha val="3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333911" y="548640"/>
            <a:ext cx="331470" cy="129539"/>
          </a:xfrm>
          <a:prstGeom prst="roundRect">
            <a:avLst>
              <a:gd name="adj" fmla="val 50000"/>
            </a:avLst>
          </a:prstGeom>
          <a:solidFill>
            <a:srgbClr val="4CC9E8">
              <a:alpha val="17000"/>
            </a:srgbClr>
          </a:solidFill>
          <a:ln w="7620">
            <a:solidFill>
              <a:srgbClr val="4CC9E8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0333911" y="739140"/>
            <a:ext cx="167996" cy="129539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3008114" y="1347906"/>
            <a:ext cx="53340" cy="53341"/>
          </a:xfrm>
          <a:prstGeom prst="ellipse">
            <a:avLst/>
          </a:prstGeom>
          <a:solidFill>
            <a:srgbClr val="8257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027170" y="1306831"/>
            <a:ext cx="167997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46226" y="1306831"/>
            <a:ext cx="167997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008114" y="1544479"/>
            <a:ext cx="53340" cy="53339"/>
          </a:xfrm>
          <a:prstGeom prst="ellipse">
            <a:avLst/>
          </a:prstGeom>
          <a:solidFill>
            <a:srgbClr val="3A6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027170" y="1503401"/>
            <a:ext cx="402312" cy="135614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46226" y="1503401"/>
            <a:ext cx="382905" cy="135614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3008114" y="1741052"/>
            <a:ext cx="53340" cy="53339"/>
          </a:xfrm>
          <a:prstGeom prst="ellipse">
            <a:avLst/>
          </a:prstGeom>
          <a:solidFill>
            <a:srgbClr val="3A6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084314" y="1741052"/>
            <a:ext cx="53340" cy="53339"/>
          </a:xfrm>
          <a:prstGeom prst="ellipse">
            <a:avLst/>
          </a:prstGeom>
          <a:solidFill>
            <a:srgbClr val="0E9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160514" y="1741052"/>
            <a:ext cx="53340" cy="53339"/>
          </a:xfrm>
          <a:prstGeom prst="ellipse">
            <a:avLst/>
          </a:prstGeom>
          <a:solidFill>
            <a:srgbClr val="0F8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027170" y="1699974"/>
            <a:ext cx="402312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046226" y="1699974"/>
            <a:ext cx="382905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008114" y="1937623"/>
            <a:ext cx="53340" cy="53341"/>
          </a:xfrm>
          <a:prstGeom prst="ellipse">
            <a:avLst/>
          </a:prstGeom>
          <a:solidFill>
            <a:srgbClr val="5B57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084314" y="1937623"/>
            <a:ext cx="53340" cy="53341"/>
          </a:xfrm>
          <a:prstGeom prst="ellipse">
            <a:avLst/>
          </a:prstGeom>
          <a:solidFill>
            <a:srgbClr val="8257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027170" y="1896547"/>
            <a:ext cx="379452" cy="135612"/>
          </a:xfrm>
          <a:prstGeom prst="roundRect">
            <a:avLst>
              <a:gd name="adj" fmla="val 50000"/>
            </a:avLst>
          </a:prstGeom>
          <a:solidFill>
            <a:srgbClr val="5B57D6">
              <a:alpha val="13000"/>
            </a:srgbClr>
          </a:solidFill>
          <a:ln w="7620">
            <a:solidFill>
              <a:srgbClr val="5B57D6">
                <a:alpha val="3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046226" y="1896547"/>
            <a:ext cx="382905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008114" y="2134195"/>
            <a:ext cx="53340" cy="53341"/>
          </a:xfrm>
          <a:prstGeom prst="ellipse">
            <a:avLst/>
          </a:prstGeom>
          <a:solidFill>
            <a:srgbClr val="5B57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027170" y="2093120"/>
            <a:ext cx="402312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046226" y="2093120"/>
            <a:ext cx="382905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3008114" y="2330768"/>
            <a:ext cx="53340" cy="53339"/>
          </a:xfrm>
          <a:prstGeom prst="ellipse">
            <a:avLst/>
          </a:prstGeom>
          <a:solidFill>
            <a:srgbClr val="3A6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4027170" y="2289690"/>
            <a:ext cx="402312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5046226" y="2289690"/>
            <a:ext cx="382905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008114" y="2527341"/>
            <a:ext cx="53340" cy="53339"/>
          </a:xfrm>
          <a:prstGeom prst="ellipse">
            <a:avLst/>
          </a:prstGeom>
          <a:solidFill>
            <a:srgbClr val="B45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4027170" y="2486263"/>
            <a:ext cx="379452" cy="135612"/>
          </a:xfrm>
          <a:prstGeom prst="roundRect">
            <a:avLst>
              <a:gd name="adj" fmla="val 50000"/>
            </a:avLst>
          </a:prstGeom>
          <a:solidFill>
            <a:srgbClr val="5B57D6">
              <a:alpha val="13000"/>
            </a:srgbClr>
          </a:solidFill>
          <a:ln w="7620">
            <a:solidFill>
              <a:srgbClr val="5B57D6">
                <a:alpha val="3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5046226" y="2486263"/>
            <a:ext cx="382905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3008114" y="2723912"/>
            <a:ext cx="53340" cy="53341"/>
          </a:xfrm>
          <a:prstGeom prst="ellipse">
            <a:avLst/>
          </a:prstGeom>
          <a:solidFill>
            <a:srgbClr val="B45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4027170" y="2682836"/>
            <a:ext cx="379452" cy="135612"/>
          </a:xfrm>
          <a:prstGeom prst="roundRect">
            <a:avLst>
              <a:gd name="adj" fmla="val 50000"/>
            </a:avLst>
          </a:prstGeom>
          <a:solidFill>
            <a:srgbClr val="5B57D6">
              <a:alpha val="13000"/>
            </a:srgbClr>
          </a:solidFill>
          <a:ln w="7620">
            <a:solidFill>
              <a:srgbClr val="5B57D6">
                <a:alpha val="3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5046226" y="2682836"/>
            <a:ext cx="382905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008114" y="2920484"/>
            <a:ext cx="53340" cy="53341"/>
          </a:xfrm>
          <a:prstGeom prst="ellipse">
            <a:avLst/>
          </a:prstGeom>
          <a:solidFill>
            <a:srgbClr val="C2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4027170" y="2879407"/>
            <a:ext cx="167997" cy="135614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5046226" y="2879407"/>
            <a:ext cx="167997" cy="135614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3008114" y="3117057"/>
            <a:ext cx="53340" cy="53339"/>
          </a:xfrm>
          <a:prstGeom prst="ellipse">
            <a:avLst/>
          </a:prstGeom>
          <a:solidFill>
            <a:srgbClr val="3A6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4027170" y="3075979"/>
            <a:ext cx="402312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5046226" y="3075979"/>
            <a:ext cx="382905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3008114" y="3313628"/>
            <a:ext cx="53340" cy="53341"/>
          </a:xfrm>
          <a:prstGeom prst="ellipse">
            <a:avLst/>
          </a:prstGeom>
          <a:solidFill>
            <a:srgbClr val="0E9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4027170" y="3272552"/>
            <a:ext cx="167997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5046226" y="3272552"/>
            <a:ext cx="382905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3008114" y="3510201"/>
            <a:ext cx="53340" cy="53341"/>
          </a:xfrm>
          <a:prstGeom prst="ellipse">
            <a:avLst/>
          </a:prstGeom>
          <a:solidFill>
            <a:srgbClr val="5B57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4027170" y="3469125"/>
            <a:ext cx="402312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5046226" y="3469125"/>
            <a:ext cx="382905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3008114" y="3706773"/>
            <a:ext cx="53340" cy="53339"/>
          </a:xfrm>
          <a:prstGeom prst="ellipse">
            <a:avLst/>
          </a:prstGeom>
          <a:solidFill>
            <a:srgbClr val="0E9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4027170" y="3665696"/>
            <a:ext cx="167997" cy="135614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5046226" y="3665696"/>
            <a:ext cx="317897" cy="135614"/>
          </a:xfrm>
          <a:prstGeom prst="roundRect">
            <a:avLst>
              <a:gd name="adj" fmla="val 50000"/>
            </a:avLst>
          </a:prstGeom>
          <a:solidFill>
            <a:srgbClr val="4CC9E8">
              <a:alpha val="17000"/>
            </a:srgbClr>
          </a:solidFill>
          <a:ln w="7620">
            <a:solidFill>
              <a:srgbClr val="4CC9E8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3008114" y="3903344"/>
            <a:ext cx="53340" cy="53341"/>
          </a:xfrm>
          <a:prstGeom prst="ellipse">
            <a:avLst/>
          </a:prstGeom>
          <a:solidFill>
            <a:srgbClr val="5B57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3084314" y="3903344"/>
            <a:ext cx="53340" cy="53341"/>
          </a:xfrm>
          <a:prstGeom prst="ellipse">
            <a:avLst/>
          </a:prstGeom>
          <a:solidFill>
            <a:srgbClr val="8257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4027170" y="3862268"/>
            <a:ext cx="402312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5046226" y="3862268"/>
            <a:ext cx="382905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3008114" y="4099917"/>
            <a:ext cx="53340" cy="53341"/>
          </a:xfrm>
          <a:prstGeom prst="ellipse">
            <a:avLst/>
          </a:prstGeom>
          <a:solidFill>
            <a:srgbClr val="5B57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3084314" y="4099917"/>
            <a:ext cx="53340" cy="53341"/>
          </a:xfrm>
          <a:prstGeom prst="ellipse">
            <a:avLst/>
          </a:prstGeom>
          <a:solidFill>
            <a:srgbClr val="B45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4027170" y="4058841"/>
            <a:ext cx="402312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5046226" y="4058841"/>
            <a:ext cx="382905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3008114" y="4296490"/>
            <a:ext cx="53340" cy="53339"/>
          </a:xfrm>
          <a:prstGeom prst="ellipse">
            <a:avLst/>
          </a:prstGeom>
          <a:solidFill>
            <a:srgbClr val="5B57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3084314" y="4296490"/>
            <a:ext cx="53340" cy="53339"/>
          </a:xfrm>
          <a:prstGeom prst="ellipse">
            <a:avLst/>
          </a:prstGeom>
          <a:solidFill>
            <a:srgbClr val="DD7E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4027170" y="4255414"/>
            <a:ext cx="379452" cy="135612"/>
          </a:xfrm>
          <a:prstGeom prst="roundRect">
            <a:avLst>
              <a:gd name="adj" fmla="val 50000"/>
            </a:avLst>
          </a:prstGeom>
          <a:solidFill>
            <a:srgbClr val="5B57D6">
              <a:alpha val="13000"/>
            </a:srgbClr>
          </a:solidFill>
          <a:ln w="7620">
            <a:solidFill>
              <a:srgbClr val="5B57D6">
                <a:alpha val="3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5046226" y="4255414"/>
            <a:ext cx="382905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3008114" y="4493062"/>
            <a:ext cx="53340" cy="53339"/>
          </a:xfrm>
          <a:prstGeom prst="ellipse">
            <a:avLst/>
          </a:prstGeom>
          <a:solidFill>
            <a:srgbClr val="8257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4027170" y="4451985"/>
            <a:ext cx="167997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5046226" y="4451985"/>
            <a:ext cx="382905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3008114" y="4689635"/>
            <a:ext cx="53340" cy="53339"/>
          </a:xfrm>
          <a:prstGeom prst="ellipse">
            <a:avLst/>
          </a:prstGeom>
          <a:solidFill>
            <a:srgbClr val="DD7E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4027170" y="4648557"/>
            <a:ext cx="379452" cy="135612"/>
          </a:xfrm>
          <a:prstGeom prst="roundRect">
            <a:avLst>
              <a:gd name="adj" fmla="val 50000"/>
            </a:avLst>
          </a:prstGeom>
          <a:solidFill>
            <a:srgbClr val="5B57D6">
              <a:alpha val="13000"/>
            </a:srgbClr>
          </a:solidFill>
          <a:ln w="7620">
            <a:solidFill>
              <a:srgbClr val="5B57D6">
                <a:alpha val="3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5046226" y="4648557"/>
            <a:ext cx="382905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3008114" y="4886206"/>
            <a:ext cx="53340" cy="53341"/>
          </a:xfrm>
          <a:prstGeom prst="ellipse">
            <a:avLst/>
          </a:prstGeom>
          <a:solidFill>
            <a:srgbClr val="5B57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3084314" y="4886206"/>
            <a:ext cx="53340" cy="53341"/>
          </a:xfrm>
          <a:prstGeom prst="ellipse">
            <a:avLst/>
          </a:prstGeom>
          <a:solidFill>
            <a:srgbClr val="8257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3160514" y="4886206"/>
            <a:ext cx="53340" cy="53341"/>
          </a:xfrm>
          <a:prstGeom prst="ellipse">
            <a:avLst/>
          </a:prstGeom>
          <a:solidFill>
            <a:srgbClr val="C2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3236714" y="4886206"/>
            <a:ext cx="53340" cy="53341"/>
          </a:xfrm>
          <a:prstGeom prst="ellipse">
            <a:avLst/>
          </a:prstGeom>
          <a:solidFill>
            <a:srgbClr val="B45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3312914" y="4886206"/>
            <a:ext cx="53340" cy="53341"/>
          </a:xfrm>
          <a:prstGeom prst="ellipse">
            <a:avLst/>
          </a:prstGeom>
          <a:solidFill>
            <a:srgbClr val="0E9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3389114" y="4886206"/>
            <a:ext cx="53340" cy="53341"/>
          </a:xfrm>
          <a:prstGeom prst="ellipse">
            <a:avLst/>
          </a:prstGeom>
          <a:solidFill>
            <a:srgbClr val="DD7E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3465314" y="4886206"/>
            <a:ext cx="53340" cy="53341"/>
          </a:xfrm>
          <a:prstGeom prst="ellipse">
            <a:avLst/>
          </a:prstGeom>
          <a:solidFill>
            <a:srgbClr val="0F8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2" name="Rounded Rectangle 71"/>
          <p:cNvSpPr/>
          <p:nvPr/>
        </p:nvSpPr>
        <p:spPr>
          <a:xfrm>
            <a:off x="4027170" y="4845130"/>
            <a:ext cx="402312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3" name="Rounded Rectangle 72"/>
          <p:cNvSpPr/>
          <p:nvPr/>
        </p:nvSpPr>
        <p:spPr>
          <a:xfrm>
            <a:off x="5046226" y="4845130"/>
            <a:ext cx="382905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3008114" y="5082779"/>
            <a:ext cx="53340" cy="53341"/>
          </a:xfrm>
          <a:prstGeom prst="ellipse">
            <a:avLst/>
          </a:prstGeom>
          <a:solidFill>
            <a:srgbClr val="0F8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5" name="Rounded Rectangle 74"/>
          <p:cNvSpPr/>
          <p:nvPr/>
        </p:nvSpPr>
        <p:spPr>
          <a:xfrm>
            <a:off x="4027170" y="5041701"/>
            <a:ext cx="167997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6" name="Rounded Rectangle 75"/>
          <p:cNvSpPr/>
          <p:nvPr/>
        </p:nvSpPr>
        <p:spPr>
          <a:xfrm>
            <a:off x="5046226" y="5041701"/>
            <a:ext cx="167997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3008114" y="5279351"/>
            <a:ext cx="53340" cy="53339"/>
          </a:xfrm>
          <a:prstGeom prst="ellipse">
            <a:avLst/>
          </a:prstGeom>
          <a:solidFill>
            <a:srgbClr val="B45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8" name="Rounded Rectangle 77"/>
          <p:cNvSpPr/>
          <p:nvPr/>
        </p:nvSpPr>
        <p:spPr>
          <a:xfrm>
            <a:off x="4027170" y="5238274"/>
            <a:ext cx="379452" cy="135612"/>
          </a:xfrm>
          <a:prstGeom prst="roundRect">
            <a:avLst>
              <a:gd name="adj" fmla="val 50000"/>
            </a:avLst>
          </a:prstGeom>
          <a:solidFill>
            <a:srgbClr val="5B57D6">
              <a:alpha val="13000"/>
            </a:srgbClr>
          </a:solidFill>
          <a:ln w="7620">
            <a:solidFill>
              <a:srgbClr val="5B57D6">
                <a:alpha val="3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9" name="Rounded Rectangle 78"/>
          <p:cNvSpPr/>
          <p:nvPr/>
        </p:nvSpPr>
        <p:spPr>
          <a:xfrm>
            <a:off x="5046226" y="5238274"/>
            <a:ext cx="382905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3008114" y="5475922"/>
            <a:ext cx="53340" cy="53341"/>
          </a:xfrm>
          <a:prstGeom prst="ellipse">
            <a:avLst/>
          </a:prstGeom>
          <a:solidFill>
            <a:srgbClr val="8257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1" name="Rounded Rectangle 80"/>
          <p:cNvSpPr/>
          <p:nvPr/>
        </p:nvSpPr>
        <p:spPr>
          <a:xfrm>
            <a:off x="4027170" y="5434846"/>
            <a:ext cx="379452" cy="135612"/>
          </a:xfrm>
          <a:prstGeom prst="roundRect">
            <a:avLst>
              <a:gd name="adj" fmla="val 50000"/>
            </a:avLst>
          </a:prstGeom>
          <a:solidFill>
            <a:srgbClr val="5B57D6">
              <a:alpha val="13000"/>
            </a:srgbClr>
          </a:solidFill>
          <a:ln w="7620">
            <a:solidFill>
              <a:srgbClr val="5B57D6">
                <a:alpha val="3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2" name="Rounded Rectangle 81"/>
          <p:cNvSpPr/>
          <p:nvPr/>
        </p:nvSpPr>
        <p:spPr>
          <a:xfrm>
            <a:off x="5046226" y="5434846"/>
            <a:ext cx="382905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3008114" y="5672495"/>
            <a:ext cx="53340" cy="53341"/>
          </a:xfrm>
          <a:prstGeom prst="ellipse">
            <a:avLst/>
          </a:prstGeom>
          <a:solidFill>
            <a:srgbClr val="2E8B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3084314" y="5672495"/>
            <a:ext cx="53340" cy="53341"/>
          </a:xfrm>
          <a:prstGeom prst="ellipse">
            <a:avLst/>
          </a:prstGeom>
          <a:solidFill>
            <a:srgbClr val="C2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3160514" y="5672495"/>
            <a:ext cx="53340" cy="53341"/>
          </a:xfrm>
          <a:prstGeom prst="ellipse">
            <a:avLst/>
          </a:prstGeom>
          <a:solidFill>
            <a:srgbClr val="DD7E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3236714" y="5672495"/>
            <a:ext cx="53340" cy="53341"/>
          </a:xfrm>
          <a:prstGeom prst="ellipse">
            <a:avLst/>
          </a:prstGeom>
          <a:solidFill>
            <a:srgbClr val="0F8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7" name="Rounded Rectangle 86"/>
          <p:cNvSpPr/>
          <p:nvPr/>
        </p:nvSpPr>
        <p:spPr>
          <a:xfrm>
            <a:off x="4027170" y="5631417"/>
            <a:ext cx="402312" cy="135614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8" name="Rounded Rectangle 87"/>
          <p:cNvSpPr/>
          <p:nvPr/>
        </p:nvSpPr>
        <p:spPr>
          <a:xfrm>
            <a:off x="5046226" y="5631417"/>
            <a:ext cx="382905" cy="135614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3008114" y="5869067"/>
            <a:ext cx="53340" cy="53339"/>
          </a:xfrm>
          <a:prstGeom prst="ellipse">
            <a:avLst/>
          </a:prstGeom>
          <a:solidFill>
            <a:srgbClr val="3A6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0" name="Rounded Rectangle 89"/>
          <p:cNvSpPr/>
          <p:nvPr/>
        </p:nvSpPr>
        <p:spPr>
          <a:xfrm>
            <a:off x="4027170" y="5827990"/>
            <a:ext cx="402312" cy="135614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1" name="Rounded Rectangle 90"/>
          <p:cNvSpPr/>
          <p:nvPr/>
        </p:nvSpPr>
        <p:spPr>
          <a:xfrm>
            <a:off x="5046226" y="5827990"/>
            <a:ext cx="382905" cy="135614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3008114" y="6065638"/>
            <a:ext cx="53340" cy="53341"/>
          </a:xfrm>
          <a:prstGeom prst="ellipse">
            <a:avLst/>
          </a:prstGeom>
          <a:solidFill>
            <a:srgbClr val="0E9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3" name="Rounded Rectangle 92"/>
          <p:cNvSpPr/>
          <p:nvPr/>
        </p:nvSpPr>
        <p:spPr>
          <a:xfrm>
            <a:off x="4027170" y="6024562"/>
            <a:ext cx="167997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4" name="Rounded Rectangle 93"/>
          <p:cNvSpPr/>
          <p:nvPr/>
        </p:nvSpPr>
        <p:spPr>
          <a:xfrm>
            <a:off x="5046226" y="6024562"/>
            <a:ext cx="382905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3008114" y="6262211"/>
            <a:ext cx="53340" cy="53341"/>
          </a:xfrm>
          <a:prstGeom prst="ellipse">
            <a:avLst/>
          </a:prstGeom>
          <a:solidFill>
            <a:srgbClr val="2E8B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6" name="Rounded Rectangle 95"/>
          <p:cNvSpPr/>
          <p:nvPr/>
        </p:nvSpPr>
        <p:spPr>
          <a:xfrm>
            <a:off x="4027170" y="6221135"/>
            <a:ext cx="402312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7" name="Rounded Rectangle 96"/>
          <p:cNvSpPr/>
          <p:nvPr/>
        </p:nvSpPr>
        <p:spPr>
          <a:xfrm>
            <a:off x="5046226" y="6221135"/>
            <a:ext cx="294561" cy="135612"/>
          </a:xfrm>
          <a:prstGeom prst="roundRect">
            <a:avLst>
              <a:gd name="adj" fmla="val 50000"/>
            </a:avLst>
          </a:prstGeom>
          <a:solidFill>
            <a:srgbClr val="4CC9E8">
              <a:alpha val="17000"/>
            </a:srgbClr>
          </a:solidFill>
          <a:ln w="7620">
            <a:solidFill>
              <a:srgbClr val="4CC9E8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3008114" y="6458784"/>
            <a:ext cx="53340" cy="53339"/>
          </a:xfrm>
          <a:prstGeom prst="ellipse">
            <a:avLst/>
          </a:prstGeom>
          <a:solidFill>
            <a:srgbClr val="2E8B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9" name="Rounded Rectangle 98"/>
          <p:cNvSpPr/>
          <p:nvPr/>
        </p:nvSpPr>
        <p:spPr>
          <a:xfrm>
            <a:off x="4027170" y="6417708"/>
            <a:ext cx="402312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0" name="Rounded Rectangle 99"/>
          <p:cNvSpPr/>
          <p:nvPr/>
        </p:nvSpPr>
        <p:spPr>
          <a:xfrm>
            <a:off x="5046226" y="6417708"/>
            <a:ext cx="294561" cy="135612"/>
          </a:xfrm>
          <a:prstGeom prst="roundRect">
            <a:avLst>
              <a:gd name="adj" fmla="val 50000"/>
            </a:avLst>
          </a:prstGeom>
          <a:solidFill>
            <a:srgbClr val="4CC9E8">
              <a:alpha val="17000"/>
            </a:srgbClr>
          </a:solidFill>
          <a:ln w="7620">
            <a:solidFill>
              <a:srgbClr val="4CC9E8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8852655" y="1347906"/>
            <a:ext cx="53340" cy="53341"/>
          </a:xfrm>
          <a:prstGeom prst="ellipse">
            <a:avLst/>
          </a:prstGeom>
          <a:solidFill>
            <a:srgbClr val="2E8B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2" name="Rounded Rectangle 101"/>
          <p:cNvSpPr/>
          <p:nvPr/>
        </p:nvSpPr>
        <p:spPr>
          <a:xfrm>
            <a:off x="9871710" y="1306831"/>
            <a:ext cx="402312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3" name="Rounded Rectangle 102"/>
          <p:cNvSpPr/>
          <p:nvPr/>
        </p:nvSpPr>
        <p:spPr>
          <a:xfrm>
            <a:off x="10890766" y="1306831"/>
            <a:ext cx="382906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8852655" y="1544479"/>
            <a:ext cx="53340" cy="53339"/>
          </a:xfrm>
          <a:prstGeom prst="ellipse">
            <a:avLst/>
          </a:prstGeom>
          <a:solidFill>
            <a:srgbClr val="3A6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8928854" y="1544479"/>
            <a:ext cx="53340" cy="53339"/>
          </a:xfrm>
          <a:prstGeom prst="ellipse">
            <a:avLst/>
          </a:prstGeom>
          <a:solidFill>
            <a:srgbClr val="C2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9005055" y="1544479"/>
            <a:ext cx="53340" cy="53339"/>
          </a:xfrm>
          <a:prstGeom prst="ellipse">
            <a:avLst/>
          </a:prstGeom>
          <a:solidFill>
            <a:srgbClr val="DD7E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7" name="Rounded Rectangle 106"/>
          <p:cNvSpPr/>
          <p:nvPr/>
        </p:nvSpPr>
        <p:spPr>
          <a:xfrm>
            <a:off x="9871710" y="1503401"/>
            <a:ext cx="402312" cy="135614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8" name="Rounded Rectangle 107"/>
          <p:cNvSpPr/>
          <p:nvPr/>
        </p:nvSpPr>
        <p:spPr>
          <a:xfrm>
            <a:off x="10890766" y="1503401"/>
            <a:ext cx="317897" cy="135614"/>
          </a:xfrm>
          <a:prstGeom prst="roundRect">
            <a:avLst>
              <a:gd name="adj" fmla="val 50000"/>
            </a:avLst>
          </a:prstGeom>
          <a:solidFill>
            <a:srgbClr val="4CC9E8">
              <a:alpha val="17000"/>
            </a:srgbClr>
          </a:solidFill>
          <a:ln w="7620">
            <a:solidFill>
              <a:srgbClr val="4CC9E8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8852655" y="1741052"/>
            <a:ext cx="53340" cy="53339"/>
          </a:xfrm>
          <a:prstGeom prst="ellipse">
            <a:avLst/>
          </a:prstGeom>
          <a:solidFill>
            <a:srgbClr val="5B57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0" name="Rounded Rectangle 109"/>
          <p:cNvSpPr/>
          <p:nvPr/>
        </p:nvSpPr>
        <p:spPr>
          <a:xfrm>
            <a:off x="9871710" y="1699974"/>
            <a:ext cx="167997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1" name="Rounded Rectangle 110"/>
          <p:cNvSpPr/>
          <p:nvPr/>
        </p:nvSpPr>
        <p:spPr>
          <a:xfrm>
            <a:off x="10890766" y="1699974"/>
            <a:ext cx="382906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8852655" y="1937623"/>
            <a:ext cx="53340" cy="53341"/>
          </a:xfrm>
          <a:prstGeom prst="ellipse">
            <a:avLst/>
          </a:prstGeom>
          <a:solidFill>
            <a:srgbClr val="5B57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8928854" y="1937623"/>
            <a:ext cx="53340" cy="53341"/>
          </a:xfrm>
          <a:prstGeom prst="ellipse">
            <a:avLst/>
          </a:prstGeom>
          <a:solidFill>
            <a:srgbClr val="DD7E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4" name="Rounded Rectangle 113"/>
          <p:cNvSpPr/>
          <p:nvPr/>
        </p:nvSpPr>
        <p:spPr>
          <a:xfrm>
            <a:off x="9871710" y="1896547"/>
            <a:ext cx="379453" cy="135612"/>
          </a:xfrm>
          <a:prstGeom prst="roundRect">
            <a:avLst>
              <a:gd name="adj" fmla="val 50000"/>
            </a:avLst>
          </a:prstGeom>
          <a:solidFill>
            <a:srgbClr val="5B57D6">
              <a:alpha val="13000"/>
            </a:srgbClr>
          </a:solidFill>
          <a:ln w="7620">
            <a:solidFill>
              <a:srgbClr val="5B57D6">
                <a:alpha val="3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5" name="Rounded Rectangle 114"/>
          <p:cNvSpPr/>
          <p:nvPr/>
        </p:nvSpPr>
        <p:spPr>
          <a:xfrm>
            <a:off x="10890766" y="1896547"/>
            <a:ext cx="382906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8852655" y="2134195"/>
            <a:ext cx="53340" cy="53341"/>
          </a:xfrm>
          <a:prstGeom prst="ellipse">
            <a:avLst/>
          </a:prstGeom>
          <a:solidFill>
            <a:srgbClr val="DD7E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8928854" y="2134195"/>
            <a:ext cx="53340" cy="53341"/>
          </a:xfrm>
          <a:prstGeom prst="ellipse">
            <a:avLst/>
          </a:prstGeom>
          <a:solidFill>
            <a:srgbClr val="0F8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8" name="Rounded Rectangle 117"/>
          <p:cNvSpPr/>
          <p:nvPr/>
        </p:nvSpPr>
        <p:spPr>
          <a:xfrm>
            <a:off x="9871710" y="2093120"/>
            <a:ext cx="402312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9" name="Rounded Rectangle 118"/>
          <p:cNvSpPr/>
          <p:nvPr/>
        </p:nvSpPr>
        <p:spPr>
          <a:xfrm>
            <a:off x="10890766" y="2093120"/>
            <a:ext cx="382906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8852655" y="2330768"/>
            <a:ext cx="53340" cy="53339"/>
          </a:xfrm>
          <a:prstGeom prst="ellipse">
            <a:avLst/>
          </a:prstGeom>
          <a:solidFill>
            <a:srgbClr val="B45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1" name="Rounded Rectangle 120"/>
          <p:cNvSpPr/>
          <p:nvPr/>
        </p:nvSpPr>
        <p:spPr>
          <a:xfrm>
            <a:off x="9871710" y="2289690"/>
            <a:ext cx="167997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2" name="Rounded Rectangle 121"/>
          <p:cNvSpPr/>
          <p:nvPr/>
        </p:nvSpPr>
        <p:spPr>
          <a:xfrm>
            <a:off x="10890766" y="2289690"/>
            <a:ext cx="167997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8852655" y="2527341"/>
            <a:ext cx="53340" cy="53339"/>
          </a:xfrm>
          <a:prstGeom prst="ellipse">
            <a:avLst/>
          </a:prstGeom>
          <a:solidFill>
            <a:srgbClr val="8257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4" name="Rounded Rectangle 123"/>
          <p:cNvSpPr/>
          <p:nvPr/>
        </p:nvSpPr>
        <p:spPr>
          <a:xfrm>
            <a:off x="9871710" y="2486263"/>
            <a:ext cx="379453" cy="135612"/>
          </a:xfrm>
          <a:prstGeom prst="roundRect">
            <a:avLst>
              <a:gd name="adj" fmla="val 50000"/>
            </a:avLst>
          </a:prstGeom>
          <a:solidFill>
            <a:srgbClr val="5B57D6">
              <a:alpha val="13000"/>
            </a:srgbClr>
          </a:solidFill>
          <a:ln w="7620">
            <a:solidFill>
              <a:srgbClr val="5B57D6">
                <a:alpha val="3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5" name="Rounded Rectangle 124"/>
          <p:cNvSpPr/>
          <p:nvPr/>
        </p:nvSpPr>
        <p:spPr>
          <a:xfrm>
            <a:off x="10890766" y="2486263"/>
            <a:ext cx="382906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8852655" y="2723912"/>
            <a:ext cx="53340" cy="53341"/>
          </a:xfrm>
          <a:prstGeom prst="ellipse">
            <a:avLst/>
          </a:prstGeom>
          <a:solidFill>
            <a:srgbClr val="5B57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7" name="Rounded Rectangle 126"/>
          <p:cNvSpPr/>
          <p:nvPr/>
        </p:nvSpPr>
        <p:spPr>
          <a:xfrm>
            <a:off x="9871710" y="2682836"/>
            <a:ext cx="379453" cy="135612"/>
          </a:xfrm>
          <a:prstGeom prst="roundRect">
            <a:avLst>
              <a:gd name="adj" fmla="val 50000"/>
            </a:avLst>
          </a:prstGeom>
          <a:solidFill>
            <a:srgbClr val="5B57D6">
              <a:alpha val="13000"/>
            </a:srgbClr>
          </a:solidFill>
          <a:ln w="7620">
            <a:solidFill>
              <a:srgbClr val="5B57D6">
                <a:alpha val="3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8" name="Rounded Rectangle 127"/>
          <p:cNvSpPr/>
          <p:nvPr/>
        </p:nvSpPr>
        <p:spPr>
          <a:xfrm>
            <a:off x="10890766" y="2682836"/>
            <a:ext cx="382906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8852655" y="2920484"/>
            <a:ext cx="53340" cy="53341"/>
          </a:xfrm>
          <a:prstGeom prst="ellipse">
            <a:avLst/>
          </a:prstGeom>
          <a:solidFill>
            <a:srgbClr val="8257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8928854" y="2920484"/>
            <a:ext cx="53340" cy="53341"/>
          </a:xfrm>
          <a:prstGeom prst="ellipse">
            <a:avLst/>
          </a:prstGeom>
          <a:solidFill>
            <a:srgbClr val="C2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1" name="Oval 130"/>
          <p:cNvSpPr/>
          <p:nvPr/>
        </p:nvSpPr>
        <p:spPr>
          <a:xfrm>
            <a:off x="9005055" y="2920484"/>
            <a:ext cx="53340" cy="53341"/>
          </a:xfrm>
          <a:prstGeom prst="ellipse">
            <a:avLst/>
          </a:prstGeom>
          <a:solidFill>
            <a:srgbClr val="B45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9081254" y="2920484"/>
            <a:ext cx="53340" cy="53341"/>
          </a:xfrm>
          <a:prstGeom prst="ellipse">
            <a:avLst/>
          </a:prstGeom>
          <a:solidFill>
            <a:srgbClr val="DD7E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3" name="Rounded Rectangle 132"/>
          <p:cNvSpPr/>
          <p:nvPr/>
        </p:nvSpPr>
        <p:spPr>
          <a:xfrm>
            <a:off x="9871710" y="2879407"/>
            <a:ext cx="402312" cy="135614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4" name="Rounded Rectangle 133"/>
          <p:cNvSpPr/>
          <p:nvPr/>
        </p:nvSpPr>
        <p:spPr>
          <a:xfrm>
            <a:off x="10890766" y="2879407"/>
            <a:ext cx="382906" cy="135614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8852655" y="3117057"/>
            <a:ext cx="53340" cy="53339"/>
          </a:xfrm>
          <a:prstGeom prst="ellipse">
            <a:avLst/>
          </a:prstGeom>
          <a:solidFill>
            <a:srgbClr val="0E9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6" name="Rounded Rectangle 135"/>
          <p:cNvSpPr/>
          <p:nvPr/>
        </p:nvSpPr>
        <p:spPr>
          <a:xfrm>
            <a:off x="9871710" y="3075979"/>
            <a:ext cx="167997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7" name="Rounded Rectangle 136"/>
          <p:cNvSpPr/>
          <p:nvPr/>
        </p:nvSpPr>
        <p:spPr>
          <a:xfrm>
            <a:off x="10890766" y="3075979"/>
            <a:ext cx="294561" cy="135612"/>
          </a:xfrm>
          <a:prstGeom prst="roundRect">
            <a:avLst>
              <a:gd name="adj" fmla="val 50000"/>
            </a:avLst>
          </a:prstGeom>
          <a:solidFill>
            <a:srgbClr val="4CC9E8">
              <a:alpha val="17000"/>
            </a:srgbClr>
          </a:solidFill>
          <a:ln w="7620">
            <a:solidFill>
              <a:srgbClr val="4CC9E8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8852655" y="3313628"/>
            <a:ext cx="53340" cy="53341"/>
          </a:xfrm>
          <a:prstGeom prst="ellipse">
            <a:avLst/>
          </a:prstGeom>
          <a:solidFill>
            <a:srgbClr val="5B57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9" name="Oval 138"/>
          <p:cNvSpPr/>
          <p:nvPr/>
        </p:nvSpPr>
        <p:spPr>
          <a:xfrm>
            <a:off x="8928854" y="3313628"/>
            <a:ext cx="53340" cy="53341"/>
          </a:xfrm>
          <a:prstGeom prst="ellipse">
            <a:avLst/>
          </a:prstGeom>
          <a:solidFill>
            <a:srgbClr val="2E8B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xfrm>
            <a:off x="9005055" y="3313628"/>
            <a:ext cx="53340" cy="53341"/>
          </a:xfrm>
          <a:prstGeom prst="ellipse">
            <a:avLst/>
          </a:prstGeom>
          <a:solidFill>
            <a:srgbClr val="8257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1" name="Oval 140"/>
          <p:cNvSpPr/>
          <p:nvPr/>
        </p:nvSpPr>
        <p:spPr>
          <a:xfrm>
            <a:off x="9081254" y="3313628"/>
            <a:ext cx="53340" cy="53341"/>
          </a:xfrm>
          <a:prstGeom prst="ellipse">
            <a:avLst/>
          </a:prstGeom>
          <a:solidFill>
            <a:srgbClr val="C2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2" name="Oval 141"/>
          <p:cNvSpPr/>
          <p:nvPr/>
        </p:nvSpPr>
        <p:spPr>
          <a:xfrm>
            <a:off x="9157454" y="3313628"/>
            <a:ext cx="53340" cy="53341"/>
          </a:xfrm>
          <a:prstGeom prst="ellipse">
            <a:avLst/>
          </a:prstGeom>
          <a:solidFill>
            <a:srgbClr val="0F8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3" name="Rounded Rectangle 142"/>
          <p:cNvSpPr/>
          <p:nvPr/>
        </p:nvSpPr>
        <p:spPr>
          <a:xfrm>
            <a:off x="9871710" y="3272552"/>
            <a:ext cx="379453" cy="135612"/>
          </a:xfrm>
          <a:prstGeom prst="roundRect">
            <a:avLst>
              <a:gd name="adj" fmla="val 50000"/>
            </a:avLst>
          </a:prstGeom>
          <a:solidFill>
            <a:srgbClr val="5B57D6">
              <a:alpha val="13000"/>
            </a:srgbClr>
          </a:solidFill>
          <a:ln w="7620">
            <a:solidFill>
              <a:srgbClr val="5B57D6">
                <a:alpha val="3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4" name="Rounded Rectangle 143"/>
          <p:cNvSpPr/>
          <p:nvPr/>
        </p:nvSpPr>
        <p:spPr>
          <a:xfrm>
            <a:off x="10890766" y="3272552"/>
            <a:ext cx="294561" cy="135612"/>
          </a:xfrm>
          <a:prstGeom prst="roundRect">
            <a:avLst>
              <a:gd name="adj" fmla="val 50000"/>
            </a:avLst>
          </a:prstGeom>
          <a:solidFill>
            <a:srgbClr val="4CC9E8">
              <a:alpha val="17000"/>
            </a:srgbClr>
          </a:solidFill>
          <a:ln w="7620">
            <a:solidFill>
              <a:srgbClr val="4CC9E8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5" name="Oval 144"/>
          <p:cNvSpPr/>
          <p:nvPr/>
        </p:nvSpPr>
        <p:spPr>
          <a:xfrm>
            <a:off x="8852655" y="3510201"/>
            <a:ext cx="53340" cy="53341"/>
          </a:xfrm>
          <a:prstGeom prst="ellipse">
            <a:avLst/>
          </a:prstGeom>
          <a:solidFill>
            <a:srgbClr val="2E8B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6" name="Rounded Rectangle 145"/>
          <p:cNvSpPr/>
          <p:nvPr/>
        </p:nvSpPr>
        <p:spPr>
          <a:xfrm>
            <a:off x="9871710" y="3469125"/>
            <a:ext cx="402312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7" name="Rounded Rectangle 146"/>
          <p:cNvSpPr/>
          <p:nvPr/>
        </p:nvSpPr>
        <p:spPr>
          <a:xfrm>
            <a:off x="10890766" y="3469125"/>
            <a:ext cx="382906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8" name="Oval 147"/>
          <p:cNvSpPr/>
          <p:nvPr/>
        </p:nvSpPr>
        <p:spPr>
          <a:xfrm>
            <a:off x="8852655" y="3706773"/>
            <a:ext cx="53340" cy="53339"/>
          </a:xfrm>
          <a:prstGeom prst="ellipse">
            <a:avLst/>
          </a:prstGeom>
          <a:solidFill>
            <a:srgbClr val="B45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9" name="Rounded Rectangle 148"/>
          <p:cNvSpPr/>
          <p:nvPr/>
        </p:nvSpPr>
        <p:spPr>
          <a:xfrm>
            <a:off x="9871710" y="3665696"/>
            <a:ext cx="379453" cy="135614"/>
          </a:xfrm>
          <a:prstGeom prst="roundRect">
            <a:avLst>
              <a:gd name="adj" fmla="val 50000"/>
            </a:avLst>
          </a:prstGeom>
          <a:solidFill>
            <a:srgbClr val="5B57D6">
              <a:alpha val="13000"/>
            </a:srgbClr>
          </a:solidFill>
          <a:ln w="7620">
            <a:solidFill>
              <a:srgbClr val="5B57D6">
                <a:alpha val="3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0" name="Rounded Rectangle 149"/>
          <p:cNvSpPr/>
          <p:nvPr/>
        </p:nvSpPr>
        <p:spPr>
          <a:xfrm>
            <a:off x="10890766" y="3665696"/>
            <a:ext cx="382906" cy="135614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1" name="Oval 150"/>
          <p:cNvSpPr/>
          <p:nvPr/>
        </p:nvSpPr>
        <p:spPr>
          <a:xfrm>
            <a:off x="8852655" y="3903344"/>
            <a:ext cx="53340" cy="53341"/>
          </a:xfrm>
          <a:prstGeom prst="ellipse">
            <a:avLst/>
          </a:prstGeom>
          <a:solidFill>
            <a:srgbClr val="3A6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2" name="Rounded Rectangle 151"/>
          <p:cNvSpPr/>
          <p:nvPr/>
        </p:nvSpPr>
        <p:spPr>
          <a:xfrm>
            <a:off x="9871710" y="3862268"/>
            <a:ext cx="402312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3" name="Rounded Rectangle 152"/>
          <p:cNvSpPr/>
          <p:nvPr/>
        </p:nvSpPr>
        <p:spPr>
          <a:xfrm>
            <a:off x="10890766" y="3862268"/>
            <a:ext cx="382906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4" name="Oval 153"/>
          <p:cNvSpPr/>
          <p:nvPr/>
        </p:nvSpPr>
        <p:spPr>
          <a:xfrm>
            <a:off x="8852655" y="4099917"/>
            <a:ext cx="53340" cy="53341"/>
          </a:xfrm>
          <a:prstGeom prst="ellipse">
            <a:avLst/>
          </a:prstGeom>
          <a:solidFill>
            <a:srgbClr val="5B57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5" name="Oval 154"/>
          <p:cNvSpPr/>
          <p:nvPr/>
        </p:nvSpPr>
        <p:spPr>
          <a:xfrm>
            <a:off x="8928854" y="4099917"/>
            <a:ext cx="53340" cy="53341"/>
          </a:xfrm>
          <a:prstGeom prst="ellipse">
            <a:avLst/>
          </a:prstGeom>
          <a:solidFill>
            <a:srgbClr val="2E8B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6" name="Oval 155"/>
          <p:cNvSpPr/>
          <p:nvPr/>
        </p:nvSpPr>
        <p:spPr>
          <a:xfrm>
            <a:off x="9005055" y="4099917"/>
            <a:ext cx="53340" cy="53341"/>
          </a:xfrm>
          <a:prstGeom prst="ellipse">
            <a:avLst/>
          </a:prstGeom>
          <a:solidFill>
            <a:srgbClr val="C2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7" name="Oval 156"/>
          <p:cNvSpPr/>
          <p:nvPr/>
        </p:nvSpPr>
        <p:spPr>
          <a:xfrm>
            <a:off x="9081254" y="4099917"/>
            <a:ext cx="53340" cy="53341"/>
          </a:xfrm>
          <a:prstGeom prst="ellipse">
            <a:avLst/>
          </a:prstGeom>
          <a:solidFill>
            <a:srgbClr val="DD7E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8" name="Oval 157"/>
          <p:cNvSpPr/>
          <p:nvPr/>
        </p:nvSpPr>
        <p:spPr>
          <a:xfrm>
            <a:off x="9157454" y="4099917"/>
            <a:ext cx="53340" cy="53341"/>
          </a:xfrm>
          <a:prstGeom prst="ellipse">
            <a:avLst/>
          </a:prstGeom>
          <a:solidFill>
            <a:srgbClr val="0F8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9" name="Rounded Rectangle 158"/>
          <p:cNvSpPr/>
          <p:nvPr/>
        </p:nvSpPr>
        <p:spPr>
          <a:xfrm>
            <a:off x="9871710" y="4058841"/>
            <a:ext cx="379453" cy="135612"/>
          </a:xfrm>
          <a:prstGeom prst="roundRect">
            <a:avLst>
              <a:gd name="adj" fmla="val 50000"/>
            </a:avLst>
          </a:prstGeom>
          <a:solidFill>
            <a:srgbClr val="5B57D6">
              <a:alpha val="13000"/>
            </a:srgbClr>
          </a:solidFill>
          <a:ln w="7620">
            <a:solidFill>
              <a:srgbClr val="5B57D6">
                <a:alpha val="3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0" name="Rounded Rectangle 159"/>
          <p:cNvSpPr/>
          <p:nvPr/>
        </p:nvSpPr>
        <p:spPr>
          <a:xfrm>
            <a:off x="10890766" y="4058841"/>
            <a:ext cx="382906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1" name="Oval 160"/>
          <p:cNvSpPr/>
          <p:nvPr/>
        </p:nvSpPr>
        <p:spPr>
          <a:xfrm>
            <a:off x="8852655" y="4296490"/>
            <a:ext cx="53340" cy="53339"/>
          </a:xfrm>
          <a:prstGeom prst="ellipse">
            <a:avLst/>
          </a:prstGeom>
          <a:solidFill>
            <a:srgbClr val="3A6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2" name="Rounded Rectangle 161"/>
          <p:cNvSpPr/>
          <p:nvPr/>
        </p:nvSpPr>
        <p:spPr>
          <a:xfrm>
            <a:off x="9871710" y="4255414"/>
            <a:ext cx="402312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3" name="Rounded Rectangle 162"/>
          <p:cNvSpPr/>
          <p:nvPr/>
        </p:nvSpPr>
        <p:spPr>
          <a:xfrm>
            <a:off x="10890766" y="4255414"/>
            <a:ext cx="382906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4" name="Oval 163"/>
          <p:cNvSpPr/>
          <p:nvPr/>
        </p:nvSpPr>
        <p:spPr>
          <a:xfrm>
            <a:off x="8852655" y="4493062"/>
            <a:ext cx="53340" cy="53339"/>
          </a:xfrm>
          <a:prstGeom prst="ellipse">
            <a:avLst/>
          </a:prstGeom>
          <a:solidFill>
            <a:srgbClr val="8257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5" name="Rounded Rectangle 164"/>
          <p:cNvSpPr/>
          <p:nvPr/>
        </p:nvSpPr>
        <p:spPr>
          <a:xfrm>
            <a:off x="9871710" y="4451985"/>
            <a:ext cx="402312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6" name="Rounded Rectangle 165"/>
          <p:cNvSpPr/>
          <p:nvPr/>
        </p:nvSpPr>
        <p:spPr>
          <a:xfrm>
            <a:off x="10890766" y="4451985"/>
            <a:ext cx="382906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7" name="Oval 166"/>
          <p:cNvSpPr/>
          <p:nvPr/>
        </p:nvSpPr>
        <p:spPr>
          <a:xfrm>
            <a:off x="8852655" y="4689635"/>
            <a:ext cx="53340" cy="53339"/>
          </a:xfrm>
          <a:prstGeom prst="ellipse">
            <a:avLst/>
          </a:prstGeom>
          <a:solidFill>
            <a:srgbClr val="3A6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8" name="Rounded Rectangle 167"/>
          <p:cNvSpPr/>
          <p:nvPr/>
        </p:nvSpPr>
        <p:spPr>
          <a:xfrm>
            <a:off x="9871710" y="4648557"/>
            <a:ext cx="402312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9" name="Rounded Rectangle 168"/>
          <p:cNvSpPr/>
          <p:nvPr/>
        </p:nvSpPr>
        <p:spPr>
          <a:xfrm>
            <a:off x="10890766" y="4648557"/>
            <a:ext cx="382906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0" name="Oval 169"/>
          <p:cNvSpPr/>
          <p:nvPr/>
        </p:nvSpPr>
        <p:spPr>
          <a:xfrm>
            <a:off x="8852655" y="4886206"/>
            <a:ext cx="53340" cy="53341"/>
          </a:xfrm>
          <a:prstGeom prst="ellipse">
            <a:avLst/>
          </a:prstGeom>
          <a:solidFill>
            <a:srgbClr val="2E8B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1" name="Rounded Rectangle 170"/>
          <p:cNvSpPr/>
          <p:nvPr/>
        </p:nvSpPr>
        <p:spPr>
          <a:xfrm>
            <a:off x="9871710" y="4845130"/>
            <a:ext cx="402312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2" name="Rounded Rectangle 171"/>
          <p:cNvSpPr/>
          <p:nvPr/>
        </p:nvSpPr>
        <p:spPr>
          <a:xfrm>
            <a:off x="10890766" y="4845130"/>
            <a:ext cx="294561" cy="135612"/>
          </a:xfrm>
          <a:prstGeom prst="roundRect">
            <a:avLst>
              <a:gd name="adj" fmla="val 50000"/>
            </a:avLst>
          </a:prstGeom>
          <a:solidFill>
            <a:srgbClr val="4CC9E8">
              <a:alpha val="17000"/>
            </a:srgbClr>
          </a:solidFill>
          <a:ln w="7620">
            <a:solidFill>
              <a:srgbClr val="4CC9E8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3" name="Oval 172"/>
          <p:cNvSpPr/>
          <p:nvPr/>
        </p:nvSpPr>
        <p:spPr>
          <a:xfrm>
            <a:off x="8852655" y="5082779"/>
            <a:ext cx="53340" cy="53341"/>
          </a:xfrm>
          <a:prstGeom prst="ellipse">
            <a:avLst/>
          </a:prstGeom>
          <a:solidFill>
            <a:srgbClr val="3A6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4" name="Rounded Rectangle 173"/>
          <p:cNvSpPr/>
          <p:nvPr/>
        </p:nvSpPr>
        <p:spPr>
          <a:xfrm>
            <a:off x="9871710" y="5041701"/>
            <a:ext cx="402312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5" name="Rounded Rectangle 174"/>
          <p:cNvSpPr/>
          <p:nvPr/>
        </p:nvSpPr>
        <p:spPr>
          <a:xfrm>
            <a:off x="10890766" y="5041701"/>
            <a:ext cx="382906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6" name="Oval 175"/>
          <p:cNvSpPr/>
          <p:nvPr/>
        </p:nvSpPr>
        <p:spPr>
          <a:xfrm>
            <a:off x="8852655" y="5279351"/>
            <a:ext cx="53340" cy="53339"/>
          </a:xfrm>
          <a:prstGeom prst="ellipse">
            <a:avLst/>
          </a:prstGeom>
          <a:solidFill>
            <a:srgbClr val="5B57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7" name="Rounded Rectangle 176"/>
          <p:cNvSpPr/>
          <p:nvPr/>
        </p:nvSpPr>
        <p:spPr>
          <a:xfrm>
            <a:off x="9871710" y="5238274"/>
            <a:ext cx="402312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8" name="Rounded Rectangle 177"/>
          <p:cNvSpPr/>
          <p:nvPr/>
        </p:nvSpPr>
        <p:spPr>
          <a:xfrm>
            <a:off x="10890766" y="5238274"/>
            <a:ext cx="382906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9" name="Oval 178"/>
          <p:cNvSpPr/>
          <p:nvPr/>
        </p:nvSpPr>
        <p:spPr>
          <a:xfrm>
            <a:off x="8852655" y="5475922"/>
            <a:ext cx="53340" cy="53341"/>
          </a:xfrm>
          <a:prstGeom prst="ellipse">
            <a:avLst/>
          </a:prstGeom>
          <a:solidFill>
            <a:srgbClr val="8257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0" name="Rounded Rectangle 179"/>
          <p:cNvSpPr/>
          <p:nvPr/>
        </p:nvSpPr>
        <p:spPr>
          <a:xfrm>
            <a:off x="9871710" y="5434846"/>
            <a:ext cx="379453" cy="135612"/>
          </a:xfrm>
          <a:prstGeom prst="roundRect">
            <a:avLst>
              <a:gd name="adj" fmla="val 50000"/>
            </a:avLst>
          </a:prstGeom>
          <a:solidFill>
            <a:srgbClr val="5B57D6">
              <a:alpha val="13000"/>
            </a:srgbClr>
          </a:solidFill>
          <a:ln w="7620">
            <a:solidFill>
              <a:srgbClr val="5B57D6">
                <a:alpha val="3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1" name="Rounded Rectangle 180"/>
          <p:cNvSpPr/>
          <p:nvPr/>
        </p:nvSpPr>
        <p:spPr>
          <a:xfrm>
            <a:off x="10890766" y="5434846"/>
            <a:ext cx="382906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2" name="Oval 181"/>
          <p:cNvSpPr/>
          <p:nvPr/>
        </p:nvSpPr>
        <p:spPr>
          <a:xfrm>
            <a:off x="8852655" y="5672495"/>
            <a:ext cx="53340" cy="53341"/>
          </a:xfrm>
          <a:prstGeom prst="ellipse">
            <a:avLst/>
          </a:prstGeom>
          <a:solidFill>
            <a:srgbClr val="DD7E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3" name="Rounded Rectangle 182"/>
          <p:cNvSpPr/>
          <p:nvPr/>
        </p:nvSpPr>
        <p:spPr>
          <a:xfrm>
            <a:off x="9871710" y="5631417"/>
            <a:ext cx="379453" cy="135614"/>
          </a:xfrm>
          <a:prstGeom prst="roundRect">
            <a:avLst>
              <a:gd name="adj" fmla="val 50000"/>
            </a:avLst>
          </a:prstGeom>
          <a:solidFill>
            <a:srgbClr val="5B57D6">
              <a:alpha val="13000"/>
            </a:srgbClr>
          </a:solidFill>
          <a:ln w="7620">
            <a:solidFill>
              <a:srgbClr val="5B57D6">
                <a:alpha val="3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4" name="Rounded Rectangle 183"/>
          <p:cNvSpPr/>
          <p:nvPr/>
        </p:nvSpPr>
        <p:spPr>
          <a:xfrm>
            <a:off x="10890766" y="5631417"/>
            <a:ext cx="382906" cy="135614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5" name="Oval 184"/>
          <p:cNvSpPr/>
          <p:nvPr/>
        </p:nvSpPr>
        <p:spPr>
          <a:xfrm>
            <a:off x="8852655" y="5869067"/>
            <a:ext cx="53340" cy="53339"/>
          </a:xfrm>
          <a:prstGeom prst="ellipse">
            <a:avLst/>
          </a:prstGeom>
          <a:solidFill>
            <a:srgbClr val="2E8B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6" name="Oval 185"/>
          <p:cNvSpPr/>
          <p:nvPr/>
        </p:nvSpPr>
        <p:spPr>
          <a:xfrm>
            <a:off x="8928854" y="5869067"/>
            <a:ext cx="53340" cy="53339"/>
          </a:xfrm>
          <a:prstGeom prst="ellipse">
            <a:avLst/>
          </a:prstGeom>
          <a:solidFill>
            <a:srgbClr val="3A6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7" name="Oval 186"/>
          <p:cNvSpPr/>
          <p:nvPr/>
        </p:nvSpPr>
        <p:spPr>
          <a:xfrm>
            <a:off x="9005055" y="5869067"/>
            <a:ext cx="53340" cy="53339"/>
          </a:xfrm>
          <a:prstGeom prst="ellipse">
            <a:avLst/>
          </a:prstGeom>
          <a:solidFill>
            <a:srgbClr val="0E9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8" name="Oval 187"/>
          <p:cNvSpPr/>
          <p:nvPr/>
        </p:nvSpPr>
        <p:spPr>
          <a:xfrm>
            <a:off x="9081254" y="5869067"/>
            <a:ext cx="53340" cy="53339"/>
          </a:xfrm>
          <a:prstGeom prst="ellipse">
            <a:avLst/>
          </a:prstGeom>
          <a:solidFill>
            <a:srgbClr val="DD7E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9" name="Oval 188"/>
          <p:cNvSpPr/>
          <p:nvPr/>
        </p:nvSpPr>
        <p:spPr>
          <a:xfrm>
            <a:off x="9157454" y="5869067"/>
            <a:ext cx="53340" cy="53339"/>
          </a:xfrm>
          <a:prstGeom prst="ellipse">
            <a:avLst/>
          </a:prstGeom>
          <a:solidFill>
            <a:srgbClr val="0F8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0" name="Rounded Rectangle 189"/>
          <p:cNvSpPr/>
          <p:nvPr/>
        </p:nvSpPr>
        <p:spPr>
          <a:xfrm>
            <a:off x="9871710" y="5827990"/>
            <a:ext cx="402312" cy="135614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1" name="Rounded Rectangle 190"/>
          <p:cNvSpPr/>
          <p:nvPr/>
        </p:nvSpPr>
        <p:spPr>
          <a:xfrm>
            <a:off x="10890766" y="5827990"/>
            <a:ext cx="382906" cy="135614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2" name="Oval 191"/>
          <p:cNvSpPr/>
          <p:nvPr/>
        </p:nvSpPr>
        <p:spPr>
          <a:xfrm>
            <a:off x="8852655" y="6065638"/>
            <a:ext cx="53340" cy="53341"/>
          </a:xfrm>
          <a:prstGeom prst="ellipse">
            <a:avLst/>
          </a:prstGeom>
          <a:solidFill>
            <a:srgbClr val="2E8B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3" name="Rounded Rectangle 192"/>
          <p:cNvSpPr/>
          <p:nvPr/>
        </p:nvSpPr>
        <p:spPr>
          <a:xfrm>
            <a:off x="9871710" y="6024562"/>
            <a:ext cx="402312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4" name="Rounded Rectangle 193"/>
          <p:cNvSpPr/>
          <p:nvPr/>
        </p:nvSpPr>
        <p:spPr>
          <a:xfrm>
            <a:off x="10890766" y="6024562"/>
            <a:ext cx="382906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5" name="Oval 194"/>
          <p:cNvSpPr/>
          <p:nvPr/>
        </p:nvSpPr>
        <p:spPr>
          <a:xfrm>
            <a:off x="8852655" y="6262211"/>
            <a:ext cx="53340" cy="53341"/>
          </a:xfrm>
          <a:prstGeom prst="ellipse">
            <a:avLst/>
          </a:prstGeom>
          <a:solidFill>
            <a:srgbClr val="5B57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6" name="Oval 195"/>
          <p:cNvSpPr/>
          <p:nvPr/>
        </p:nvSpPr>
        <p:spPr>
          <a:xfrm>
            <a:off x="8928854" y="6262211"/>
            <a:ext cx="53340" cy="53341"/>
          </a:xfrm>
          <a:prstGeom prst="ellipse">
            <a:avLst/>
          </a:prstGeom>
          <a:solidFill>
            <a:srgbClr val="8257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7" name="Oval 196"/>
          <p:cNvSpPr/>
          <p:nvPr/>
        </p:nvSpPr>
        <p:spPr>
          <a:xfrm>
            <a:off x="9005055" y="6262211"/>
            <a:ext cx="53340" cy="53341"/>
          </a:xfrm>
          <a:prstGeom prst="ellipse">
            <a:avLst/>
          </a:prstGeom>
          <a:solidFill>
            <a:srgbClr val="DD7E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8" name="Rounded Rectangle 197"/>
          <p:cNvSpPr/>
          <p:nvPr/>
        </p:nvSpPr>
        <p:spPr>
          <a:xfrm>
            <a:off x="9871710" y="6221135"/>
            <a:ext cx="402312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9" name="Rounded Rectangle 198"/>
          <p:cNvSpPr/>
          <p:nvPr/>
        </p:nvSpPr>
        <p:spPr>
          <a:xfrm>
            <a:off x="10890766" y="6221135"/>
            <a:ext cx="382906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0" name="Oval 199"/>
          <p:cNvSpPr/>
          <p:nvPr/>
        </p:nvSpPr>
        <p:spPr>
          <a:xfrm>
            <a:off x="8852655" y="6458784"/>
            <a:ext cx="53340" cy="53339"/>
          </a:xfrm>
          <a:prstGeom prst="ellipse">
            <a:avLst/>
          </a:prstGeom>
          <a:solidFill>
            <a:srgbClr val="5B57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1" name="Oval 200"/>
          <p:cNvSpPr/>
          <p:nvPr/>
        </p:nvSpPr>
        <p:spPr>
          <a:xfrm>
            <a:off x="8928854" y="6458784"/>
            <a:ext cx="53340" cy="53339"/>
          </a:xfrm>
          <a:prstGeom prst="ellipse">
            <a:avLst/>
          </a:prstGeom>
          <a:solidFill>
            <a:srgbClr val="0F8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2" name="Rounded Rectangle 201"/>
          <p:cNvSpPr/>
          <p:nvPr/>
        </p:nvSpPr>
        <p:spPr>
          <a:xfrm>
            <a:off x="9871710" y="6417708"/>
            <a:ext cx="379453" cy="135612"/>
          </a:xfrm>
          <a:prstGeom prst="roundRect">
            <a:avLst>
              <a:gd name="adj" fmla="val 50000"/>
            </a:avLst>
          </a:prstGeom>
          <a:solidFill>
            <a:srgbClr val="5B57D6">
              <a:alpha val="13000"/>
            </a:srgbClr>
          </a:solidFill>
          <a:ln w="7620">
            <a:solidFill>
              <a:srgbClr val="5B57D6">
                <a:alpha val="3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3" name="Rounded Rectangle 202"/>
          <p:cNvSpPr/>
          <p:nvPr/>
        </p:nvSpPr>
        <p:spPr>
          <a:xfrm>
            <a:off x="10890766" y="6417708"/>
            <a:ext cx="294561" cy="135612"/>
          </a:xfrm>
          <a:prstGeom prst="roundRect">
            <a:avLst>
              <a:gd name="adj" fmla="val 50000"/>
            </a:avLst>
          </a:prstGeom>
          <a:solidFill>
            <a:srgbClr val="4CC9E8">
              <a:alpha val="17000"/>
            </a:srgbClr>
          </a:solidFill>
          <a:ln w="7620">
            <a:solidFill>
              <a:srgbClr val="4CC9E8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4" name="TextBox 203"/>
          <p:cNvSpPr txBox="1"/>
          <p:nvPr/>
        </p:nvSpPr>
        <p:spPr>
          <a:xfrm>
            <a:off x="342900" y="312420"/>
            <a:ext cx="1239202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60" b="1" spc="132">
                <a:solidFill>
                  <a:srgbClr val="78879F"/>
                </a:solidFill>
                <a:latin typeface="Calibri"/>
              </a:rPr>
              <a:t>ANNEXE 2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342900" y="457200"/>
            <a:ext cx="3634383" cy="3657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2400" b="1" spc="-48">
                <a:solidFill>
                  <a:srgbClr val="0D1526"/>
                </a:solidFill>
                <a:latin typeface="Calibri"/>
              </a:rPr>
              <a:t>Référentiel des outils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342900" y="847248"/>
            <a:ext cx="3914418" cy="152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40" b="0">
                <a:solidFill>
                  <a:srgbClr val="78879F"/>
                </a:solidFill>
                <a:latin typeface="Calibri"/>
              </a:rPr>
              <a:t>Tous les outils recensés, avec éditeur, nature et mode d'alimentation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10639663" y="354330"/>
            <a:ext cx="1224321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>
                <a:solidFill>
                  <a:srgbClr val="33415C"/>
                </a:solidFill>
                <a:latin typeface="Calibri"/>
              </a:rPr>
              <a:t>Outil interne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10051971" y="369570"/>
            <a:ext cx="808672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5B57D6"/>
                </a:solidFill>
                <a:latin typeface="Calibri"/>
              </a:rPr>
              <a:t>INT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10726341" y="544830"/>
            <a:ext cx="1808559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>
                <a:solidFill>
                  <a:srgbClr val="33415C"/>
                </a:solidFill>
                <a:latin typeface="Calibri"/>
              </a:rPr>
              <a:t>Alimentation automatique</a:t>
            </a:r>
          </a:p>
        </p:txBody>
      </p:sp>
      <p:sp>
        <p:nvSpPr>
          <p:cNvPr id="210" name="TextBox 209"/>
          <p:cNvSpPr txBox="1"/>
          <p:nvPr/>
        </p:nvSpPr>
        <p:spPr>
          <a:xfrm>
            <a:off x="10051971" y="560070"/>
            <a:ext cx="895350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0B7E99"/>
                </a:solidFill>
                <a:latin typeface="Calibri"/>
              </a:rPr>
              <a:t>AUTO</a:t>
            </a:r>
          </a:p>
        </p:txBody>
      </p:sp>
      <p:sp>
        <p:nvSpPr>
          <p:cNvPr id="211" name="TextBox 210"/>
          <p:cNvSpPr txBox="1"/>
          <p:nvPr/>
        </p:nvSpPr>
        <p:spPr>
          <a:xfrm>
            <a:off x="10562868" y="735330"/>
            <a:ext cx="1132998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>
                <a:solidFill>
                  <a:srgbClr val="33415C"/>
                </a:solidFill>
                <a:latin typeface="Calibri"/>
              </a:rPr>
              <a:t>À qualifier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10051971" y="750570"/>
            <a:ext cx="731877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?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403860" y="1120140"/>
            <a:ext cx="957263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70" b="1" spc="85">
                <a:solidFill>
                  <a:srgbClr val="78879F"/>
                </a:solidFill>
                <a:latin typeface="Calibri"/>
              </a:rPr>
              <a:t>OUTIL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3008114" y="1120140"/>
            <a:ext cx="1137523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70" b="1" spc="85">
                <a:solidFill>
                  <a:srgbClr val="78879F"/>
                </a:solidFill>
                <a:latin typeface="Calibri"/>
              </a:rPr>
              <a:t>SERVICES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4027170" y="1120140"/>
            <a:ext cx="1047274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70" b="1" spc="85">
                <a:solidFill>
                  <a:srgbClr val="78879F"/>
                </a:solidFill>
                <a:latin typeface="Calibri"/>
              </a:rPr>
              <a:t>NATURE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5046226" y="1120140"/>
            <a:ext cx="1352312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70" b="1" spc="85">
                <a:solidFill>
                  <a:srgbClr val="78879F"/>
                </a:solidFill>
                <a:latin typeface="Calibri"/>
              </a:rPr>
              <a:t>ALIMENTATION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403860" y="1309093"/>
            <a:ext cx="990957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60" b="1">
                <a:solidFill>
                  <a:srgbClr val="0D1526"/>
                </a:solidFill>
                <a:latin typeface="Calibri"/>
              </a:rPr>
              <a:t>Achat +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3745230" y="1318260"/>
            <a:ext cx="731877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?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4764286" y="1318260"/>
            <a:ext cx="731877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?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403860" y="1505664"/>
            <a:ext cx="1091089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60" b="1">
                <a:solidFill>
                  <a:srgbClr val="0D1526"/>
                </a:solidFill>
                <a:latin typeface="Calibri"/>
              </a:rPr>
              <a:t>Anaconda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3745230" y="1514833"/>
            <a:ext cx="966192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Externe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4764286" y="1514833"/>
            <a:ext cx="946785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223" name="TextBox 222"/>
          <p:cNvSpPr txBox="1"/>
          <p:nvPr/>
        </p:nvSpPr>
        <p:spPr>
          <a:xfrm>
            <a:off x="388620" y="1680925"/>
            <a:ext cx="2528054" cy="2041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790"/>
              </a:lnSpc>
            </a:pPr>
            <a:r>
              <a:rPr sz="660" b="1">
                <a:solidFill>
                  <a:srgbClr val="0D1526"/>
                </a:solidFill>
                <a:latin typeface="Calibri"/>
              </a:rPr>
              <a:t>AutoCAD</a:t>
            </a:r>
            <a:r>
              <a:rPr sz="570" b="0">
                <a:solidFill>
                  <a:srgbClr val="78879F"/>
                </a:solidFill>
                <a:latin typeface="Calibri"/>
              </a:rPr>
              <a:t> Autodesk</a:t>
            </a:r>
          </a:p>
        </p:txBody>
      </p:sp>
      <p:sp>
        <p:nvSpPr>
          <p:cNvPr id="224" name="TextBox 223"/>
          <p:cNvSpPr txBox="1"/>
          <p:nvPr/>
        </p:nvSpPr>
        <p:spPr>
          <a:xfrm>
            <a:off x="3745230" y="1711404"/>
            <a:ext cx="966192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Externe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4764286" y="1711404"/>
            <a:ext cx="946785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388620" y="1877497"/>
            <a:ext cx="2528054" cy="20419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790"/>
              </a:lnSpc>
            </a:pPr>
            <a:r>
              <a:rPr sz="660" b="1">
                <a:solidFill>
                  <a:srgbClr val="0D1526"/>
                </a:solidFill>
                <a:latin typeface="Calibri"/>
              </a:rPr>
              <a:t>Basware</a:t>
            </a:r>
            <a:r>
              <a:rPr sz="570" b="0">
                <a:solidFill>
                  <a:srgbClr val="78879F"/>
                </a:solidFill>
                <a:latin typeface="Calibri"/>
              </a:rPr>
              <a:t> Soletanche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3745230" y="1907976"/>
            <a:ext cx="943332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5B57D6"/>
                </a:solidFill>
                <a:latin typeface="Calibri"/>
              </a:rPr>
              <a:t>Interne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4764286" y="1907976"/>
            <a:ext cx="946785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388620" y="2074068"/>
            <a:ext cx="2528054" cy="2041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790"/>
              </a:lnSpc>
            </a:pPr>
            <a:r>
              <a:rPr sz="660" b="1">
                <a:solidFill>
                  <a:srgbClr val="0D1526"/>
                </a:solidFill>
                <a:latin typeface="Calibri"/>
              </a:rPr>
              <a:t>BATIS</a:t>
            </a:r>
            <a:r>
              <a:rPr sz="570" b="0">
                <a:solidFill>
                  <a:srgbClr val="78879F"/>
                </a:solidFill>
                <a:latin typeface="Calibri"/>
              </a:rPr>
              <a:t> Tisseo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3745230" y="2104549"/>
            <a:ext cx="966192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Externe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4764286" y="2104549"/>
            <a:ext cx="946785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388620" y="2270641"/>
            <a:ext cx="2528054" cy="2041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790"/>
              </a:lnSpc>
            </a:pPr>
            <a:r>
              <a:rPr sz="660" b="1">
                <a:solidFill>
                  <a:srgbClr val="0D1526"/>
                </a:solidFill>
                <a:latin typeface="Calibri"/>
              </a:rPr>
              <a:t>BIM Vision</a:t>
            </a:r>
            <a:r>
              <a:rPr sz="570" b="0">
                <a:solidFill>
                  <a:srgbClr val="78879F"/>
                </a:solidFill>
                <a:latin typeface="Calibri"/>
              </a:rPr>
              <a:t> Technologia BIM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3745230" y="2301122"/>
            <a:ext cx="966192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Externe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4764286" y="2301122"/>
            <a:ext cx="946785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403860" y="2488526"/>
            <a:ext cx="1126807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60" b="1">
                <a:solidFill>
                  <a:srgbClr val="0D1526"/>
                </a:solidFill>
                <a:latin typeface="Calibri"/>
              </a:rPr>
              <a:t>BIP / BAPS</a:t>
            </a:r>
          </a:p>
        </p:txBody>
      </p:sp>
      <p:sp>
        <p:nvSpPr>
          <p:cNvPr id="236" name="TextBox 235"/>
          <p:cNvSpPr txBox="1"/>
          <p:nvPr/>
        </p:nvSpPr>
        <p:spPr>
          <a:xfrm>
            <a:off x="3745230" y="2497693"/>
            <a:ext cx="943332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5B57D6"/>
                </a:solidFill>
                <a:latin typeface="Calibri"/>
              </a:rPr>
              <a:t>Interne</a:t>
            </a:r>
          </a:p>
        </p:txBody>
      </p:sp>
      <p:sp>
        <p:nvSpPr>
          <p:cNvPr id="237" name="TextBox 236"/>
          <p:cNvSpPr txBox="1"/>
          <p:nvPr/>
        </p:nvSpPr>
        <p:spPr>
          <a:xfrm>
            <a:off x="4764286" y="2497693"/>
            <a:ext cx="946785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403860" y="2685098"/>
            <a:ext cx="1109781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60" b="1">
                <a:solidFill>
                  <a:srgbClr val="0D1526"/>
                </a:solidFill>
                <a:latin typeface="Calibri"/>
              </a:rPr>
              <a:t>By My Site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3745230" y="2694265"/>
            <a:ext cx="943332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5B57D6"/>
                </a:solidFill>
                <a:latin typeface="Calibri"/>
              </a:rPr>
              <a:t>Interne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4764286" y="2694265"/>
            <a:ext cx="946785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403860" y="2881669"/>
            <a:ext cx="983932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60" b="1">
                <a:solidFill>
                  <a:srgbClr val="0D1526"/>
                </a:solidFill>
                <a:latin typeface="Calibri"/>
              </a:rPr>
              <a:t>CEMEX</a:t>
            </a:r>
          </a:p>
        </p:txBody>
      </p:sp>
      <p:sp>
        <p:nvSpPr>
          <p:cNvPr id="242" name="TextBox 241"/>
          <p:cNvSpPr txBox="1"/>
          <p:nvPr/>
        </p:nvSpPr>
        <p:spPr>
          <a:xfrm>
            <a:off x="3745230" y="2890838"/>
            <a:ext cx="731877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?</a:t>
            </a:r>
          </a:p>
        </p:txBody>
      </p:sp>
      <p:sp>
        <p:nvSpPr>
          <p:cNvPr id="243" name="TextBox 242"/>
          <p:cNvSpPr txBox="1"/>
          <p:nvPr/>
        </p:nvSpPr>
        <p:spPr>
          <a:xfrm>
            <a:off x="4764286" y="2890838"/>
            <a:ext cx="731877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?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388620" y="3056930"/>
            <a:ext cx="2528054" cy="2041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790"/>
              </a:lnSpc>
            </a:pPr>
            <a:r>
              <a:rPr sz="660" b="1">
                <a:solidFill>
                  <a:srgbClr val="0D1526"/>
                </a:solidFill>
                <a:latin typeface="Calibri"/>
              </a:rPr>
              <a:t>Civil 3D</a:t>
            </a:r>
            <a:r>
              <a:rPr sz="570" b="0">
                <a:solidFill>
                  <a:srgbClr val="78879F"/>
                </a:solidFill>
                <a:latin typeface="Calibri"/>
              </a:rPr>
              <a:t> Autodesk</a:t>
            </a:r>
          </a:p>
        </p:txBody>
      </p:sp>
      <p:sp>
        <p:nvSpPr>
          <p:cNvPr id="245" name="TextBox 244"/>
          <p:cNvSpPr txBox="1"/>
          <p:nvPr/>
        </p:nvSpPr>
        <p:spPr>
          <a:xfrm>
            <a:off x="3745230" y="3087409"/>
            <a:ext cx="966192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Externe</a:t>
            </a:r>
          </a:p>
        </p:txBody>
      </p:sp>
      <p:sp>
        <p:nvSpPr>
          <p:cNvPr id="246" name="TextBox 245"/>
          <p:cNvSpPr txBox="1"/>
          <p:nvPr/>
        </p:nvSpPr>
        <p:spPr>
          <a:xfrm>
            <a:off x="4764286" y="3087409"/>
            <a:ext cx="946785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247" name="TextBox 246"/>
          <p:cNvSpPr txBox="1"/>
          <p:nvPr/>
        </p:nvSpPr>
        <p:spPr>
          <a:xfrm>
            <a:off x="403860" y="3274815"/>
            <a:ext cx="1011912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60" b="1">
                <a:solidFill>
                  <a:srgbClr val="0D1526"/>
                </a:solidFill>
                <a:latin typeface="Calibri"/>
              </a:rPr>
              <a:t>Covadis</a:t>
            </a:r>
          </a:p>
        </p:txBody>
      </p:sp>
      <p:sp>
        <p:nvSpPr>
          <p:cNvPr id="248" name="TextBox 247"/>
          <p:cNvSpPr txBox="1"/>
          <p:nvPr/>
        </p:nvSpPr>
        <p:spPr>
          <a:xfrm>
            <a:off x="3745230" y="3283981"/>
            <a:ext cx="731877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?</a:t>
            </a:r>
          </a:p>
        </p:txBody>
      </p:sp>
      <p:sp>
        <p:nvSpPr>
          <p:cNvPr id="249" name="TextBox 248"/>
          <p:cNvSpPr txBox="1"/>
          <p:nvPr/>
        </p:nvSpPr>
        <p:spPr>
          <a:xfrm>
            <a:off x="4764286" y="3283981"/>
            <a:ext cx="946785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250" name="TextBox 249"/>
          <p:cNvSpPr txBox="1"/>
          <p:nvPr/>
        </p:nvSpPr>
        <p:spPr>
          <a:xfrm>
            <a:off x="388620" y="3450073"/>
            <a:ext cx="2528054" cy="2041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790"/>
              </a:lnSpc>
            </a:pPr>
            <a:r>
              <a:rPr sz="660" b="1">
                <a:solidFill>
                  <a:srgbClr val="0D1526"/>
                </a:solidFill>
                <a:latin typeface="Calibri"/>
              </a:rPr>
              <a:t>CWT</a:t>
            </a:r>
            <a:r>
              <a:rPr sz="570" b="0">
                <a:solidFill>
                  <a:srgbClr val="78879F"/>
                </a:solidFill>
                <a:latin typeface="Calibri"/>
              </a:rPr>
              <a:t> CWT EUROPE</a:t>
            </a:r>
          </a:p>
        </p:txBody>
      </p:sp>
      <p:sp>
        <p:nvSpPr>
          <p:cNvPr id="251" name="TextBox 250"/>
          <p:cNvSpPr txBox="1"/>
          <p:nvPr/>
        </p:nvSpPr>
        <p:spPr>
          <a:xfrm>
            <a:off x="3745230" y="3480554"/>
            <a:ext cx="966192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Externe</a:t>
            </a:r>
          </a:p>
        </p:txBody>
      </p:sp>
      <p:sp>
        <p:nvSpPr>
          <p:cNvPr id="252" name="TextBox 251"/>
          <p:cNvSpPr txBox="1"/>
          <p:nvPr/>
        </p:nvSpPr>
        <p:spPr>
          <a:xfrm>
            <a:off x="4764286" y="3480554"/>
            <a:ext cx="946785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253" name="TextBox 252"/>
          <p:cNvSpPr txBox="1"/>
          <p:nvPr/>
        </p:nvSpPr>
        <p:spPr>
          <a:xfrm>
            <a:off x="403860" y="3667958"/>
            <a:ext cx="1202889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60" b="1">
                <a:solidFill>
                  <a:srgbClr val="0D1526"/>
                </a:solidFill>
                <a:latin typeface="Calibri"/>
              </a:rPr>
              <a:t>Cyclone 3DR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3745230" y="3677127"/>
            <a:ext cx="731877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?</a:t>
            </a:r>
          </a:p>
        </p:txBody>
      </p:sp>
      <p:sp>
        <p:nvSpPr>
          <p:cNvPr id="255" name="TextBox 254"/>
          <p:cNvSpPr txBox="1"/>
          <p:nvPr/>
        </p:nvSpPr>
        <p:spPr>
          <a:xfrm>
            <a:off x="4764286" y="3677127"/>
            <a:ext cx="881777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0B7E99"/>
                </a:solidFill>
                <a:latin typeface="Calibri"/>
              </a:rPr>
              <a:t>Mixte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388620" y="3843219"/>
            <a:ext cx="2528054" cy="20419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790"/>
              </a:lnSpc>
            </a:pPr>
            <a:r>
              <a:rPr sz="660" b="1">
                <a:solidFill>
                  <a:srgbClr val="0D1526"/>
                </a:solidFill>
                <a:latin typeface="Calibri"/>
              </a:rPr>
              <a:t>DocuSign</a:t>
            </a:r>
            <a:r>
              <a:rPr sz="570" b="0">
                <a:solidFill>
                  <a:srgbClr val="78879F"/>
                </a:solidFill>
                <a:latin typeface="Calibri"/>
              </a:rPr>
              <a:t> Docusign</a:t>
            </a:r>
          </a:p>
        </p:txBody>
      </p:sp>
      <p:sp>
        <p:nvSpPr>
          <p:cNvPr id="257" name="TextBox 256"/>
          <p:cNvSpPr txBox="1"/>
          <p:nvPr/>
        </p:nvSpPr>
        <p:spPr>
          <a:xfrm>
            <a:off x="3745230" y="3873698"/>
            <a:ext cx="966192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Externe</a:t>
            </a:r>
          </a:p>
        </p:txBody>
      </p:sp>
      <p:sp>
        <p:nvSpPr>
          <p:cNvPr id="258" name="TextBox 257"/>
          <p:cNvSpPr txBox="1"/>
          <p:nvPr/>
        </p:nvSpPr>
        <p:spPr>
          <a:xfrm>
            <a:off x="4764286" y="3873698"/>
            <a:ext cx="946785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259" name="TextBox 258"/>
          <p:cNvSpPr txBox="1"/>
          <p:nvPr/>
        </p:nvSpPr>
        <p:spPr>
          <a:xfrm>
            <a:off x="388620" y="4039790"/>
            <a:ext cx="2528054" cy="2041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790"/>
              </a:lnSpc>
            </a:pPr>
            <a:r>
              <a:rPr sz="660" b="1">
                <a:solidFill>
                  <a:srgbClr val="0D1526"/>
                </a:solidFill>
                <a:latin typeface="Calibri"/>
              </a:rPr>
              <a:t>E-Checking</a:t>
            </a:r>
            <a:r>
              <a:rPr sz="570" b="0">
                <a:solidFill>
                  <a:srgbClr val="78879F"/>
                </a:solidFill>
                <a:latin typeface="Calibri"/>
              </a:rPr>
              <a:t> BYCN</a:t>
            </a:r>
          </a:p>
        </p:txBody>
      </p:sp>
      <p:sp>
        <p:nvSpPr>
          <p:cNvPr id="260" name="TextBox 259"/>
          <p:cNvSpPr txBox="1"/>
          <p:nvPr/>
        </p:nvSpPr>
        <p:spPr>
          <a:xfrm>
            <a:off x="3745230" y="4070270"/>
            <a:ext cx="966192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Externe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4764286" y="4070270"/>
            <a:ext cx="946785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262" name="TextBox 261"/>
          <p:cNvSpPr txBox="1"/>
          <p:nvPr/>
        </p:nvSpPr>
        <p:spPr>
          <a:xfrm>
            <a:off x="388620" y="4236362"/>
            <a:ext cx="2528054" cy="2041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790"/>
              </a:lnSpc>
            </a:pPr>
            <a:r>
              <a:rPr sz="660" b="1">
                <a:solidFill>
                  <a:srgbClr val="0D1526"/>
                </a:solidFill>
                <a:latin typeface="Calibri"/>
              </a:rPr>
              <a:t>E-Paraph</a:t>
            </a:r>
            <a:r>
              <a:rPr sz="570" b="0">
                <a:solidFill>
                  <a:srgbClr val="78879F"/>
                </a:solidFill>
                <a:latin typeface="Calibri"/>
              </a:rPr>
              <a:t> E-paraph</a:t>
            </a:r>
          </a:p>
        </p:txBody>
      </p:sp>
      <p:sp>
        <p:nvSpPr>
          <p:cNvPr id="263" name="TextBox 262"/>
          <p:cNvSpPr txBox="1"/>
          <p:nvPr/>
        </p:nvSpPr>
        <p:spPr>
          <a:xfrm>
            <a:off x="3745230" y="4266843"/>
            <a:ext cx="943332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5B57D6"/>
                </a:solidFill>
                <a:latin typeface="Calibri"/>
              </a:rPr>
              <a:t>Interne</a:t>
            </a:r>
          </a:p>
        </p:txBody>
      </p:sp>
      <p:sp>
        <p:nvSpPr>
          <p:cNvPr id="264" name="TextBox 263"/>
          <p:cNvSpPr txBox="1"/>
          <p:nvPr/>
        </p:nvSpPr>
        <p:spPr>
          <a:xfrm>
            <a:off x="4764286" y="4266843"/>
            <a:ext cx="946785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265" name="TextBox 264"/>
          <p:cNvSpPr txBox="1"/>
          <p:nvPr/>
        </p:nvSpPr>
        <p:spPr>
          <a:xfrm>
            <a:off x="388620" y="4432935"/>
            <a:ext cx="2528054" cy="2041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790"/>
              </a:lnSpc>
            </a:pPr>
            <a:r>
              <a:rPr sz="660" b="1">
                <a:solidFill>
                  <a:srgbClr val="0D1526"/>
                </a:solidFill>
                <a:latin typeface="Calibri"/>
              </a:rPr>
              <a:t>E-Project</a:t>
            </a:r>
            <a:r>
              <a:rPr sz="570" b="0">
                <a:solidFill>
                  <a:srgbClr val="78879F"/>
                </a:solidFill>
                <a:latin typeface="Calibri"/>
              </a:rPr>
              <a:t> Tisseo</a:t>
            </a:r>
          </a:p>
        </p:txBody>
      </p:sp>
      <p:sp>
        <p:nvSpPr>
          <p:cNvPr id="266" name="TextBox 265"/>
          <p:cNvSpPr txBox="1"/>
          <p:nvPr/>
        </p:nvSpPr>
        <p:spPr>
          <a:xfrm>
            <a:off x="3745230" y="4463416"/>
            <a:ext cx="731877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?</a:t>
            </a:r>
          </a:p>
        </p:txBody>
      </p:sp>
      <p:sp>
        <p:nvSpPr>
          <p:cNvPr id="267" name="TextBox 266"/>
          <p:cNvSpPr txBox="1"/>
          <p:nvPr/>
        </p:nvSpPr>
        <p:spPr>
          <a:xfrm>
            <a:off x="4764286" y="4463416"/>
            <a:ext cx="946785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268" name="TextBox 267"/>
          <p:cNvSpPr txBox="1"/>
          <p:nvPr/>
        </p:nvSpPr>
        <p:spPr>
          <a:xfrm>
            <a:off x="403860" y="4650820"/>
            <a:ext cx="1055370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60" b="1">
                <a:solidFill>
                  <a:srgbClr val="0D1526"/>
                </a:solidFill>
                <a:latin typeface="Calibri"/>
              </a:rPr>
              <a:t>ERP MAT</a:t>
            </a:r>
          </a:p>
        </p:txBody>
      </p:sp>
      <p:sp>
        <p:nvSpPr>
          <p:cNvPr id="269" name="TextBox 268"/>
          <p:cNvSpPr txBox="1"/>
          <p:nvPr/>
        </p:nvSpPr>
        <p:spPr>
          <a:xfrm>
            <a:off x="3745230" y="4659987"/>
            <a:ext cx="943332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5B57D6"/>
                </a:solidFill>
                <a:latin typeface="Calibri"/>
              </a:rPr>
              <a:t>Interne</a:t>
            </a:r>
          </a:p>
        </p:txBody>
      </p:sp>
      <p:sp>
        <p:nvSpPr>
          <p:cNvPr id="270" name="TextBox 269"/>
          <p:cNvSpPr txBox="1"/>
          <p:nvPr/>
        </p:nvSpPr>
        <p:spPr>
          <a:xfrm>
            <a:off x="4764286" y="4659987"/>
            <a:ext cx="946785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271" name="TextBox 270"/>
          <p:cNvSpPr txBox="1"/>
          <p:nvPr/>
        </p:nvSpPr>
        <p:spPr>
          <a:xfrm>
            <a:off x="388620" y="4826081"/>
            <a:ext cx="2528054" cy="20419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790"/>
              </a:lnSpc>
            </a:pPr>
            <a:r>
              <a:rPr sz="660" b="1">
                <a:solidFill>
                  <a:srgbClr val="0D1526"/>
                </a:solidFill>
                <a:latin typeface="Calibri"/>
              </a:rPr>
              <a:t>Excel</a:t>
            </a:r>
            <a:r>
              <a:rPr sz="570" b="0">
                <a:solidFill>
                  <a:srgbClr val="78879F"/>
                </a:solidFill>
                <a:latin typeface="Calibri"/>
              </a:rPr>
              <a:t> Microsoft</a:t>
            </a:r>
          </a:p>
        </p:txBody>
      </p:sp>
      <p:sp>
        <p:nvSpPr>
          <p:cNvPr id="272" name="TextBox 271"/>
          <p:cNvSpPr txBox="1"/>
          <p:nvPr/>
        </p:nvSpPr>
        <p:spPr>
          <a:xfrm>
            <a:off x="3745230" y="4856559"/>
            <a:ext cx="966192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Externe</a:t>
            </a:r>
          </a:p>
        </p:txBody>
      </p:sp>
      <p:sp>
        <p:nvSpPr>
          <p:cNvPr id="273" name="TextBox 272"/>
          <p:cNvSpPr txBox="1"/>
          <p:nvPr/>
        </p:nvSpPr>
        <p:spPr>
          <a:xfrm>
            <a:off x="4764286" y="4856559"/>
            <a:ext cx="946785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274" name="TextBox 273"/>
          <p:cNvSpPr txBox="1"/>
          <p:nvPr/>
        </p:nvSpPr>
        <p:spPr>
          <a:xfrm>
            <a:off x="403860" y="5043963"/>
            <a:ext cx="946666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60" b="1">
                <a:solidFill>
                  <a:srgbClr val="0D1526"/>
                </a:solidFill>
                <a:latin typeface="Calibri"/>
              </a:rPr>
              <a:t>GMAO</a:t>
            </a:r>
          </a:p>
        </p:txBody>
      </p:sp>
      <p:sp>
        <p:nvSpPr>
          <p:cNvPr id="275" name="TextBox 274"/>
          <p:cNvSpPr txBox="1"/>
          <p:nvPr/>
        </p:nvSpPr>
        <p:spPr>
          <a:xfrm>
            <a:off x="3745230" y="5053132"/>
            <a:ext cx="731877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?</a:t>
            </a:r>
          </a:p>
        </p:txBody>
      </p:sp>
      <p:sp>
        <p:nvSpPr>
          <p:cNvPr id="276" name="TextBox 275"/>
          <p:cNvSpPr txBox="1"/>
          <p:nvPr/>
        </p:nvSpPr>
        <p:spPr>
          <a:xfrm>
            <a:off x="4764286" y="5053132"/>
            <a:ext cx="731877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?</a:t>
            </a:r>
          </a:p>
        </p:txBody>
      </p:sp>
      <p:sp>
        <p:nvSpPr>
          <p:cNvPr id="277" name="TextBox 276"/>
          <p:cNvSpPr txBox="1"/>
          <p:nvPr/>
        </p:nvSpPr>
        <p:spPr>
          <a:xfrm>
            <a:off x="388620" y="5219224"/>
            <a:ext cx="2528054" cy="2041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790"/>
              </a:lnSpc>
            </a:pPr>
            <a:r>
              <a:rPr sz="660" b="1">
                <a:solidFill>
                  <a:srgbClr val="0D1526"/>
                </a:solidFill>
                <a:latin typeface="Calibri"/>
              </a:rPr>
              <a:t>H&amp;R For You</a:t>
            </a:r>
            <a:r>
              <a:rPr sz="570" b="0">
                <a:solidFill>
                  <a:srgbClr val="78879F"/>
                </a:solidFill>
                <a:latin typeface="Calibri"/>
              </a:rPr>
              <a:t> BYCN</a:t>
            </a:r>
          </a:p>
        </p:txBody>
      </p:sp>
      <p:sp>
        <p:nvSpPr>
          <p:cNvPr id="278" name="TextBox 277"/>
          <p:cNvSpPr txBox="1"/>
          <p:nvPr/>
        </p:nvSpPr>
        <p:spPr>
          <a:xfrm>
            <a:off x="3745230" y="5249703"/>
            <a:ext cx="943332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5B57D6"/>
                </a:solidFill>
                <a:latin typeface="Calibri"/>
              </a:rPr>
              <a:t>Interne</a:t>
            </a:r>
          </a:p>
        </p:txBody>
      </p:sp>
      <p:sp>
        <p:nvSpPr>
          <p:cNvPr id="279" name="TextBox 278"/>
          <p:cNvSpPr txBox="1"/>
          <p:nvPr/>
        </p:nvSpPr>
        <p:spPr>
          <a:xfrm>
            <a:off x="4764286" y="5249703"/>
            <a:ext cx="946785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280" name="TextBox 279"/>
          <p:cNvSpPr txBox="1"/>
          <p:nvPr/>
        </p:nvSpPr>
        <p:spPr>
          <a:xfrm>
            <a:off x="403860" y="5437109"/>
            <a:ext cx="1049179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60" b="1">
                <a:solidFill>
                  <a:srgbClr val="0D1526"/>
                </a:solidFill>
                <a:latin typeface="Calibri"/>
              </a:rPr>
              <a:t>Harmony</a:t>
            </a:r>
          </a:p>
        </p:txBody>
      </p:sp>
      <p:sp>
        <p:nvSpPr>
          <p:cNvPr id="281" name="TextBox 280"/>
          <p:cNvSpPr txBox="1"/>
          <p:nvPr/>
        </p:nvSpPr>
        <p:spPr>
          <a:xfrm>
            <a:off x="3745230" y="5446276"/>
            <a:ext cx="943332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5B57D6"/>
                </a:solidFill>
                <a:latin typeface="Calibri"/>
              </a:rPr>
              <a:t>Interne</a:t>
            </a:r>
          </a:p>
        </p:txBody>
      </p:sp>
      <p:sp>
        <p:nvSpPr>
          <p:cNvPr id="282" name="TextBox 281"/>
          <p:cNvSpPr txBox="1"/>
          <p:nvPr/>
        </p:nvSpPr>
        <p:spPr>
          <a:xfrm>
            <a:off x="4764286" y="5446276"/>
            <a:ext cx="946785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283" name="TextBox 282"/>
          <p:cNvSpPr txBox="1"/>
          <p:nvPr/>
        </p:nvSpPr>
        <p:spPr>
          <a:xfrm>
            <a:off x="388620" y="5612368"/>
            <a:ext cx="2528054" cy="2041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790"/>
              </a:lnSpc>
            </a:pPr>
            <a:r>
              <a:rPr sz="660" b="1">
                <a:solidFill>
                  <a:srgbClr val="0D1526"/>
                </a:solidFill>
                <a:latin typeface="Calibri"/>
              </a:rPr>
              <a:t>IDCapture</a:t>
            </a:r>
            <a:r>
              <a:rPr sz="570" b="0">
                <a:solidFill>
                  <a:srgbClr val="78879F"/>
                </a:solidFill>
                <a:latin typeface="Calibri"/>
              </a:rPr>
              <a:t> IDCAPTURE</a:t>
            </a:r>
          </a:p>
        </p:txBody>
      </p:sp>
      <p:sp>
        <p:nvSpPr>
          <p:cNvPr id="284" name="TextBox 283"/>
          <p:cNvSpPr txBox="1"/>
          <p:nvPr/>
        </p:nvSpPr>
        <p:spPr>
          <a:xfrm>
            <a:off x="3745230" y="5642848"/>
            <a:ext cx="966192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Externe</a:t>
            </a:r>
          </a:p>
        </p:txBody>
      </p:sp>
      <p:sp>
        <p:nvSpPr>
          <p:cNvPr id="285" name="TextBox 284"/>
          <p:cNvSpPr txBox="1"/>
          <p:nvPr/>
        </p:nvSpPr>
        <p:spPr>
          <a:xfrm>
            <a:off x="4764286" y="5642848"/>
            <a:ext cx="946785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286" name="TextBox 285"/>
          <p:cNvSpPr txBox="1"/>
          <p:nvPr/>
        </p:nvSpPr>
        <p:spPr>
          <a:xfrm>
            <a:off x="388620" y="5808940"/>
            <a:ext cx="2528054" cy="2041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790"/>
              </a:lnSpc>
            </a:pPr>
            <a:r>
              <a:rPr sz="660" b="1">
                <a:solidFill>
                  <a:srgbClr val="0D1526"/>
                </a:solidFill>
                <a:latin typeface="Calibri"/>
              </a:rPr>
              <a:t>Inventor</a:t>
            </a:r>
            <a:r>
              <a:rPr sz="570" b="0">
                <a:solidFill>
                  <a:srgbClr val="78879F"/>
                </a:solidFill>
                <a:latin typeface="Calibri"/>
              </a:rPr>
              <a:t> Autodesk</a:t>
            </a:r>
          </a:p>
        </p:txBody>
      </p:sp>
      <p:sp>
        <p:nvSpPr>
          <p:cNvPr id="287" name="TextBox 286"/>
          <p:cNvSpPr txBox="1"/>
          <p:nvPr/>
        </p:nvSpPr>
        <p:spPr>
          <a:xfrm>
            <a:off x="3745230" y="5839419"/>
            <a:ext cx="966192" cy="10668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Externe</a:t>
            </a:r>
          </a:p>
        </p:txBody>
      </p:sp>
      <p:sp>
        <p:nvSpPr>
          <p:cNvPr id="288" name="TextBox 287"/>
          <p:cNvSpPr txBox="1"/>
          <p:nvPr/>
        </p:nvSpPr>
        <p:spPr>
          <a:xfrm>
            <a:off x="4764286" y="5839419"/>
            <a:ext cx="946785" cy="10668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289" name="TextBox 288"/>
          <p:cNvSpPr txBox="1"/>
          <p:nvPr/>
        </p:nvSpPr>
        <p:spPr>
          <a:xfrm>
            <a:off x="388620" y="6005513"/>
            <a:ext cx="2528054" cy="20419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790"/>
              </a:lnSpc>
            </a:pPr>
            <a:r>
              <a:rPr sz="660" b="1">
                <a:solidFill>
                  <a:srgbClr val="0D1526"/>
                </a:solidFill>
                <a:latin typeface="Calibri"/>
              </a:rPr>
              <a:t>La Scene</a:t>
            </a:r>
            <a:r>
              <a:rPr sz="570" b="0">
                <a:solidFill>
                  <a:srgbClr val="78879F"/>
                </a:solidFill>
                <a:latin typeface="Calibri"/>
              </a:rPr>
              <a:t> Leica</a:t>
            </a:r>
          </a:p>
        </p:txBody>
      </p:sp>
      <p:sp>
        <p:nvSpPr>
          <p:cNvPr id="290" name="TextBox 289"/>
          <p:cNvSpPr txBox="1"/>
          <p:nvPr/>
        </p:nvSpPr>
        <p:spPr>
          <a:xfrm>
            <a:off x="3745230" y="6035992"/>
            <a:ext cx="731877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?</a:t>
            </a:r>
          </a:p>
        </p:txBody>
      </p:sp>
      <p:sp>
        <p:nvSpPr>
          <p:cNvPr id="291" name="TextBox 290"/>
          <p:cNvSpPr txBox="1"/>
          <p:nvPr/>
        </p:nvSpPr>
        <p:spPr>
          <a:xfrm>
            <a:off x="4764286" y="6035992"/>
            <a:ext cx="946785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292" name="TextBox 291"/>
          <p:cNvSpPr txBox="1"/>
          <p:nvPr/>
        </p:nvSpPr>
        <p:spPr>
          <a:xfrm>
            <a:off x="403860" y="6223396"/>
            <a:ext cx="1037630" cy="12192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60" b="1">
                <a:solidFill>
                  <a:srgbClr val="0D1526"/>
                </a:solidFill>
                <a:latin typeface="Calibri"/>
              </a:rPr>
              <a:t>Lafarge+</a:t>
            </a:r>
          </a:p>
        </p:txBody>
      </p:sp>
      <p:sp>
        <p:nvSpPr>
          <p:cNvPr id="293" name="TextBox 292"/>
          <p:cNvSpPr txBox="1"/>
          <p:nvPr/>
        </p:nvSpPr>
        <p:spPr>
          <a:xfrm>
            <a:off x="3745230" y="6232565"/>
            <a:ext cx="966192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Externe</a:t>
            </a:r>
          </a:p>
        </p:txBody>
      </p:sp>
      <p:sp>
        <p:nvSpPr>
          <p:cNvPr id="294" name="TextBox 293"/>
          <p:cNvSpPr txBox="1"/>
          <p:nvPr/>
        </p:nvSpPr>
        <p:spPr>
          <a:xfrm>
            <a:off x="4764286" y="6232565"/>
            <a:ext cx="858441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0B7E99"/>
                </a:solidFill>
                <a:latin typeface="Calibri"/>
              </a:rPr>
              <a:t>Auto</a:t>
            </a:r>
          </a:p>
        </p:txBody>
      </p:sp>
      <p:sp>
        <p:nvSpPr>
          <p:cNvPr id="295" name="TextBox 294"/>
          <p:cNvSpPr txBox="1"/>
          <p:nvPr/>
        </p:nvSpPr>
        <p:spPr>
          <a:xfrm>
            <a:off x="403860" y="6419969"/>
            <a:ext cx="1556861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60" b="1">
                <a:solidFill>
                  <a:srgbClr val="0D1526"/>
                </a:solidFill>
                <a:latin typeface="Calibri"/>
              </a:rPr>
              <a:t>Live Objects (Orange)</a:t>
            </a:r>
          </a:p>
        </p:txBody>
      </p:sp>
      <p:sp>
        <p:nvSpPr>
          <p:cNvPr id="296" name="TextBox 295"/>
          <p:cNvSpPr txBox="1"/>
          <p:nvPr/>
        </p:nvSpPr>
        <p:spPr>
          <a:xfrm>
            <a:off x="3745230" y="6429137"/>
            <a:ext cx="966192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Externe</a:t>
            </a:r>
          </a:p>
        </p:txBody>
      </p:sp>
      <p:sp>
        <p:nvSpPr>
          <p:cNvPr id="297" name="TextBox 296"/>
          <p:cNvSpPr txBox="1"/>
          <p:nvPr/>
        </p:nvSpPr>
        <p:spPr>
          <a:xfrm>
            <a:off x="4764286" y="6429137"/>
            <a:ext cx="858441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0B7E99"/>
                </a:solidFill>
                <a:latin typeface="Calibri"/>
              </a:rPr>
              <a:t>Auto</a:t>
            </a:r>
          </a:p>
        </p:txBody>
      </p:sp>
      <p:sp>
        <p:nvSpPr>
          <p:cNvPr id="298" name="TextBox 297"/>
          <p:cNvSpPr txBox="1"/>
          <p:nvPr/>
        </p:nvSpPr>
        <p:spPr>
          <a:xfrm>
            <a:off x="6248400" y="1120140"/>
            <a:ext cx="957262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70" b="1" spc="85">
                <a:solidFill>
                  <a:srgbClr val="78879F"/>
                </a:solidFill>
                <a:latin typeface="Calibri"/>
              </a:rPr>
              <a:t>OUTIL</a:t>
            </a:r>
          </a:p>
        </p:txBody>
      </p:sp>
      <p:sp>
        <p:nvSpPr>
          <p:cNvPr id="299" name="TextBox 298"/>
          <p:cNvSpPr txBox="1"/>
          <p:nvPr/>
        </p:nvSpPr>
        <p:spPr>
          <a:xfrm>
            <a:off x="8852655" y="1120140"/>
            <a:ext cx="1137523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70" b="1" spc="85">
                <a:solidFill>
                  <a:srgbClr val="78879F"/>
                </a:solidFill>
                <a:latin typeface="Calibri"/>
              </a:rPr>
              <a:t>SERVICES</a:t>
            </a:r>
          </a:p>
        </p:txBody>
      </p:sp>
      <p:sp>
        <p:nvSpPr>
          <p:cNvPr id="300" name="TextBox 299"/>
          <p:cNvSpPr txBox="1"/>
          <p:nvPr/>
        </p:nvSpPr>
        <p:spPr>
          <a:xfrm>
            <a:off x="9871710" y="1120140"/>
            <a:ext cx="1047274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70" b="1" spc="85">
                <a:solidFill>
                  <a:srgbClr val="78879F"/>
                </a:solidFill>
                <a:latin typeface="Calibri"/>
              </a:rPr>
              <a:t>NATURE</a:t>
            </a:r>
          </a:p>
        </p:txBody>
      </p:sp>
      <p:sp>
        <p:nvSpPr>
          <p:cNvPr id="301" name="TextBox 300"/>
          <p:cNvSpPr txBox="1"/>
          <p:nvPr/>
        </p:nvSpPr>
        <p:spPr>
          <a:xfrm>
            <a:off x="10890766" y="1120140"/>
            <a:ext cx="1352313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70" b="1" spc="85">
                <a:solidFill>
                  <a:srgbClr val="78879F"/>
                </a:solidFill>
                <a:latin typeface="Calibri"/>
              </a:rPr>
              <a:t>ALIMENTATION</a:t>
            </a:r>
          </a:p>
        </p:txBody>
      </p:sp>
      <p:sp>
        <p:nvSpPr>
          <p:cNvPr id="302" name="TextBox 301"/>
          <p:cNvSpPr txBox="1"/>
          <p:nvPr/>
        </p:nvSpPr>
        <p:spPr>
          <a:xfrm>
            <a:off x="6248400" y="1309093"/>
            <a:ext cx="1058465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60" b="1">
                <a:solidFill>
                  <a:srgbClr val="0D1526"/>
                </a:solidFill>
                <a:latin typeface="Calibri"/>
              </a:rPr>
              <a:t>Lucee TP</a:t>
            </a:r>
          </a:p>
        </p:txBody>
      </p:sp>
      <p:sp>
        <p:nvSpPr>
          <p:cNvPr id="303" name="TextBox 302"/>
          <p:cNvSpPr txBox="1"/>
          <p:nvPr/>
        </p:nvSpPr>
        <p:spPr>
          <a:xfrm>
            <a:off x="9589770" y="1318260"/>
            <a:ext cx="966192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Externe</a:t>
            </a:r>
          </a:p>
        </p:txBody>
      </p:sp>
      <p:sp>
        <p:nvSpPr>
          <p:cNvPr id="304" name="TextBox 303"/>
          <p:cNvSpPr txBox="1"/>
          <p:nvPr/>
        </p:nvSpPr>
        <p:spPr>
          <a:xfrm>
            <a:off x="10608826" y="1318260"/>
            <a:ext cx="946785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305" name="TextBox 304"/>
          <p:cNvSpPr txBox="1"/>
          <p:nvPr/>
        </p:nvSpPr>
        <p:spPr>
          <a:xfrm>
            <a:off x="6233160" y="1484352"/>
            <a:ext cx="2528054" cy="2041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790"/>
              </a:lnSpc>
            </a:pPr>
            <a:r>
              <a:rPr sz="660" b="1">
                <a:solidFill>
                  <a:srgbClr val="0D1526"/>
                </a:solidFill>
                <a:latin typeface="Calibri"/>
              </a:rPr>
              <a:t>Mezzoteam</a:t>
            </a:r>
            <a:r>
              <a:rPr sz="570" b="0">
                <a:solidFill>
                  <a:srgbClr val="78879F"/>
                </a:solidFill>
                <a:latin typeface="Calibri"/>
              </a:rPr>
              <a:t> MEZZOTEAM</a:t>
            </a:r>
          </a:p>
        </p:txBody>
      </p:sp>
      <p:sp>
        <p:nvSpPr>
          <p:cNvPr id="306" name="TextBox 305"/>
          <p:cNvSpPr txBox="1"/>
          <p:nvPr/>
        </p:nvSpPr>
        <p:spPr>
          <a:xfrm>
            <a:off x="9589770" y="1514833"/>
            <a:ext cx="966192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Externe</a:t>
            </a:r>
          </a:p>
        </p:txBody>
      </p:sp>
      <p:sp>
        <p:nvSpPr>
          <p:cNvPr id="307" name="TextBox 306"/>
          <p:cNvSpPr txBox="1"/>
          <p:nvPr/>
        </p:nvSpPr>
        <p:spPr>
          <a:xfrm>
            <a:off x="10608826" y="1514833"/>
            <a:ext cx="881777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0B7E99"/>
                </a:solidFill>
                <a:latin typeface="Calibri"/>
              </a:rPr>
              <a:t>Mixte</a:t>
            </a:r>
          </a:p>
        </p:txBody>
      </p:sp>
      <p:sp>
        <p:nvSpPr>
          <p:cNvPr id="308" name="TextBox 307"/>
          <p:cNvSpPr txBox="1"/>
          <p:nvPr/>
        </p:nvSpPr>
        <p:spPr>
          <a:xfrm>
            <a:off x="6248400" y="1702237"/>
            <a:ext cx="904756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60" b="1">
                <a:solidFill>
                  <a:srgbClr val="0D1526"/>
                </a:solidFill>
                <a:latin typeface="Calibri"/>
              </a:rPr>
              <a:t>MIRO</a:t>
            </a:r>
          </a:p>
        </p:txBody>
      </p:sp>
      <p:sp>
        <p:nvSpPr>
          <p:cNvPr id="309" name="TextBox 308"/>
          <p:cNvSpPr txBox="1"/>
          <p:nvPr/>
        </p:nvSpPr>
        <p:spPr>
          <a:xfrm>
            <a:off x="9589770" y="1711404"/>
            <a:ext cx="731877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?</a:t>
            </a:r>
          </a:p>
        </p:txBody>
      </p:sp>
      <p:sp>
        <p:nvSpPr>
          <p:cNvPr id="310" name="TextBox 309"/>
          <p:cNvSpPr txBox="1"/>
          <p:nvPr/>
        </p:nvSpPr>
        <p:spPr>
          <a:xfrm>
            <a:off x="10608826" y="1711404"/>
            <a:ext cx="946785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311" name="TextBox 310"/>
          <p:cNvSpPr txBox="1"/>
          <p:nvPr/>
        </p:nvSpPr>
        <p:spPr>
          <a:xfrm>
            <a:off x="6248400" y="1898809"/>
            <a:ext cx="881420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60" b="1">
                <a:solidFill>
                  <a:srgbClr val="0D1526"/>
                </a:solidFill>
                <a:latin typeface="Calibri"/>
              </a:rPr>
              <a:t>MMS</a:t>
            </a:r>
          </a:p>
        </p:txBody>
      </p:sp>
      <p:sp>
        <p:nvSpPr>
          <p:cNvPr id="312" name="TextBox 311"/>
          <p:cNvSpPr txBox="1"/>
          <p:nvPr/>
        </p:nvSpPr>
        <p:spPr>
          <a:xfrm>
            <a:off x="9589770" y="1907976"/>
            <a:ext cx="943332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5B57D6"/>
                </a:solidFill>
                <a:latin typeface="Calibri"/>
              </a:rPr>
              <a:t>Interne</a:t>
            </a:r>
          </a:p>
        </p:txBody>
      </p:sp>
      <p:sp>
        <p:nvSpPr>
          <p:cNvPr id="313" name="TextBox 312"/>
          <p:cNvSpPr txBox="1"/>
          <p:nvPr/>
        </p:nvSpPr>
        <p:spPr>
          <a:xfrm>
            <a:off x="10608826" y="1907976"/>
            <a:ext cx="946785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314" name="TextBox 313"/>
          <p:cNvSpPr txBox="1"/>
          <p:nvPr/>
        </p:nvSpPr>
        <p:spPr>
          <a:xfrm>
            <a:off x="6248400" y="2095382"/>
            <a:ext cx="1119068" cy="12191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60" b="1">
                <a:solidFill>
                  <a:srgbClr val="0D1526"/>
                </a:solidFill>
                <a:latin typeface="Calibri"/>
              </a:rPr>
              <a:t>MS Project</a:t>
            </a:r>
          </a:p>
        </p:txBody>
      </p:sp>
      <p:sp>
        <p:nvSpPr>
          <p:cNvPr id="315" name="TextBox 314"/>
          <p:cNvSpPr txBox="1"/>
          <p:nvPr/>
        </p:nvSpPr>
        <p:spPr>
          <a:xfrm>
            <a:off x="9589770" y="2104549"/>
            <a:ext cx="966192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Externe</a:t>
            </a:r>
          </a:p>
        </p:txBody>
      </p:sp>
      <p:sp>
        <p:nvSpPr>
          <p:cNvPr id="316" name="TextBox 315"/>
          <p:cNvSpPr txBox="1"/>
          <p:nvPr/>
        </p:nvSpPr>
        <p:spPr>
          <a:xfrm>
            <a:off x="10608826" y="2104549"/>
            <a:ext cx="946785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317" name="TextBox 316"/>
          <p:cNvSpPr txBox="1"/>
          <p:nvPr/>
        </p:nvSpPr>
        <p:spPr>
          <a:xfrm>
            <a:off x="6248400" y="2291953"/>
            <a:ext cx="1077277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60" b="1">
                <a:solidFill>
                  <a:srgbClr val="0D1526"/>
                </a:solidFill>
                <a:latin typeface="Calibri"/>
              </a:rPr>
              <a:t>Neoaccès</a:t>
            </a:r>
          </a:p>
        </p:txBody>
      </p:sp>
      <p:sp>
        <p:nvSpPr>
          <p:cNvPr id="318" name="TextBox 317"/>
          <p:cNvSpPr txBox="1"/>
          <p:nvPr/>
        </p:nvSpPr>
        <p:spPr>
          <a:xfrm>
            <a:off x="9589770" y="2301122"/>
            <a:ext cx="731877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?</a:t>
            </a:r>
          </a:p>
        </p:txBody>
      </p:sp>
      <p:sp>
        <p:nvSpPr>
          <p:cNvPr id="319" name="TextBox 318"/>
          <p:cNvSpPr txBox="1"/>
          <p:nvPr/>
        </p:nvSpPr>
        <p:spPr>
          <a:xfrm>
            <a:off x="10608826" y="2301122"/>
            <a:ext cx="731877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?</a:t>
            </a:r>
          </a:p>
        </p:txBody>
      </p:sp>
      <p:sp>
        <p:nvSpPr>
          <p:cNvPr id="320" name="TextBox 319"/>
          <p:cNvSpPr txBox="1"/>
          <p:nvPr/>
        </p:nvSpPr>
        <p:spPr>
          <a:xfrm>
            <a:off x="6233160" y="2467214"/>
            <a:ext cx="2528054" cy="2041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790"/>
              </a:lnSpc>
            </a:pPr>
            <a:r>
              <a:rPr sz="660" b="1">
                <a:solidFill>
                  <a:srgbClr val="0D1526"/>
                </a:solidFill>
                <a:latin typeface="Calibri"/>
              </a:rPr>
              <a:t>NotebookLM</a:t>
            </a:r>
            <a:r>
              <a:rPr sz="570" b="0">
                <a:solidFill>
                  <a:srgbClr val="78879F"/>
                </a:solidFill>
                <a:latin typeface="Calibri"/>
              </a:rPr>
              <a:t> GOOGLE</a:t>
            </a:r>
          </a:p>
        </p:txBody>
      </p:sp>
      <p:sp>
        <p:nvSpPr>
          <p:cNvPr id="321" name="TextBox 320"/>
          <p:cNvSpPr txBox="1"/>
          <p:nvPr/>
        </p:nvSpPr>
        <p:spPr>
          <a:xfrm>
            <a:off x="9589770" y="2497693"/>
            <a:ext cx="943332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5B57D6"/>
                </a:solidFill>
                <a:latin typeface="Calibri"/>
              </a:rPr>
              <a:t>Interne</a:t>
            </a:r>
          </a:p>
        </p:txBody>
      </p:sp>
      <p:sp>
        <p:nvSpPr>
          <p:cNvPr id="322" name="TextBox 321"/>
          <p:cNvSpPr txBox="1"/>
          <p:nvPr/>
        </p:nvSpPr>
        <p:spPr>
          <a:xfrm>
            <a:off x="10608826" y="2497693"/>
            <a:ext cx="946785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323" name="TextBox 322"/>
          <p:cNvSpPr txBox="1"/>
          <p:nvPr/>
        </p:nvSpPr>
        <p:spPr>
          <a:xfrm>
            <a:off x="6233160" y="2663786"/>
            <a:ext cx="2528054" cy="20419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790"/>
              </a:lnSpc>
            </a:pPr>
            <a:r>
              <a:rPr sz="660" b="1">
                <a:solidFill>
                  <a:srgbClr val="0D1526"/>
                </a:solidFill>
                <a:latin typeface="Calibri"/>
              </a:rPr>
              <a:t>Oasis</a:t>
            </a:r>
            <a:r>
              <a:rPr sz="570" b="0">
                <a:solidFill>
                  <a:srgbClr val="78879F"/>
                </a:solidFill>
                <a:latin typeface="Calibri"/>
              </a:rPr>
              <a:t> Microsoft</a:t>
            </a:r>
          </a:p>
        </p:txBody>
      </p:sp>
      <p:sp>
        <p:nvSpPr>
          <p:cNvPr id="324" name="TextBox 323"/>
          <p:cNvSpPr txBox="1"/>
          <p:nvPr/>
        </p:nvSpPr>
        <p:spPr>
          <a:xfrm>
            <a:off x="9589770" y="2694265"/>
            <a:ext cx="943332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5B57D6"/>
                </a:solidFill>
                <a:latin typeface="Calibri"/>
              </a:rPr>
              <a:t>Interne</a:t>
            </a:r>
          </a:p>
        </p:txBody>
      </p:sp>
      <p:sp>
        <p:nvSpPr>
          <p:cNvPr id="325" name="TextBox 324"/>
          <p:cNvSpPr txBox="1"/>
          <p:nvPr/>
        </p:nvSpPr>
        <p:spPr>
          <a:xfrm>
            <a:off x="10608826" y="2694265"/>
            <a:ext cx="946785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326" name="TextBox 325"/>
          <p:cNvSpPr txBox="1"/>
          <p:nvPr/>
        </p:nvSpPr>
        <p:spPr>
          <a:xfrm>
            <a:off x="6233160" y="2860357"/>
            <a:ext cx="2528054" cy="2041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790"/>
              </a:lnSpc>
            </a:pPr>
            <a:r>
              <a:rPr sz="660" b="1">
                <a:solidFill>
                  <a:srgbClr val="0D1526"/>
                </a:solidFill>
                <a:latin typeface="Calibri"/>
              </a:rPr>
              <a:t>Pablo</a:t>
            </a:r>
            <a:r>
              <a:rPr sz="570" b="0">
                <a:solidFill>
                  <a:srgbClr val="78879F"/>
                </a:solidFill>
                <a:latin typeface="Calibri"/>
              </a:rPr>
              <a:t> Systra</a:t>
            </a:r>
          </a:p>
        </p:txBody>
      </p:sp>
      <p:sp>
        <p:nvSpPr>
          <p:cNvPr id="327" name="TextBox 326"/>
          <p:cNvSpPr txBox="1"/>
          <p:nvPr/>
        </p:nvSpPr>
        <p:spPr>
          <a:xfrm>
            <a:off x="9589770" y="2890838"/>
            <a:ext cx="966192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Externe</a:t>
            </a:r>
          </a:p>
        </p:txBody>
      </p:sp>
      <p:sp>
        <p:nvSpPr>
          <p:cNvPr id="328" name="TextBox 327"/>
          <p:cNvSpPr txBox="1"/>
          <p:nvPr/>
        </p:nvSpPr>
        <p:spPr>
          <a:xfrm>
            <a:off x="10608826" y="2890838"/>
            <a:ext cx="946785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329" name="TextBox 328"/>
          <p:cNvSpPr txBox="1"/>
          <p:nvPr/>
        </p:nvSpPr>
        <p:spPr>
          <a:xfrm>
            <a:off x="6248400" y="3078242"/>
            <a:ext cx="881538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60" b="1">
                <a:solidFill>
                  <a:srgbClr val="0D1526"/>
                </a:solidFill>
                <a:latin typeface="Calibri"/>
              </a:rPr>
              <a:t>Pixis</a:t>
            </a:r>
          </a:p>
        </p:txBody>
      </p:sp>
      <p:sp>
        <p:nvSpPr>
          <p:cNvPr id="330" name="TextBox 329"/>
          <p:cNvSpPr txBox="1"/>
          <p:nvPr/>
        </p:nvSpPr>
        <p:spPr>
          <a:xfrm>
            <a:off x="9589770" y="3087409"/>
            <a:ext cx="731877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?</a:t>
            </a:r>
          </a:p>
        </p:txBody>
      </p:sp>
      <p:sp>
        <p:nvSpPr>
          <p:cNvPr id="331" name="TextBox 330"/>
          <p:cNvSpPr txBox="1"/>
          <p:nvPr/>
        </p:nvSpPr>
        <p:spPr>
          <a:xfrm>
            <a:off x="10608826" y="3087409"/>
            <a:ext cx="858441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0B7E99"/>
                </a:solidFill>
                <a:latin typeface="Calibri"/>
              </a:rPr>
              <a:t>Auto</a:t>
            </a:r>
          </a:p>
        </p:txBody>
      </p:sp>
      <p:sp>
        <p:nvSpPr>
          <p:cNvPr id="332" name="TextBox 331"/>
          <p:cNvSpPr txBox="1"/>
          <p:nvPr/>
        </p:nvSpPr>
        <p:spPr>
          <a:xfrm>
            <a:off x="6233160" y="3253503"/>
            <a:ext cx="2528054" cy="20419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790"/>
              </a:lnSpc>
            </a:pPr>
            <a:r>
              <a:rPr sz="660" b="1">
                <a:solidFill>
                  <a:srgbClr val="0D1526"/>
                </a:solidFill>
                <a:latin typeface="Calibri"/>
              </a:rPr>
              <a:t>Power BI</a:t>
            </a:r>
            <a:r>
              <a:rPr sz="570" b="0">
                <a:solidFill>
                  <a:srgbClr val="78879F"/>
                </a:solidFill>
                <a:latin typeface="Calibri"/>
              </a:rPr>
              <a:t> BYCN</a:t>
            </a:r>
          </a:p>
        </p:txBody>
      </p:sp>
      <p:sp>
        <p:nvSpPr>
          <p:cNvPr id="333" name="TextBox 332"/>
          <p:cNvSpPr txBox="1"/>
          <p:nvPr/>
        </p:nvSpPr>
        <p:spPr>
          <a:xfrm>
            <a:off x="9589770" y="3283981"/>
            <a:ext cx="943332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5B57D6"/>
                </a:solidFill>
                <a:latin typeface="Calibri"/>
              </a:rPr>
              <a:t>Interne</a:t>
            </a:r>
          </a:p>
        </p:txBody>
      </p:sp>
      <p:sp>
        <p:nvSpPr>
          <p:cNvPr id="334" name="TextBox 333"/>
          <p:cNvSpPr txBox="1"/>
          <p:nvPr/>
        </p:nvSpPr>
        <p:spPr>
          <a:xfrm>
            <a:off x="10608826" y="3283981"/>
            <a:ext cx="858441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0B7E99"/>
                </a:solidFill>
                <a:latin typeface="Calibri"/>
              </a:rPr>
              <a:t>Auto</a:t>
            </a:r>
          </a:p>
        </p:txBody>
      </p:sp>
      <p:sp>
        <p:nvSpPr>
          <p:cNvPr id="335" name="TextBox 334"/>
          <p:cNvSpPr txBox="1"/>
          <p:nvPr/>
        </p:nvSpPr>
        <p:spPr>
          <a:xfrm>
            <a:off x="6248400" y="3471385"/>
            <a:ext cx="1146929" cy="12192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60" b="1">
                <a:solidFill>
                  <a:srgbClr val="0D1526"/>
                </a:solidFill>
                <a:latin typeface="Calibri"/>
              </a:rPr>
              <a:t>PowerPoint</a:t>
            </a:r>
          </a:p>
        </p:txBody>
      </p:sp>
      <p:sp>
        <p:nvSpPr>
          <p:cNvPr id="336" name="TextBox 335"/>
          <p:cNvSpPr txBox="1"/>
          <p:nvPr/>
        </p:nvSpPr>
        <p:spPr>
          <a:xfrm>
            <a:off x="9589770" y="3480554"/>
            <a:ext cx="966192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Externe</a:t>
            </a:r>
          </a:p>
        </p:txBody>
      </p:sp>
      <p:sp>
        <p:nvSpPr>
          <p:cNvPr id="337" name="TextBox 336"/>
          <p:cNvSpPr txBox="1"/>
          <p:nvPr/>
        </p:nvSpPr>
        <p:spPr>
          <a:xfrm>
            <a:off x="10608826" y="3480554"/>
            <a:ext cx="946785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338" name="TextBox 337"/>
          <p:cNvSpPr txBox="1"/>
          <p:nvPr/>
        </p:nvSpPr>
        <p:spPr>
          <a:xfrm>
            <a:off x="6248400" y="3667958"/>
            <a:ext cx="914162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60" b="1">
                <a:solidFill>
                  <a:srgbClr val="0D1526"/>
                </a:solidFill>
                <a:latin typeface="Calibri"/>
              </a:rPr>
              <a:t>Puma</a:t>
            </a:r>
          </a:p>
        </p:txBody>
      </p:sp>
      <p:sp>
        <p:nvSpPr>
          <p:cNvPr id="339" name="TextBox 338"/>
          <p:cNvSpPr txBox="1"/>
          <p:nvPr/>
        </p:nvSpPr>
        <p:spPr>
          <a:xfrm>
            <a:off x="9589770" y="3677127"/>
            <a:ext cx="943332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5B57D6"/>
                </a:solidFill>
                <a:latin typeface="Calibri"/>
              </a:rPr>
              <a:t>Interne</a:t>
            </a:r>
          </a:p>
        </p:txBody>
      </p:sp>
      <p:sp>
        <p:nvSpPr>
          <p:cNvPr id="340" name="TextBox 339"/>
          <p:cNvSpPr txBox="1"/>
          <p:nvPr/>
        </p:nvSpPr>
        <p:spPr>
          <a:xfrm>
            <a:off x="10608826" y="3677127"/>
            <a:ext cx="946785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341" name="TextBox 340"/>
          <p:cNvSpPr txBox="1"/>
          <p:nvPr/>
        </p:nvSpPr>
        <p:spPr>
          <a:xfrm>
            <a:off x="6233160" y="3843219"/>
            <a:ext cx="2528054" cy="20419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790"/>
              </a:lnSpc>
            </a:pPr>
            <a:r>
              <a:rPr sz="660" b="1">
                <a:solidFill>
                  <a:srgbClr val="0D1526"/>
                </a:solidFill>
                <a:latin typeface="Calibri"/>
              </a:rPr>
              <a:t>QGIS</a:t>
            </a:r>
            <a:r>
              <a:rPr sz="570" b="0">
                <a:solidFill>
                  <a:srgbClr val="78879F"/>
                </a:solidFill>
                <a:latin typeface="Calibri"/>
              </a:rPr>
              <a:t> QGIS</a:t>
            </a:r>
          </a:p>
        </p:txBody>
      </p:sp>
      <p:sp>
        <p:nvSpPr>
          <p:cNvPr id="342" name="TextBox 341"/>
          <p:cNvSpPr txBox="1"/>
          <p:nvPr/>
        </p:nvSpPr>
        <p:spPr>
          <a:xfrm>
            <a:off x="9589770" y="3873698"/>
            <a:ext cx="966192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Externe</a:t>
            </a:r>
          </a:p>
        </p:txBody>
      </p:sp>
      <p:sp>
        <p:nvSpPr>
          <p:cNvPr id="343" name="TextBox 342"/>
          <p:cNvSpPr txBox="1"/>
          <p:nvPr/>
        </p:nvSpPr>
        <p:spPr>
          <a:xfrm>
            <a:off x="10608826" y="3873698"/>
            <a:ext cx="946785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344" name="TextBox 343"/>
          <p:cNvSpPr txBox="1"/>
          <p:nvPr/>
        </p:nvSpPr>
        <p:spPr>
          <a:xfrm>
            <a:off x="6233160" y="4039790"/>
            <a:ext cx="2528054" cy="2041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790"/>
              </a:lnSpc>
            </a:pPr>
            <a:r>
              <a:rPr sz="660" b="1">
                <a:solidFill>
                  <a:srgbClr val="0D1526"/>
                </a:solidFill>
                <a:latin typeface="Calibri"/>
              </a:rPr>
              <a:t>Quick Connect</a:t>
            </a:r>
            <a:r>
              <a:rPr sz="570" b="0">
                <a:solidFill>
                  <a:srgbClr val="78879F"/>
                </a:solidFill>
                <a:latin typeface="Calibri"/>
              </a:rPr>
              <a:t> Synologie</a:t>
            </a:r>
          </a:p>
        </p:txBody>
      </p:sp>
      <p:sp>
        <p:nvSpPr>
          <p:cNvPr id="345" name="TextBox 344"/>
          <p:cNvSpPr txBox="1"/>
          <p:nvPr/>
        </p:nvSpPr>
        <p:spPr>
          <a:xfrm>
            <a:off x="9589770" y="4070270"/>
            <a:ext cx="943332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5B57D6"/>
                </a:solidFill>
                <a:latin typeface="Calibri"/>
              </a:rPr>
              <a:t>Interne</a:t>
            </a:r>
          </a:p>
        </p:txBody>
      </p:sp>
      <p:sp>
        <p:nvSpPr>
          <p:cNvPr id="346" name="TextBox 345"/>
          <p:cNvSpPr txBox="1"/>
          <p:nvPr/>
        </p:nvSpPr>
        <p:spPr>
          <a:xfrm>
            <a:off x="10608826" y="4070270"/>
            <a:ext cx="946785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347" name="TextBox 346"/>
          <p:cNvSpPr txBox="1"/>
          <p:nvPr/>
        </p:nvSpPr>
        <p:spPr>
          <a:xfrm>
            <a:off x="6233160" y="4236362"/>
            <a:ext cx="2528054" cy="2041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790"/>
              </a:lnSpc>
            </a:pPr>
            <a:r>
              <a:rPr sz="660" b="1">
                <a:solidFill>
                  <a:srgbClr val="0D1526"/>
                </a:solidFill>
                <a:latin typeface="Calibri"/>
              </a:rPr>
              <a:t>Revit</a:t>
            </a:r>
            <a:r>
              <a:rPr sz="570" b="0">
                <a:solidFill>
                  <a:srgbClr val="78879F"/>
                </a:solidFill>
                <a:latin typeface="Calibri"/>
              </a:rPr>
              <a:t> Autodesk</a:t>
            </a:r>
          </a:p>
        </p:txBody>
      </p:sp>
      <p:sp>
        <p:nvSpPr>
          <p:cNvPr id="348" name="TextBox 347"/>
          <p:cNvSpPr txBox="1"/>
          <p:nvPr/>
        </p:nvSpPr>
        <p:spPr>
          <a:xfrm>
            <a:off x="9589770" y="4266843"/>
            <a:ext cx="966192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Externe</a:t>
            </a:r>
          </a:p>
        </p:txBody>
      </p:sp>
      <p:sp>
        <p:nvSpPr>
          <p:cNvPr id="349" name="TextBox 348"/>
          <p:cNvSpPr txBox="1"/>
          <p:nvPr/>
        </p:nvSpPr>
        <p:spPr>
          <a:xfrm>
            <a:off x="10608826" y="4266843"/>
            <a:ext cx="946785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350" name="TextBox 349"/>
          <p:cNvSpPr txBox="1"/>
          <p:nvPr/>
        </p:nvSpPr>
        <p:spPr>
          <a:xfrm>
            <a:off x="6233160" y="4432935"/>
            <a:ext cx="2528054" cy="2041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790"/>
              </a:lnSpc>
            </a:pPr>
            <a:r>
              <a:rPr sz="660" b="1">
                <a:solidFill>
                  <a:srgbClr val="0D1526"/>
                </a:solidFill>
                <a:latin typeface="Calibri"/>
              </a:rPr>
              <a:t>SharePoint</a:t>
            </a:r>
            <a:r>
              <a:rPr sz="570" b="0">
                <a:solidFill>
                  <a:srgbClr val="78879F"/>
                </a:solidFill>
                <a:latin typeface="Calibri"/>
              </a:rPr>
              <a:t> MICROSOFT</a:t>
            </a:r>
          </a:p>
        </p:txBody>
      </p:sp>
      <p:sp>
        <p:nvSpPr>
          <p:cNvPr id="351" name="TextBox 350"/>
          <p:cNvSpPr txBox="1"/>
          <p:nvPr/>
        </p:nvSpPr>
        <p:spPr>
          <a:xfrm>
            <a:off x="9589770" y="4463416"/>
            <a:ext cx="966192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Externe</a:t>
            </a:r>
          </a:p>
        </p:txBody>
      </p:sp>
      <p:sp>
        <p:nvSpPr>
          <p:cNvPr id="352" name="TextBox 351"/>
          <p:cNvSpPr txBox="1"/>
          <p:nvPr/>
        </p:nvSpPr>
        <p:spPr>
          <a:xfrm>
            <a:off x="10608826" y="4463416"/>
            <a:ext cx="946785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353" name="TextBox 352"/>
          <p:cNvSpPr txBox="1"/>
          <p:nvPr/>
        </p:nvSpPr>
        <p:spPr>
          <a:xfrm>
            <a:off x="6233160" y="4629508"/>
            <a:ext cx="2528054" cy="2041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790"/>
              </a:lnSpc>
            </a:pPr>
            <a:r>
              <a:rPr sz="660" b="1">
                <a:solidFill>
                  <a:srgbClr val="0D1526"/>
                </a:solidFill>
                <a:latin typeface="Calibri"/>
              </a:rPr>
              <a:t>Simple BIM</a:t>
            </a:r>
            <a:r>
              <a:rPr sz="570" b="0">
                <a:solidFill>
                  <a:srgbClr val="78879F"/>
                </a:solidFill>
                <a:latin typeface="Calibri"/>
              </a:rPr>
              <a:t> Licence</a:t>
            </a:r>
          </a:p>
        </p:txBody>
      </p:sp>
      <p:sp>
        <p:nvSpPr>
          <p:cNvPr id="354" name="TextBox 353"/>
          <p:cNvSpPr txBox="1"/>
          <p:nvPr/>
        </p:nvSpPr>
        <p:spPr>
          <a:xfrm>
            <a:off x="9589770" y="4659987"/>
            <a:ext cx="966192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Externe</a:t>
            </a:r>
          </a:p>
        </p:txBody>
      </p:sp>
      <p:sp>
        <p:nvSpPr>
          <p:cNvPr id="355" name="TextBox 354"/>
          <p:cNvSpPr txBox="1"/>
          <p:nvPr/>
        </p:nvSpPr>
        <p:spPr>
          <a:xfrm>
            <a:off x="10608826" y="4659987"/>
            <a:ext cx="946785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356" name="TextBox 355"/>
          <p:cNvSpPr txBox="1"/>
          <p:nvPr/>
        </p:nvSpPr>
        <p:spPr>
          <a:xfrm>
            <a:off x="6248400" y="4847392"/>
            <a:ext cx="1458992" cy="12191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60" b="1">
                <a:solidFill>
                  <a:srgbClr val="0D1526"/>
                </a:solidFill>
                <a:latin typeface="Calibri"/>
              </a:rPr>
              <a:t>Sixense Monitoring</a:t>
            </a:r>
          </a:p>
        </p:txBody>
      </p:sp>
      <p:sp>
        <p:nvSpPr>
          <p:cNvPr id="357" name="TextBox 356"/>
          <p:cNvSpPr txBox="1"/>
          <p:nvPr/>
        </p:nvSpPr>
        <p:spPr>
          <a:xfrm>
            <a:off x="9589770" y="4856559"/>
            <a:ext cx="966192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Externe</a:t>
            </a:r>
          </a:p>
        </p:txBody>
      </p:sp>
      <p:sp>
        <p:nvSpPr>
          <p:cNvPr id="358" name="TextBox 357"/>
          <p:cNvSpPr txBox="1"/>
          <p:nvPr/>
        </p:nvSpPr>
        <p:spPr>
          <a:xfrm>
            <a:off x="10608826" y="4856559"/>
            <a:ext cx="858441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0B7E99"/>
                </a:solidFill>
                <a:latin typeface="Calibri"/>
              </a:rPr>
              <a:t>Auto</a:t>
            </a:r>
          </a:p>
        </p:txBody>
      </p:sp>
      <p:sp>
        <p:nvSpPr>
          <p:cNvPr id="359" name="TextBox 358"/>
          <p:cNvSpPr txBox="1"/>
          <p:nvPr/>
        </p:nvSpPr>
        <p:spPr>
          <a:xfrm>
            <a:off x="6233160" y="5022651"/>
            <a:ext cx="2528054" cy="2041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790"/>
              </a:lnSpc>
            </a:pPr>
            <a:r>
              <a:rPr sz="660" b="1">
                <a:solidFill>
                  <a:srgbClr val="0D1526"/>
                </a:solidFill>
                <a:latin typeface="Calibri"/>
              </a:rPr>
              <a:t>Sofistik Bridge</a:t>
            </a:r>
            <a:r>
              <a:rPr sz="570" b="0">
                <a:solidFill>
                  <a:srgbClr val="78879F"/>
                </a:solidFill>
                <a:latin typeface="Calibri"/>
              </a:rPr>
              <a:t> Autodesk</a:t>
            </a:r>
          </a:p>
        </p:txBody>
      </p:sp>
      <p:sp>
        <p:nvSpPr>
          <p:cNvPr id="360" name="TextBox 359"/>
          <p:cNvSpPr txBox="1"/>
          <p:nvPr/>
        </p:nvSpPr>
        <p:spPr>
          <a:xfrm>
            <a:off x="9589770" y="5053132"/>
            <a:ext cx="966192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Externe</a:t>
            </a:r>
          </a:p>
        </p:txBody>
      </p:sp>
      <p:sp>
        <p:nvSpPr>
          <p:cNvPr id="361" name="TextBox 360"/>
          <p:cNvSpPr txBox="1"/>
          <p:nvPr/>
        </p:nvSpPr>
        <p:spPr>
          <a:xfrm>
            <a:off x="10608826" y="5053132"/>
            <a:ext cx="946785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362" name="TextBox 361"/>
          <p:cNvSpPr txBox="1"/>
          <p:nvPr/>
        </p:nvSpPr>
        <p:spPr>
          <a:xfrm>
            <a:off x="6233160" y="5219224"/>
            <a:ext cx="2528054" cy="2041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790"/>
              </a:lnSpc>
            </a:pPr>
            <a:r>
              <a:rPr sz="660" b="1">
                <a:solidFill>
                  <a:srgbClr val="0D1526"/>
                </a:solidFill>
                <a:latin typeface="Calibri"/>
              </a:rPr>
              <a:t>Tableau</a:t>
            </a:r>
            <a:r>
              <a:rPr sz="570" b="0">
                <a:solidFill>
                  <a:srgbClr val="78879F"/>
                </a:solidFill>
                <a:latin typeface="Calibri"/>
              </a:rPr>
              <a:t> Microsoft</a:t>
            </a:r>
          </a:p>
        </p:txBody>
      </p:sp>
      <p:sp>
        <p:nvSpPr>
          <p:cNvPr id="363" name="TextBox 362"/>
          <p:cNvSpPr txBox="1"/>
          <p:nvPr/>
        </p:nvSpPr>
        <p:spPr>
          <a:xfrm>
            <a:off x="9589770" y="5249703"/>
            <a:ext cx="966192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Externe</a:t>
            </a:r>
          </a:p>
        </p:txBody>
      </p:sp>
      <p:sp>
        <p:nvSpPr>
          <p:cNvPr id="364" name="TextBox 363"/>
          <p:cNvSpPr txBox="1"/>
          <p:nvPr/>
        </p:nvSpPr>
        <p:spPr>
          <a:xfrm>
            <a:off x="10608826" y="5249703"/>
            <a:ext cx="946785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365" name="TextBox 364"/>
          <p:cNvSpPr txBox="1"/>
          <p:nvPr/>
        </p:nvSpPr>
        <p:spPr>
          <a:xfrm>
            <a:off x="6248400" y="5437109"/>
            <a:ext cx="872133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60" b="1">
                <a:solidFill>
                  <a:srgbClr val="0D1526"/>
                </a:solidFill>
                <a:latin typeface="Calibri"/>
              </a:rPr>
              <a:t>TIPS</a:t>
            </a:r>
          </a:p>
        </p:txBody>
      </p:sp>
      <p:sp>
        <p:nvSpPr>
          <p:cNvPr id="366" name="TextBox 365"/>
          <p:cNvSpPr txBox="1"/>
          <p:nvPr/>
        </p:nvSpPr>
        <p:spPr>
          <a:xfrm>
            <a:off x="9589770" y="5446276"/>
            <a:ext cx="943332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5B57D6"/>
                </a:solidFill>
                <a:latin typeface="Calibri"/>
              </a:rPr>
              <a:t>Interne</a:t>
            </a:r>
          </a:p>
        </p:txBody>
      </p:sp>
      <p:sp>
        <p:nvSpPr>
          <p:cNvPr id="367" name="TextBox 366"/>
          <p:cNvSpPr txBox="1"/>
          <p:nvPr/>
        </p:nvSpPr>
        <p:spPr>
          <a:xfrm>
            <a:off x="10608826" y="5446276"/>
            <a:ext cx="946785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368" name="TextBox 367"/>
          <p:cNvSpPr txBox="1"/>
          <p:nvPr/>
        </p:nvSpPr>
        <p:spPr>
          <a:xfrm>
            <a:off x="6248400" y="5633680"/>
            <a:ext cx="970002" cy="12192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60" b="1">
                <a:solidFill>
                  <a:srgbClr val="0D1526"/>
                </a:solidFill>
                <a:latin typeface="Calibri"/>
              </a:rPr>
              <a:t>Traktor</a:t>
            </a:r>
          </a:p>
        </p:txBody>
      </p:sp>
      <p:sp>
        <p:nvSpPr>
          <p:cNvPr id="369" name="TextBox 368"/>
          <p:cNvSpPr txBox="1"/>
          <p:nvPr/>
        </p:nvSpPr>
        <p:spPr>
          <a:xfrm>
            <a:off x="9589770" y="5642848"/>
            <a:ext cx="943332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5B57D6"/>
                </a:solidFill>
                <a:latin typeface="Calibri"/>
              </a:rPr>
              <a:t>Interne</a:t>
            </a:r>
          </a:p>
        </p:txBody>
      </p:sp>
      <p:sp>
        <p:nvSpPr>
          <p:cNvPr id="370" name="TextBox 369"/>
          <p:cNvSpPr txBox="1"/>
          <p:nvPr/>
        </p:nvSpPr>
        <p:spPr>
          <a:xfrm>
            <a:off x="10608826" y="5642848"/>
            <a:ext cx="946785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371" name="TextBox 370"/>
          <p:cNvSpPr txBox="1"/>
          <p:nvPr/>
        </p:nvSpPr>
        <p:spPr>
          <a:xfrm>
            <a:off x="6233160" y="5808940"/>
            <a:ext cx="2528054" cy="2041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790"/>
              </a:lnSpc>
            </a:pPr>
            <a:r>
              <a:rPr sz="660" b="1">
                <a:solidFill>
                  <a:srgbClr val="0D1526"/>
                </a:solidFill>
                <a:latin typeface="Calibri"/>
              </a:rPr>
              <a:t>Trimble Connect</a:t>
            </a:r>
            <a:r>
              <a:rPr sz="570" b="0">
                <a:solidFill>
                  <a:srgbClr val="78879F"/>
                </a:solidFill>
                <a:latin typeface="Calibri"/>
              </a:rPr>
              <a:t> tekla bimsight</a:t>
            </a:r>
          </a:p>
        </p:txBody>
      </p:sp>
      <p:sp>
        <p:nvSpPr>
          <p:cNvPr id="372" name="TextBox 371"/>
          <p:cNvSpPr txBox="1"/>
          <p:nvPr/>
        </p:nvSpPr>
        <p:spPr>
          <a:xfrm>
            <a:off x="9589770" y="5839419"/>
            <a:ext cx="966192" cy="10668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Externe</a:t>
            </a:r>
          </a:p>
        </p:txBody>
      </p:sp>
      <p:sp>
        <p:nvSpPr>
          <p:cNvPr id="373" name="TextBox 372"/>
          <p:cNvSpPr txBox="1"/>
          <p:nvPr/>
        </p:nvSpPr>
        <p:spPr>
          <a:xfrm>
            <a:off x="10608826" y="5839419"/>
            <a:ext cx="946785" cy="10668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374" name="TextBox 373"/>
          <p:cNvSpPr txBox="1"/>
          <p:nvPr/>
        </p:nvSpPr>
        <p:spPr>
          <a:xfrm>
            <a:off x="6248400" y="6026825"/>
            <a:ext cx="1446848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60" b="1">
                <a:solidFill>
                  <a:srgbClr val="0D1526"/>
                </a:solidFill>
                <a:latin typeface="Calibri"/>
              </a:rPr>
              <a:t>Wastemarket Place</a:t>
            </a:r>
          </a:p>
        </p:txBody>
      </p:sp>
      <p:sp>
        <p:nvSpPr>
          <p:cNvPr id="375" name="TextBox 374"/>
          <p:cNvSpPr txBox="1"/>
          <p:nvPr/>
        </p:nvSpPr>
        <p:spPr>
          <a:xfrm>
            <a:off x="9589770" y="6035992"/>
            <a:ext cx="966192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Externe</a:t>
            </a:r>
          </a:p>
        </p:txBody>
      </p:sp>
      <p:sp>
        <p:nvSpPr>
          <p:cNvPr id="376" name="TextBox 375"/>
          <p:cNvSpPr txBox="1"/>
          <p:nvPr/>
        </p:nvSpPr>
        <p:spPr>
          <a:xfrm>
            <a:off x="10608826" y="6035992"/>
            <a:ext cx="946785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377" name="TextBox 376"/>
          <p:cNvSpPr txBox="1"/>
          <p:nvPr/>
        </p:nvSpPr>
        <p:spPr>
          <a:xfrm>
            <a:off x="6233160" y="6202084"/>
            <a:ext cx="2528054" cy="2041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790"/>
              </a:lnSpc>
            </a:pPr>
            <a:r>
              <a:rPr sz="660" b="1">
                <a:solidFill>
                  <a:srgbClr val="0D1526"/>
                </a:solidFill>
                <a:latin typeface="Calibri"/>
              </a:rPr>
              <a:t>Word</a:t>
            </a:r>
            <a:r>
              <a:rPr sz="570" b="0">
                <a:solidFill>
                  <a:srgbClr val="78879F"/>
                </a:solidFill>
                <a:latin typeface="Calibri"/>
              </a:rPr>
              <a:t> Microsoft</a:t>
            </a:r>
          </a:p>
        </p:txBody>
      </p:sp>
      <p:sp>
        <p:nvSpPr>
          <p:cNvPr id="378" name="TextBox 377"/>
          <p:cNvSpPr txBox="1"/>
          <p:nvPr/>
        </p:nvSpPr>
        <p:spPr>
          <a:xfrm>
            <a:off x="9589770" y="6232565"/>
            <a:ext cx="966192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Externe</a:t>
            </a:r>
          </a:p>
        </p:txBody>
      </p:sp>
      <p:sp>
        <p:nvSpPr>
          <p:cNvPr id="379" name="TextBox 378"/>
          <p:cNvSpPr txBox="1"/>
          <p:nvPr/>
        </p:nvSpPr>
        <p:spPr>
          <a:xfrm>
            <a:off x="10608826" y="6232565"/>
            <a:ext cx="946785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380" name="TextBox 379"/>
          <p:cNvSpPr txBox="1"/>
          <p:nvPr/>
        </p:nvSpPr>
        <p:spPr>
          <a:xfrm>
            <a:off x="6248400" y="6419969"/>
            <a:ext cx="1044416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60" b="1">
                <a:solidFill>
                  <a:srgbClr val="0D1526"/>
                </a:solidFill>
                <a:latin typeface="Calibri"/>
              </a:rPr>
              <a:t>YELLOW</a:t>
            </a:r>
          </a:p>
        </p:txBody>
      </p:sp>
      <p:sp>
        <p:nvSpPr>
          <p:cNvPr id="381" name="TextBox 380"/>
          <p:cNvSpPr txBox="1"/>
          <p:nvPr/>
        </p:nvSpPr>
        <p:spPr>
          <a:xfrm>
            <a:off x="9589770" y="6429137"/>
            <a:ext cx="943332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5B57D6"/>
                </a:solidFill>
                <a:latin typeface="Calibri"/>
              </a:rPr>
              <a:t>Interne</a:t>
            </a:r>
          </a:p>
        </p:txBody>
      </p:sp>
      <p:sp>
        <p:nvSpPr>
          <p:cNvPr id="382" name="TextBox 381"/>
          <p:cNvSpPr txBox="1"/>
          <p:nvPr/>
        </p:nvSpPr>
        <p:spPr>
          <a:xfrm>
            <a:off x="10608826" y="6429137"/>
            <a:ext cx="858441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0B7E99"/>
                </a:solidFill>
                <a:latin typeface="Calibri"/>
              </a:rPr>
              <a:t>Auto</a:t>
            </a:r>
          </a:p>
        </p:txBody>
      </p:sp>
      <p:sp>
        <p:nvSpPr>
          <p:cNvPr id="383" name="TextBox 382"/>
          <p:cNvSpPr txBox="1"/>
          <p:nvPr/>
        </p:nvSpPr>
        <p:spPr>
          <a:xfrm>
            <a:off x="342900" y="6644640"/>
            <a:ext cx="258699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>
                <a:solidFill>
                  <a:srgbClr val="78879F"/>
                </a:solidFill>
                <a:latin typeface="Calibri"/>
              </a:rPr>
              <a:t>Source : BDD Cartographie Outils IT — 16 entretiens</a:t>
            </a:r>
          </a:p>
        </p:txBody>
      </p:sp>
      <p:sp>
        <p:nvSpPr>
          <p:cNvPr id="384" name="TextBox 383"/>
          <p:cNvSpPr txBox="1"/>
          <p:nvPr/>
        </p:nvSpPr>
        <p:spPr>
          <a:xfrm>
            <a:off x="11429762" y="6644640"/>
            <a:ext cx="1105138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>
                <a:solidFill>
                  <a:srgbClr val="78879F"/>
                </a:solidFill>
                <a:latin typeface="Calibri"/>
              </a:rPr>
              <a:t>Planche 3/3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
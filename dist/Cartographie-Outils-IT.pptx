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2900" y="1074420"/>
            <a:ext cx="2228136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07670" y="1150382"/>
            <a:ext cx="121920" cy="121920"/>
          </a:xfrm>
          <a:prstGeom prst="ellipse">
            <a:avLst/>
          </a:prstGeom>
          <a:solidFill>
            <a:srgbClr val="3A6BE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34340" y="1177052"/>
            <a:ext cx="68580" cy="68580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4340" y="1531144"/>
            <a:ext cx="53494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9768" y="1531144"/>
            <a:ext cx="50280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33049" y="1531144"/>
            <a:ext cx="556260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" y="1720096"/>
            <a:ext cx="43898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3803" y="1720096"/>
            <a:ext cx="46172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96008" y="1720096"/>
            <a:ext cx="6599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64588" y="1772603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86451" y="1720096"/>
            <a:ext cx="342900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" y="1909048"/>
            <a:ext cx="33837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196" y="1909048"/>
            <a:ext cx="58066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343" y="1909048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" y="2098000"/>
            <a:ext cx="7817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62476" y="1074420"/>
            <a:ext cx="2228136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27246" y="1150382"/>
            <a:ext cx="121920" cy="121920"/>
          </a:xfrm>
          <a:prstGeom prst="ellipse">
            <a:avLst/>
          </a:prstGeom>
          <a:solidFill>
            <a:srgbClr val="0E9E7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753916" y="1177052"/>
            <a:ext cx="68580" cy="6858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53916" y="1531144"/>
            <a:ext cx="457319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41715" y="1531144"/>
            <a:ext cx="728543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10295" y="15836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00738" y="1531144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753916" y="1720096"/>
            <a:ext cx="49851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82910" y="1720096"/>
            <a:ext cx="41314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51490" y="1772603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726538" y="1720096"/>
            <a:ext cx="571500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753916" y="1909048"/>
            <a:ext cx="7817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982051" y="1074420"/>
            <a:ext cx="2228135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46821" y="1150382"/>
            <a:ext cx="121920" cy="121920"/>
          </a:xfrm>
          <a:prstGeom prst="ellipse">
            <a:avLst/>
          </a:prstGeom>
          <a:solidFill>
            <a:srgbClr val="0F8FA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073491" y="1177052"/>
            <a:ext cx="68580" cy="68580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73491" y="1531144"/>
            <a:ext cx="50280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06772" y="1531144"/>
            <a:ext cx="499825" cy="158472"/>
          </a:xfrm>
          <a:prstGeom prst="roundRect">
            <a:avLst>
              <a:gd name="adj" fmla="val 50000"/>
            </a:avLst>
          </a:prstGeom>
          <a:solidFill>
            <a:srgbClr val="0F8FA8">
              <a:alpha val="12000"/>
            </a:srgbClr>
          </a:solidFill>
          <a:ln w="7620">
            <a:solidFill>
              <a:srgbClr val="0F8FA8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37077" y="1531144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19743" y="1531144"/>
            <a:ext cx="393144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73491" y="1720096"/>
            <a:ext cx="53030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634276" y="1720096"/>
            <a:ext cx="56245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27207" y="1720096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73491" y="1909048"/>
            <a:ext cx="573048" cy="158472"/>
          </a:xfrm>
          <a:prstGeom prst="roundRect">
            <a:avLst>
              <a:gd name="adj" fmla="val 50000"/>
            </a:avLst>
          </a:prstGeom>
          <a:solidFill>
            <a:srgbClr val="0F8FA8">
              <a:alpha val="12000"/>
            </a:srgbClr>
          </a:solidFill>
          <a:ln w="7620">
            <a:solidFill>
              <a:srgbClr val="0F8FA8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142072" y="196155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677019" y="1909048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0F8FA8">
              <a:alpha val="12000"/>
            </a:srgbClr>
          </a:solidFill>
          <a:ln w="7620">
            <a:solidFill>
              <a:srgbClr val="0F8FA8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73491" y="2098000"/>
            <a:ext cx="7817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885736" y="2098000"/>
            <a:ext cx="572929" cy="158472"/>
          </a:xfrm>
          <a:prstGeom prst="roundRect">
            <a:avLst>
              <a:gd name="adj" fmla="val 50000"/>
            </a:avLst>
          </a:prstGeom>
          <a:solidFill>
            <a:srgbClr val="0F8FA8">
              <a:alpha val="12000"/>
            </a:srgbClr>
          </a:solidFill>
          <a:ln w="7620">
            <a:solidFill>
              <a:srgbClr val="0F8FA8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954316" y="2150507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01627" y="1074420"/>
            <a:ext cx="2228136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366397" y="1150382"/>
            <a:ext cx="121920" cy="121920"/>
          </a:xfrm>
          <a:prstGeom prst="ellipse">
            <a:avLst/>
          </a:prstGeom>
          <a:solidFill>
            <a:srgbClr val="DD7E2C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393067" y="1177052"/>
            <a:ext cx="68580" cy="6858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393067" y="1531144"/>
            <a:ext cx="498396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921943" y="1531144"/>
            <a:ext cx="499824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452247" y="1531144"/>
            <a:ext cx="35218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834914" y="1531144"/>
            <a:ext cx="53030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393067" y="1720096"/>
            <a:ext cx="329208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52755" y="1720096"/>
            <a:ext cx="56245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345686" y="1720096"/>
            <a:ext cx="6599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414266" y="1772603"/>
            <a:ext cx="53341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393067" y="1909048"/>
            <a:ext cx="448032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871579" y="1909048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263294" y="1909048"/>
            <a:ext cx="573048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331875" y="196155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393067" y="2098000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8141375" y="2098000"/>
            <a:ext cx="416124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8587978" y="2098000"/>
            <a:ext cx="7817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393067" y="2286952"/>
            <a:ext cx="34587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621203" y="1074420"/>
            <a:ext cx="2228135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685973" y="1150382"/>
            <a:ext cx="121920" cy="121920"/>
          </a:xfrm>
          <a:prstGeom prst="ellipse">
            <a:avLst/>
          </a:prstGeom>
          <a:solidFill>
            <a:srgbClr val="A9761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712643" y="1177052"/>
            <a:ext cx="68580" cy="68580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712643" y="1531144"/>
            <a:ext cx="704135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447258" y="1531144"/>
            <a:ext cx="475655" cy="158472"/>
          </a:xfrm>
          <a:prstGeom prst="roundRect">
            <a:avLst>
              <a:gd name="adj" fmla="val 50000"/>
            </a:avLst>
          </a:prstGeom>
          <a:solidFill>
            <a:srgbClr val="A9761A">
              <a:alpha val="12000"/>
            </a:srgbClr>
          </a:solidFill>
          <a:ln w="7620">
            <a:solidFill>
              <a:srgbClr val="A9761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953393" y="1531144"/>
            <a:ext cx="425172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712643" y="1720096"/>
            <a:ext cx="49839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0241518" y="1720096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0624185" y="1720096"/>
            <a:ext cx="635318" cy="158472"/>
          </a:xfrm>
          <a:prstGeom prst="roundRect">
            <a:avLst>
              <a:gd name="adj" fmla="val 50000"/>
            </a:avLst>
          </a:prstGeom>
          <a:solidFill>
            <a:srgbClr val="A9761A">
              <a:alpha val="12000"/>
            </a:srgbClr>
          </a:solidFill>
          <a:ln w="7620">
            <a:solidFill>
              <a:srgbClr val="A9761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1289983" y="1720096"/>
            <a:ext cx="448032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712643" y="1909048"/>
            <a:ext cx="573047" cy="158472"/>
          </a:xfrm>
          <a:prstGeom prst="roundRect">
            <a:avLst>
              <a:gd name="adj" fmla="val 50000"/>
            </a:avLst>
          </a:prstGeom>
          <a:solidFill>
            <a:srgbClr val="A9761A">
              <a:alpha val="12000"/>
            </a:srgbClr>
          </a:solidFill>
          <a:ln w="7620">
            <a:solidFill>
              <a:srgbClr val="A9761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9781223" y="196155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0316171" y="1909048"/>
            <a:ext cx="571500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0918151" y="1909048"/>
            <a:ext cx="34587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42900" y="3393996"/>
            <a:ext cx="11506200" cy="877729"/>
          </a:xfrm>
          <a:prstGeom prst="roundRect">
            <a:avLst>
              <a:gd name="adj" fmla="val 1389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356360" y="357068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356360" y="378404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700451" y="3848814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659380" y="357068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2659380" y="378404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962400" y="3570685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5204460" y="3570685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962400" y="3784044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5204460" y="3784044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3962400" y="3997404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6492240" y="357068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492240" y="378404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95260" y="357068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795260" y="378404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183642" y="3848814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795260" y="399740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9098280" y="357068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9098280" y="378404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9098280" y="399740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10401301" y="3470195"/>
            <a:ext cx="1333500" cy="710089"/>
          </a:xfrm>
          <a:prstGeom prst="roundRect">
            <a:avLst>
              <a:gd name="adj" fmla="val 10731"/>
            </a:avLst>
          </a:prstGeom>
          <a:solidFill>
            <a:srgbClr val="4CC9E8">
              <a:alpha val="7000"/>
            </a:srgbClr>
          </a:solidFill>
          <a:ln w="7620">
            <a:solidFill>
              <a:srgbClr val="4CC9E8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0454640" y="3523536"/>
            <a:ext cx="1226820" cy="259080"/>
          </a:xfrm>
          <a:prstGeom prst="roundRect">
            <a:avLst>
              <a:gd name="adj" fmla="val 20588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0454640" y="3813096"/>
            <a:ext cx="1226820" cy="259080"/>
          </a:xfrm>
          <a:prstGeom prst="roundRect">
            <a:avLst>
              <a:gd name="adj" fmla="val 20588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342900" y="5136475"/>
            <a:ext cx="2807970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07670" y="5212437"/>
            <a:ext cx="121920" cy="121920"/>
          </a:xfrm>
          <a:prstGeom prst="ellipse">
            <a:avLst/>
          </a:prstGeom>
          <a:solidFill>
            <a:srgbClr val="5B57D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434340" y="5239107"/>
            <a:ext cx="68580" cy="68580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434340" y="5593199"/>
            <a:ext cx="37790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842724" y="5593199"/>
            <a:ext cx="475655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1348859" y="5593199"/>
            <a:ext cx="5211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1900476" y="5593199"/>
            <a:ext cx="58983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2520791" y="5593199"/>
            <a:ext cx="498396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34340" y="5782152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817007" y="5782152"/>
            <a:ext cx="35206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1199555" y="5782152"/>
            <a:ext cx="329208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1559243" y="5782152"/>
            <a:ext cx="573048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627823" y="5834658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162770" y="5782152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34340" y="5971103"/>
            <a:ext cx="34587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10697" y="5971103"/>
            <a:ext cx="572929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79277" y="60236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3242310" y="5136475"/>
            <a:ext cx="2807970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307080" y="5212437"/>
            <a:ext cx="121920" cy="121920"/>
          </a:xfrm>
          <a:prstGeom prst="ellipse">
            <a:avLst/>
          </a:prstGeom>
          <a:solidFill>
            <a:srgbClr val="8257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333750" y="5239107"/>
            <a:ext cx="68580" cy="68580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3333750" y="5593199"/>
            <a:ext cx="570072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3934301" y="5593199"/>
            <a:ext cx="370284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4335066" y="5593199"/>
            <a:ext cx="507445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403646" y="5645706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4872990" y="5593199"/>
            <a:ext cx="475654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5379125" y="5593199"/>
            <a:ext cx="553283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3333750" y="5782152"/>
            <a:ext cx="52113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3885367" y="5782152"/>
            <a:ext cx="5898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4505682" y="5782152"/>
            <a:ext cx="498396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5034558" y="5782152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3333750" y="5971103"/>
            <a:ext cx="641509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005739" y="5971103"/>
            <a:ext cx="493871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530090" y="5971103"/>
            <a:ext cx="521375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081945" y="5971103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5473660" y="5971103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333750" y="6160056"/>
            <a:ext cx="320040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6141720" y="5136475"/>
            <a:ext cx="2807970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6206490" y="5212437"/>
            <a:ext cx="121920" cy="121920"/>
          </a:xfrm>
          <a:prstGeom prst="ellipse">
            <a:avLst/>
          </a:prstGeom>
          <a:solidFill>
            <a:srgbClr val="C2456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6233160" y="5239107"/>
            <a:ext cx="68580" cy="68580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233160" y="5593199"/>
            <a:ext cx="429816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693456" y="5593199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7076122" y="5593199"/>
            <a:ext cx="53030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7636906" y="5593199"/>
            <a:ext cx="566262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705487" y="5645706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6233160" y="5782152"/>
            <a:ext cx="107596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301740" y="5834658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7339608" y="5782152"/>
            <a:ext cx="503039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873127" y="5782152"/>
            <a:ext cx="6599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7941707" y="5834658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6233160" y="5971103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6624876" y="5971103"/>
            <a:ext cx="573048" cy="158472"/>
          </a:xfrm>
          <a:prstGeom prst="roundRect">
            <a:avLst>
              <a:gd name="adj" fmla="val 50000"/>
            </a:avLst>
          </a:prstGeom>
          <a:solidFill>
            <a:srgbClr val="C2456A">
              <a:alpha val="12000"/>
            </a:srgbClr>
          </a:solidFill>
          <a:ln w="7620">
            <a:solidFill>
              <a:srgbClr val="C2456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6693456" y="60236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7228404" y="5971103"/>
            <a:ext cx="58971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7848600" y="5971103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C2456A">
              <a:alpha val="12000"/>
            </a:srgbClr>
          </a:solidFill>
          <a:ln w="7620">
            <a:solidFill>
              <a:srgbClr val="C2456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6233160" y="6160056"/>
            <a:ext cx="97988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301740" y="6212562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7243525" y="6160056"/>
            <a:ext cx="7817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6233160" y="6349008"/>
            <a:ext cx="884158" cy="158473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041130" y="5136475"/>
            <a:ext cx="2807970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105900" y="5212437"/>
            <a:ext cx="121920" cy="121920"/>
          </a:xfrm>
          <a:prstGeom prst="ellipse">
            <a:avLst/>
          </a:prstGeom>
          <a:solidFill>
            <a:srgbClr val="D9302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9132570" y="5239107"/>
            <a:ext cx="68580" cy="68580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9132570" y="5593199"/>
            <a:ext cx="553284" cy="158472"/>
          </a:xfrm>
          <a:prstGeom prst="roundRect">
            <a:avLst>
              <a:gd name="adj" fmla="val 50000"/>
            </a:avLst>
          </a:prstGeom>
          <a:solidFill>
            <a:srgbClr val="D93025">
              <a:alpha val="12000"/>
            </a:srgbClr>
          </a:solidFill>
          <a:ln w="7620">
            <a:solidFill>
              <a:srgbClr val="D93025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9716333" y="5593199"/>
            <a:ext cx="374928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10121741" y="5593199"/>
            <a:ext cx="946310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9132570" y="5782152"/>
            <a:ext cx="859870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10022919" y="5782152"/>
            <a:ext cx="361117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10414516" y="5782152"/>
            <a:ext cx="6599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0483096" y="5834658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11104960" y="5782152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9132570" y="5971103"/>
            <a:ext cx="573048" cy="158472"/>
          </a:xfrm>
          <a:prstGeom prst="roundRect">
            <a:avLst>
              <a:gd name="adj" fmla="val 50000"/>
            </a:avLst>
          </a:prstGeom>
          <a:solidFill>
            <a:srgbClr val="D93025">
              <a:alpha val="12000"/>
            </a:srgbClr>
          </a:solidFill>
          <a:ln w="7620">
            <a:solidFill>
              <a:srgbClr val="D93025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9201150" y="6023610"/>
            <a:ext cx="53341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9736098" y="5971103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D93025">
              <a:alpha val="12000"/>
            </a:srgbClr>
          </a:solidFill>
          <a:ln w="7620">
            <a:solidFill>
              <a:srgbClr val="D93025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10484406" y="5971103"/>
            <a:ext cx="1065371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42900" y="312420"/>
            <a:ext cx="479548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SYSTÈME D'INFORMATION CHANTIER M3L4 TOULOUSE · VUE D'ENSEMBLE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42900" y="457200"/>
            <a:ext cx="428708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Cartographie des outils IT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42900" y="847249"/>
            <a:ext cx="305181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Neuf pôles, 64 outils et le socle applicatif commun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71500" y="1127760"/>
            <a:ext cx="1529715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Méthodes &amp; BIM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63880" y="1264444"/>
            <a:ext cx="159805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MAQUETTES ET PLANS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63880" y="1386364"/>
            <a:ext cx="106811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3A6BE5"/>
                </a:solidFill>
                <a:latin typeface="Calibri"/>
              </a:rPr>
              <a:t>11 OUTILS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60020" y="1546384"/>
            <a:ext cx="108358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Anaconda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25448" y="1546384"/>
            <a:ext cx="10514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58729" y="1546384"/>
            <a:ext cx="110490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BIM Vision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60020" y="1735336"/>
            <a:ext cx="9876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Civil 3D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29483" y="1735336"/>
            <a:ext cx="101036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Inventor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205508" y="1735336"/>
            <a:ext cx="112478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Mezzoteam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812131" y="1735336"/>
            <a:ext cx="8915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QGIS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60020" y="1924288"/>
            <a:ext cx="8870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Revit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28876" y="1924288"/>
            <a:ext cx="112930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Simple BIM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140023" y="1924288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Sofistik Bridge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60020" y="2113240"/>
            <a:ext cx="13304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Trimble Connect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891076" y="1127760"/>
            <a:ext cx="1334572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Topographie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883456" y="1264444"/>
            <a:ext cx="17256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RELEVÉS · IMPLANTATION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883456" y="1386364"/>
            <a:ext cx="102917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0E9E78"/>
                </a:solidFill>
                <a:latin typeface="Calibri"/>
              </a:rPr>
              <a:t>7 OUTILS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479596" y="1546384"/>
            <a:ext cx="100595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Covadis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051215" y="1546384"/>
            <a:ext cx="119336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Cyclone 3DR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726418" y="1546384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2479596" y="1735336"/>
            <a:ext cx="104715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La Scene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092410" y="1735336"/>
            <a:ext cx="87796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Pixis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52217" y="1735336"/>
            <a:ext cx="11201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SharePoint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2479596" y="1924288"/>
            <a:ext cx="13304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Trimble Connect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5210652" y="1127760"/>
            <a:ext cx="1450181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Travaux tunnel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203031" y="1264444"/>
            <a:ext cx="184189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CREUSEMENT ET TUNNELIER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203031" y="1386364"/>
            <a:ext cx="106811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0F8FA8"/>
                </a:solidFill>
                <a:latin typeface="Calibri"/>
              </a:rPr>
              <a:t>11 OUTILS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799172" y="1546384"/>
            <a:ext cx="10514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5332452" y="1546384"/>
            <a:ext cx="10484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0F8FA8"/>
                </a:solidFill>
                <a:latin typeface="Calibri"/>
              </a:rPr>
              <a:t>ERP MAT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862757" y="1546384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245424" y="1546384"/>
            <a:ext cx="94178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78879F"/>
                </a:solidFill>
                <a:latin typeface="Calibri"/>
              </a:rPr>
              <a:t>GMAO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799172" y="1735336"/>
            <a:ext cx="10789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359956" y="1735336"/>
            <a:ext cx="111109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952887" y="1735336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Pablo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882991" y="1924288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0F8FA8"/>
                </a:solidFill>
                <a:latin typeface="Calibri"/>
              </a:rPr>
              <a:t>Power BI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402699" y="1924288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0F8FA8"/>
                </a:solidFill>
                <a:latin typeface="Calibri"/>
              </a:rPr>
              <a:t>Quick Connect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99172" y="2113240"/>
            <a:ext cx="13304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Trimble Connect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5695236" y="2113240"/>
            <a:ext cx="10377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0F8FA8"/>
                </a:solidFill>
                <a:latin typeface="Calibri"/>
              </a:rPr>
              <a:t>YELLOW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530227" y="1127760"/>
            <a:ext cx="1095852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Travaux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522607" y="1264444"/>
            <a:ext cx="162901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CONDUITE DE TRAVAUX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522607" y="1386364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14 OUTILS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118747" y="1546384"/>
            <a:ext cx="10470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E-Paraph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647622" y="1546384"/>
            <a:ext cx="10484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ERP MAT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177927" y="1546384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560594" y="1546384"/>
            <a:ext cx="10789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7118747" y="1735336"/>
            <a:ext cx="8778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MMS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478435" y="1735336"/>
            <a:ext cx="111109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155186" y="1735336"/>
            <a:ext cx="112478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Mezzoteam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18747" y="1924288"/>
            <a:ext cx="99667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Outlook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7597259" y="1924288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Pablo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072795" y="1924288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Power BI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7118747" y="2113240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Quick Connect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867054" y="2113240"/>
            <a:ext cx="96476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Traktor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313658" y="2113240"/>
            <a:ext cx="13304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Trimble Connect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118747" y="2302193"/>
            <a:ext cx="89451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Word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849803" y="1127760"/>
            <a:ext cx="107096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Contrat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9842182" y="1264444"/>
            <a:ext cx="171902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CONTRACT MANAGEMENT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9842182" y="1386364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A9761A"/>
                </a:solidFill>
                <a:latin typeface="Calibri"/>
              </a:rPr>
              <a:t>10 OUTILS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9438323" y="1546384"/>
            <a:ext cx="12527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Appli bancaire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0172938" y="1546384"/>
            <a:ext cx="10242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A9761A"/>
                </a:solidFill>
                <a:latin typeface="Calibri"/>
              </a:rPr>
              <a:t>Basware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0679073" y="1546384"/>
            <a:ext cx="97381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Chorus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9438323" y="1735336"/>
            <a:ext cx="10470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E-Project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967199" y="1735336"/>
            <a:ext cx="90082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49865" y="1735336"/>
            <a:ext cx="118395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A9761A"/>
                </a:solidFill>
                <a:latin typeface="Calibri"/>
              </a:rPr>
              <a:t>NotebookLM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1015662" y="1735336"/>
            <a:ext cx="99667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Outlook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9522143" y="1924288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A9761A"/>
                </a:solidFill>
                <a:latin typeface="Calibri"/>
              </a:rPr>
              <a:t>Power BI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0041850" y="1924288"/>
            <a:ext cx="11201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SharePoint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0643830" y="1924288"/>
            <a:ext cx="8945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Word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457200" y="3454955"/>
            <a:ext cx="97369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102">
                <a:solidFill>
                  <a:srgbClr val="4CC9E8"/>
                </a:solidFill>
                <a:latin typeface="Calibri"/>
              </a:rPr>
              <a:t>SOCLE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457200" y="3531156"/>
            <a:ext cx="119205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102">
                <a:solidFill>
                  <a:srgbClr val="4CC9E8"/>
                </a:solidFill>
                <a:latin typeface="Calibri"/>
              </a:rPr>
              <a:t>APPLICATIF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457200" y="3622596"/>
            <a:ext cx="1164788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>
                <a:solidFill>
                  <a:srgbClr val="FFFFFF"/>
                </a:solidFill>
                <a:latin typeface="Calibri"/>
              </a:rPr>
              <a:t>Logiciels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57200" y="3744040"/>
            <a:ext cx="1207770" cy="1523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>
                <a:solidFill>
                  <a:srgbClr val="FFFFFF"/>
                </a:solidFill>
                <a:latin typeface="Calibri"/>
              </a:rPr>
              <a:t>communs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1198602" y="3454955"/>
            <a:ext cx="1542217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GED &amp; COLLABORATION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1298496" y="3601165"/>
            <a:ext cx="13425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Trimble Connect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1448991" y="3814524"/>
            <a:ext cx="113299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2464832" y="3454955"/>
            <a:ext cx="1615797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VALIDATION &amp; SIGNATURE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2745819" y="3601165"/>
            <a:ext cx="10538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E-Paraph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2734270" y="3814524"/>
            <a:ext cx="10770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DocuSign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370308" y="3454955"/>
            <a:ext cx="1637705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ACHATS, FINANCE &amp; TIERS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111109" y="3601165"/>
            <a:ext cx="9140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Pablo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5285661" y="3601165"/>
            <a:ext cx="10491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Harmony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4102656" y="3814524"/>
            <a:ext cx="9310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BATIS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5374124" y="3814524"/>
            <a:ext cx="8721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TIPS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3994666" y="4027884"/>
            <a:ext cx="114692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E-Checking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6395442" y="3454955"/>
            <a:ext cx="1420296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RH &amp; MAIN-D'ŒUVRE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6648569" y="3601165"/>
            <a:ext cx="91416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Puma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6542246" y="3814524"/>
            <a:ext cx="112680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BIP / BAPS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7619643" y="3454955"/>
            <a:ext cx="157805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TERRAIN &amp; INTÉGRATION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7770019" y="3601165"/>
            <a:ext cx="127730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Quick Connect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7932182" y="3814524"/>
            <a:ext cx="10444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YELLOW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7923609" y="4027884"/>
            <a:ext cx="97000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Traktor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9111734" y="3454955"/>
            <a:ext cx="1199912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BUREAUTIQUE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9259252" y="3601165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Excel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262467" y="3814524"/>
            <a:ext cx="89844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Word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9210437" y="4027884"/>
            <a:ext cx="100250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Outlook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0493812" y="3554016"/>
            <a:ext cx="11484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0514053" y="3653076"/>
            <a:ext cx="1107876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50" b="0" spc="18">
                <a:solidFill>
                  <a:srgbClr val="95A5C2"/>
                </a:solidFill>
                <a:latin typeface="Calibri"/>
              </a:rPr>
              <a:t>RÉFÉRENTIEL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537627" y="3843576"/>
            <a:ext cx="106084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0395466" y="3942636"/>
            <a:ext cx="1345050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50" b="0" spc="18">
                <a:solidFill>
                  <a:srgbClr val="95A5C2"/>
                </a:solidFill>
                <a:latin typeface="Calibri"/>
              </a:rPr>
              <a:t>CABINE DE PILOTAGE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571500" y="5189815"/>
            <a:ext cx="115478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Direction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563880" y="5326499"/>
            <a:ext cx="165996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PILOTAGE DU CHANTIER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563880" y="5448419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12 OUTILS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160020" y="5608439"/>
            <a:ext cx="9265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BATIS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568404" y="5608439"/>
            <a:ext cx="10242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Basware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074539" y="5608439"/>
            <a:ext cx="10697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DocuSign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1626156" y="5608439"/>
            <a:ext cx="11384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E-Checking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2246471" y="5608439"/>
            <a:ext cx="10470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E-Paraph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60020" y="5797391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542687" y="5797391"/>
            <a:ext cx="90070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MIRO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25235" y="5797391"/>
            <a:ext cx="8778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MMS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368743" y="5797391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Power BI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888450" y="5797391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Quick Connect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60020" y="5986343"/>
            <a:ext cx="89451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Word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620197" y="5986343"/>
            <a:ext cx="10377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YELLOW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470910" y="5189815"/>
            <a:ext cx="90963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DAF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3463290" y="5326499"/>
            <a:ext cx="19098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RH · COMPTABILITÉ · GESTION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3463290" y="5448419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15 OUTILS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3059430" y="5608439"/>
            <a:ext cx="11187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BIP / BAPS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3659981" y="5608439"/>
            <a:ext cx="9189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BYCN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4144566" y="5608439"/>
            <a:ext cx="9722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BYMAT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98670" y="5608439"/>
            <a:ext cx="10242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Basware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5104805" y="5608439"/>
            <a:ext cx="110192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By My Site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059430" y="5797391"/>
            <a:ext cx="10697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DocuSign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3611047" y="5797391"/>
            <a:ext cx="11384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E-Checking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231362" y="5797391"/>
            <a:ext cx="10470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E-Paraph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760238" y="5797391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3059430" y="5986343"/>
            <a:ext cx="11901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H&amp;R For You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731419" y="5986343"/>
            <a:ext cx="10425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Harmony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255770" y="5986343"/>
            <a:ext cx="107001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78879F"/>
                </a:solidFill>
                <a:latin typeface="Calibri"/>
              </a:rPr>
              <a:t>Neoaccès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807625" y="5986343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Pablo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5199340" y="5986343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Puma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059430" y="6175296"/>
            <a:ext cx="86868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TIPS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370320" y="5189815"/>
            <a:ext cx="1980366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6362700" y="5326499"/>
            <a:ext cx="180820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CONTRÔLE ET CONFORMITÉ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6362700" y="5448419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14 OUTILS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5958840" y="5608439"/>
            <a:ext cx="97845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78879F"/>
                </a:solidFill>
                <a:latin typeface="Calibri"/>
              </a:rPr>
              <a:t>CEMEX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6419136" y="5608439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6801802" y="5608439"/>
            <a:ext cx="10789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7446407" y="5608439"/>
            <a:ext cx="103108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Lafarge+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6042660" y="5797391"/>
            <a:ext cx="154078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Live Objects (Orange)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7065288" y="5797391"/>
            <a:ext cx="10516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Lucee TP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682627" y="5797391"/>
            <a:ext cx="112478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Mezzoteam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5958840" y="5986343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Pablo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6434376" y="5986343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C2456A"/>
                </a:solidFill>
                <a:latin typeface="Calibri"/>
              </a:rPr>
              <a:t>Power BI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6954084" y="5986343"/>
            <a:ext cx="113835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PowerPoint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574280" y="5986343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C2456A"/>
                </a:solidFill>
                <a:latin typeface="Calibri"/>
              </a:rPr>
              <a:t>Quick Connect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6042660" y="6175296"/>
            <a:ext cx="144470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Sixense Monitoring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6969205" y="6175296"/>
            <a:ext cx="13304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Trimble Connect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5958840" y="6364248"/>
            <a:ext cx="143279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Wastemarket Place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9269730" y="5189815"/>
            <a:ext cx="111299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Sécurité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9262110" y="5326499"/>
            <a:ext cx="189035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PRÉVENTION · HABILITATIONS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9262110" y="5448419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93025"/>
                </a:solidFill>
                <a:latin typeface="Calibri"/>
              </a:rPr>
              <a:t>10 OUTILS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8858250" y="5608439"/>
            <a:ext cx="11019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93025"/>
                </a:solidFill>
                <a:latin typeface="Calibri"/>
              </a:rPr>
              <a:t>By My Site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9442014" y="5608439"/>
            <a:ext cx="92356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Cority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9847422" y="5608439"/>
            <a:ext cx="14949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HR4YOU / Global HR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8858250" y="5797391"/>
            <a:ext cx="14085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Heures Travaillées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748600" y="5797391"/>
            <a:ext cx="90975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Lotus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0224016" y="5797391"/>
            <a:ext cx="112478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Mezzoteam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830639" y="5797391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Pablo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8942070" y="5986343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93025"/>
                </a:solidFill>
                <a:latin typeface="Calibri"/>
              </a:rPr>
              <a:t>Power BI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9461778" y="5986343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93025"/>
                </a:solidFill>
                <a:latin typeface="Calibri"/>
              </a:rPr>
              <a:t>Quick Connect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0210086" y="5986343"/>
            <a:ext cx="16140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Quick Connect Sécurité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1344990" y="6644640"/>
            <a:ext cx="118991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 / 12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10264140" y="3550206"/>
            <a:ext cx="251460" cy="130969"/>
          </a:xfrm>
          <a:custGeom>
            <a:avLst/>
            <a:gdLst/>
            <a:ahLst/>
            <a:cxnLst/>
            <a:rect l="0" t="0" r="r" b="b"/>
            <a:pathLst>
              <a:path w="251460" h="130969">
                <a:moveTo>
                  <a:pt x="60960" y="70009"/>
                </a:moveTo>
                <a:cubicBezTo>
                  <a:pt x="104140" y="66993"/>
                  <a:pt x="147320" y="63976"/>
                  <a:pt x="190500" y="60960"/>
                </a:cubicBezTo>
              </a:path>
            </a:pathLst>
          </a:custGeom>
          <a:noFill/>
          <a:ln w="15240">
            <a:solidFill>
              <a:srgbClr val="4CC9E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0264140" y="3643075"/>
            <a:ext cx="251460" cy="318611"/>
          </a:xfrm>
          <a:custGeom>
            <a:avLst/>
            <a:gdLst/>
            <a:ahLst/>
            <a:cxnLst/>
            <a:rect l="0" t="0" r="r" b="b"/>
            <a:pathLst>
              <a:path w="251460" h="318611">
                <a:moveTo>
                  <a:pt x="60960" y="60960"/>
                </a:moveTo>
                <a:cubicBezTo>
                  <a:pt x="104140" y="126524"/>
                  <a:pt x="147320" y="192087"/>
                  <a:pt x="190500" y="25765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8961120" y="3559255"/>
            <a:ext cx="1554480" cy="196691"/>
          </a:xfrm>
          <a:custGeom>
            <a:avLst/>
            <a:gdLst/>
            <a:ahLst/>
            <a:cxnLst/>
            <a:rect l="0" t="0" r="r" b="b"/>
            <a:pathLst>
              <a:path w="1554480" h="196691">
                <a:moveTo>
                  <a:pt x="60960" y="60960"/>
                </a:moveTo>
                <a:cubicBezTo>
                  <a:pt x="705612" y="60960"/>
                  <a:pt x="848868" y="135731"/>
                  <a:pt x="1493520" y="135731"/>
                </a:cubicBezTo>
              </a:path>
            </a:pathLst>
          </a:custGeom>
          <a:noFill/>
          <a:ln w="15240">
            <a:solidFill>
              <a:srgbClr val="4CC9E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8961120" y="3643075"/>
            <a:ext cx="1554480" cy="402431"/>
          </a:xfrm>
          <a:custGeom>
            <a:avLst/>
            <a:gdLst/>
            <a:ahLst/>
            <a:cxnLst/>
            <a:rect l="0" t="0" r="r" b="b"/>
            <a:pathLst>
              <a:path w="1554480" h="402431">
                <a:moveTo>
                  <a:pt x="60960" y="60960"/>
                </a:moveTo>
                <a:cubicBezTo>
                  <a:pt x="705612" y="60960"/>
                  <a:pt x="848868" y="341471"/>
                  <a:pt x="1493520" y="34147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5113020" y="3517345"/>
            <a:ext cx="152400" cy="205740"/>
          </a:xfrm>
          <a:custGeom>
            <a:avLst/>
            <a:gdLst/>
            <a:ahLst/>
            <a:cxnLst/>
            <a:rect l="0" t="0" r="r" b="b"/>
            <a:pathLst>
              <a:path w="152400" h="205740">
                <a:moveTo>
                  <a:pt x="60960" y="144780"/>
                </a:moveTo>
                <a:cubicBezTo>
                  <a:pt x="71120" y="116840"/>
                  <a:pt x="81280" y="88900"/>
                  <a:pt x="91440" y="60960"/>
                </a:cubicBezTo>
              </a:path>
            </a:pathLst>
          </a:custGeom>
          <a:noFill/>
          <a:ln w="15240">
            <a:solidFill>
              <a:srgbClr val="4CC9E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5007947" y="3692604"/>
            <a:ext cx="863263" cy="1504831"/>
          </a:xfrm>
          <a:custGeom>
            <a:avLst/>
            <a:gdLst/>
            <a:ahLst/>
            <a:cxnLst/>
            <a:rect l="0" t="0" r="r" b="b"/>
            <a:pathLst>
              <a:path w="863263" h="1504831">
                <a:moveTo>
                  <a:pt x="60960" y="1443871"/>
                </a:moveTo>
                <a:cubicBezTo>
                  <a:pt x="60960" y="752415"/>
                  <a:pt x="802303" y="752415"/>
                  <a:pt x="802303" y="60960"/>
                </a:cubicBezTo>
              </a:path>
            </a:pathLst>
          </a:custGeom>
          <a:noFill/>
          <a:ln w="15240">
            <a:solidFill>
              <a:srgbClr val="8257E6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5091767" y="3692604"/>
            <a:ext cx="863263" cy="1504831"/>
          </a:xfrm>
          <a:custGeom>
            <a:avLst/>
            <a:gdLst/>
            <a:ahLst/>
            <a:cxnLst/>
            <a:rect l="0" t="0" r="r" b="b"/>
            <a:pathLst>
              <a:path w="863263" h="1504831">
                <a:moveTo>
                  <a:pt x="802303" y="60960"/>
                </a:moveTo>
                <a:cubicBezTo>
                  <a:pt x="802303" y="752415"/>
                  <a:pt x="60960" y="752415"/>
                  <a:pt x="60960" y="1443871"/>
                </a:cubicBezTo>
              </a:path>
            </a:pathLst>
          </a:custGeom>
          <a:noFill/>
          <a:ln w="15240">
            <a:solidFill>
              <a:srgbClr val="8257E6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7044690" y="3692604"/>
            <a:ext cx="121920" cy="152400"/>
          </a:xfrm>
          <a:custGeom>
            <a:avLst/>
            <a:gdLst/>
            <a:ahLst/>
            <a:cxnLst/>
            <a:rect l="0" t="0" r="r" b="b"/>
            <a:pathLst>
              <a:path w="121920" h="152400">
                <a:moveTo>
                  <a:pt x="60960" y="91440"/>
                </a:moveTo>
                <a:cubicBezTo>
                  <a:pt x="60960" y="76200"/>
                  <a:pt x="60960" y="76200"/>
                  <a:pt x="60960" y="60960"/>
                </a:cubicBezTo>
              </a:path>
            </a:pathLst>
          </a:custGeom>
          <a:noFill/>
          <a:ln w="15240">
            <a:solidFill>
              <a:srgbClr val="4CC9E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8110895" y="2468285"/>
            <a:ext cx="2892386" cy="1405771"/>
          </a:xfrm>
          <a:custGeom>
            <a:avLst/>
            <a:gdLst/>
            <a:ahLst/>
            <a:cxnLst/>
            <a:rect l="0" t="0" r="r" b="b"/>
            <a:pathLst>
              <a:path w="2892386" h="1405771">
                <a:moveTo>
                  <a:pt x="60960" y="60960"/>
                </a:moveTo>
                <a:cubicBezTo>
                  <a:pt x="60960" y="702885"/>
                  <a:pt x="2831426" y="702885"/>
                  <a:pt x="2831426" y="1344811"/>
                </a:cubicBezTo>
              </a:path>
            </a:pathLst>
          </a:custGeom>
          <a:noFill/>
          <a:ln w="15240">
            <a:solidFill>
              <a:srgbClr val="DD7E2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6614279" y="4011216"/>
            <a:ext cx="4640461" cy="1186220"/>
          </a:xfrm>
          <a:custGeom>
            <a:avLst/>
            <a:gdLst/>
            <a:ahLst/>
            <a:cxnLst/>
            <a:rect l="0" t="0" r="r" b="b"/>
            <a:pathLst>
              <a:path w="4640461" h="1186220">
                <a:moveTo>
                  <a:pt x="60960" y="1125260"/>
                </a:moveTo>
                <a:cubicBezTo>
                  <a:pt x="60960" y="593110"/>
                  <a:pt x="4579501" y="593110"/>
                  <a:pt x="4579501" y="60960"/>
                </a:cubicBezTo>
              </a:path>
            </a:pathLst>
          </a:custGeom>
          <a:noFill/>
          <a:ln w="15240">
            <a:solidFill>
              <a:srgbClr val="C2456A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950720" y="2468285"/>
            <a:ext cx="1155323" cy="1163360"/>
          </a:xfrm>
          <a:custGeom>
            <a:avLst/>
            <a:gdLst/>
            <a:ahLst/>
            <a:cxnLst/>
            <a:rect l="0" t="0" r="r" b="b"/>
            <a:pathLst>
              <a:path w="1155323" h="1163360">
                <a:moveTo>
                  <a:pt x="60960" y="1102400"/>
                </a:moveTo>
                <a:cubicBezTo>
                  <a:pt x="60960" y="581680"/>
                  <a:pt x="1094363" y="581680"/>
                  <a:pt x="1094363" y="60960"/>
                </a:cubicBezTo>
              </a:path>
            </a:pathLst>
          </a:custGeom>
          <a:noFill/>
          <a:ln w="15240">
            <a:solidFill>
              <a:srgbClr val="0E9E7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866900" y="2468285"/>
            <a:ext cx="1800046" cy="1163360"/>
          </a:xfrm>
          <a:custGeom>
            <a:avLst/>
            <a:gdLst/>
            <a:ahLst/>
            <a:cxnLst/>
            <a:rect l="0" t="0" r="r" b="b"/>
            <a:pathLst>
              <a:path w="1800046" h="1163360">
                <a:moveTo>
                  <a:pt x="60960" y="1102400"/>
                </a:moveTo>
                <a:cubicBezTo>
                  <a:pt x="60960" y="581680"/>
                  <a:pt x="1739086" y="581680"/>
                  <a:pt x="1739086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2900303" y="1628656"/>
            <a:ext cx="143232" cy="152400"/>
          </a:xfrm>
          <a:custGeom>
            <a:avLst/>
            <a:gdLst/>
            <a:ahLst/>
            <a:cxnLst/>
            <a:rect l="0" t="0" r="r" b="b"/>
            <a:pathLst>
              <a:path w="143232" h="152400">
                <a:moveTo>
                  <a:pt x="60960" y="91440"/>
                </a:moveTo>
                <a:cubicBezTo>
                  <a:pt x="60960" y="76200"/>
                  <a:pt x="82272" y="76200"/>
                  <a:pt x="82272" y="60960"/>
                </a:cubicBezTo>
              </a:path>
            </a:pathLst>
          </a:custGeom>
          <a:noFill/>
          <a:ln w="15240">
            <a:solidFill>
              <a:srgbClr val="0E9E7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10300716" y="359583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10300716" y="367965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8997696" y="359583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8997696" y="367965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5149596" y="363774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5044523" y="511209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5869686" y="372918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7081266" y="375966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8147471" y="250486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7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6650855" y="511209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24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987296" y="354630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1903476" y="354630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936879" y="1695712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80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200150"/>
            <a:ext cx="11506200" cy="16002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207770"/>
            <a:ext cx="30480" cy="1584961"/>
          </a:xfrm>
          <a:prstGeom prst="roundRect">
            <a:avLst>
              <a:gd name="adj" fmla="val 50000"/>
            </a:avLst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291590"/>
            <a:ext cx="1158240" cy="1417320"/>
          </a:xfrm>
          <a:prstGeom prst="roundRect">
            <a:avLst>
              <a:gd name="adj" fmla="val 6578"/>
            </a:avLst>
          </a:prstGeom>
          <a:solidFill>
            <a:srgbClr val="5B57D6">
              <a:alpha val="8000"/>
            </a:srgbClr>
          </a:solidFill>
          <a:ln w="7620">
            <a:solidFill>
              <a:srgbClr val="5B57D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30591" y="1856065"/>
            <a:ext cx="749618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25929" y="1856065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6489" y="1856065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67049" y="1856065"/>
            <a:ext cx="624839" cy="288250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37609" y="1856065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08169" y="1856065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76560" y="1291590"/>
            <a:ext cx="1158241" cy="1417320"/>
          </a:xfrm>
          <a:prstGeom prst="roundRect">
            <a:avLst>
              <a:gd name="adj" fmla="val 6578"/>
            </a:avLst>
          </a:prstGeom>
          <a:solidFill>
            <a:srgbClr val="5B57D6">
              <a:alpha val="15000"/>
            </a:srgbClr>
          </a:solidFill>
          <a:ln w="7620">
            <a:solidFill>
              <a:srgbClr val="5B57D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2900" y="3017521"/>
            <a:ext cx="11506200" cy="1600199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0520" y="3025140"/>
            <a:ext cx="30480" cy="1584960"/>
          </a:xfrm>
          <a:prstGeom prst="roundRect">
            <a:avLst>
              <a:gd name="adj" fmla="val 50000"/>
            </a:avLst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28800" y="3108960"/>
            <a:ext cx="1158240" cy="1417320"/>
          </a:xfrm>
          <a:prstGeom prst="roundRect">
            <a:avLst>
              <a:gd name="adj" fmla="val 6578"/>
            </a:avLst>
          </a:prstGeom>
          <a:solidFill>
            <a:srgbClr val="5B57D6">
              <a:alpha val="8000"/>
            </a:srgbClr>
          </a:solidFill>
          <a:ln w="7620">
            <a:solidFill>
              <a:srgbClr val="5B57D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63540" y="3673435"/>
            <a:ext cx="624840" cy="288251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34100" y="3673435"/>
            <a:ext cx="624840" cy="288251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04660" y="3673435"/>
            <a:ext cx="624840" cy="288251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75220" y="3673435"/>
            <a:ext cx="624840" cy="288251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576560" y="3108960"/>
            <a:ext cx="1158241" cy="1417320"/>
          </a:xfrm>
          <a:prstGeom prst="roundRect">
            <a:avLst>
              <a:gd name="adj" fmla="val 6578"/>
            </a:avLst>
          </a:prstGeom>
          <a:solidFill>
            <a:srgbClr val="5B57D6">
              <a:alpha val="15000"/>
            </a:srgbClr>
          </a:solidFill>
          <a:ln w="7620">
            <a:solidFill>
              <a:srgbClr val="5B57D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2900" y="4834890"/>
            <a:ext cx="11506200" cy="16002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0520" y="4842510"/>
            <a:ext cx="30480" cy="1584960"/>
          </a:xfrm>
          <a:prstGeom prst="roundRect">
            <a:avLst>
              <a:gd name="adj" fmla="val 50000"/>
            </a:avLst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28800" y="4926331"/>
            <a:ext cx="1158240" cy="1417320"/>
          </a:xfrm>
          <a:prstGeom prst="roundRect">
            <a:avLst>
              <a:gd name="adj" fmla="val 6578"/>
            </a:avLst>
          </a:prstGeom>
          <a:solidFill>
            <a:srgbClr val="5B57D6">
              <a:alpha val="8000"/>
            </a:srgbClr>
          </a:solidFill>
          <a:ln w="7620">
            <a:solidFill>
              <a:srgbClr val="5B57D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739289" y="5490805"/>
            <a:ext cx="624840" cy="288251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9849" y="5490805"/>
            <a:ext cx="624840" cy="288251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80409" y="5490805"/>
            <a:ext cx="743902" cy="288251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576560" y="4926331"/>
            <a:ext cx="1158241" cy="1417320"/>
          </a:xfrm>
          <a:prstGeom prst="roundRect">
            <a:avLst>
              <a:gd name="adj" fmla="val 6578"/>
            </a:avLst>
          </a:prstGeom>
          <a:solidFill>
            <a:srgbClr val="5B57D6">
              <a:alpha val="15000"/>
            </a:srgbClr>
          </a:solidFill>
          <a:ln w="7620">
            <a:solidFill>
              <a:srgbClr val="5B57D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2900" y="312420"/>
            <a:ext cx="242697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DIRECTION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" y="457200"/>
            <a:ext cx="195203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Direction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" y="847248"/>
            <a:ext cx="1966555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Missions et outils rattachés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07792" y="361950"/>
            <a:ext cx="148875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12 outils rattachés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0894" y="373380"/>
            <a:ext cx="1110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3 missions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8985" y="567690"/>
            <a:ext cx="160591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10894" y="579120"/>
            <a:ext cx="113145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3 échanges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1928812"/>
            <a:ext cx="13914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Récolte des KPI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1792" y="1901904"/>
            <a:ext cx="912257" cy="838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DÉBUT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8815" y="1981080"/>
            <a:ext cx="91809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OBEYA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38356" y="192786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2963" y="1894165"/>
            <a:ext cx="90475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MIRO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63892" y="2002274"/>
            <a:ext cx="1283017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int/ext TODO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97580" y="1894165"/>
            <a:ext cx="88141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5064" y="2002274"/>
            <a:ext cx="1126450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6472" y="1894165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39552" y="2002274"/>
            <a:ext cx="1138714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57142" y="1894165"/>
            <a:ext cx="10445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55356" y="2002274"/>
            <a:ext cx="1048107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0806" y="1894165"/>
            <a:ext cx="89844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80673" y="2002274"/>
            <a:ext cx="1138713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98381" y="1894165"/>
            <a:ext cx="10444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YELLOW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96476" y="2002274"/>
            <a:ext cx="1048107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75476" y="192786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58595" y="1901904"/>
            <a:ext cx="994171" cy="838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FINALITÉ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93110" y="1981080"/>
            <a:ext cx="112514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KPI'S A JOUR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3689985"/>
            <a:ext cx="162818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Validation contrats et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3802380"/>
            <a:ext cx="111764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dépenses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51792" y="3719274"/>
            <a:ext cx="912257" cy="838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DÉBUT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45231" y="3798451"/>
            <a:ext cx="1125379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38356" y="3745230"/>
            <a:ext cx="735568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60539" y="3711536"/>
            <a:ext cx="10307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12675" y="3819644"/>
            <a:ext cx="1126450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08000" y="3711536"/>
            <a:ext cx="10770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DocuSign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77163" y="3819644"/>
            <a:ext cx="1138714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90110" y="3711536"/>
            <a:ext cx="10538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3795" y="3819644"/>
            <a:ext cx="1126450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35203" y="3711536"/>
            <a:ext cx="9048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18283" y="3819644"/>
            <a:ext cx="1138714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75476" y="3745230"/>
            <a:ext cx="735568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58595" y="3719274"/>
            <a:ext cx="994171" cy="838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FINALITÉ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92991" y="3798451"/>
            <a:ext cx="1125379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5563553"/>
            <a:ext cx="136588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des ST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51792" y="5536645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DÉBUT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45231" y="5615821"/>
            <a:ext cx="1125379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38356" y="5562600"/>
            <a:ext cx="735568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86174" y="5528906"/>
            <a:ext cx="93106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BATIS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2352" y="5637014"/>
            <a:ext cx="1138714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48745" y="5528906"/>
            <a:ext cx="114692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E-Checking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52912" y="5637014"/>
            <a:ext cx="1138714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13709" y="5528906"/>
            <a:ext cx="127730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89075" y="5637014"/>
            <a:ext cx="1126450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75476" y="5562600"/>
            <a:ext cx="735568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8595" y="5536645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FINALITÉ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92991" y="5615821"/>
            <a:ext cx="1125379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344990" y="6644640"/>
            <a:ext cx="118991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80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074419"/>
            <a:ext cx="11506200" cy="1024177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082039"/>
            <a:ext cx="30480" cy="1008937"/>
          </a:xfrm>
          <a:prstGeom prst="roundRect">
            <a:avLst>
              <a:gd name="adj" fmla="val 50000"/>
            </a:avLst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165860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8257E6">
              <a:alpha val="8000"/>
            </a:srgbClr>
          </a:solidFill>
          <a:ln w="7620">
            <a:solidFill>
              <a:srgbClr val="8257E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82140" y="1703427"/>
            <a:ext cx="1417320" cy="175021"/>
          </a:xfrm>
          <a:prstGeom prst="roundRect">
            <a:avLst>
              <a:gd name="adj" fmla="val 50000"/>
            </a:avLst>
          </a:prstGeom>
          <a:solidFill>
            <a:srgbClr val="DD7E2C">
              <a:alpha val="14000"/>
            </a:srgbClr>
          </a:solidFill>
          <a:ln w="7620">
            <a:solidFill>
              <a:srgbClr val="DD7E2C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05200" y="1165860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81600" y="1165860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0" y="1165860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34400" y="1165860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10801" y="1165860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8257E6">
              <a:alpha val="15000"/>
            </a:srgbClr>
          </a:solidFill>
          <a:ln w="7620">
            <a:solidFill>
              <a:srgbClr val="8257E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64140" y="1601153"/>
            <a:ext cx="1417320" cy="175021"/>
          </a:xfrm>
          <a:prstGeom prst="roundRect">
            <a:avLst>
              <a:gd name="adj" fmla="val 50000"/>
            </a:avLst>
          </a:prstGeom>
          <a:solidFill>
            <a:srgbClr val="DD7E2C">
              <a:alpha val="14000"/>
            </a:srgbClr>
          </a:solidFill>
          <a:ln w="7620">
            <a:solidFill>
              <a:srgbClr val="DD7E2C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2900" y="2190036"/>
            <a:ext cx="11506200" cy="1024175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0520" y="2197656"/>
            <a:ext cx="30480" cy="1008935"/>
          </a:xfrm>
          <a:prstGeom prst="roundRect">
            <a:avLst>
              <a:gd name="adj" fmla="val 50000"/>
            </a:avLst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28800" y="2281476"/>
            <a:ext cx="1859280" cy="841295"/>
          </a:xfrm>
          <a:prstGeom prst="roundRect">
            <a:avLst>
              <a:gd name="adj" fmla="val 9057"/>
            </a:avLst>
          </a:prstGeom>
          <a:solidFill>
            <a:srgbClr val="8257E6">
              <a:alpha val="8000"/>
            </a:srgbClr>
          </a:solidFill>
          <a:ln w="7620">
            <a:solidFill>
              <a:srgbClr val="8257E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40480" y="2281476"/>
            <a:ext cx="185928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281476"/>
            <a:ext cx="185928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63841" y="2281476"/>
            <a:ext cx="1859279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1" y="2281476"/>
            <a:ext cx="1859280" cy="841295"/>
          </a:xfrm>
          <a:prstGeom prst="roundRect">
            <a:avLst>
              <a:gd name="adj" fmla="val 9057"/>
            </a:avLst>
          </a:prstGeom>
          <a:solidFill>
            <a:srgbClr val="8257E6">
              <a:alpha val="15000"/>
            </a:srgbClr>
          </a:solidFill>
          <a:ln w="7620">
            <a:solidFill>
              <a:srgbClr val="8257E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28860" y="2610208"/>
            <a:ext cx="1752600" cy="175021"/>
          </a:xfrm>
          <a:prstGeom prst="roundRect">
            <a:avLst>
              <a:gd name="adj" fmla="val 50000"/>
            </a:avLst>
          </a:prstGeom>
          <a:solidFill>
            <a:srgbClr val="A9761A">
              <a:alpha val="14000"/>
            </a:srgbClr>
          </a:solidFill>
          <a:ln w="7620">
            <a:solidFill>
              <a:srgbClr val="A9761A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928860" y="2823328"/>
            <a:ext cx="1752600" cy="175023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2900" y="3305651"/>
            <a:ext cx="11506200" cy="1024177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0520" y="3313271"/>
            <a:ext cx="30480" cy="1008937"/>
          </a:xfrm>
          <a:prstGeom prst="roundRect">
            <a:avLst>
              <a:gd name="adj" fmla="val 50000"/>
            </a:avLst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828800" y="3397091"/>
            <a:ext cx="1104900" cy="841295"/>
          </a:xfrm>
          <a:prstGeom prst="roundRect">
            <a:avLst>
              <a:gd name="adj" fmla="val 9057"/>
            </a:avLst>
          </a:prstGeom>
          <a:solidFill>
            <a:srgbClr val="8257E6">
              <a:alpha val="8000"/>
            </a:srgbClr>
          </a:solidFill>
          <a:ln w="7620">
            <a:solidFill>
              <a:srgbClr val="8257E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86100" y="3397091"/>
            <a:ext cx="110490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43400" y="3397091"/>
            <a:ext cx="110490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00700" y="3397091"/>
            <a:ext cx="110490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58000" y="3397091"/>
            <a:ext cx="110490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15301" y="3397091"/>
            <a:ext cx="110490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372600" y="3397091"/>
            <a:ext cx="110490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629900" y="3397091"/>
            <a:ext cx="1104901" cy="841295"/>
          </a:xfrm>
          <a:prstGeom prst="roundRect">
            <a:avLst>
              <a:gd name="adj" fmla="val 9057"/>
            </a:avLst>
          </a:prstGeom>
          <a:solidFill>
            <a:srgbClr val="8257E6">
              <a:alpha val="15000"/>
            </a:srgbClr>
          </a:solidFill>
          <a:ln w="7620">
            <a:solidFill>
              <a:srgbClr val="8257E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683241" y="3832383"/>
            <a:ext cx="998220" cy="175023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2900" y="4421266"/>
            <a:ext cx="11506200" cy="1024177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0520" y="4428886"/>
            <a:ext cx="30480" cy="1008937"/>
          </a:xfrm>
          <a:prstGeom prst="roundRect">
            <a:avLst>
              <a:gd name="adj" fmla="val 50000"/>
            </a:avLst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828800" y="4512708"/>
            <a:ext cx="1524000" cy="841295"/>
          </a:xfrm>
          <a:prstGeom prst="roundRect">
            <a:avLst>
              <a:gd name="adj" fmla="val 9057"/>
            </a:avLst>
          </a:prstGeom>
          <a:solidFill>
            <a:srgbClr val="8257E6">
              <a:alpha val="8000"/>
            </a:srgbClr>
          </a:solidFill>
          <a:ln w="7620">
            <a:solidFill>
              <a:srgbClr val="8257E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05200" y="4512708"/>
            <a:ext cx="152400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181600" y="4512708"/>
            <a:ext cx="152400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4512708"/>
            <a:ext cx="152400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534400" y="4512708"/>
            <a:ext cx="1524000" cy="841295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210801" y="4512708"/>
            <a:ext cx="1524000" cy="841295"/>
          </a:xfrm>
          <a:prstGeom prst="roundRect">
            <a:avLst>
              <a:gd name="adj" fmla="val 9057"/>
            </a:avLst>
          </a:prstGeom>
          <a:solidFill>
            <a:srgbClr val="8257E6">
              <a:alpha val="15000"/>
            </a:srgbClr>
          </a:solidFill>
          <a:ln w="7620">
            <a:solidFill>
              <a:srgbClr val="8257E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264140" y="4948000"/>
            <a:ext cx="1417320" cy="175021"/>
          </a:xfrm>
          <a:prstGeom prst="roundRect">
            <a:avLst>
              <a:gd name="adj" fmla="val 50000"/>
            </a:avLst>
          </a:prstGeom>
          <a:solidFill>
            <a:srgbClr val="D93025">
              <a:alpha val="14000"/>
            </a:srgbClr>
          </a:solidFill>
          <a:ln w="7620">
            <a:solidFill>
              <a:srgbClr val="D93025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2900" y="5536883"/>
            <a:ext cx="11506200" cy="1024175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520" y="5544503"/>
            <a:ext cx="30480" cy="1008935"/>
          </a:xfrm>
          <a:prstGeom prst="roundRect">
            <a:avLst>
              <a:gd name="adj" fmla="val 50000"/>
            </a:avLst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828800" y="5628323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8257E6">
              <a:alpha val="8000"/>
            </a:srgbClr>
          </a:solidFill>
          <a:ln w="7620">
            <a:solidFill>
              <a:srgbClr val="8257E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882140" y="6063615"/>
            <a:ext cx="1417320" cy="175021"/>
          </a:xfrm>
          <a:prstGeom prst="roundRect">
            <a:avLst>
              <a:gd name="adj" fmla="val 50000"/>
            </a:avLst>
          </a:prstGeom>
          <a:solidFill>
            <a:srgbClr val="DD7E2C">
              <a:alpha val="14000"/>
            </a:srgbClr>
          </a:solidFill>
          <a:ln w="7620">
            <a:solidFill>
              <a:srgbClr val="DD7E2C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505200" y="5628323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181600" y="5628323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858000" y="5628323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534400" y="5628323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210801" y="5628323"/>
            <a:ext cx="1524000" cy="841297"/>
          </a:xfrm>
          <a:prstGeom prst="roundRect">
            <a:avLst>
              <a:gd name="adj" fmla="val 9057"/>
            </a:avLst>
          </a:prstGeom>
          <a:solidFill>
            <a:srgbClr val="8257E6">
              <a:alpha val="15000"/>
            </a:srgbClr>
          </a:solidFill>
          <a:ln w="7620">
            <a:solidFill>
              <a:srgbClr val="8257E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264140" y="6063615"/>
            <a:ext cx="1417320" cy="175021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2900" y="312420"/>
            <a:ext cx="20376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DAF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2900" y="457200"/>
            <a:ext cx="1293971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DAF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" y="847248"/>
            <a:ext cx="2109073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7792" y="361950"/>
            <a:ext cx="148875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15 outils rattachés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10894" y="373380"/>
            <a:ext cx="1110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5 missions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28985" y="567690"/>
            <a:ext cx="160591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0894" y="579120"/>
            <a:ext cx="113145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9 échanges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1460182"/>
            <a:ext cx="157269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1603057"/>
            <a:ext cx="1770817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CONJOINT AVEC LES TRAVAUX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14074" y="1279327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ENTRÉE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27622" y="1358502"/>
            <a:ext cx="132623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VALO main-d'œuvre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66900" y="1460778"/>
            <a:ext cx="14630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Extraction matériel · </a:t>
            </a:r>
            <a:r>
              <a:rPr sz="530" b="1">
                <a:solidFill>
                  <a:srgbClr val="0D1526"/>
                </a:solidFill>
                <a:latin typeface="Calibri"/>
              </a:rPr>
              <a:t>BYMAT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66900" y="1563052"/>
            <a:ext cx="1463040" cy="147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Dépenses diverses · </a:t>
            </a:r>
            <a:r>
              <a:rPr sz="53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09907" y="1711047"/>
            <a:ext cx="961787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← Travaux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872139" y="1775698"/>
            <a:ext cx="1437204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Commande matériel chantier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04116" y="1514117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29489" y="1429346"/>
            <a:ext cx="147542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Constitution de la PC100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14763" y="1531620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97843" y="1639729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80516" y="1514117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50750" y="1429346"/>
            <a:ext cx="178558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Ventilation par centre d'imputation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91162" y="1531620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74243" y="1639729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56916" y="1514117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38010" y="1429346"/>
            <a:ext cx="136386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Ventilation par atelier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67563" y="1531620"/>
            <a:ext cx="9048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50643" y="1639729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33316" y="1514117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71059" y="1429346"/>
            <a:ext cx="165056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Contrôle des écarts au budget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843963" y="1531620"/>
            <a:ext cx="9048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27044" y="1639729"/>
            <a:ext cx="1138713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09716" y="1514117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475714" y="1381601"/>
            <a:ext cx="994171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FINALITÉ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231278" y="1460778"/>
            <a:ext cx="148304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Budget par atelier arbitré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1907" y="1608773"/>
            <a:ext cx="96178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→ Travaux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69035" y="1673424"/>
            <a:ext cx="120741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Contrôle budgétaire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" y="2630687"/>
            <a:ext cx="17948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81714" y="2501502"/>
            <a:ext cx="95345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ENTRÉE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66900" y="2580679"/>
            <a:ext cx="179832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Factures partenaires · </a:t>
            </a:r>
            <a:r>
              <a:rPr sz="53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6900" y="2682955"/>
            <a:ext cx="179832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Pointage main-d'œuvre · </a:t>
            </a:r>
            <a:r>
              <a:rPr sz="53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866900" y="2785229"/>
            <a:ext cx="1798320" cy="147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Heures intérim · </a:t>
            </a:r>
            <a:r>
              <a:rPr sz="53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39396" y="2629734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4080" y="2544961"/>
            <a:ext cx="141208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Extraction du pointage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17683" y="2647236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00763" y="2755344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751076" y="2629734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8374" y="2544961"/>
            <a:ext cx="148673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Préfacturation mensuelle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29362" y="2647236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212443" y="2755344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762755" y="2629734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30183" y="2544961"/>
            <a:ext cx="132647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Circuit de validation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66510" y="2647236"/>
            <a:ext cx="10538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30195" y="2755344"/>
            <a:ext cx="1126451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774436" y="2629734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308074" y="2390656"/>
            <a:ext cx="99417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FINALITÉ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71459" y="2469833"/>
            <a:ext cx="206740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Valorisation de la main-d'œuvre (VALO MO)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330101" y="2617828"/>
            <a:ext cx="95011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→ Contrat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171629" y="2682479"/>
            <a:ext cx="1266944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Facturation partenaire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372011" y="2830950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01394" y="2895601"/>
            <a:ext cx="1207413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Contrôle budgétaire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2920" y="3690104"/>
            <a:ext cx="189202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Engagement des dépenses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2920" y="3802499"/>
            <a:ext cx="127587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et facturation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904524" y="3719393"/>
            <a:ext cx="95345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ENTRÉE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86890" y="3798570"/>
            <a:ext cx="118872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Besoin chantier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985016" y="3745349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995732" y="3660577"/>
            <a:ext cx="128551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Bon de commande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1469" y="3762851"/>
            <a:ext cx="9140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069193" y="3870960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242316" y="3745349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120753" y="3660577"/>
            <a:ext cx="155007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Engagement de la dépense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371261" y="3762851"/>
            <a:ext cx="10491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332565" y="3870960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499616" y="3745349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495449" y="3660577"/>
            <a:ext cx="131540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Facture fournisseur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37729" y="3762851"/>
            <a:ext cx="10307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589866" y="3870960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56916" y="3745349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788110" y="3660577"/>
            <a:ext cx="124456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Validation interne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883480" y="3762851"/>
            <a:ext cx="10538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847166" y="3870960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14216" y="3745349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170188" y="3660577"/>
            <a:ext cx="99500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Signature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230" y="3762851"/>
            <a:ext cx="10770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DocuSign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098393" y="3870960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271516" y="3745349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02711" y="3660577"/>
            <a:ext cx="12446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Mise en paiement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488924" y="3762851"/>
            <a:ext cx="8721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TIPS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361765" y="3870960"/>
            <a:ext cx="1126451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528816" y="3745349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685264" y="3612833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FINALITÉ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407254" y="3692010"/>
            <a:ext cx="155019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Dépense engagée et réglée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749201" y="3840005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578584" y="3904656"/>
            <a:ext cx="1207413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Contrôle budgétaire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4805721"/>
            <a:ext cx="148554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Onboarding RH et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02920" y="4918114"/>
            <a:ext cx="116847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formations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4074" y="4835010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ENTRÉE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003822" y="4914187"/>
            <a:ext cx="117383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Nouvel arrivant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404116" y="486096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29370" y="4776192"/>
            <a:ext cx="147566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Vérification travail illégal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693676" y="4878468"/>
            <a:ext cx="114692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E-Checking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97843" y="4986575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080516" y="486096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289471" y="4776192"/>
            <a:ext cx="130813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Badge et accès site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404961" y="4878468"/>
            <a:ext cx="107727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Neoaccès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247084" y="4986575"/>
            <a:ext cx="1392913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alim. TODO · int/ext TODO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756916" y="486096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993970" y="4776192"/>
            <a:ext cx="125194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Plan de formation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65050" y="4878468"/>
            <a:ext cx="110978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By My Site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56715" y="4986575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33316" y="486096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558689" y="4776192"/>
            <a:ext cx="147542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Commande de formation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839319" y="4878468"/>
            <a:ext cx="91404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727044" y="4986575"/>
            <a:ext cx="1138713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109716" y="486096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475714" y="4728448"/>
            <a:ext cx="994171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FINALITÉ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117694" y="4807625"/>
            <a:ext cx="171021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Collaborateur habilité et sur site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486787" y="4955619"/>
            <a:ext cx="972026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93025"/>
                </a:solidFill>
                <a:latin typeface="Calibri"/>
              </a:rPr>
              <a:t>→ Sécurité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186750" y="5020270"/>
            <a:ext cx="157198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93025"/>
                </a:solidFill>
                <a:latin typeface="Calibri"/>
              </a:rPr>
              <a:t>Accueil, formation et habilitations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02920" y="5866448"/>
            <a:ext cx="175414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du personnel et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02920" y="5978843"/>
            <a:ext cx="8991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paye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02920" y="6121718"/>
            <a:ext cx="1312426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BYCN ET INTÉRIM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114074" y="5844064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ENTRÉE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66900" y="5923241"/>
            <a:ext cx="14630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Pointage chantier · </a:t>
            </a:r>
            <a:r>
              <a:rPr sz="53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109907" y="6071234"/>
            <a:ext cx="961787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← Travaux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73329" y="6135887"/>
            <a:ext cx="143482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Commande de main-d'œuvre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04116" y="597658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89509" y="5891809"/>
            <a:ext cx="1155264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Heures intérim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703797" y="5994083"/>
            <a:ext cx="112680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703915" y="6102192"/>
            <a:ext cx="112645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080516" y="597658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215176" y="5891809"/>
            <a:ext cx="145673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Compagnons Bouygues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481876" y="5994083"/>
            <a:ext cx="92332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BYCN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381863" y="6102192"/>
            <a:ext cx="1123355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756916" y="597658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917651" y="5891809"/>
            <a:ext cx="140470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Congés et attestations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20163" y="5994083"/>
            <a:ext cx="11996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H&amp;R For You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056715" y="6102192"/>
            <a:ext cx="112645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433316" y="597658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629412" y="5891809"/>
            <a:ext cx="133397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Contrôle des heures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843963" y="5994083"/>
            <a:ext cx="9048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727044" y="6102192"/>
            <a:ext cx="1138713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109716" y="597658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475714" y="5844064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FINALITÉ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0145435" y="5923241"/>
            <a:ext cx="165473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Paye émise, heures valorisées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539651" y="6071234"/>
            <a:ext cx="866299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302479" y="6135887"/>
            <a:ext cx="1340644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44990" y="6644640"/>
            <a:ext cx="118991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79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074419"/>
            <a:ext cx="11506200" cy="1303021"/>
          </a:xfrm>
          <a:prstGeom prst="roundRect">
            <a:avLst>
              <a:gd name="adj" fmla="val 818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082039"/>
            <a:ext cx="30480" cy="1287781"/>
          </a:xfrm>
          <a:prstGeom prst="roundRect">
            <a:avLst>
              <a:gd name="adj" fmla="val 50000"/>
            </a:avLst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165860"/>
            <a:ext cx="1524000" cy="1120140"/>
          </a:xfrm>
          <a:prstGeom prst="roundRect">
            <a:avLst>
              <a:gd name="adj" fmla="val 6802"/>
            </a:avLst>
          </a:prstGeom>
          <a:solidFill>
            <a:srgbClr val="A9761A">
              <a:alpha val="8000"/>
            </a:srgbClr>
          </a:solidFill>
          <a:ln w="7620">
            <a:solidFill>
              <a:srgbClr val="A9761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05200" y="1165860"/>
            <a:ext cx="1524000" cy="1120140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1600" y="1165860"/>
            <a:ext cx="1524000" cy="1120140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165860"/>
            <a:ext cx="1524000" cy="1120140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34400" y="1165860"/>
            <a:ext cx="1524000" cy="1120140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10801" y="1165860"/>
            <a:ext cx="1524000" cy="1120140"/>
          </a:xfrm>
          <a:prstGeom prst="roundRect">
            <a:avLst>
              <a:gd name="adj" fmla="val 6802"/>
            </a:avLst>
          </a:prstGeom>
          <a:solidFill>
            <a:srgbClr val="A9761A">
              <a:alpha val="15000"/>
            </a:srgbClr>
          </a:solidFill>
          <a:ln w="7620">
            <a:solidFill>
              <a:srgbClr val="A9761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2900" y="2468880"/>
            <a:ext cx="11506200" cy="1303021"/>
          </a:xfrm>
          <a:prstGeom prst="roundRect">
            <a:avLst>
              <a:gd name="adj" fmla="val 818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0520" y="2476500"/>
            <a:ext cx="30480" cy="1287781"/>
          </a:xfrm>
          <a:prstGeom prst="roundRect">
            <a:avLst>
              <a:gd name="adj" fmla="val 50000"/>
            </a:avLst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28800" y="2560320"/>
            <a:ext cx="1859280" cy="1120140"/>
          </a:xfrm>
          <a:prstGeom prst="roundRect">
            <a:avLst>
              <a:gd name="adj" fmla="val 6802"/>
            </a:avLst>
          </a:prstGeom>
          <a:solidFill>
            <a:srgbClr val="A9761A">
              <a:alpha val="8000"/>
            </a:srgbClr>
          </a:solidFill>
          <a:ln w="7620">
            <a:solidFill>
              <a:srgbClr val="A9761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82140" y="3135034"/>
            <a:ext cx="1752600" cy="175023"/>
          </a:xfrm>
          <a:prstGeom prst="roundRect">
            <a:avLst>
              <a:gd name="adj" fmla="val 50000"/>
            </a:avLst>
          </a:prstGeom>
          <a:solidFill>
            <a:srgbClr val="DD7E2C">
              <a:alpha val="14000"/>
            </a:srgbClr>
          </a:solidFill>
          <a:ln w="7620">
            <a:solidFill>
              <a:srgbClr val="DD7E2C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0" y="2560320"/>
            <a:ext cx="1859280" cy="1120140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52160" y="2560320"/>
            <a:ext cx="1859280" cy="1120140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863841" y="2560320"/>
            <a:ext cx="1859279" cy="1120140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75521" y="2560320"/>
            <a:ext cx="1859280" cy="1120140"/>
          </a:xfrm>
          <a:prstGeom prst="roundRect">
            <a:avLst>
              <a:gd name="adj" fmla="val 6802"/>
            </a:avLst>
          </a:prstGeom>
          <a:solidFill>
            <a:srgbClr val="A9761A">
              <a:alpha val="15000"/>
            </a:srgbClr>
          </a:solidFill>
          <a:ln w="7620">
            <a:solidFill>
              <a:srgbClr val="A9761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28860" y="3135034"/>
            <a:ext cx="1752600" cy="175023"/>
          </a:xfrm>
          <a:prstGeom prst="roundRect">
            <a:avLst>
              <a:gd name="adj" fmla="val 50000"/>
            </a:avLst>
          </a:prstGeom>
          <a:solidFill>
            <a:srgbClr val="A9761A">
              <a:alpha val="14000"/>
            </a:srgbClr>
          </a:solidFill>
          <a:ln w="7620">
            <a:solidFill>
              <a:srgbClr val="A9761A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" y="3863341"/>
            <a:ext cx="11506200" cy="1303019"/>
          </a:xfrm>
          <a:prstGeom prst="roundRect">
            <a:avLst>
              <a:gd name="adj" fmla="val 818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0520" y="3870961"/>
            <a:ext cx="30480" cy="1287779"/>
          </a:xfrm>
          <a:prstGeom prst="roundRect">
            <a:avLst>
              <a:gd name="adj" fmla="val 50000"/>
            </a:avLst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828800" y="3954781"/>
            <a:ext cx="1284565" cy="1120139"/>
          </a:xfrm>
          <a:prstGeom prst="roundRect">
            <a:avLst>
              <a:gd name="adj" fmla="val 6802"/>
            </a:avLst>
          </a:prstGeom>
          <a:solidFill>
            <a:srgbClr val="A9761A">
              <a:alpha val="8000"/>
            </a:srgbClr>
          </a:solidFill>
          <a:ln w="7620">
            <a:solidFill>
              <a:srgbClr val="A9761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265765" y="3954781"/>
            <a:ext cx="1284565" cy="1120139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02731" y="3954781"/>
            <a:ext cx="1284566" cy="1120139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39696" y="3954781"/>
            <a:ext cx="1284566" cy="1120139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76661" y="3954781"/>
            <a:ext cx="1284565" cy="1120139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13626" y="3954781"/>
            <a:ext cx="1284566" cy="1120139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50592" y="3954781"/>
            <a:ext cx="1284565" cy="1120139"/>
          </a:xfrm>
          <a:prstGeom prst="roundRect">
            <a:avLst>
              <a:gd name="adj" fmla="val 6802"/>
            </a:avLst>
          </a:prstGeom>
          <a:solidFill>
            <a:srgbClr val="A9761A">
              <a:alpha val="15000"/>
            </a:srgbClr>
          </a:solidFill>
          <a:ln w="7620">
            <a:solidFill>
              <a:srgbClr val="A9761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42900" y="5257800"/>
            <a:ext cx="11506200" cy="1303021"/>
          </a:xfrm>
          <a:prstGeom prst="roundRect">
            <a:avLst>
              <a:gd name="adj" fmla="val 818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0520" y="5265419"/>
            <a:ext cx="30480" cy="1287781"/>
          </a:xfrm>
          <a:prstGeom prst="roundRect">
            <a:avLst>
              <a:gd name="adj" fmla="val 50000"/>
            </a:avLst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828800" y="5349240"/>
            <a:ext cx="2362200" cy="1120140"/>
          </a:xfrm>
          <a:prstGeom prst="roundRect">
            <a:avLst>
              <a:gd name="adj" fmla="val 6802"/>
            </a:avLst>
          </a:prstGeom>
          <a:solidFill>
            <a:srgbClr val="A9761A">
              <a:alpha val="8000"/>
            </a:srgbClr>
          </a:solidFill>
          <a:ln w="7620">
            <a:solidFill>
              <a:srgbClr val="A9761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882140" y="5923955"/>
            <a:ext cx="2255520" cy="175021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343400" y="5349240"/>
            <a:ext cx="2362200" cy="1120140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5349240"/>
            <a:ext cx="2362200" cy="1120140"/>
          </a:xfrm>
          <a:prstGeom prst="roundRect">
            <a:avLst>
              <a:gd name="adj" fmla="val 6802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372600" y="5349240"/>
            <a:ext cx="2362200" cy="1120140"/>
          </a:xfrm>
          <a:prstGeom prst="roundRect">
            <a:avLst>
              <a:gd name="adj" fmla="val 6802"/>
            </a:avLst>
          </a:prstGeom>
          <a:solidFill>
            <a:srgbClr val="A9761A">
              <a:alpha val="15000"/>
            </a:srgbClr>
          </a:solidFill>
          <a:ln w="7620">
            <a:solidFill>
              <a:srgbClr val="A9761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" y="312419"/>
            <a:ext cx="233588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CONTRAT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2900" y="457200"/>
            <a:ext cx="1726763" cy="3657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Contrat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" y="847249"/>
            <a:ext cx="2109073" cy="1523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07792" y="361950"/>
            <a:ext cx="148875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10 outils rattachés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0894" y="373380"/>
            <a:ext cx="1110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4 missions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28985" y="567690"/>
            <a:ext cx="160591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10894" y="579120"/>
            <a:ext cx="113145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4 échanges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1654492"/>
            <a:ext cx="161424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des contrats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14074" y="1627585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ENTRÉE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36790" y="1706760"/>
            <a:ext cx="130802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Marché et avenants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4116" y="165354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00212" y="1568768"/>
            <a:ext cx="133397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Dépôt documentaire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02963" y="1671042"/>
            <a:ext cx="112835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7843" y="1779151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80516" y="165354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8982" y="1568768"/>
            <a:ext cx="150923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Mémoires et réclamations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46859" y="1671042"/>
            <a:ext cx="119336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NotebookLM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80315" y="1779151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56916" y="165354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15056" y="1568768"/>
            <a:ext cx="100988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Rédaction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0777" y="1671042"/>
            <a:ext cx="89844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50643" y="1779151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3316" y="165354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3347" y="1568768"/>
            <a:ext cx="122598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Suivi contractuel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3963" y="1671042"/>
            <a:ext cx="9048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27044" y="1779151"/>
            <a:ext cx="1138713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9716" y="165354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75714" y="1627585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FINALITÉ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16396" y="1706760"/>
            <a:ext cx="151280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Dossier contractuel à jour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2992755"/>
            <a:ext cx="164258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Avancement et jalons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3105150"/>
            <a:ext cx="104882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chantier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81714" y="2915484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ENTRÉE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77760" y="2994661"/>
            <a:ext cx="136136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Avancement chantier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77547" y="3142656"/>
            <a:ext cx="96178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← Travaux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19776" y="3207307"/>
            <a:ext cx="147732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39396" y="304800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03740" y="2963228"/>
            <a:ext cx="11326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Consolidation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7683" y="3065502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00763" y="3173611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51076" y="304800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66961" y="2963228"/>
            <a:ext cx="122955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Note de situation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2577" y="3065502"/>
            <a:ext cx="89844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12443" y="3173611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62755" y="304800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94119" y="2963228"/>
            <a:ext cx="119860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Tableau de bord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71153" y="3065502"/>
            <a:ext cx="104453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69367" y="3173611"/>
            <a:ext cx="104810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74436" y="304800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08074" y="2915484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FINALITÉ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30063" y="2994661"/>
            <a:ext cx="155007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Situation mensuelle établie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330101" y="3142656"/>
            <a:ext cx="95011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→ Contrat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1620" y="3207307"/>
            <a:ext cx="140696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Gestion des encaissements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" y="4387216"/>
            <a:ext cx="122051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" y="4499609"/>
            <a:ext cx="1356479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encaissements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94297" y="4372927"/>
            <a:ext cx="95345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ENTRÉE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6900" y="4452104"/>
            <a:ext cx="1223605" cy="23503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Suivi des avancements et jalons · </a:t>
            </a:r>
            <a:r>
              <a:rPr sz="53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64681" y="444246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79777" y="4357687"/>
            <a:ext cx="18565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Situation envoyée au maître d'œuvre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06735" y="4459963"/>
            <a:ext cx="100250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Outlook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46371" y="4568070"/>
            <a:ext cx="1123355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601647" y="444246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681776" y="4357687"/>
            <a:ext cx="132647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Circuit de validation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18102" y="4459963"/>
            <a:ext cx="10538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E-Project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03445" y="4568070"/>
            <a:ext cx="1283017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int/ext TODO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8612" y="444246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925026" y="4412575"/>
            <a:ext cx="171390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Validation et paiement du maître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80190" y="4499609"/>
            <a:ext cx="100345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d'ouvrage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75578" y="444246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76887" y="4357687"/>
            <a:ext cx="148411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Facture maître d'ouvrage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729299" y="4459963"/>
            <a:ext cx="97917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Chorus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57267" y="4568070"/>
            <a:ext cx="1123355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12543" y="444246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83873" y="4357687"/>
            <a:ext cx="114407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Envoi par mail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54597" y="4459963"/>
            <a:ext cx="100250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Outlook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094232" y="4568070"/>
            <a:ext cx="1123355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49508" y="444246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595729" y="4318039"/>
            <a:ext cx="99417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FINALITÉ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327125" y="4397216"/>
            <a:ext cx="153150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Dispatch entre partenaires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461189" y="4499492"/>
            <a:ext cx="126337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Appli bancaire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531198" y="4607601"/>
            <a:ext cx="1123355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2920" y="5837872"/>
            <a:ext cx="167056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Facturation partenaire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533174" y="5704403"/>
            <a:ext cx="95345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ENTRÉE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61699" y="5783580"/>
            <a:ext cx="169640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Valorisation de la main-d'œuvre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576751" y="5931575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← DAF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339578" y="5996226"/>
            <a:ext cx="1340644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42316" y="583692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889064" y="5752148"/>
            <a:ext cx="127075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Facture partenaire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009078" y="5854422"/>
            <a:ext cx="10307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961215" y="5962531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56916" y="583692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65908" y="5752148"/>
            <a:ext cx="154626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Activation de la facturation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512129" y="5854422"/>
            <a:ext cx="105382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E-Project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97592" y="5962531"/>
            <a:ext cx="1283017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int/ext TODO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271516" y="583692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56614" y="5810963"/>
            <a:ext cx="99417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FINALITÉ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925764" y="5890140"/>
            <a:ext cx="125587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Partenaire facturé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44990" y="6644640"/>
            <a:ext cx="118991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30696" y="358140"/>
            <a:ext cx="561617" cy="144779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30696" y="563880"/>
            <a:ext cx="537328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805940"/>
            <a:ext cx="11506200" cy="16002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813560"/>
            <a:ext cx="30480" cy="1584961"/>
          </a:xfrm>
          <a:prstGeom prst="roundRect">
            <a:avLst>
              <a:gd name="adj" fmla="val 50000"/>
            </a:avLst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897380"/>
            <a:ext cx="1158240" cy="1417318"/>
          </a:xfrm>
          <a:prstGeom prst="roundRect">
            <a:avLst>
              <a:gd name="adj" fmla="val 6578"/>
            </a:avLst>
          </a:prstGeom>
          <a:solidFill>
            <a:srgbClr val="3A6BE5">
              <a:alpha val="8000"/>
            </a:srgbClr>
          </a:solidFill>
          <a:ln w="7620">
            <a:solidFill>
              <a:srgbClr val="3A6BE5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98820" y="2461856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69380" y="2461856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9940" y="2461856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76560" y="1897380"/>
            <a:ext cx="1158241" cy="1417318"/>
          </a:xfrm>
          <a:prstGeom prst="roundRect">
            <a:avLst>
              <a:gd name="adj" fmla="val 6578"/>
            </a:avLst>
          </a:prstGeom>
          <a:solidFill>
            <a:srgbClr val="3A6BE5">
              <a:alpha val="15000"/>
            </a:srgbClr>
          </a:solidFill>
          <a:ln w="7620">
            <a:solidFill>
              <a:srgbClr val="3A6BE5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" y="4229099"/>
            <a:ext cx="11506200" cy="1600202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0520" y="4236719"/>
            <a:ext cx="30480" cy="1584963"/>
          </a:xfrm>
          <a:prstGeom prst="roundRect">
            <a:avLst>
              <a:gd name="adj" fmla="val 50000"/>
            </a:avLst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0" y="4320541"/>
            <a:ext cx="1158240" cy="1417318"/>
          </a:xfrm>
          <a:prstGeom prst="roundRect">
            <a:avLst>
              <a:gd name="adj" fmla="val 6578"/>
            </a:avLst>
          </a:prstGeom>
          <a:solidFill>
            <a:srgbClr val="3A6BE5">
              <a:alpha val="8000"/>
            </a:srgbClr>
          </a:solidFill>
          <a:ln w="7620">
            <a:solidFill>
              <a:srgbClr val="3A6BE5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70734" y="4885017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41294" y="4885017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11855" y="4885017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82415" y="4885017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52975" y="4885017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23534" y="4885017"/>
            <a:ext cx="743903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13157" y="4885017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83717" y="4885017"/>
            <a:ext cx="809149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576560" y="4320541"/>
            <a:ext cx="1158241" cy="1417318"/>
          </a:xfrm>
          <a:prstGeom prst="roundRect">
            <a:avLst>
              <a:gd name="adj" fmla="val 6578"/>
            </a:avLst>
          </a:prstGeom>
          <a:solidFill>
            <a:srgbClr val="3A6BE5">
              <a:alpha val="15000"/>
            </a:srgbClr>
          </a:solidFill>
          <a:ln w="7620">
            <a:solidFill>
              <a:srgbClr val="3A6BE5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" y="312419"/>
            <a:ext cx="278546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MÉTHODES &amp; BIM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" y="457200"/>
            <a:ext cx="2971205" cy="3657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Méthodes &amp; BIM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" y="847249"/>
            <a:ext cx="1966555" cy="1523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Missions et outils rattachés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3274" y="361950"/>
            <a:ext cx="148375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11 outils rattachés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6376" y="373380"/>
            <a:ext cx="1110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2 missions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8985" y="567690"/>
            <a:ext cx="160591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6376" y="579120"/>
            <a:ext cx="108596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1 échange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2534603"/>
            <a:ext cx="180713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Production de maquettes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51792" y="2507695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3A6BE5"/>
                </a:solidFill>
                <a:latin typeface="Calibri"/>
              </a:rPr>
              <a:t>DÉBUT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16073" y="2586872"/>
            <a:ext cx="983694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38356" y="253365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82007" y="2499955"/>
            <a:ext cx="105834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41883" y="2608065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5071" y="2499955"/>
            <a:ext cx="9933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Civil 3D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2443" y="2608065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6948" y="2499955"/>
            <a:ext cx="89082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Revit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83003" y="2608065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75476" y="253365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58595" y="2507695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3A6BE5"/>
                </a:solidFill>
                <a:latin typeface="Calibri"/>
              </a:rPr>
              <a:t>FINALITÉ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92991" y="2586872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957761"/>
            <a:ext cx="1713905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des maquettes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51792" y="4930854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3A6BE5"/>
                </a:solidFill>
                <a:latin typeface="Calibri"/>
              </a:rPr>
              <a:t>DÉBUT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16073" y="5010033"/>
            <a:ext cx="983694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38356" y="495681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37610" y="4923116"/>
            <a:ext cx="109108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Anaconda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13798" y="5031226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97336" y="4923116"/>
            <a:ext cx="111275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BIM Vision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4358" y="5031226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15997" y="4923116"/>
            <a:ext cx="1016556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Inventor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54918" y="5031226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7041" y="4923116"/>
            <a:ext cx="89546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QGIS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25478" y="5031226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96514" y="4923116"/>
            <a:ext cx="113764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Simple BIM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96038" y="5031226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56834" y="4923116"/>
            <a:ext cx="127730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Sofistik Bridge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26129" y="5031226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59078" y="4923116"/>
            <a:ext cx="113299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95392" y="5031226"/>
            <a:ext cx="106037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17017" y="4923116"/>
            <a:ext cx="134254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18935" y="5031226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75476" y="495681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8595" y="4930854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3A6BE5"/>
                </a:solidFill>
                <a:latin typeface="Calibri"/>
              </a:rPr>
              <a:t>FINALITÉ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92991" y="5010033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44990" y="6644640"/>
            <a:ext cx="1189911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8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81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074421"/>
            <a:ext cx="11506200" cy="838198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082041"/>
            <a:ext cx="30480" cy="822959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165860"/>
            <a:ext cx="1524000" cy="655322"/>
          </a:xfrm>
          <a:prstGeom prst="roundRect">
            <a:avLst>
              <a:gd name="adj" fmla="val 11627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05200" y="1165860"/>
            <a:ext cx="1524000" cy="655322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1600" y="1165860"/>
            <a:ext cx="1524000" cy="655322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165860"/>
            <a:ext cx="1524000" cy="655322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34400" y="1165860"/>
            <a:ext cx="1524000" cy="655322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10801" y="1165860"/>
            <a:ext cx="1524000" cy="655322"/>
          </a:xfrm>
          <a:prstGeom prst="roundRect">
            <a:avLst>
              <a:gd name="adj" fmla="val 11627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2900" y="2004062"/>
            <a:ext cx="11506200" cy="838198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0520" y="2011682"/>
            <a:ext cx="30480" cy="822959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28800" y="2095500"/>
            <a:ext cx="1859280" cy="655318"/>
          </a:xfrm>
          <a:prstGeom prst="roundRect">
            <a:avLst>
              <a:gd name="adj" fmla="val 11627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40480" y="2095500"/>
            <a:ext cx="1859280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52160" y="2095500"/>
            <a:ext cx="1859280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63841" y="2095500"/>
            <a:ext cx="1859279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1" y="2095500"/>
            <a:ext cx="1859280" cy="655318"/>
          </a:xfrm>
          <a:prstGeom prst="roundRect">
            <a:avLst>
              <a:gd name="adj" fmla="val 11627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8860" y="2331245"/>
            <a:ext cx="1752600" cy="175021"/>
          </a:xfrm>
          <a:prstGeom prst="roundRect">
            <a:avLst>
              <a:gd name="adj" fmla="val 50000"/>
            </a:avLst>
          </a:prstGeom>
          <a:solidFill>
            <a:srgbClr val="A9761A">
              <a:alpha val="14000"/>
            </a:srgbClr>
          </a:solidFill>
          <a:ln w="7620">
            <a:solidFill>
              <a:srgbClr val="A9761A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28860" y="2544365"/>
            <a:ext cx="1752600" cy="175021"/>
          </a:xfrm>
          <a:prstGeom prst="roundRect">
            <a:avLst>
              <a:gd name="adj" fmla="val 50000"/>
            </a:avLst>
          </a:prstGeom>
          <a:solidFill>
            <a:srgbClr val="5B57D6">
              <a:alpha val="14000"/>
            </a:srgbClr>
          </a:solidFill>
          <a:ln w="7620">
            <a:solidFill>
              <a:srgbClr val="5B57D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" y="2933698"/>
            <a:ext cx="11506200" cy="838202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0520" y="2941318"/>
            <a:ext cx="30480" cy="822963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828800" y="3025140"/>
            <a:ext cx="1859280" cy="655318"/>
          </a:xfrm>
          <a:prstGeom prst="roundRect">
            <a:avLst>
              <a:gd name="adj" fmla="val 11627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840480" y="3025140"/>
            <a:ext cx="1859280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852160" y="3025140"/>
            <a:ext cx="1859280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1" y="3025140"/>
            <a:ext cx="1859279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75521" y="3025140"/>
            <a:ext cx="1859280" cy="655318"/>
          </a:xfrm>
          <a:prstGeom prst="roundRect">
            <a:avLst>
              <a:gd name="adj" fmla="val 11627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28860" y="3367445"/>
            <a:ext cx="1752600" cy="175021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42900" y="3863339"/>
            <a:ext cx="11506200" cy="838202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0520" y="3870959"/>
            <a:ext cx="30480" cy="822963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828800" y="3954781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343400" y="3954781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0" y="3954781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72600" y="3954781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25940" y="4297086"/>
            <a:ext cx="2255521" cy="175021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42900" y="4792979"/>
            <a:ext cx="11506200" cy="838202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0520" y="4800599"/>
            <a:ext cx="30480" cy="822963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828800" y="4884421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882140" y="5226726"/>
            <a:ext cx="2255520" cy="175021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343400" y="4884421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0" y="4884421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72600" y="4884421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2900" y="5722620"/>
            <a:ext cx="11506200" cy="838202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520" y="5730240"/>
            <a:ext cx="30480" cy="822959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828800" y="5814062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343400" y="5814062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858000" y="5814062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372600" y="5814062"/>
            <a:ext cx="2362200" cy="655318"/>
          </a:xfrm>
          <a:prstGeom prst="roundRect">
            <a:avLst>
              <a:gd name="adj" fmla="val 11627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2900" y="312421"/>
            <a:ext cx="232505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TRAVAUX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2900" y="457198"/>
            <a:ext cx="1795462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Travaux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" y="847249"/>
            <a:ext cx="2109073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7792" y="361948"/>
            <a:ext cx="148875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14 outils rattachés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0894" y="373380"/>
            <a:ext cx="1110258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6 missions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28985" y="567692"/>
            <a:ext cx="160591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10894" y="579120"/>
            <a:ext cx="113145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5 échanges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1365885"/>
            <a:ext cx="166520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 chantier 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1478281"/>
            <a:ext cx="110180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imprévus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14074" y="1395176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66900" y="1474351"/>
            <a:ext cx="14630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Relevé terrain · </a:t>
            </a:r>
            <a:r>
              <a:rPr sz="53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04116" y="142113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4497" y="1336359"/>
            <a:ext cx="134540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Constats et réserves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24037" y="1438632"/>
            <a:ext cx="1086327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7843" y="1546742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80516" y="142113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95186" y="1336359"/>
            <a:ext cx="129682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Plans et maquettes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72326" y="1438632"/>
            <a:ext cx="134254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74243" y="1546742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56916" y="142113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2768" y="1336359"/>
            <a:ext cx="143446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Diffusion documentaire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53501" y="1438632"/>
            <a:ext cx="113299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89815" y="1546742"/>
            <a:ext cx="1060371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33316" y="142113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79181" y="1336359"/>
            <a:ext cx="123444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Suivi d'exécution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43963" y="1438632"/>
            <a:ext cx="904874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27044" y="1546742"/>
            <a:ext cx="1138713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09716" y="142113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75714" y="1395176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19479" y="1474351"/>
            <a:ext cx="170652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Chantier piloté, imprévus tracés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920" y="2295525"/>
            <a:ext cx="1642586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Avancement et jalons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2407921"/>
            <a:ext cx="1048822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chantier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81714" y="2324813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03834" y="2403992"/>
            <a:ext cx="130921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Avancement terrain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39396" y="235077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27909" y="2265999"/>
            <a:ext cx="108442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Planification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10526" y="2368273"/>
            <a:ext cx="111906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MS Project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00763" y="2476382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51076" y="235077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68259" y="2265999"/>
            <a:ext cx="142708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Adhérence au planning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41031" y="2368273"/>
            <a:ext cx="88142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MMS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18515" y="2476382"/>
            <a:ext cx="112645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762755" y="235077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4119" y="2265999"/>
            <a:ext cx="119860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Tableau de bord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71153" y="2368273"/>
            <a:ext cx="1044535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69367" y="2476382"/>
            <a:ext cx="104810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74436" y="235077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308074" y="2111692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57354" y="2190867"/>
            <a:ext cx="1095613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Jalons tenus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330101" y="2338864"/>
            <a:ext cx="95011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→ Contrat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066497" y="2403513"/>
            <a:ext cx="1477327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08312" y="2551984"/>
            <a:ext cx="993577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→ Direction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254854" y="2616637"/>
            <a:ext cx="1100614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Récolte des KPI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2920" y="3225166"/>
            <a:ext cx="1580078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Commande matériel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0" y="3337562"/>
            <a:ext cx="1048822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chantier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81714" y="3254453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5866" y="3333632"/>
            <a:ext cx="118502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Besoin matériel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39396" y="3280411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90035" y="3195636"/>
            <a:ext cx="1360170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Demande de matériel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285060" y="3297913"/>
            <a:ext cx="97000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Traktor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06836" y="3406022"/>
            <a:ext cx="112645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51076" y="3280411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083142" y="3195636"/>
            <a:ext cx="1397198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Coffrage, grue, engins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54115" y="3297913"/>
            <a:ext cx="105537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18515" y="3406022"/>
            <a:ext cx="112645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762755" y="3280411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150661" y="3195636"/>
            <a:ext cx="1285518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Bon de commande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36399" y="3297913"/>
            <a:ext cx="91404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4123" y="3406022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774436" y="3280411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308074" y="3147893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061734" y="3227072"/>
            <a:ext cx="148685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Matériel mobilisé sur site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372011" y="3375065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01394" y="3439714"/>
            <a:ext cx="1207413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Contrôle budgétaire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" y="4154806"/>
            <a:ext cx="1606391" cy="24955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Commande de main-d'œuvre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533174" y="4184094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277189" y="4263272"/>
            <a:ext cx="146530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Besoin en main-d'œuvre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242316" y="4210051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892873" y="4125276"/>
            <a:ext cx="1263253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Demande par mail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3247" y="4227554"/>
            <a:ext cx="1002506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Outlook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962763" y="4335659"/>
            <a:ext cx="1123355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756916" y="4210051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246858" y="4223624"/>
            <a:ext cx="15844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Contact de la boîte d'intérim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271516" y="4210051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056614" y="4077533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743242" y="4156708"/>
            <a:ext cx="1620917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Personnel affecté au chantier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20551" y="4304705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826347" y="4369354"/>
            <a:ext cx="1454586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Gestion du personnel et paye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02920" y="5085753"/>
            <a:ext cx="1572697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02920" y="5228628"/>
            <a:ext cx="1540431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CONJOINT AVEC LA DAF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533174" y="5007174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234803" y="5086349"/>
            <a:ext cx="1550194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Dépenses chantier (PC100)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576751" y="5234346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← DAF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406134" y="5298995"/>
            <a:ext cx="1207413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Contrôle budgétaire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242316" y="51396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42510" y="5054917"/>
            <a:ext cx="1363861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Ventilation par atelier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072063" y="5157190"/>
            <a:ext cx="904875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955143" y="5265300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56916" y="51396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392472" y="5054917"/>
            <a:ext cx="1293256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Analyse des écarts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586662" y="5157190"/>
            <a:ext cx="904875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69743" y="5265300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271516" y="51396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6614" y="5113734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741456" y="5192909"/>
            <a:ext cx="1624489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Arbitrage budgétaire chantier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02920" y="6014083"/>
            <a:ext cx="1722596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des contrats et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2920" y="6126479"/>
            <a:ext cx="109120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avenants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533174" y="6043375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35912" y="6122550"/>
            <a:ext cx="947857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Avenant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242316" y="606933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019556" y="5984557"/>
            <a:ext cx="1009888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Rédaction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075277" y="6086831"/>
            <a:ext cx="898446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955143" y="6194940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756916" y="606933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416761" y="5984557"/>
            <a:ext cx="1244559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Validation interne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512129" y="6086831"/>
            <a:ext cx="1053823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475816" y="6194940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271516" y="606933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6614" y="6043375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982915" y="6122550"/>
            <a:ext cx="1141571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Avenant signé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44990" y="6644640"/>
            <a:ext cx="1189911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8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81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200151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207771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291589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0F8FA8">
              <a:alpha val="8000"/>
            </a:srgbClr>
          </a:solidFill>
          <a:ln w="7620">
            <a:solidFill>
              <a:srgbClr val="0F8FA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05200" y="1291589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1600" y="1291589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291589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34400" y="1291589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10801" y="1291589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0F8FA8">
              <a:alpha val="15000"/>
            </a:srgbClr>
          </a:solidFill>
          <a:ln w="7620">
            <a:solidFill>
              <a:srgbClr val="0F8FA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2900" y="3017521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0520" y="3025140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28800" y="310895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0F8FA8">
              <a:alpha val="8000"/>
            </a:srgbClr>
          </a:solidFill>
          <a:ln w="7620">
            <a:solidFill>
              <a:srgbClr val="0F8FA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400" y="310895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0" y="310895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72600" y="310895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0F8FA8">
              <a:alpha val="15000"/>
            </a:srgbClr>
          </a:solidFill>
          <a:ln w="7620">
            <a:solidFill>
              <a:srgbClr val="0F8FA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425940" y="3725703"/>
            <a:ext cx="2255521" cy="175021"/>
          </a:xfrm>
          <a:prstGeom prst="roundRect">
            <a:avLst>
              <a:gd name="adj" fmla="val 50000"/>
            </a:avLst>
          </a:prstGeom>
          <a:solidFill>
            <a:srgbClr val="5B57D6">
              <a:alpha val="14000"/>
            </a:srgbClr>
          </a:solidFill>
          <a:ln w="7620">
            <a:solidFill>
              <a:srgbClr val="5B57D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25940" y="3938827"/>
            <a:ext cx="2255521" cy="175021"/>
          </a:xfrm>
          <a:prstGeom prst="roundRect">
            <a:avLst>
              <a:gd name="adj" fmla="val 50000"/>
            </a:avLst>
          </a:prstGeom>
          <a:solidFill>
            <a:srgbClr val="A9761A">
              <a:alpha val="14000"/>
            </a:srgbClr>
          </a:solidFill>
          <a:ln w="7620">
            <a:solidFill>
              <a:srgbClr val="A9761A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2900" y="4834890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0520" y="4842510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828800" y="492632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0F8FA8">
              <a:alpha val="8000"/>
            </a:srgbClr>
          </a:solidFill>
          <a:ln w="7620">
            <a:solidFill>
              <a:srgbClr val="0F8FA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43400" y="492632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492632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72600" y="492632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0F8FA8">
              <a:alpha val="15000"/>
            </a:srgbClr>
          </a:solidFill>
          <a:ln w="7620">
            <a:solidFill>
              <a:srgbClr val="0F8FA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25940" y="5649633"/>
            <a:ext cx="2255521" cy="175025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2900" y="312421"/>
            <a:ext cx="280558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TRAVAUX TUNNEL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" y="457198"/>
            <a:ext cx="275165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Travaux tunnel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" y="847249"/>
            <a:ext cx="2109073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7792" y="361948"/>
            <a:ext cx="1483757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11 outils rattachés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0894" y="373380"/>
            <a:ext cx="1110258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3 missions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28985" y="567692"/>
            <a:ext cx="160591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0894" y="579120"/>
            <a:ext cx="113145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5 échanges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1928812"/>
            <a:ext cx="1556980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Gestion de chantier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14074" y="1901905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ENTRÉE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66900" y="1981080"/>
            <a:ext cx="14630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Relevé terrain tunnel · </a:t>
            </a:r>
            <a:r>
              <a:rPr sz="53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4116" y="192785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75923" y="1843088"/>
            <a:ext cx="1382554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Réserves et contrôles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24037" y="1945362"/>
            <a:ext cx="1086327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97843" y="2053471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80516" y="192785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16974" y="1843088"/>
            <a:ext cx="125313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Plans d'exécution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14367" y="1945362"/>
            <a:ext cx="1058346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74243" y="2053471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56916" y="192785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1246" y="1843088"/>
            <a:ext cx="101738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Maquettes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8726" y="1945362"/>
            <a:ext cx="1342549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50643" y="2053471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33316" y="192785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9181" y="1843088"/>
            <a:ext cx="123444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Suivi d'exécution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43963" y="1945362"/>
            <a:ext cx="904874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27044" y="2053471"/>
            <a:ext cx="1138713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09716" y="192785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75714" y="1901905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FINALITÉ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7483" y="1981080"/>
            <a:ext cx="127063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Creusement piloté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3689984"/>
            <a:ext cx="1642586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Avancement et jalons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3802380"/>
            <a:ext cx="1048822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chantier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33174" y="3719275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ENTRÉE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66900" y="3798450"/>
            <a:ext cx="23012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Avancement tunnelier · </a:t>
            </a:r>
            <a:r>
              <a:rPr sz="530" b="1">
                <a:solidFill>
                  <a:srgbClr val="0D1526"/>
                </a:solidFill>
                <a:latin typeface="Calibri"/>
              </a:rPr>
              <a:t>YELLOW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42316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2289" y="3660458"/>
            <a:ext cx="108442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Planification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64907" y="3762732"/>
            <a:ext cx="1119068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MS Project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55143" y="3870841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56916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39739" y="3660458"/>
            <a:ext cx="119860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Tableau de bord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16773" y="3762732"/>
            <a:ext cx="1044536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4988" y="3870841"/>
            <a:ext cx="1048106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71516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6614" y="3506151"/>
            <a:ext cx="99417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FINALITÉ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95999" y="3585330"/>
            <a:ext cx="1315284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Jalons tunnel tenus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6852" y="3733323"/>
            <a:ext cx="993576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→ Direction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03393" y="3797976"/>
            <a:ext cx="1100614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Récolte des KPI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78640" y="3946447"/>
            <a:ext cx="95011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→ Contrat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15036" y="4011096"/>
            <a:ext cx="147732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5563552"/>
            <a:ext cx="1585317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Commande chantier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33174" y="5536645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ENTRÉE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66900" y="5615820"/>
            <a:ext cx="23012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Besoin — stock tunnel · </a:t>
            </a:r>
            <a:r>
              <a:rPr sz="530" b="1">
                <a:solidFill>
                  <a:srgbClr val="0D1526"/>
                </a:solidFill>
                <a:latin typeface="Calibri"/>
              </a:rPr>
              <a:t>GMAO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42316" y="55625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81681" y="5477828"/>
            <a:ext cx="128551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Bon de commande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67419" y="5580101"/>
            <a:ext cx="914043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55143" y="5688211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56916" y="55625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88781" y="5477828"/>
            <a:ext cx="130052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Matériel et coffrage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11415" y="5580101"/>
            <a:ext cx="1055370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75816" y="5688211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71516" y="55625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056614" y="5430085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FINALITÉ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87282" y="5509260"/>
            <a:ext cx="173271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Consommables et matériel livrés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20551" y="5657253"/>
            <a:ext cx="866299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49934" y="5721906"/>
            <a:ext cx="120741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Contrôle budgétaire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344990" y="6644640"/>
            <a:ext cx="1189911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8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81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200151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207771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291589"/>
            <a:ext cx="1859280" cy="1417322"/>
          </a:xfrm>
          <a:prstGeom prst="roundRect">
            <a:avLst>
              <a:gd name="adj" fmla="val 5376"/>
            </a:avLst>
          </a:prstGeom>
          <a:solidFill>
            <a:srgbClr val="0E9E78">
              <a:alpha val="8000"/>
            </a:srgbClr>
          </a:solidFill>
          <a:ln w="7620">
            <a:solidFill>
              <a:srgbClr val="0E9E7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0" y="1291589"/>
            <a:ext cx="185928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852160" y="1291589"/>
            <a:ext cx="185928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1" y="1291589"/>
            <a:ext cx="1859279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1" y="1291589"/>
            <a:ext cx="1859280" cy="1417322"/>
          </a:xfrm>
          <a:prstGeom prst="roundRect">
            <a:avLst>
              <a:gd name="adj" fmla="val 5376"/>
            </a:avLst>
          </a:prstGeom>
          <a:solidFill>
            <a:srgbClr val="0E9E78">
              <a:alpha val="15000"/>
            </a:srgbClr>
          </a:solidFill>
          <a:ln w="7620">
            <a:solidFill>
              <a:srgbClr val="0E9E7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" y="3017521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0520" y="3025140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0" y="310895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0E9E78">
              <a:alpha val="8000"/>
            </a:srgbClr>
          </a:solidFill>
          <a:ln w="7620">
            <a:solidFill>
              <a:srgbClr val="0E9E7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310895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0" y="310895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72600" y="3108959"/>
            <a:ext cx="2362200" cy="1417322"/>
          </a:xfrm>
          <a:prstGeom prst="roundRect">
            <a:avLst>
              <a:gd name="adj" fmla="val 5376"/>
            </a:avLst>
          </a:prstGeom>
          <a:solidFill>
            <a:srgbClr val="0E9E78">
              <a:alpha val="15000"/>
            </a:srgbClr>
          </a:solidFill>
          <a:ln w="7620">
            <a:solidFill>
              <a:srgbClr val="0E9E7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425940" y="3725703"/>
            <a:ext cx="2255521" cy="175021"/>
          </a:xfrm>
          <a:prstGeom prst="roundRect">
            <a:avLst>
              <a:gd name="adj" fmla="val 50000"/>
            </a:avLst>
          </a:prstGeom>
          <a:solidFill>
            <a:srgbClr val="3A6BE5">
              <a:alpha val="14000"/>
            </a:srgbClr>
          </a:solidFill>
          <a:ln w="7620">
            <a:solidFill>
              <a:srgbClr val="3A6BE5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425940" y="3938827"/>
            <a:ext cx="2255521" cy="175021"/>
          </a:xfrm>
          <a:prstGeom prst="roundRect">
            <a:avLst>
              <a:gd name="adj" fmla="val 50000"/>
            </a:avLst>
          </a:prstGeom>
          <a:solidFill>
            <a:srgbClr val="0F8FA8">
              <a:alpha val="14000"/>
            </a:srgbClr>
          </a:solidFill>
          <a:ln w="7620">
            <a:solidFill>
              <a:srgbClr val="0F8FA8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2900" y="4834890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0520" y="4842510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828800" y="4926329"/>
            <a:ext cx="3200400" cy="1417322"/>
          </a:xfrm>
          <a:prstGeom prst="roundRect">
            <a:avLst>
              <a:gd name="adj" fmla="val 5376"/>
            </a:avLst>
          </a:prstGeom>
          <a:solidFill>
            <a:srgbClr val="0E9E78">
              <a:alpha val="8000"/>
            </a:srgbClr>
          </a:solidFill>
          <a:ln w="7620">
            <a:solidFill>
              <a:srgbClr val="0E9E7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81600" y="4926329"/>
            <a:ext cx="32004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34400" y="4926329"/>
            <a:ext cx="3200401" cy="1417322"/>
          </a:xfrm>
          <a:prstGeom prst="roundRect">
            <a:avLst>
              <a:gd name="adj" fmla="val 5376"/>
            </a:avLst>
          </a:prstGeom>
          <a:solidFill>
            <a:srgbClr val="0E9E78">
              <a:alpha val="15000"/>
            </a:srgbClr>
          </a:solidFill>
          <a:ln w="7620">
            <a:solidFill>
              <a:srgbClr val="0E9E7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87740" y="5649633"/>
            <a:ext cx="3093721" cy="175025"/>
          </a:xfrm>
          <a:prstGeom prst="roundRect">
            <a:avLst>
              <a:gd name="adj" fmla="val 50000"/>
            </a:avLst>
          </a:prstGeom>
          <a:solidFill>
            <a:srgbClr val="0F8FA8">
              <a:alpha val="14000"/>
            </a:srgbClr>
          </a:solidFill>
          <a:ln w="7620">
            <a:solidFill>
              <a:srgbClr val="0F8FA8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" y="312421"/>
            <a:ext cx="2617351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TOPOGRAPHIE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" y="457198"/>
            <a:ext cx="244185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Topographie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" y="847249"/>
            <a:ext cx="2109073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07792" y="361948"/>
            <a:ext cx="143791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7 outils rattachés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0894" y="373380"/>
            <a:ext cx="1110258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3 missions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8985" y="567692"/>
            <a:ext cx="160591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0894" y="579120"/>
            <a:ext cx="113145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3 échanges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872614"/>
            <a:ext cx="1778675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Acquisition et traitement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1985010"/>
            <a:ext cx="1640681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des nuages de points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1714" y="1901905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ENTRÉE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66900" y="1981080"/>
            <a:ext cx="179832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Acquisition des plans · </a:t>
            </a:r>
            <a:r>
              <a:rPr sz="53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39396" y="192785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71461" y="1843088"/>
            <a:ext cx="139731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Exploitation des plans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8845" y="1945362"/>
            <a:ext cx="1342549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0763" y="2053471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51076" y="192785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30265" y="1843088"/>
            <a:ext cx="170295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Assemblage des scans chantier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4830" y="1945362"/>
            <a:ext cx="1053941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La Scene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0291" y="2053471"/>
            <a:ext cx="128301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int/ext TODO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2755" y="192785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2543" y="1843088"/>
            <a:ext cx="166175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Création des nuages de points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7465" y="1945362"/>
            <a:ext cx="1011912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51971" y="2053471"/>
            <a:ext cx="128301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int/ext TODO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74436" y="192785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08074" y="1901905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FINALITÉ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17086" y="1981080"/>
            <a:ext cx="1576030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Nuage de points exploitable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3689984"/>
            <a:ext cx="1841064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Reporting et diffusion des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3802380"/>
            <a:ext cx="92987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plans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33174" y="3719275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ENTRÉE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66900" y="3798450"/>
            <a:ext cx="23012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Ouverture des plans · </a:t>
            </a:r>
            <a:r>
              <a:rPr sz="53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2316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25923" y="3660458"/>
            <a:ext cx="199703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Assemblage et vérification de conformité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22996" y="3762732"/>
            <a:ext cx="1202889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22163" y="3870841"/>
            <a:ext cx="120467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int/ext TODO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56916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77708" y="3660458"/>
            <a:ext cx="132266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Rapport de contrôle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6662" y="3762732"/>
            <a:ext cx="904875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69743" y="3870841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71516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6614" y="3506151"/>
            <a:ext cx="99417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FINALITÉ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32169" y="3585330"/>
            <a:ext cx="164294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Rapport de conformité diffusé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3746" y="3733323"/>
            <a:ext cx="1179790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3A6BE5"/>
                </a:solidFill>
                <a:latin typeface="Calibri"/>
              </a:rPr>
              <a:t>→ Méthodes &amp; BIM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09453" y="3797976"/>
            <a:ext cx="1288375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3A6BE5"/>
                </a:solidFill>
                <a:latin typeface="Calibri"/>
              </a:rPr>
              <a:t>Gestion des maquettes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82438" y="3946447"/>
            <a:ext cx="1142404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0F8FA8"/>
                </a:solidFill>
                <a:latin typeface="Calibri"/>
              </a:rPr>
              <a:t>→ Travaux tunnel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4221" y="4011096"/>
            <a:ext cx="1198840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0F8FA8"/>
                </a:solidFill>
                <a:latin typeface="Calibri"/>
              </a:rPr>
              <a:t>Gestion de chantier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5563552"/>
            <a:ext cx="1619369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Guidage du tunnelier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52274" y="5536645"/>
            <a:ext cx="953453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ENTRÉE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52725" y="5615820"/>
            <a:ext cx="1352431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Position du tunnelier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80516" y="55625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27790" y="5477828"/>
            <a:ext cx="130802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Guidage temps réel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41031" y="5580101"/>
            <a:ext cx="881538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Pixis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9463" y="5688211"/>
            <a:ext cx="120467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int/ext TODO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33316" y="55625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37514" y="5430085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FINALITÉ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79982" y="5509260"/>
            <a:ext cx="150923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Tracé guidé en temps réel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63338" y="5657253"/>
            <a:ext cx="1142404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0F8FA8"/>
                </a:solidFill>
                <a:latin typeface="Calibri"/>
              </a:rPr>
              <a:t>→ Travaux tunnel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95936" y="5721906"/>
            <a:ext cx="1477328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0F8FA8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344990" y="6644640"/>
            <a:ext cx="1189911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30696" y="358140"/>
            <a:ext cx="561617" cy="14478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30696" y="563880"/>
            <a:ext cx="537328" cy="144781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074421"/>
            <a:ext cx="11506200" cy="838198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082041"/>
            <a:ext cx="30480" cy="822959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165860"/>
            <a:ext cx="1158240" cy="655322"/>
          </a:xfrm>
          <a:prstGeom prst="roundRect">
            <a:avLst>
              <a:gd name="adj" fmla="val 11627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16053" y="1349336"/>
            <a:ext cx="859512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21285" y="1349336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1846" y="1349336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62406" y="1349336"/>
            <a:ext cx="624839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32966" y="1349336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C2456A">
              <a:alpha val="10000"/>
            </a:srgbClr>
          </a:solidFill>
          <a:ln w="7620">
            <a:solidFill>
              <a:srgbClr val="C2456A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03526" y="1349336"/>
            <a:ext cx="743902" cy="288248"/>
          </a:xfrm>
          <a:prstGeom prst="roundRect">
            <a:avLst>
              <a:gd name="adj" fmla="val 26435"/>
            </a:avLst>
          </a:prstGeom>
          <a:solidFill>
            <a:srgbClr val="C2456A">
              <a:alpha val="10000"/>
            </a:srgbClr>
          </a:solidFill>
          <a:ln w="7620">
            <a:solidFill>
              <a:srgbClr val="C2456A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76560" y="1165860"/>
            <a:ext cx="1158241" cy="655322"/>
          </a:xfrm>
          <a:prstGeom prst="roundRect">
            <a:avLst>
              <a:gd name="adj" fmla="val 11627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2900" y="2004062"/>
            <a:ext cx="11506200" cy="838198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0520" y="2011682"/>
            <a:ext cx="30480" cy="822959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28800" y="2095500"/>
            <a:ext cx="1158240" cy="655318"/>
          </a:xfrm>
          <a:prstGeom prst="roundRect">
            <a:avLst>
              <a:gd name="adj" fmla="val 11627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946" y="2278976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12506" y="2278976"/>
            <a:ext cx="809148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576560" y="2095500"/>
            <a:ext cx="1158241" cy="655318"/>
          </a:xfrm>
          <a:prstGeom prst="roundRect">
            <a:avLst>
              <a:gd name="adj" fmla="val 11627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2900" y="2933698"/>
            <a:ext cx="11506200" cy="838202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0520" y="2941318"/>
            <a:ext cx="30480" cy="822963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828800" y="3025140"/>
            <a:ext cx="1158240" cy="655318"/>
          </a:xfrm>
          <a:prstGeom prst="roundRect">
            <a:avLst>
              <a:gd name="adj" fmla="val 11627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39289" y="3208617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9849" y="3208617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C2456A">
              <a:alpha val="10000"/>
            </a:srgbClr>
          </a:solidFill>
          <a:ln w="7620">
            <a:solidFill>
              <a:srgbClr val="C2456A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80409" y="3208617"/>
            <a:ext cx="743902" cy="288248"/>
          </a:xfrm>
          <a:prstGeom prst="roundRect">
            <a:avLst>
              <a:gd name="adj" fmla="val 26435"/>
            </a:avLst>
          </a:prstGeom>
          <a:solidFill>
            <a:srgbClr val="C2456A">
              <a:alpha val="10000"/>
            </a:srgbClr>
          </a:solidFill>
          <a:ln w="7620">
            <a:solidFill>
              <a:srgbClr val="C2456A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76560" y="3025140"/>
            <a:ext cx="1158241" cy="655318"/>
          </a:xfrm>
          <a:prstGeom prst="roundRect">
            <a:avLst>
              <a:gd name="adj" fmla="val 11627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2900" y="3863339"/>
            <a:ext cx="11506200" cy="838202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0520" y="3870959"/>
            <a:ext cx="30480" cy="822963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828800" y="3954781"/>
            <a:ext cx="1158240" cy="655318"/>
          </a:xfrm>
          <a:prstGeom prst="roundRect">
            <a:avLst>
              <a:gd name="adj" fmla="val 11627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13853" y="4138257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84413" y="4138257"/>
            <a:ext cx="1023461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3595" y="4138257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524155" y="4138257"/>
            <a:ext cx="925592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576560" y="3954781"/>
            <a:ext cx="1158241" cy="655318"/>
          </a:xfrm>
          <a:prstGeom prst="roundRect">
            <a:avLst>
              <a:gd name="adj" fmla="val 11627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2900" y="4792979"/>
            <a:ext cx="11506200" cy="838202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50520" y="4800599"/>
            <a:ext cx="30480" cy="822963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828800" y="4884421"/>
            <a:ext cx="1158240" cy="655318"/>
          </a:xfrm>
          <a:prstGeom prst="roundRect">
            <a:avLst>
              <a:gd name="adj" fmla="val 11627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25076" y="5067894"/>
            <a:ext cx="913448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576560" y="4884421"/>
            <a:ext cx="1158241" cy="655318"/>
          </a:xfrm>
          <a:prstGeom prst="roundRect">
            <a:avLst>
              <a:gd name="adj" fmla="val 11627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42900" y="5722620"/>
            <a:ext cx="11506200" cy="838202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520" y="5730240"/>
            <a:ext cx="30480" cy="822959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828800" y="5814062"/>
            <a:ext cx="1158240" cy="655315"/>
          </a:xfrm>
          <a:prstGeom prst="roundRect">
            <a:avLst>
              <a:gd name="adj" fmla="val 11628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69380" y="5997534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576560" y="5814062"/>
            <a:ext cx="1158241" cy="655315"/>
          </a:xfrm>
          <a:prstGeom prst="roundRect">
            <a:avLst>
              <a:gd name="adj" fmla="val 11628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2900" y="312421"/>
            <a:ext cx="341137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QUALITÉ &amp; ENVIRONNEMENT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2900" y="457198"/>
            <a:ext cx="418683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" y="847249"/>
            <a:ext cx="1966555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Missions et outils rattachés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53274" y="361948"/>
            <a:ext cx="148875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14 outils rattachés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6376" y="373380"/>
            <a:ext cx="1110258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6 missions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8985" y="567692"/>
            <a:ext cx="160591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6376" y="579120"/>
            <a:ext cx="108596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0 échange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1422083"/>
            <a:ext cx="1395651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Contrôle qualité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1792" y="1395176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45231" y="1474351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38356" y="142113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53784" y="1387435"/>
            <a:ext cx="983932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CEMEX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49353" y="1495544"/>
            <a:ext cx="1392912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alim. TODO · int/ext TODO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90542" y="1387435"/>
            <a:ext cx="1086327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64349" y="1495544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51828" y="1387435"/>
            <a:ext cx="904875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34909" y="1495544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08326" y="1387435"/>
            <a:ext cx="1132999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44640" y="1495544"/>
            <a:ext cx="106037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23058" y="1387435"/>
            <a:ext cx="1044536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21272" y="1495544"/>
            <a:ext cx="104810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36825" y="1387435"/>
            <a:ext cx="1277303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12192" y="1495544"/>
            <a:ext cx="112645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75476" y="142113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58595" y="1395176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92991" y="1474351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2351723"/>
            <a:ext cx="1796177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MaD et levées de réserve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51792" y="2324813"/>
            <a:ext cx="912257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45231" y="2403992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38356" y="235077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11203" y="2317075"/>
            <a:ext cx="1086326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85009" y="2425184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45806" y="2317075"/>
            <a:ext cx="1342549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47723" y="2425184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75476" y="235077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58595" y="2324813"/>
            <a:ext cx="994171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92991" y="2403992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" y="3281364"/>
            <a:ext cx="168211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Suivi environnemental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51792" y="3254453"/>
            <a:ext cx="912257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45231" y="3333632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38356" y="3280411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78185" y="3246716"/>
            <a:ext cx="114692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PowerPoint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2352" y="3354825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99942" y="3246716"/>
            <a:ext cx="1044535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98156" y="3354825"/>
            <a:ext cx="104810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13709" y="3246716"/>
            <a:ext cx="127730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89075" y="3354825"/>
            <a:ext cx="112645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75476" y="3280411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58595" y="3254453"/>
            <a:ext cx="994171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92991" y="3333632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2920" y="4211004"/>
            <a:ext cx="1839040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Suivi des consommations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1792" y="4184094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45231" y="4263272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038356" y="4210051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07399" y="4176356"/>
            <a:ext cx="103762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Lafarge+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96088" y="4284465"/>
            <a:ext cx="106037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17713" y="4176356"/>
            <a:ext cx="155686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Live Objects (Orange)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65959" y="4284465"/>
            <a:ext cx="1060371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36782" y="4176356"/>
            <a:ext cx="1058465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Lucee TP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96658" y="4284465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57454" y="4176356"/>
            <a:ext cx="145899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Sixense Monitoring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456765" y="4284465"/>
            <a:ext cx="106037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475476" y="4210051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658595" y="4184094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592991" y="4263272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02920" y="5140645"/>
            <a:ext cx="1599367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Gestion des déchets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51792" y="5113734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45231" y="5192909"/>
            <a:ext cx="1125379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38356" y="51396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058377" y="5105997"/>
            <a:ext cx="144684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12443" y="5214106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475476" y="51396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58595" y="5113734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592991" y="5192909"/>
            <a:ext cx="1125379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2920" y="6070281"/>
            <a:ext cx="1714857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Commande de matériel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951792" y="6043375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845231" y="6122553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038356" y="6069332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24719" y="6035637"/>
            <a:ext cx="914043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2443" y="6143746"/>
            <a:ext cx="1138714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475476" y="6069332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658595" y="6043375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592991" y="6122553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44990" y="6644636"/>
            <a:ext cx="118991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37"/>
            <a:ext cx="561617" cy="14478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76"/>
            <a:ext cx="582810" cy="144781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200147"/>
            <a:ext cx="11506200" cy="1600206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207771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291593"/>
            <a:ext cx="1524000" cy="1417315"/>
          </a:xfrm>
          <a:prstGeom prst="roundRect">
            <a:avLst>
              <a:gd name="adj" fmla="val 5376"/>
            </a:avLst>
          </a:prstGeom>
          <a:solidFill>
            <a:srgbClr val="D93025">
              <a:alpha val="8000"/>
            </a:srgbClr>
          </a:solidFill>
          <a:ln w="7620">
            <a:solidFill>
              <a:srgbClr val="D93025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82140" y="2014897"/>
            <a:ext cx="1417320" cy="175017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05200" y="1291593"/>
            <a:ext cx="1524000" cy="1417315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81600" y="1291593"/>
            <a:ext cx="1524000" cy="1417315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0" y="1291593"/>
            <a:ext cx="1524000" cy="1417315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34400" y="1291593"/>
            <a:ext cx="1524000" cy="1417315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10801" y="1291593"/>
            <a:ext cx="1524000" cy="1417315"/>
          </a:xfrm>
          <a:prstGeom prst="roundRect">
            <a:avLst>
              <a:gd name="adj" fmla="val 5376"/>
            </a:avLst>
          </a:prstGeom>
          <a:solidFill>
            <a:srgbClr val="D93025">
              <a:alpha val="15000"/>
            </a:srgbClr>
          </a:solidFill>
          <a:ln w="7620">
            <a:solidFill>
              <a:srgbClr val="D93025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" y="3017521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0520" y="3025137"/>
            <a:ext cx="30480" cy="1584966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28800" y="3108959"/>
            <a:ext cx="1284565" cy="1417322"/>
          </a:xfrm>
          <a:prstGeom prst="roundRect">
            <a:avLst>
              <a:gd name="adj" fmla="val 5931"/>
            </a:avLst>
          </a:prstGeom>
          <a:solidFill>
            <a:srgbClr val="D93025">
              <a:alpha val="8000"/>
            </a:srgbClr>
          </a:solidFill>
          <a:ln w="7620">
            <a:solidFill>
              <a:srgbClr val="D93025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65765" y="3108959"/>
            <a:ext cx="1284565" cy="1417322"/>
          </a:xfrm>
          <a:prstGeom prst="roundRect">
            <a:avLst>
              <a:gd name="adj" fmla="val 593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02731" y="3108959"/>
            <a:ext cx="1284566" cy="1417322"/>
          </a:xfrm>
          <a:prstGeom prst="roundRect">
            <a:avLst>
              <a:gd name="adj" fmla="val 593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39696" y="3108959"/>
            <a:ext cx="1284566" cy="1417322"/>
          </a:xfrm>
          <a:prstGeom prst="roundRect">
            <a:avLst>
              <a:gd name="adj" fmla="val 593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76661" y="3108959"/>
            <a:ext cx="1284565" cy="1417322"/>
          </a:xfrm>
          <a:prstGeom prst="roundRect">
            <a:avLst>
              <a:gd name="adj" fmla="val 593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3626" y="3108959"/>
            <a:ext cx="1284566" cy="1417322"/>
          </a:xfrm>
          <a:prstGeom prst="roundRect">
            <a:avLst>
              <a:gd name="adj" fmla="val 593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50592" y="3108959"/>
            <a:ext cx="1284565" cy="1417322"/>
          </a:xfrm>
          <a:prstGeom prst="roundRect">
            <a:avLst>
              <a:gd name="adj" fmla="val 5931"/>
            </a:avLst>
          </a:prstGeom>
          <a:solidFill>
            <a:srgbClr val="D93025">
              <a:alpha val="15000"/>
            </a:srgbClr>
          </a:solidFill>
          <a:ln w="7620">
            <a:solidFill>
              <a:srgbClr val="D93025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2900" y="4834887"/>
            <a:ext cx="11506200" cy="1600206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0520" y="4842510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28800" y="4926332"/>
            <a:ext cx="1859280" cy="1417315"/>
          </a:xfrm>
          <a:prstGeom prst="roundRect">
            <a:avLst>
              <a:gd name="adj" fmla="val 5376"/>
            </a:avLst>
          </a:prstGeom>
          <a:solidFill>
            <a:srgbClr val="D93025">
              <a:alpha val="8000"/>
            </a:srgbClr>
          </a:solidFill>
          <a:ln w="7620">
            <a:solidFill>
              <a:srgbClr val="D93025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40480" y="4926332"/>
            <a:ext cx="1859280" cy="1417315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852160" y="4926332"/>
            <a:ext cx="1859280" cy="1417315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63841" y="4926332"/>
            <a:ext cx="1859279" cy="1417315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1" y="4926332"/>
            <a:ext cx="1859280" cy="1417315"/>
          </a:xfrm>
          <a:prstGeom prst="roundRect">
            <a:avLst>
              <a:gd name="adj" fmla="val 5376"/>
            </a:avLst>
          </a:prstGeom>
          <a:solidFill>
            <a:srgbClr val="D93025">
              <a:alpha val="15000"/>
            </a:srgbClr>
          </a:solidFill>
          <a:ln w="7620">
            <a:solidFill>
              <a:srgbClr val="D93025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28860" y="5649637"/>
            <a:ext cx="1752600" cy="175017"/>
          </a:xfrm>
          <a:prstGeom prst="roundRect">
            <a:avLst>
              <a:gd name="adj" fmla="val 50000"/>
            </a:avLst>
          </a:prstGeom>
          <a:solidFill>
            <a:srgbClr val="5B57D6">
              <a:alpha val="14000"/>
            </a:srgbClr>
          </a:solidFill>
          <a:ln w="7620">
            <a:solidFill>
              <a:srgbClr val="5B57D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" y="312417"/>
            <a:ext cx="2372916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SÉCURITÉ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" y="457198"/>
            <a:ext cx="183987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Sécurité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" y="847249"/>
            <a:ext cx="2109073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7792" y="361948"/>
            <a:ext cx="1488758" cy="1371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10 outils rattachés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0894" y="373384"/>
            <a:ext cx="1110258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3 missions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8985" y="567688"/>
            <a:ext cx="1605915" cy="1371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0894" y="579123"/>
            <a:ext cx="113145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2 échanges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1872614"/>
            <a:ext cx="1607939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Accueil, formation 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1985010"/>
            <a:ext cx="1234440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habilitations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14074" y="1795345"/>
            <a:ext cx="953452" cy="838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ENTRÉE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03822" y="1874520"/>
            <a:ext cx="117383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Nouvel arrivant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57651" y="2022513"/>
            <a:ext cx="866299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← DAF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64281" y="2087162"/>
            <a:ext cx="1452920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Onboarding RH et formations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4116" y="1927863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9465" y="1843084"/>
            <a:ext cx="1855470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Accueil de site et formation au poste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8549" y="1945366"/>
            <a:ext cx="127730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915" y="2053471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80516" y="1927863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7057" y="1799514"/>
            <a:ext cx="183308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Habilitations élec. et autorisation 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61040" y="1886548"/>
            <a:ext cx="96512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conduite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4949" y="1988822"/>
            <a:ext cx="127730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80315" y="2096927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56916" y="1927863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7416" y="1843084"/>
            <a:ext cx="1345168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Suivi des formations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050" y="1945366"/>
            <a:ext cx="110978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By My Site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56715" y="2053471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3316" y="1927863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08815" y="1843084"/>
            <a:ext cx="137505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Dossier collaborateur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1306" y="1945366"/>
            <a:ext cx="151018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HR4YOU / Global HR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34664" y="2053471"/>
            <a:ext cx="1123355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09716" y="1927863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75714" y="1901902"/>
            <a:ext cx="994171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FINALITÉ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38172" y="1981084"/>
            <a:ext cx="166913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Collaborateur habilité au poste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3746186"/>
            <a:ext cx="1829991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Prévention et suivi terrain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4297" y="3719275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ENTRÉE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20810" y="3798450"/>
            <a:ext cx="150054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Terrain · ¼ heure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64681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94434" y="3660458"/>
            <a:ext cx="162722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Visite sécurité et ¼ h sécurité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69337" y="3762732"/>
            <a:ext cx="127730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44823" y="3870845"/>
            <a:ext cx="1126450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01647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66868" y="3660458"/>
            <a:ext cx="175617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Suivi IDV, addictions, organismes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29257" y="3762732"/>
            <a:ext cx="1631394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 Sécurité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83336" y="3870845"/>
            <a:ext cx="1123355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8612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65295" y="3660458"/>
            <a:ext cx="123324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Comptage tunnel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4957" y="3762732"/>
            <a:ext cx="91404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Lotus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0301" y="3870845"/>
            <a:ext cx="1123355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75578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01652" y="3660458"/>
            <a:ext cx="143446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Diffusion documentaire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52385" y="3762732"/>
            <a:ext cx="113299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88699" y="3870845"/>
            <a:ext cx="1060370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12543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8010" y="3660458"/>
            <a:ext cx="163568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Commande EPI et prestations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98888" y="3762732"/>
            <a:ext cx="91404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86493" y="3870845"/>
            <a:ext cx="1138714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49508" y="374522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95729" y="3719275"/>
            <a:ext cx="99417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FINALITÉ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34506" y="3798450"/>
            <a:ext cx="151673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Risques maîtrisés sur site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" y="5507354"/>
            <a:ext cx="1869043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Événements et indicateurs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" y="5619750"/>
            <a:ext cx="1043583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sécurité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81714" y="5536641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ENTRÉE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28813" y="5615824"/>
            <a:ext cx="165913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Événement ATB, AT, PAT, HIPO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739396" y="5562603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084439" y="5477824"/>
            <a:ext cx="137124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Reporting événement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06134" y="5580105"/>
            <a:ext cx="92797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Cority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08383" y="5688211"/>
            <a:ext cx="1123355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751076" y="5562603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10513" y="5477824"/>
            <a:ext cx="1542574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Volume d'heures exposées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70759" y="5580105"/>
            <a:ext cx="142208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Heures Travaillées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20063" y="5688211"/>
            <a:ext cx="1123355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62755" y="5562603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33874" y="5477824"/>
            <a:ext cx="131921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Indicateurs sécurité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271153" y="5580105"/>
            <a:ext cx="1044535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69367" y="5688211"/>
            <a:ext cx="1048107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774436" y="5562603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08074" y="5430085"/>
            <a:ext cx="994172" cy="838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FINALITÉ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35158" y="5509260"/>
            <a:ext cx="1940004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Taux de fréquence et de gravité publiés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308312" y="5657253"/>
            <a:ext cx="993577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→ Direction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4854" y="5721902"/>
            <a:ext cx="1100614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Récolte des KPI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302603" y="6644636"/>
            <a:ext cx="123229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0099" y="373376"/>
            <a:ext cx="60960" cy="60966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0099" y="510541"/>
            <a:ext cx="60960" cy="6095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0099" y="647698"/>
            <a:ext cx="60960" cy="6095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06759" y="373376"/>
            <a:ext cx="60960" cy="60966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6759" y="510541"/>
            <a:ext cx="60960" cy="60959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06759" y="647698"/>
            <a:ext cx="60960" cy="6095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927908" y="373376"/>
            <a:ext cx="60960" cy="60966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7908" y="510541"/>
            <a:ext cx="60960" cy="6095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27908" y="647698"/>
            <a:ext cx="60960" cy="60959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8061" y="373376"/>
            <a:ext cx="60961" cy="60966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03860" y="1448394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80586" y="1448394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17864" y="1415530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3860" y="1591512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0586" y="1591512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17864" y="1558648"/>
            <a:ext cx="663892" cy="12191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03860" y="1734622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780586" y="1734622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817864" y="1701758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03860" y="1877733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80586" y="1877733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17864" y="1844876"/>
            <a:ext cx="663892" cy="12191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3860" y="2020851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780586" y="2020851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17864" y="1987987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03860" y="2163961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80586" y="2163961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17864" y="2131097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3860" y="2307071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80586" y="2307071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817864" y="2274215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3860" y="2450189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80586" y="2450189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817864" y="2417326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03860" y="2593300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80586" y="2593300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817864" y="2560436"/>
            <a:ext cx="663892" cy="12191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3860" y="2736410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780586" y="2736410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17864" y="2703554"/>
            <a:ext cx="663892" cy="12191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3860" y="2879528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780586" y="2879528"/>
            <a:ext cx="53340" cy="53335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17864" y="2846664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3860" y="3022638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780586" y="3022638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817864" y="2989775"/>
            <a:ext cx="663892" cy="12191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03860" y="3165756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780586" y="3165756"/>
            <a:ext cx="53340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817864" y="3132893"/>
            <a:ext cx="473273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03860" y="3308867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780586" y="3308867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817864" y="3276003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03860" y="4015861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950250" y="4015861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03860" y="4158972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950250" y="4158972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03860" y="4302082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950250" y="4302082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03860" y="4445200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950250" y="4445200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03860" y="4588310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950250" y="4588310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03860" y="4731428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950250" y="4731428"/>
            <a:ext cx="53340" cy="53335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03860" y="4874539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950250" y="4874539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03860" y="5017649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950250" y="5017649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03860" y="5160767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950250" y="5160767"/>
            <a:ext cx="53340" cy="53335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03860" y="5303877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950250" y="5303877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03860" y="5446988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950250" y="5446988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03860" y="5590106"/>
            <a:ext cx="53340" cy="53335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950250" y="5590106"/>
            <a:ext cx="53340" cy="53335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03860" y="5733216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950250" y="5733216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03860" y="5876327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950250" y="5876327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03860" y="6019445"/>
            <a:ext cx="53340" cy="53335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950250" y="6019445"/>
            <a:ext cx="53340" cy="53335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03860" y="6162555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950250" y="6162555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03860" y="6305665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2950250" y="6305665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403860" y="6448783"/>
            <a:ext cx="53340" cy="53335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950250" y="6448783"/>
            <a:ext cx="53340" cy="53335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9014460" y="1028698"/>
            <a:ext cx="1383031" cy="524832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10466070" y="1028698"/>
            <a:ext cx="1383030" cy="524832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014460" y="1622105"/>
            <a:ext cx="1383031" cy="524832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0466070" y="1622105"/>
            <a:ext cx="1383030" cy="524832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9014460" y="2245999"/>
            <a:ext cx="2834640" cy="1799028"/>
          </a:xfrm>
          <a:prstGeom prst="roundRect">
            <a:avLst>
              <a:gd name="adj" fmla="val 6353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9151620" y="2974064"/>
            <a:ext cx="2560320" cy="68575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151620" y="2974064"/>
            <a:ext cx="1280160" cy="68575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431780" y="2974064"/>
            <a:ext cx="840105" cy="68575"/>
          </a:xfrm>
          <a:prstGeom prst="rect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1271885" y="2974064"/>
            <a:ext cx="440055" cy="68575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151620" y="3263619"/>
            <a:ext cx="2560320" cy="68582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151620" y="3263619"/>
            <a:ext cx="2000250" cy="68582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151870" y="3263619"/>
            <a:ext cx="360045" cy="68582"/>
          </a:xfrm>
          <a:prstGeom prst="rect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511915" y="3263619"/>
            <a:ext cx="200025" cy="68582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9151620" y="3553180"/>
            <a:ext cx="2560320" cy="68582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51620" y="3553180"/>
            <a:ext cx="1800225" cy="68582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951845" y="3553180"/>
            <a:ext cx="760095" cy="68582"/>
          </a:xfrm>
          <a:prstGeom prst="rect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014460" y="4144089"/>
            <a:ext cx="2834640" cy="2447327"/>
          </a:xfrm>
          <a:prstGeom prst="roundRect">
            <a:avLst>
              <a:gd name="adj" fmla="val 467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9151620" y="4524140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9151620" y="5016935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9151620" y="5509739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9151620" y="6002534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2900" y="312417"/>
            <a:ext cx="1239202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2900" y="457198"/>
            <a:ext cx="460331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Matrice des flux de données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42900" y="847249"/>
            <a:ext cx="4320778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Échanges relevés entre outils, et échanges entre missions décrits par le brief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32019" y="342897"/>
            <a:ext cx="1308139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Méthodes &amp; BIM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532019" y="480062"/>
            <a:ext cx="116443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Topographie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532019" y="617219"/>
            <a:ext cx="1250514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Travaux tunnel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428678" y="342897"/>
            <a:ext cx="988338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Travaux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428678" y="480062"/>
            <a:ext cx="97036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Contrat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28678" y="617219"/>
            <a:ext cx="103262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Direction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049828" y="342897"/>
            <a:ext cx="850344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DAF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049828" y="480062"/>
            <a:ext cx="164163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49828" y="617219"/>
            <a:ext cx="1001554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Sécurité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279982" y="342897"/>
            <a:ext cx="1254919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Socle commun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27660" y="1013458"/>
            <a:ext cx="8534401" cy="1523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630" b="1" spc="88">
                <a:solidFill>
                  <a:srgbClr val="33415C"/>
                </a:solidFill>
                <a:latin typeface="Calibri"/>
              </a:rPr>
              <a:t>FLUX APPLICATIFS — D'OUTIL À OUTIL </a:t>
            </a:r>
            <a:r>
              <a:rPr sz="570" b="1" spc="23">
                <a:solidFill>
                  <a:srgbClr val="78879F"/>
                </a:solidFill>
                <a:latin typeface="Calibri"/>
              </a:rPr>
              <a:t> · 14 relevés en entretien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3860" y="1272541"/>
            <a:ext cx="106072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SOURCE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80586" y="1272541"/>
            <a:ext cx="134028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DESTINATAIRE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817864" y="1272541"/>
            <a:ext cx="135231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921335" y="1272541"/>
            <a:ext cx="140219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OBJET DU FLUX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0" y="1413275"/>
            <a:ext cx="88868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57412" y="1402796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879646" y="1413275"/>
            <a:ext cx="1095613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35924" y="1423153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921335" y="1415537"/>
            <a:ext cx="1708309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Dépôt des tableaux de suivi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2920" y="1556385"/>
            <a:ext cx="88868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57412" y="1545906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79646" y="1556385"/>
            <a:ext cx="10179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535924" y="1566264"/>
            <a:ext cx="122777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921335" y="1558648"/>
            <a:ext cx="205323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Alimentation de la cabine de pilotage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2920" y="1699495"/>
            <a:ext cx="123360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57412" y="1689024"/>
            <a:ext cx="784860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879646" y="1699495"/>
            <a:ext cx="109561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535924" y="1709382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921335" y="1701758"/>
            <a:ext cx="182915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Fiches de contrôle vers le DOE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2920" y="1842613"/>
            <a:ext cx="1233607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57412" y="1832135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79646" y="1842613"/>
            <a:ext cx="1017984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35924" y="1852492"/>
            <a:ext cx="122777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21335" y="1844876"/>
            <a:ext cx="178165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Indicateurs qualité et sécurité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2920" y="1985724"/>
            <a:ext cx="89725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57412" y="1975245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879646" y="1985724"/>
            <a:ext cx="10223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535924" y="1995610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921335" y="1987987"/>
            <a:ext cx="230052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Commandes vers l'engagement de dépense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02920" y="2128834"/>
            <a:ext cx="100524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57412" y="2118363"/>
            <a:ext cx="784860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879646" y="2128834"/>
            <a:ext cx="10223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535924" y="2138721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921335" y="2131097"/>
            <a:ext cx="200167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Factures fournisseurs harmonisées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02920" y="2271952"/>
            <a:ext cx="10223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157412" y="2261473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879646" y="2271952"/>
            <a:ext cx="100524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35924" y="2281831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921335" y="2274215"/>
            <a:ext cx="1621989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Retour de saisie et litiges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02920" y="2415063"/>
            <a:ext cx="10941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57412" y="2404584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879646" y="2415063"/>
            <a:ext cx="89725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35924" y="2424949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921335" y="2417325"/>
            <a:ext cx="171712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Heures chantier vers la paie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02920" y="2558181"/>
            <a:ext cx="1027986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157412" y="2547702"/>
            <a:ext cx="784860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879646" y="2558181"/>
            <a:ext cx="1017984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535924" y="2568059"/>
            <a:ext cx="122777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921335" y="2560436"/>
            <a:ext cx="137183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Inventaire matériel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02920" y="2701291"/>
            <a:ext cx="139065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157412" y="2690812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879646" y="2701291"/>
            <a:ext cx="10179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535924" y="2711170"/>
            <a:ext cx="122777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921335" y="2703554"/>
            <a:ext cx="134159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Suivi des déchets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02920" y="2844401"/>
            <a:ext cx="12940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157412" y="2833923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879646" y="2844401"/>
            <a:ext cx="102679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La Scene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535924" y="2854288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921335" y="2846664"/>
            <a:ext cx="19773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Plans vers l'assemblage des scans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02920" y="2987519"/>
            <a:ext cx="1294090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157412" y="2977041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879646" y="2987519"/>
            <a:ext cx="1164669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535924" y="2997398"/>
            <a:ext cx="122777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21335" y="2989782"/>
            <a:ext cx="2200037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Maquettes vers le contrôle de conformité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02920" y="3130630"/>
            <a:ext cx="12940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165390" y="3120151"/>
            <a:ext cx="768906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879646" y="3130630"/>
            <a:ext cx="105679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535924" y="3140509"/>
            <a:ext cx="103715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INDIRECT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21335" y="3132892"/>
            <a:ext cx="290024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Repérage des constats — flux indirect, par captures d'écran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2920" y="3273740"/>
            <a:ext cx="102679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La Scene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157412" y="3263261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879646" y="3273740"/>
            <a:ext cx="9878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535924" y="3283627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5921335" y="3276003"/>
            <a:ext cx="230386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Scans assemblés vers les nuages de points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7660" y="3580926"/>
            <a:ext cx="8534401" cy="1523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630" b="1" spc="88">
                <a:solidFill>
                  <a:srgbClr val="33415C"/>
                </a:solidFill>
                <a:latin typeface="Calibri"/>
              </a:rPr>
              <a:t>ÉCHANGES INTER-SERVICES — DE MISSION À MISSION </a:t>
            </a:r>
            <a:r>
              <a:rPr sz="570" b="1" spc="23">
                <a:solidFill>
                  <a:srgbClr val="78879F"/>
                </a:solidFill>
                <a:latin typeface="Calibri"/>
              </a:rPr>
              <a:t> · 18 issus du brief · ⇢ enchaînement interne à un pôle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03860" y="3840001"/>
            <a:ext cx="16144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MISSION ÉMETTRICE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950250" y="3840001"/>
            <a:ext cx="175295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MISSION DESTINATAIRE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157192" y="3840001"/>
            <a:ext cx="168687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OBJET DE L'ÉCHANGE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02920" y="3980734"/>
            <a:ext cx="175140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Commande matériel chantier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327077" y="3970256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049310" y="3980734"/>
            <a:ext cx="142339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57192" y="3982997"/>
            <a:ext cx="21122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Extraction BYMAT — matériel mobilisé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123852"/>
            <a:ext cx="142339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2327077" y="4113374"/>
            <a:ext cx="784860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049310" y="4123852"/>
            <a:ext cx="142339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157192" y="4126108"/>
            <a:ext cx="214860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PC100 — dépenses ventilées par atelier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02920" y="4266963"/>
            <a:ext cx="160901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327077" y="4256484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049310" y="4266963"/>
            <a:ext cx="150542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Facturation partenaire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5157192" y="4269226"/>
            <a:ext cx="172128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Valorisation MO à refacturer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502920" y="4410073"/>
            <a:ext cx="160901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335054" y="4399594"/>
            <a:ext cx="768906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049310" y="4410073"/>
            <a:ext cx="142339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157192" y="4412336"/>
            <a:ext cx="20571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VALO MO — coût de la main-d'œuvre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02920" y="4553191"/>
            <a:ext cx="2200037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Engagement des dépenses et facturation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335054" y="4542712"/>
            <a:ext cx="768906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049310" y="4553191"/>
            <a:ext cx="142339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157192" y="4555454"/>
            <a:ext cx="237720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Dépenses diverses — factures et commandes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02920" y="4696302"/>
            <a:ext cx="177260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Onboarding RH et formations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327077" y="4685823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049310" y="4696302"/>
            <a:ext cx="19323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Accueil, formation et habilitations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5157192" y="4698564"/>
            <a:ext cx="197167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Nouvel arrivant à accueillir sur site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02920" y="4839412"/>
            <a:ext cx="175248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Commande de main-d'œuvre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7077" y="4828933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049310" y="4839412"/>
            <a:ext cx="177284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Gestion du personnel et paye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157192" y="4841675"/>
            <a:ext cx="186785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Besoin en personnel intérimaire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502920" y="4982530"/>
            <a:ext cx="177284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Gestion du personnel et paye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335054" y="4972051"/>
            <a:ext cx="768906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3049310" y="4982530"/>
            <a:ext cx="160901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157192" y="4984793"/>
            <a:ext cx="1699855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Heures pointées à valoriser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502920" y="5125640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327077" y="5115162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049310" y="5125640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5157192" y="5127903"/>
            <a:ext cx="22059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Avancement et jalons relevés au chantier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502920" y="5268751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2335054" y="5258280"/>
            <a:ext cx="768906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049310" y="5268751"/>
            <a:ext cx="170842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Gestion des encaissements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57192" y="5271014"/>
            <a:ext cx="186368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Situation mensuelle à encaisser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02920" y="5411869"/>
            <a:ext cx="1804630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2327077" y="5401390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049310" y="5411869"/>
            <a:ext cx="1272540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Récolte des KPI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5157192" y="5414131"/>
            <a:ext cx="2128004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Avancement consolidé pour le pilotage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502920" y="5554979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27077" y="5544500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3049310" y="5554979"/>
            <a:ext cx="127254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Récolte des KPI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5157192" y="5557242"/>
            <a:ext cx="171842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Avancement du creusement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502920" y="5698089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2327077" y="5687618"/>
            <a:ext cx="784860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3049310" y="5698089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5157192" y="5700352"/>
            <a:ext cx="181153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Jalons tunnel pour la situation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502920" y="5841207"/>
            <a:ext cx="14320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Commande chantier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2327077" y="5830729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3049310" y="5841207"/>
            <a:ext cx="142339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5157192" y="5843470"/>
            <a:ext cx="1626394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Dépenses matériel tunnel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502920" y="5984318"/>
            <a:ext cx="187190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Reporting et diffusion des plans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2327077" y="5973839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049310" y="5984318"/>
            <a:ext cx="153995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Gestion des maquettes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5157192" y="5986581"/>
            <a:ext cx="201441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Plans contrôlés et nuages de points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502920" y="6127436"/>
            <a:ext cx="187190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Reporting et diffusion des plans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2327077" y="6116957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049310" y="6127436"/>
            <a:ext cx="1410533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Gestion de chantier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5157192" y="6129691"/>
            <a:ext cx="181272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Plans d'implantation du tunnel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502920" y="6270546"/>
            <a:ext cx="146220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Guidage du tunnelier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2327077" y="6260068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049310" y="6270546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5157192" y="6272809"/>
            <a:ext cx="175557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Position et tracé du tunnelier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02920" y="6413657"/>
            <a:ext cx="198882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Événements et indicateurs sécurité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2327077" y="6403178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3049310" y="6413657"/>
            <a:ext cx="127254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Récolte des KPI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5157192" y="6415919"/>
            <a:ext cx="185928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Indicateurs sécurité du chantier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9304854" y="1089657"/>
            <a:ext cx="802124" cy="274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9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9224010" y="1363979"/>
            <a:ext cx="96381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PÔLES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10698362" y="1089657"/>
            <a:ext cx="918447" cy="274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64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10423922" y="1363979"/>
            <a:ext cx="146732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OUTILS RECENSÉS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9246751" y="1683071"/>
            <a:ext cx="918448" cy="2743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32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8882777" y="1957386"/>
            <a:ext cx="164639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FLUX CARTOGRAPHIÉS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0698362" y="1683071"/>
            <a:ext cx="918447" cy="2743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10429994" y="1957386"/>
            <a:ext cx="145518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OUTILS HORS BDD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151620" y="2352676"/>
            <a:ext cx="193333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78879F"/>
                </a:solidFill>
                <a:latin typeface="Calibri"/>
              </a:rPr>
              <a:t>RÉPARTITION DU PARC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151620" y="2829283"/>
            <a:ext cx="95131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Nature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9955650" y="2829283"/>
            <a:ext cx="2442091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Externes 32 · Internes 21 · Non renseigné 11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51620" y="3118845"/>
            <a:ext cx="119348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Alimentation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9926479" y="3118845"/>
            <a:ext cx="2471261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Manuel 50 · Automatique 9 · Non renseigné 5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9151620" y="3408399"/>
            <a:ext cx="1016437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Position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030302" y="3408399"/>
            <a:ext cx="2367438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Applications métier 45 · Socle commun 19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9151620" y="4250766"/>
            <a:ext cx="1846541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4CC9E8"/>
                </a:solidFill>
                <a:latin typeface="Calibri"/>
              </a:rPr>
              <a:t>POINTS D'ATTENTION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9197816" y="4537473"/>
            <a:ext cx="7381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9349740" y="4501276"/>
            <a:ext cx="2392680" cy="3269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50 outils sur 64</a:t>
            </a:r>
            <a:r>
              <a:rPr sz="740" b="0">
                <a:solidFill>
                  <a:srgbClr val="C9D5EA"/>
                </a:solidFill>
                <a:latin typeface="Calibri"/>
              </a:rPr>
              <a:t> sont alimentés manuellement : la ressaisie reste le principal point de fragilité du dispositif.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9197816" y="5030269"/>
            <a:ext cx="7381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9349740" y="4994079"/>
            <a:ext cx="2392680" cy="3269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Excel</a:t>
            </a:r>
            <a:r>
              <a:rPr sz="740" b="0">
                <a:solidFill>
                  <a:srgbClr val="C9D5EA"/>
                </a:solidFill>
                <a:latin typeface="Calibri"/>
              </a:rPr>
              <a:t> est présent dans 7 pôles et concentre les échanges sans interface formalisée.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9197816" y="5523072"/>
            <a:ext cx="7381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9349740" y="5486875"/>
            <a:ext cx="2392680" cy="3269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6 pôles sur 9</a:t>
            </a:r>
            <a:r>
              <a:rPr sz="740" b="0">
                <a:solidFill>
                  <a:srgbClr val="C9D5EA"/>
                </a:solidFill>
                <a:latin typeface="Calibri"/>
              </a:rPr>
              <a:t> ont un processus recueilli ; les autres n'ont qu'un inventaire d'outils, sans ordre attesté.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197816" y="6015868"/>
            <a:ext cx="7381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9349740" y="5979678"/>
            <a:ext cx="2392680" cy="4599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10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viennent du brief métier et non de la base d'entretiens : leur nature et leur alimentation restent à confirmer.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1306771" y="6644636"/>
            <a:ext cx="122812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26203" y="358137"/>
            <a:ext cx="244793" cy="12954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26203" y="533397"/>
            <a:ext cx="331471" cy="129541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53538" y="373376"/>
            <a:ext cx="60960" cy="60966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53538" y="510541"/>
            <a:ext cx="60960" cy="6095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53538" y="647698"/>
            <a:ext cx="60960" cy="6095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0198" y="373376"/>
            <a:ext cx="60960" cy="60966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50198" y="510541"/>
            <a:ext cx="60960" cy="60959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50198" y="647698"/>
            <a:ext cx="60960" cy="6095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71346" y="373376"/>
            <a:ext cx="60960" cy="60966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71346" y="510541"/>
            <a:ext cx="60960" cy="6095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71346" y="647698"/>
            <a:ext cx="60960" cy="60959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19888" y="1158953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42585" y="1158953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7191" y="1359932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19888" y="1318853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2585" y="1318853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7191" y="1519831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19888" y="1478759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42585" y="1478759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197191" y="1679730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273391" y="1679730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19888" y="1638658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42585" y="1638658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197191" y="1839637"/>
            <a:ext cx="53340" cy="53335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73391" y="1839637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49591" y="1839637"/>
            <a:ext cx="53340" cy="53335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819888" y="1798558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42585" y="1798558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197191" y="1999536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19888" y="1958457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42585" y="1958457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197191" y="2159435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19888" y="2118363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42585" y="2118363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197191" y="2319334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819888" y="2278262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42585" y="2278262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197191" y="2479241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273391" y="2479241"/>
            <a:ext cx="53340" cy="53335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19888" y="2438162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42585" y="2438162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197191" y="2639140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19888" y="2598061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42585" y="2598061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197191" y="2799039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819888" y="2757967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42585" y="2757967"/>
            <a:ext cx="294561" cy="13560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197191" y="2958939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819888" y="2917867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442585" y="2917867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197191" y="3118845"/>
            <a:ext cx="53340" cy="53335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819888" y="3077766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442585" y="3077766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97191" y="3278744"/>
            <a:ext cx="53340" cy="53335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819888" y="3237665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442585" y="3237665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197191" y="3438643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819888" y="3397564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442585" y="3397564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197191" y="3598543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819888" y="3557471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442585" y="3557471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819888" y="3717370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442585" y="3717370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197191" y="3918348"/>
            <a:ext cx="53340" cy="53335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819888" y="3877269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442585" y="3877269"/>
            <a:ext cx="317897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197191" y="4078248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273391" y="4078248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819888" y="4037168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442585" y="4037168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197191" y="4238147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273391" y="4238147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819888" y="4197075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442585" y="4197075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197191" y="4398053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273391" y="4398053"/>
            <a:ext cx="53340" cy="53335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349591" y="4398053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819888" y="4356974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42585" y="4356974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197191" y="4557952"/>
            <a:ext cx="53340" cy="53335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4819888" y="4516873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42585" y="4516873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197191" y="4717852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273391" y="4717852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819888" y="4676772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442585" y="4676772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197191" y="4839655"/>
            <a:ext cx="53340" cy="53335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273391" y="4839655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349591" y="4839655"/>
            <a:ext cx="53340" cy="53335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425792" y="4839655"/>
            <a:ext cx="53340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501991" y="4839655"/>
            <a:ext cx="53340" cy="53335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78191" y="4839655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197191" y="4915854"/>
            <a:ext cx="53340" cy="53335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819888" y="4836679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442585" y="4836679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197191" y="5037650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819888" y="4996578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442585" y="4996578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197191" y="5197557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819888" y="5156477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5442585" y="5156477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197191" y="5357456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819888" y="5316376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5442585" y="5316376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197191" y="5517355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4819888" y="5476283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5442585" y="5476283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197191" y="5677254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4819888" y="5636182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442585" y="5636182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197191" y="5837161"/>
            <a:ext cx="53340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273391" y="5837161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349591" y="5837161"/>
            <a:ext cx="53340" cy="53335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819888" y="5796081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5442585" y="5796081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197191" y="5997060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4819888" y="5955980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5442585" y="5955980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197191" y="6156959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4819888" y="6115887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5442585" y="6115887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041732" y="1200033"/>
            <a:ext cx="53340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10664428" y="1158953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11287125" y="1158953"/>
            <a:ext cx="294561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041732" y="1359932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10664428" y="1318853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11287125" y="1318853"/>
            <a:ext cx="294561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041732" y="1519831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10664428" y="1478759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11287125" y="1478759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41732" y="1679730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10664428" y="1638658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1287125" y="1638658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0041732" y="1839637"/>
            <a:ext cx="53340" cy="53335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0117931" y="1839637"/>
            <a:ext cx="53341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194131" y="1839637"/>
            <a:ext cx="53340" cy="53335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0270332" y="1839637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10664428" y="1798558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11287125" y="1798558"/>
            <a:ext cx="317897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041732" y="1999536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0664428" y="1958457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11287125" y="1958457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041732" y="2159435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117931" y="2159435"/>
            <a:ext cx="53341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10664428" y="2118363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11287125" y="2118363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041732" y="2319334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117931" y="2319334"/>
            <a:ext cx="53341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10664428" y="2278262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11287125" y="2278262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041732" y="2479241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10664428" y="2438162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11287125" y="2438162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041732" y="2639140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10664428" y="2598061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11287125" y="2598061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10664428" y="2757967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11287125" y="2757967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041732" y="2958939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117931" y="2958939"/>
            <a:ext cx="53341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10664428" y="2917867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11287125" y="2917867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041732" y="3118845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117931" y="3118845"/>
            <a:ext cx="53341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0194131" y="3118845"/>
            <a:ext cx="53340" cy="53335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0270332" y="3118845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0346531" y="3118845"/>
            <a:ext cx="53340" cy="53335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10664428" y="3077766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11287125" y="3077766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0041732" y="3278744"/>
            <a:ext cx="53340" cy="53335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10664428" y="3237665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11287125" y="3237665"/>
            <a:ext cx="294561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0041732" y="3438643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0117931" y="3438643"/>
            <a:ext cx="53341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0194131" y="3438643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270332" y="3438643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346531" y="3438643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0422732" y="3438643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10664428" y="3397564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11287125" y="3397564"/>
            <a:ext cx="294561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0041732" y="3598543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10664428" y="3557471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11287125" y="3557471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041732" y="3758449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10664428" y="3717370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11287125" y="3717370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0041732" y="3918348"/>
            <a:ext cx="53340" cy="53335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0" name="Rounded Rectangle 189"/>
          <p:cNvSpPr/>
          <p:nvPr/>
        </p:nvSpPr>
        <p:spPr>
          <a:xfrm>
            <a:off x="10664428" y="3877269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11287125" y="3877269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0041732" y="4078248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117931" y="4078248"/>
            <a:ext cx="53341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194131" y="4078248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0270332" y="4078248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0346531" y="4078248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10664428" y="4037168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11287125" y="4037168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0041732" y="4238147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10664428" y="4197075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11287125" y="4197075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0041732" y="4398053"/>
            <a:ext cx="53340" cy="53335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3" name="Rounded Rectangle 202"/>
          <p:cNvSpPr/>
          <p:nvPr/>
        </p:nvSpPr>
        <p:spPr>
          <a:xfrm>
            <a:off x="10664428" y="4356974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11287125" y="4356974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0041732" y="4557952"/>
            <a:ext cx="53340" cy="53335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0117931" y="4557952"/>
            <a:ext cx="53341" cy="53335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10664428" y="4516873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11287125" y="4516873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0041732" y="4717852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10664428" y="4676772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11287125" y="4676772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0041732" y="4877751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3" name="Rounded Rectangle 212"/>
          <p:cNvSpPr/>
          <p:nvPr/>
        </p:nvSpPr>
        <p:spPr>
          <a:xfrm>
            <a:off x="10664428" y="4836679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4" name="Rounded Rectangle 213"/>
          <p:cNvSpPr/>
          <p:nvPr/>
        </p:nvSpPr>
        <p:spPr>
          <a:xfrm>
            <a:off x="11287125" y="4836679"/>
            <a:ext cx="294561" cy="13560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0041732" y="5037650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0664428" y="4996578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11287125" y="4996578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10664428" y="5156477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11287125" y="5156477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0041732" y="5357456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1" name="Rounded Rectangle 220"/>
          <p:cNvSpPr/>
          <p:nvPr/>
        </p:nvSpPr>
        <p:spPr>
          <a:xfrm>
            <a:off x="10664428" y="5316376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2" name="Rounded Rectangle 221"/>
          <p:cNvSpPr/>
          <p:nvPr/>
        </p:nvSpPr>
        <p:spPr>
          <a:xfrm>
            <a:off x="11287125" y="5316376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0041732" y="5517355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10664428" y="5476283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11287125" y="5476283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0041732" y="5677254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0117931" y="5677254"/>
            <a:ext cx="53341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0194131" y="5677254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0270332" y="5677254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0346531" y="5677254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10664428" y="5636182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2" name="Rounded Rectangle 231"/>
          <p:cNvSpPr/>
          <p:nvPr/>
        </p:nvSpPr>
        <p:spPr>
          <a:xfrm>
            <a:off x="11287125" y="5636182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0041732" y="5837161"/>
            <a:ext cx="53340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10664428" y="5796081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5" name="Rounded Rectangle 234"/>
          <p:cNvSpPr/>
          <p:nvPr/>
        </p:nvSpPr>
        <p:spPr>
          <a:xfrm>
            <a:off x="11287125" y="5796081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0041732" y="5997060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0117931" y="5997060"/>
            <a:ext cx="53341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0194131" y="5997060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10664428" y="5955980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0" name="Rounded Rectangle 239"/>
          <p:cNvSpPr/>
          <p:nvPr/>
        </p:nvSpPr>
        <p:spPr>
          <a:xfrm>
            <a:off x="11287125" y="5955980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0041732" y="6156959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0117931" y="6156959"/>
            <a:ext cx="53341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3" name="Rounded Rectangle 242"/>
          <p:cNvSpPr/>
          <p:nvPr/>
        </p:nvSpPr>
        <p:spPr>
          <a:xfrm>
            <a:off x="10664428" y="6115887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4" name="Rounded Rectangle 243"/>
          <p:cNvSpPr/>
          <p:nvPr/>
        </p:nvSpPr>
        <p:spPr>
          <a:xfrm>
            <a:off x="11287125" y="6115887"/>
            <a:ext cx="294561" cy="13560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342900" y="312417"/>
            <a:ext cx="1239202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42900" y="457198"/>
            <a:ext cx="363438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Référentiel des outils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342900" y="847249"/>
            <a:ext cx="4160758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Tous les outils recensés, avec éditeur, pôles servis, nature et alimentation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8031957" y="361948"/>
            <a:ext cx="115704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Outil interne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7444264" y="369572"/>
            <a:ext cx="80867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8118634" y="537208"/>
            <a:ext cx="1668304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444264" y="544832"/>
            <a:ext cx="89535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7965043" y="693417"/>
            <a:ext cx="1545313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Hors base d'entretiens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726203" y="693417"/>
            <a:ext cx="863680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Nom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9375458" y="342897"/>
            <a:ext cx="1308139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Méthodes &amp; BIM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9375458" y="480062"/>
            <a:ext cx="116443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Topographie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9375458" y="617219"/>
            <a:ext cx="125051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Travaux tunnel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0272117" y="342897"/>
            <a:ext cx="988338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Travaux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0272117" y="480062"/>
            <a:ext cx="97036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Contrat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272117" y="617219"/>
            <a:ext cx="103262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Direction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893267" y="342897"/>
            <a:ext cx="850344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DAF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893267" y="480062"/>
            <a:ext cx="164163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0893267" y="617219"/>
            <a:ext cx="1001554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Sécurité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03860" y="1013458"/>
            <a:ext cx="95726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932503" y="1013458"/>
            <a:ext cx="115073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FONCTION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4197191" y="1013458"/>
            <a:ext cx="98548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PÔLES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819888" y="1013458"/>
            <a:ext cx="104727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5442585" y="1013458"/>
            <a:ext cx="93714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ALIM.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03860" y="1164906"/>
            <a:ext cx="96845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Achat +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1932503" y="1164906"/>
            <a:ext cx="22084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Achats opérationnels, en amont de Pablo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537948" y="1170381"/>
            <a:ext cx="73187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160645" y="1170381"/>
            <a:ext cx="73187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403860" y="1324805"/>
            <a:ext cx="106108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Anaconda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32503" y="1324805"/>
            <a:ext cx="172128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Écriture de scripts de calcul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537948" y="1330288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5160645" y="1330288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403860" y="1484712"/>
            <a:ext cx="1220748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8F3857"/>
                </a:solidFill>
                <a:latin typeface="Calibri"/>
              </a:rPr>
              <a:t>Appli bancaire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1932503" y="1484712"/>
            <a:ext cx="222611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Dispatch des paiements entre partenaires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537948" y="1490187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160645" y="149018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388620" y="1619651"/>
            <a:ext cx="1452444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AutoCAD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932503" y="1644611"/>
            <a:ext cx="216955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Production et modification des plans 2D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4537948" y="1650086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5160645" y="165008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388620" y="1779558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Basware</a:t>
            </a:r>
            <a:r>
              <a:rPr sz="570" b="0">
                <a:solidFill>
                  <a:srgbClr val="78879F"/>
                </a:solidFill>
                <a:latin typeface="Calibri"/>
              </a:rPr>
              <a:t> Soletanche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932503" y="1804510"/>
            <a:ext cx="220872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Enregistrement et validation des factures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4537948" y="1809985"/>
            <a:ext cx="94333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5160645" y="1809985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88620" y="1939457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BATIS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932503" y="1964409"/>
            <a:ext cx="191524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Sous-traitants en paiement direct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4537948" y="196989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5160645" y="196989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388620" y="2099356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BIM Vision</a:t>
            </a:r>
            <a:r>
              <a:rPr sz="570" b="0">
                <a:solidFill>
                  <a:srgbClr val="78879F"/>
                </a:solidFill>
                <a:latin typeface="Calibri"/>
              </a:rPr>
              <a:t> Technologia B…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932503" y="2124316"/>
            <a:ext cx="220444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Ouverture et visualisation des maquettes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537948" y="2129791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60645" y="212979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403860" y="2284215"/>
            <a:ext cx="10941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932503" y="2284215"/>
            <a:ext cx="199727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Intérim : heures et renouvellements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537948" y="2289690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5160645" y="2289690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403860" y="2444114"/>
            <a:ext cx="107846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By My Site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1932503" y="2444114"/>
            <a:ext cx="207049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Centralisation et suivi des formations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537948" y="2449589"/>
            <a:ext cx="94333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160645" y="2449589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88620" y="2579061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BYCN</a:t>
            </a:r>
            <a:r>
              <a:rPr sz="570" b="0">
                <a:solidFill>
                  <a:srgbClr val="78879F"/>
                </a:solidFill>
                <a:latin typeface="Calibri"/>
              </a:rPr>
              <a:t> Bouygues Cons…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1932503" y="2604014"/>
            <a:ext cx="242851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Paye des compagnons Bouygues Construction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537948" y="2609496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Interne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5160645" y="2609496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88620" y="2738960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BYMAT</a:t>
            </a:r>
            <a:r>
              <a:rPr sz="570" b="0">
                <a:solidFill>
                  <a:srgbClr val="78879F"/>
                </a:solidFill>
                <a:latin typeface="Calibri"/>
              </a:rPr>
              <a:t> Bouygues Cons…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1932503" y="2763920"/>
            <a:ext cx="2208729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Extraction des coûts matériel du chantier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4537948" y="2769395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Interne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5160645" y="2769395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403860" y="2923819"/>
            <a:ext cx="96190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CEMEX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32503" y="2923819"/>
            <a:ext cx="160889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Portail fournisseur béton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537948" y="2929294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5160645" y="2929294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388620" y="3058766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Chorus</a:t>
            </a:r>
            <a:r>
              <a:rPr sz="570" b="0">
                <a:solidFill>
                  <a:srgbClr val="78879F"/>
                </a:solidFill>
                <a:latin typeface="Calibri"/>
              </a:rPr>
              <a:t> AIFE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1932503" y="3083718"/>
            <a:ext cx="186892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Facturation du maître d'ouvrage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4537948" y="3089193"/>
            <a:ext cx="96619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5160645" y="3089193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388620" y="3218665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Civil 3D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1932503" y="3243618"/>
            <a:ext cx="164806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Dessin des terrassements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4537948" y="3249100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5160645" y="3249100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388620" y="3378564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Cority</a:t>
            </a:r>
            <a:r>
              <a:rPr sz="570" b="0">
                <a:solidFill>
                  <a:srgbClr val="78879F"/>
                </a:solidFill>
                <a:latin typeface="Calibri"/>
              </a:rPr>
              <a:t> Cority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932503" y="3403524"/>
            <a:ext cx="2438400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Reporting des événements : ATB, AT, PAT, HIPO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4537948" y="3408999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160645" y="3408999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403860" y="3563423"/>
            <a:ext cx="98786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932503" y="3563423"/>
            <a:ext cx="2113479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Génération des points topographiques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4537948" y="3568898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160645" y="3568898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388620" y="3698370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CWT</a:t>
            </a:r>
            <a:r>
              <a:rPr sz="570" b="0">
                <a:solidFill>
                  <a:srgbClr val="78879F"/>
                </a:solidFill>
                <a:latin typeface="Calibri"/>
              </a:rPr>
              <a:t> CWT EUROPE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1932503" y="3723322"/>
            <a:ext cx="197572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Réservation de voyages du groupe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537948" y="3728797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160645" y="372879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403860" y="3883222"/>
            <a:ext cx="116466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932503" y="3883222"/>
            <a:ext cx="238125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Traitement des nuages de points et des scans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4537948" y="3888704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5160645" y="3888704"/>
            <a:ext cx="8817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388620" y="4018168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DocuSign</a:t>
            </a:r>
            <a:r>
              <a:rPr sz="570" b="0">
                <a:solidFill>
                  <a:srgbClr val="78879F"/>
                </a:solidFill>
                <a:latin typeface="Calibri"/>
              </a:rPr>
              <a:t> Docusign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1932503" y="4043121"/>
            <a:ext cx="201013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Signature électronique des contrats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4537948" y="4048603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5160645" y="4048603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88620" y="4178067"/>
            <a:ext cx="1452444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E-Checking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1932503" y="4203027"/>
            <a:ext cx="1613297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Contrôle du travail illégal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37948" y="420850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5160645" y="420850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388620" y="4337974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E-Paraph</a:t>
            </a:r>
            <a:r>
              <a:rPr sz="570" b="0">
                <a:solidFill>
                  <a:srgbClr val="78879F"/>
                </a:solidFill>
                <a:latin typeface="Calibri"/>
              </a:rPr>
              <a:t> E-paraph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932503" y="4362927"/>
            <a:ext cx="230350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Circuit de validation interne avant signature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4537948" y="4368401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5160645" y="436840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388620" y="4497873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E-Project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32503" y="4522826"/>
            <a:ext cx="197131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Activation et suivi de la facturation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4537948" y="4528300"/>
            <a:ext cx="73187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5160645" y="4528300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403860" y="4682725"/>
            <a:ext cx="102798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932503" y="4682725"/>
            <a:ext cx="212228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Commande de coffrage, grue et engins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4537948" y="4688207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5160645" y="468820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388620" y="4817671"/>
            <a:ext cx="1452444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Excel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1932503" y="4842631"/>
            <a:ext cx="1926789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Tableurs de suivi et de ventilation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4537948" y="4848106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5160645" y="484810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403860" y="5002531"/>
            <a:ext cx="92737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GMAO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932503" y="5002531"/>
            <a:ext cx="168640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Gestion du stock du tunnel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4537948" y="5008005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5160645" y="5008005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388620" y="5137477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H&amp;R For You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1932503" y="5162430"/>
            <a:ext cx="237684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Demandes RH : congés, attestations, épargne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4537948" y="5167904"/>
            <a:ext cx="94333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5160645" y="5167904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03860" y="5322329"/>
            <a:ext cx="10223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932503" y="5322329"/>
            <a:ext cx="260568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Engagement des dépenses et suivi des commandes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537948" y="5327811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160645" y="532781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403860" y="5482236"/>
            <a:ext cx="136767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8F3857"/>
                </a:solidFill>
                <a:latin typeface="Calibri"/>
              </a:rPr>
              <a:t>Heures Travaillées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932503" y="5482236"/>
            <a:ext cx="204466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Volume d'heures exposées au risque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4537948" y="5487710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Interne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5160645" y="5487710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403860" y="5642135"/>
            <a:ext cx="144934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8F3857"/>
                </a:solidFill>
                <a:latin typeface="Calibri"/>
              </a:rPr>
              <a:t>HR4YOU / Global HR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932503" y="5642135"/>
            <a:ext cx="218265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Outils RH groupe : dossier collaborateur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4537948" y="5647609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Interne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160645" y="5647609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88620" y="5777081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IDCapture</a:t>
            </a:r>
            <a:r>
              <a:rPr sz="570" b="0">
                <a:solidFill>
                  <a:srgbClr val="78879F"/>
                </a:solidFill>
                <a:latin typeface="Calibri"/>
              </a:rPr>
              <a:t> IDCAPTURE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1932503" y="5802034"/>
            <a:ext cx="204930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Levée de réserves et contrôle qualité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37948" y="5807509"/>
            <a:ext cx="96619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5160645" y="5807509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388620" y="5936980"/>
            <a:ext cx="145244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Inventor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1932503" y="5961933"/>
            <a:ext cx="207930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Conception 3D de pièces mécaniques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4537948" y="5967415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5160645" y="5967415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388620" y="6096880"/>
            <a:ext cx="1452444" cy="2002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La Scene</a:t>
            </a:r>
            <a:r>
              <a:rPr sz="570" b="0">
                <a:solidFill>
                  <a:srgbClr val="78879F"/>
                </a:solidFill>
                <a:latin typeface="Calibri"/>
              </a:rPr>
              <a:t> Leica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1932503" y="6121840"/>
            <a:ext cx="197584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Assemblage des positions de scan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4537948" y="6127314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5160645" y="6127314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6248400" y="1013458"/>
            <a:ext cx="9572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7777044" y="1013458"/>
            <a:ext cx="115073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FONCTION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0041732" y="1013458"/>
            <a:ext cx="98548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PÔLES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10664428" y="1013458"/>
            <a:ext cx="104727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1287125" y="1013458"/>
            <a:ext cx="93714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ALIM.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6248400" y="1164906"/>
            <a:ext cx="101155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Lafarge+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7777044" y="1164906"/>
            <a:ext cx="231659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Suivi des bons de livraison et des m³ coulés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0382488" y="1170381"/>
            <a:ext cx="96619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1005186" y="1170381"/>
            <a:ext cx="858441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6248400" y="1324805"/>
            <a:ext cx="149256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Live Objects (Orange)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7777044" y="1324805"/>
            <a:ext cx="215253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Indicateurs des compteurs de pompage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10382488" y="1330288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1005186" y="1330288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6248400" y="1484712"/>
            <a:ext cx="897136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8F3857"/>
                </a:solidFill>
                <a:latin typeface="Calibri"/>
              </a:rPr>
              <a:t>Lotus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7777044" y="1484712"/>
            <a:ext cx="238982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Comptage des personnes présentes en tunnel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0382488" y="1490187"/>
            <a:ext cx="73187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11005186" y="149018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6248400" y="1644611"/>
            <a:ext cx="10309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Lucee TP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7777044" y="1644611"/>
            <a:ext cx="220884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Identification des espèces envahissantes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10382488" y="1650086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1005186" y="165008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233160" y="1779558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Mezzoteam</a:t>
            </a:r>
            <a:r>
              <a:rPr sz="570" b="0">
                <a:solidFill>
                  <a:srgbClr val="78879F"/>
                </a:solidFill>
                <a:latin typeface="Calibri"/>
              </a:rPr>
              <a:t> MEZZOTEAM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7777044" y="1804510"/>
            <a:ext cx="191952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GED : diffusion et suivi des plans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0382488" y="1809985"/>
            <a:ext cx="96619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1005186" y="1809985"/>
            <a:ext cx="88177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6248400" y="1964409"/>
            <a:ext cx="88856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MIRO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7777044" y="1964409"/>
            <a:ext cx="183332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Animation et récolte des obeya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10382488" y="1969892"/>
            <a:ext cx="73187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11005186" y="196989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6248400" y="2124316"/>
            <a:ext cx="867013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MMS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7777044" y="2124316"/>
            <a:ext cx="1880710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Adhérence au planning et jalons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0382488" y="2129791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11005186" y="212979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6248400" y="2284215"/>
            <a:ext cx="108704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MS Project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7777044" y="2284215"/>
            <a:ext cx="222599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Planification des travaux et des transferts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0382488" y="2289690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1005186" y="2289690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6248400" y="2444114"/>
            <a:ext cx="104834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Neoaccès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7777044" y="2444114"/>
            <a:ext cx="223039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Création des badges et gestion des accès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0382488" y="2449589"/>
            <a:ext cx="731878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1005186" y="2449589"/>
            <a:ext cx="73187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6233160" y="2579061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NotebookLM</a:t>
            </a:r>
            <a:r>
              <a:rPr sz="570" b="0">
                <a:solidFill>
                  <a:srgbClr val="78879F"/>
                </a:solidFill>
                <a:latin typeface="Calibri"/>
              </a:rPr>
              <a:t> GOOGLE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7777044" y="2604014"/>
            <a:ext cx="235124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Rédaction des mémoires et des réclamations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0382488" y="2609496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1005186" y="260949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6233160" y="2738960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Oasis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7777044" y="2763920"/>
            <a:ext cx="1626274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Déclaration des incidents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10382488" y="2769395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11005186" y="2769395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6233160" y="2898859"/>
            <a:ext cx="1452443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Outlook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7777044" y="2923819"/>
            <a:ext cx="242018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Messagerie : demandes et envoi des situations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382488" y="2929294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11005186" y="2929294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6233160" y="3058766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Pablo</a:t>
            </a:r>
            <a:r>
              <a:rPr sz="570" b="0">
                <a:solidFill>
                  <a:srgbClr val="78879F"/>
                </a:solidFill>
                <a:latin typeface="Calibri"/>
              </a:rPr>
              <a:t> Systra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7777044" y="3083718"/>
            <a:ext cx="178581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Achats et bons de commande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10382488" y="3089193"/>
            <a:ext cx="96619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11005186" y="3089193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6248400" y="3243618"/>
            <a:ext cx="86713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Pixis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7777044" y="3243618"/>
            <a:ext cx="198429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Guidage du tunnelier en temps réel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0382488" y="3249100"/>
            <a:ext cx="73187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1005186" y="3249100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6233160" y="3378564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Power BI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7777044" y="3403524"/>
            <a:ext cx="2280403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Tableaux de bord et indicateurs de pilotage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10382488" y="3408999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11005186" y="3408999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6248400" y="3563423"/>
            <a:ext cx="1112877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PowerPoint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7777044" y="3563423"/>
            <a:ext cx="2183963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Déclaration des presqu'accidents (HIPO)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10382488" y="3568898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64" name="TextBox 463"/>
          <p:cNvSpPr txBox="1"/>
          <p:nvPr/>
        </p:nvSpPr>
        <p:spPr>
          <a:xfrm>
            <a:off x="11005186" y="3568898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6248400" y="3723322"/>
            <a:ext cx="89725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7777044" y="3723322"/>
            <a:ext cx="204466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Pointage : heures et primes de poste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10382488" y="3728797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11005186" y="372879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233160" y="3858269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QGIS</a:t>
            </a:r>
            <a:r>
              <a:rPr sz="570" b="0">
                <a:solidFill>
                  <a:srgbClr val="78879F"/>
                </a:solidFill>
                <a:latin typeface="Calibri"/>
              </a:rPr>
              <a:t> QGIS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7777044" y="3883222"/>
            <a:ext cx="223004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SIG : repérage et positionnement sur plan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0382488" y="3888704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1005186" y="3888704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73" name="TextBox 472"/>
          <p:cNvSpPr txBox="1"/>
          <p:nvPr/>
        </p:nvSpPr>
        <p:spPr>
          <a:xfrm>
            <a:off x="6233160" y="4018168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Quick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Synologie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7777044" y="4043121"/>
            <a:ext cx="220896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Relevés terrain : qualité, sécurité, accueil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10382488" y="4048603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76" name="TextBox 475"/>
          <p:cNvSpPr txBox="1"/>
          <p:nvPr/>
        </p:nvSpPr>
        <p:spPr>
          <a:xfrm>
            <a:off x="11005186" y="4048603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6248400" y="4203027"/>
            <a:ext cx="1561624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8F3857"/>
                </a:solidFill>
                <a:latin typeface="Calibri"/>
              </a:rPr>
              <a:t>Quick Connect Sécurité</a:t>
            </a:r>
          </a:p>
        </p:txBody>
      </p:sp>
      <p:sp>
        <p:nvSpPr>
          <p:cNvPr id="478" name="TextBox 477"/>
          <p:cNvSpPr txBox="1"/>
          <p:nvPr/>
        </p:nvSpPr>
        <p:spPr>
          <a:xfrm>
            <a:off x="7777044" y="4203027"/>
            <a:ext cx="1994416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Suivi IDV, addictions et organismes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10382488" y="4208502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Interne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11005186" y="420850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81" name="TextBox 480"/>
          <p:cNvSpPr txBox="1"/>
          <p:nvPr/>
        </p:nvSpPr>
        <p:spPr>
          <a:xfrm>
            <a:off x="6233160" y="4337974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Revit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7777044" y="4362927"/>
            <a:ext cx="178153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Production des maquettes 3D</a:t>
            </a:r>
          </a:p>
        </p:txBody>
      </p:sp>
      <p:sp>
        <p:nvSpPr>
          <p:cNvPr id="483" name="TextBox 482"/>
          <p:cNvSpPr txBox="1"/>
          <p:nvPr/>
        </p:nvSpPr>
        <p:spPr>
          <a:xfrm>
            <a:off x="10382488" y="4368401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84" name="TextBox 483"/>
          <p:cNvSpPr txBox="1"/>
          <p:nvPr/>
        </p:nvSpPr>
        <p:spPr>
          <a:xfrm>
            <a:off x="11005186" y="436840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6233160" y="4497873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SharePoint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7777044" y="4522826"/>
            <a:ext cx="201453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Stockage et partage des documents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10382488" y="4528300"/>
            <a:ext cx="96619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88" name="TextBox 487"/>
          <p:cNvSpPr txBox="1"/>
          <p:nvPr/>
        </p:nvSpPr>
        <p:spPr>
          <a:xfrm>
            <a:off x="11005186" y="4528300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89" name="TextBox 488"/>
          <p:cNvSpPr txBox="1"/>
          <p:nvPr/>
        </p:nvSpPr>
        <p:spPr>
          <a:xfrm>
            <a:off x="6233160" y="4657772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Simple BIM</a:t>
            </a:r>
            <a:r>
              <a:rPr sz="570" b="0">
                <a:solidFill>
                  <a:srgbClr val="78879F"/>
                </a:solidFill>
                <a:latin typeface="Calibri"/>
              </a:rPr>
              <a:t> Licence</a:t>
            </a:r>
          </a:p>
        </p:txBody>
      </p:sp>
      <p:sp>
        <p:nvSpPr>
          <p:cNvPr id="490" name="TextBox 489"/>
          <p:cNvSpPr txBox="1"/>
          <p:nvPr/>
        </p:nvSpPr>
        <p:spPr>
          <a:xfrm>
            <a:off x="7777044" y="4682725"/>
            <a:ext cx="146220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Fusion de maquettes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0382488" y="4688207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1005186" y="468820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6248400" y="4842631"/>
            <a:ext cx="140184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Sixense Monitoring</a:t>
            </a:r>
          </a:p>
        </p:txBody>
      </p:sp>
      <p:sp>
        <p:nvSpPr>
          <p:cNvPr id="494" name="TextBox 493"/>
          <p:cNvSpPr txBox="1"/>
          <p:nvPr/>
        </p:nvSpPr>
        <p:spPr>
          <a:xfrm>
            <a:off x="7777044" y="4842631"/>
            <a:ext cx="2143958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Mesures acoustiques et sonométriques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0382488" y="4848106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96" name="TextBox 495"/>
          <p:cNvSpPr txBox="1"/>
          <p:nvPr/>
        </p:nvSpPr>
        <p:spPr>
          <a:xfrm>
            <a:off x="11005186" y="4848106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497" name="TextBox 496"/>
          <p:cNvSpPr txBox="1"/>
          <p:nvPr/>
        </p:nvSpPr>
        <p:spPr>
          <a:xfrm>
            <a:off x="6233160" y="4977578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Sofistik Bridge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7777044" y="5002531"/>
            <a:ext cx="209621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Modélisation de la maquette du tunnel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0382488" y="5008005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11005186" y="5008005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6233160" y="5137477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Tableau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7777044" y="5162430"/>
            <a:ext cx="196298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Commandes de services généraux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10382488" y="5167904"/>
            <a:ext cx="96619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1005186" y="5167904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505" name="TextBox 504"/>
          <p:cNvSpPr txBox="1"/>
          <p:nvPr/>
        </p:nvSpPr>
        <p:spPr>
          <a:xfrm>
            <a:off x="6248400" y="5322329"/>
            <a:ext cx="85844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TIPS</a:t>
            </a:r>
          </a:p>
        </p:txBody>
      </p:sp>
      <p:sp>
        <p:nvSpPr>
          <p:cNvPr id="506" name="TextBox 505"/>
          <p:cNvSpPr txBox="1"/>
          <p:nvPr/>
        </p:nvSpPr>
        <p:spPr>
          <a:xfrm>
            <a:off x="7777044" y="5322329"/>
            <a:ext cx="177724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Pointage et mise en paiement</a:t>
            </a:r>
          </a:p>
        </p:txBody>
      </p:sp>
      <p:sp>
        <p:nvSpPr>
          <p:cNvPr id="507" name="TextBox 506"/>
          <p:cNvSpPr txBox="1"/>
          <p:nvPr/>
        </p:nvSpPr>
        <p:spPr>
          <a:xfrm>
            <a:off x="10382488" y="5327811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508" name="TextBox 507"/>
          <p:cNvSpPr txBox="1"/>
          <p:nvPr/>
        </p:nvSpPr>
        <p:spPr>
          <a:xfrm>
            <a:off x="11005186" y="532781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509" name="TextBox 508"/>
          <p:cNvSpPr txBox="1"/>
          <p:nvPr/>
        </p:nvSpPr>
        <p:spPr>
          <a:xfrm>
            <a:off x="6248400" y="5482236"/>
            <a:ext cx="949047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Traktor</a:t>
            </a:r>
          </a:p>
        </p:txBody>
      </p:sp>
      <p:sp>
        <p:nvSpPr>
          <p:cNvPr id="510" name="TextBox 509"/>
          <p:cNvSpPr txBox="1"/>
          <p:nvPr/>
        </p:nvSpPr>
        <p:spPr>
          <a:xfrm>
            <a:off x="7777044" y="5482236"/>
            <a:ext cx="211800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Commande de gros engins de chantier</a:t>
            </a:r>
          </a:p>
        </p:txBody>
      </p:sp>
      <p:sp>
        <p:nvSpPr>
          <p:cNvPr id="511" name="TextBox 510"/>
          <p:cNvSpPr txBox="1"/>
          <p:nvPr/>
        </p:nvSpPr>
        <p:spPr>
          <a:xfrm>
            <a:off x="10382488" y="5487710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1005186" y="5487710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6233160" y="5617175"/>
            <a:ext cx="1452443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Trimble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tekla bimsight</a:t>
            </a:r>
          </a:p>
        </p:txBody>
      </p:sp>
      <p:sp>
        <p:nvSpPr>
          <p:cNvPr id="514" name="TextBox 513"/>
          <p:cNvSpPr txBox="1"/>
          <p:nvPr/>
        </p:nvSpPr>
        <p:spPr>
          <a:xfrm>
            <a:off x="7777044" y="5642135"/>
            <a:ext cx="186356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Dépôt et partage des maquettes</a:t>
            </a:r>
          </a:p>
        </p:txBody>
      </p:sp>
      <p:sp>
        <p:nvSpPr>
          <p:cNvPr id="515" name="TextBox 514"/>
          <p:cNvSpPr txBox="1"/>
          <p:nvPr/>
        </p:nvSpPr>
        <p:spPr>
          <a:xfrm>
            <a:off x="10382488" y="5647609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516" name="TextBox 515"/>
          <p:cNvSpPr txBox="1"/>
          <p:nvPr/>
        </p:nvSpPr>
        <p:spPr>
          <a:xfrm>
            <a:off x="11005186" y="5647609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6248400" y="5802034"/>
            <a:ext cx="139065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7777044" y="5802034"/>
            <a:ext cx="192405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Gestion et traçabilité des déchets</a:t>
            </a:r>
          </a:p>
        </p:txBody>
      </p:sp>
      <p:sp>
        <p:nvSpPr>
          <p:cNvPr id="519" name="TextBox 518"/>
          <p:cNvSpPr txBox="1"/>
          <p:nvPr/>
        </p:nvSpPr>
        <p:spPr>
          <a:xfrm>
            <a:off x="10382488" y="5807509"/>
            <a:ext cx="96619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1005186" y="5807509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6233160" y="5936980"/>
            <a:ext cx="1452443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Word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522" name="TextBox 521"/>
          <p:cNvSpPr txBox="1"/>
          <p:nvPr/>
        </p:nvSpPr>
        <p:spPr>
          <a:xfrm>
            <a:off x="7777044" y="5961933"/>
            <a:ext cx="219575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Rédaction : contrats, avenants, courriers</a:t>
            </a:r>
          </a:p>
        </p:txBody>
      </p:sp>
      <p:sp>
        <p:nvSpPr>
          <p:cNvPr id="523" name="TextBox 522"/>
          <p:cNvSpPr txBox="1"/>
          <p:nvPr/>
        </p:nvSpPr>
        <p:spPr>
          <a:xfrm>
            <a:off x="10382488" y="5967415"/>
            <a:ext cx="96619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1005186" y="5967415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6248400" y="6121840"/>
            <a:ext cx="1017865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YELLOW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7777044" y="6121840"/>
            <a:ext cx="2132409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33415C"/>
                </a:solidFill>
                <a:latin typeface="Calibri"/>
              </a:rPr>
              <a:t>Avancement du tunnelier en temps réel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10382488" y="6127314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1005186" y="6127314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529" name="TextBox 528"/>
          <p:cNvSpPr txBox="1"/>
          <p:nvPr/>
        </p:nvSpPr>
        <p:spPr>
          <a:xfrm>
            <a:off x="11302603" y="6644636"/>
            <a:ext cx="123229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
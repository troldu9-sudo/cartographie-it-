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47497" y="358140"/>
            <a:ext cx="412551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547497" y="563880"/>
            <a:ext cx="43815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7497" y="769620"/>
            <a:ext cx="48649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903452"/>
            <a:ext cx="2987040" cy="1516737"/>
          </a:xfrm>
          <a:prstGeom prst="roundRect">
            <a:avLst>
              <a:gd name="adj" fmla="val 80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2910" y="1998821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9580" y="2025491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85687" y="2311479"/>
            <a:ext cx="153757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9580" y="2383869"/>
            <a:ext cx="54185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913" y="2383869"/>
            <a:ext cx="473869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26262" y="2383869"/>
            <a:ext cx="366712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91571" y="2650569"/>
            <a:ext cx="113168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580" y="2722959"/>
            <a:ext cx="576024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6084" y="2722959"/>
            <a:ext cx="598765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85330" y="2722959"/>
            <a:ext cx="498158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3967" y="2722959"/>
            <a:ext cx="371594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9580" y="2932509"/>
            <a:ext cx="624721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04781" y="2932509"/>
            <a:ext cx="770811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6072" y="2932509"/>
            <a:ext cx="711398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82272" y="299537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580" y="3142060"/>
            <a:ext cx="839033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2900" y="4325422"/>
            <a:ext cx="2987040" cy="1436727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2910" y="4420791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580" y="4447461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16060" y="4733449"/>
            <a:ext cx="140720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9580" y="4805839"/>
            <a:ext cx="784384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5780" y="486870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64444" y="4805839"/>
            <a:ext cx="537210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32134" y="4805839"/>
            <a:ext cx="839034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98496" y="5072539"/>
            <a:ext cx="192476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9580" y="5144929"/>
            <a:ext cx="54185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21913" y="5144929"/>
            <a:ext cx="493395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45275" y="5411629"/>
            <a:ext cx="197798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9580" y="5484019"/>
            <a:ext cx="448509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5780" y="554688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8568" y="5484019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74820" y="1074420"/>
            <a:ext cx="3657599" cy="5516880"/>
          </a:xfrm>
          <a:prstGeom prst="roundRect">
            <a:avLst>
              <a:gd name="adj" fmla="val 375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19600" y="1943100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95060" y="1943100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687741" y="20383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19600" y="2505432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95060" y="2505432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19600" y="3067764"/>
            <a:ext cx="1592580" cy="243840"/>
          </a:xfrm>
          <a:prstGeom prst="roundRect">
            <a:avLst>
              <a:gd name="adj" fmla="val 28124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5060" y="3067764"/>
            <a:ext cx="1592581" cy="243840"/>
          </a:xfrm>
          <a:prstGeom prst="roundRect">
            <a:avLst>
              <a:gd name="adj" fmla="val 28124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19600" y="3357324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95060" y="3357324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19600" y="3646884"/>
            <a:ext cx="3368040" cy="243840"/>
          </a:xfrm>
          <a:prstGeom prst="roundRect">
            <a:avLst>
              <a:gd name="adj" fmla="val 28124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19600" y="4209217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95060" y="4209217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419600" y="4771549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95060" y="4771549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738104" y="4866799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19600" y="5061109"/>
            <a:ext cx="336804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419600" y="5623441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95060" y="5623441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19600" y="5943600"/>
            <a:ext cx="3368040" cy="533400"/>
          </a:xfrm>
          <a:prstGeom prst="roundRect">
            <a:avLst>
              <a:gd name="adj" fmla="val 17142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03420" y="6027420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95060" y="6027420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862060" y="1521143"/>
            <a:ext cx="2987040" cy="1775817"/>
          </a:xfrm>
          <a:prstGeom prst="roundRect">
            <a:avLst>
              <a:gd name="adj" fmla="val 686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942071" y="161651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968741" y="164318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28672" y="1929170"/>
            <a:ext cx="141374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968741" y="2001560"/>
            <a:ext cx="60531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604534" y="2001560"/>
            <a:ext cx="61888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80734" y="206442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253901" y="2001560"/>
            <a:ext cx="618768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30100" y="2064425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934337" y="2268260"/>
            <a:ext cx="180808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968741" y="2340650"/>
            <a:ext cx="54185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541074" y="2340650"/>
            <a:ext cx="839033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94715" y="2607350"/>
            <a:ext cx="164770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968741" y="2679740"/>
            <a:ext cx="571142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570363" y="2679740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982319" y="2679740"/>
            <a:ext cx="77081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816465" y="2946440"/>
            <a:ext cx="192595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968741" y="3018830"/>
            <a:ext cx="425052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862060" y="3819882"/>
            <a:ext cx="2987040" cy="2324458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42071" y="3915251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968741" y="3941921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481548" y="4227909"/>
            <a:ext cx="126087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968741" y="4300299"/>
            <a:ext cx="356949" cy="179070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356169" y="4300299"/>
            <a:ext cx="605314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04051" y="4566999"/>
            <a:ext cx="123837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8968741" y="4639389"/>
            <a:ext cx="538758" cy="179070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537978" y="4639389"/>
            <a:ext cx="39100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9959459" y="4639389"/>
            <a:ext cx="44958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349270" y="4906089"/>
            <a:ext cx="139315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968741" y="4978480"/>
            <a:ext cx="571142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05180" y="5245180"/>
            <a:ext cx="173724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968741" y="5317570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380697" y="5317570"/>
            <a:ext cx="711398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56897" y="538043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122575" y="5317570"/>
            <a:ext cx="77081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968741" y="5527120"/>
            <a:ext cx="839033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83522" y="5793820"/>
            <a:ext cx="165889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968741" y="5866210"/>
            <a:ext cx="53721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536430" y="5866210"/>
            <a:ext cx="39100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957911" y="5866210"/>
            <a:ext cx="37469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2900" y="312420"/>
            <a:ext cx="291226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VUE D'ENSEMBLE · PÔLES TECHNIQUES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2900" y="847249"/>
            <a:ext cx="470439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Méthodes &amp; BIM, Topographie, Tunnel et Travaux, autour du socle applicatif commun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21009" y="361950"/>
            <a:ext cx="191547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3177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046607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73177" y="579120"/>
            <a:ext cx="9867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94947" y="773430"/>
            <a:ext cx="19255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ou mission à confirmer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73177" y="784860"/>
            <a:ext cx="103512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valider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6740" y="1979652"/>
            <a:ext cx="1587937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6740" y="2124789"/>
            <a:ext cx="141708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INGÉNIERIE · BIM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49580" y="2261949"/>
            <a:ext cx="186856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3A6BE5"/>
                </a:solidFill>
                <a:latin typeface="Calibri"/>
              </a:rPr>
              <a:t>PRODUCTION DE MAQUETTES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82880" y="2406729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55213" y="2406729"/>
            <a:ext cx="100726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59562" y="2406729"/>
            <a:ext cx="9001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580" y="2601039"/>
            <a:ext cx="227445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3A6BE5"/>
                </a:solidFill>
                <a:latin typeface="Calibri"/>
              </a:rPr>
              <a:t>GESTION ET PARTAGE DES MAQUETTES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2880" y="2745820"/>
            <a:ext cx="11094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9384" y="2745820"/>
            <a:ext cx="11321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8630" y="2745820"/>
            <a:ext cx="10315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47267" y="2745820"/>
            <a:ext cx="90499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82880" y="2955369"/>
            <a:ext cx="11581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8081" y="2955369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730812" y="2955369"/>
            <a:ext cx="115335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Mezzoteam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2880" y="3164919"/>
            <a:ext cx="13724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Trimble Connect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86740" y="4401622"/>
            <a:ext cx="137922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86740" y="4546759"/>
            <a:ext cx="178355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580" y="4683919"/>
            <a:ext cx="199894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ET NUAGES DE POINTS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4828699"/>
            <a:ext cx="12263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Cyclone 3DR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7744" y="4828699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65434" y="4828699"/>
            <a:ext cx="13724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Trimble Connect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49580" y="5023009"/>
            <a:ext cx="14813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PLANS ET CALCULS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82880" y="5167789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5213" y="5167789"/>
            <a:ext cx="10267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9580" y="5362099"/>
            <a:ext cx="142815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SUIVI DES LEVERS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74320" y="5506879"/>
            <a:ext cx="890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Pixis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61868" y="5506879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252442" y="1226820"/>
            <a:ext cx="1702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144">
                <a:solidFill>
                  <a:srgbClr val="4CC9E8"/>
                </a:solidFill>
                <a:latin typeface="Calibri"/>
              </a:rPr>
              <a:t>SOCLE APPLICATIF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957524" y="1371600"/>
            <a:ext cx="229219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80" b="1" spc="-14">
                <a:solidFill>
                  <a:srgbClr val="FFFFFF"/>
                </a:solidFill>
                <a:latin typeface="Calibri"/>
              </a:rPr>
              <a:t>Logiciels communs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922044" y="1615440"/>
            <a:ext cx="23630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0">
                <a:solidFill>
                  <a:srgbClr val="95A5C2"/>
                </a:solidFill>
                <a:latin typeface="Calibri"/>
              </a:rPr>
              <a:t>Plateformes partagées par plusieurs services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246370" y="1805940"/>
            <a:ext cx="17143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99848" y="199644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3901" y="1996440"/>
            <a:ext cx="1193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199817" y="2368272"/>
            <a:ext cx="180748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63797" y="2558772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26160" y="2558772"/>
            <a:ext cx="11303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85767" y="2930604"/>
            <a:ext cx="18355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743212" y="3121104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41996" y="3121104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733568" y="3410665"/>
            <a:ext cx="96452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542485" y="3410665"/>
            <a:ext cx="89761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498664" y="3700225"/>
            <a:ext cx="120979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318403" y="4072057"/>
            <a:ext cx="157043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43212" y="4262557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97823" y="4262557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222796" y="4634389"/>
            <a:ext cx="176164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36877" y="4824889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494264" y="4824889"/>
            <a:ext cx="109323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599152" y="5114449"/>
            <a:ext cx="100881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52586" y="5486281"/>
            <a:ext cx="130194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748451" y="5676781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27602" y="5676781"/>
            <a:ext cx="9274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43319" y="6088380"/>
            <a:ext cx="122884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661654" y="6225540"/>
            <a:ext cx="11922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86394" y="6088380"/>
            <a:ext cx="112597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10896" y="6225540"/>
            <a:ext cx="147697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105900" y="1597343"/>
            <a:ext cx="1057037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Tunnel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105900" y="1742480"/>
            <a:ext cx="168092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OUVRAGE SOUTERRAIN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968741" y="1879640"/>
            <a:ext cx="199239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PLANIFICATION ET AVANCEMENT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702040" y="2024420"/>
            <a:ext cx="113871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429274" y="2024420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Power BI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0078640" y="2024420"/>
            <a:ext cx="106072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YELLOW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968741" y="2218730"/>
            <a:ext cx="1598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PLANS ET MAQUETTES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702040" y="2363510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74373" y="2363510"/>
            <a:ext cx="13724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Trimble Connect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968741" y="2557820"/>
            <a:ext cx="175843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RÉSERVES ET CONTRÔLES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702040" y="2702600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303663" y="2702600"/>
            <a:ext cx="9148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15619" y="2702600"/>
            <a:ext cx="13042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Quick Connect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968741" y="2896910"/>
            <a:ext cx="148018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GESTION DU STOCK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702040" y="3041690"/>
            <a:ext cx="95845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105900" y="3896082"/>
            <a:ext cx="1124069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105900" y="4041220"/>
            <a:ext cx="163258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EXÉCUTION CHANTIER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968741" y="4178380"/>
            <a:ext cx="214526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DD7E2C"/>
                </a:solidFill>
                <a:latin typeface="Calibri"/>
              </a:rPr>
              <a:t>GESTION DES JALONS DE CHANTIER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02040" y="4323160"/>
            <a:ext cx="890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089470" y="4323160"/>
            <a:ext cx="113871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968741" y="4517470"/>
            <a:ext cx="216777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DD7E2C"/>
                </a:solidFill>
                <a:latin typeface="Calibri"/>
              </a:rPr>
              <a:t>COMMANDE D'ENGINS ET MATÉRIELS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702040" y="4662250"/>
            <a:ext cx="10721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271278" y="4662250"/>
            <a:ext cx="92440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692759" y="4662250"/>
            <a:ext cx="9829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Traktor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968741" y="4856559"/>
            <a:ext cx="201298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DD7E2C"/>
                </a:solidFill>
                <a:latin typeface="Calibri"/>
              </a:rPr>
              <a:t>GESTION DES RÉSERVES ET MAD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02040" y="5001339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968741" y="5195649"/>
            <a:ext cx="166889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DD7E2C"/>
                </a:solidFill>
                <a:latin typeface="Calibri"/>
              </a:rPr>
              <a:t>CONDUITE DE CHANTIER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702040" y="5340429"/>
            <a:ext cx="9148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205436" y="5340429"/>
            <a:ext cx="115335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Mezzoteam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855875" y="5340429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Quick Connect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702040" y="5549979"/>
            <a:ext cx="13724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Trimble Connect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968741" y="5744289"/>
            <a:ext cx="174724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DD7E2C"/>
                </a:solidFill>
                <a:latin typeface="Calibri"/>
              </a:rPr>
              <a:t>VALIDATION ET CONTRATS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702040" y="5889069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E-Paraph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269730" y="5889069"/>
            <a:ext cx="92440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691212" y="5889069"/>
            <a:ext cx="9080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Word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1/4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951220" y="5642491"/>
            <a:ext cx="472440" cy="670679"/>
          </a:xfrm>
          <a:custGeom>
            <a:avLst/>
            <a:gdLst/>
            <a:ahLst/>
            <a:cxnLst/>
            <a:rect l="0" t="0" r="r" b="b"/>
            <a:pathLst>
              <a:path w="472440" h="670679">
                <a:moveTo>
                  <a:pt x="60960" y="60960"/>
                </a:moveTo>
                <a:cubicBezTo>
                  <a:pt x="411480" y="60960"/>
                  <a:pt x="411480" y="609719"/>
                  <a:pt x="60960" y="609719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951220" y="5726311"/>
            <a:ext cx="304800" cy="586859"/>
          </a:xfrm>
          <a:custGeom>
            <a:avLst/>
            <a:gdLst/>
            <a:ahLst/>
            <a:cxnLst/>
            <a:rect l="0" t="0" r="r" b="b"/>
            <a:pathLst>
              <a:path w="304800" h="586859">
                <a:moveTo>
                  <a:pt x="60960" y="60960"/>
                </a:moveTo>
                <a:cubicBezTo>
                  <a:pt x="121920" y="215940"/>
                  <a:pt x="182880" y="370919"/>
                  <a:pt x="243840" y="525899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951220" y="4790599"/>
            <a:ext cx="472440" cy="1438751"/>
          </a:xfrm>
          <a:custGeom>
            <a:avLst/>
            <a:gdLst/>
            <a:ahLst/>
            <a:cxnLst/>
            <a:rect l="0" t="0" r="r" b="b"/>
            <a:pathLst>
              <a:path w="472440" h="1438751">
                <a:moveTo>
                  <a:pt x="60960" y="60960"/>
                </a:moveTo>
                <a:cubicBezTo>
                  <a:pt x="411480" y="60960"/>
                  <a:pt x="411480" y="1377791"/>
                  <a:pt x="60960" y="137779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5951220" y="4874419"/>
            <a:ext cx="304800" cy="1354931"/>
          </a:xfrm>
          <a:custGeom>
            <a:avLst/>
            <a:gdLst/>
            <a:ahLst/>
            <a:cxnLst/>
            <a:rect l="0" t="0" r="r" b="b"/>
            <a:pathLst>
              <a:path w="304800" h="1354931">
                <a:moveTo>
                  <a:pt x="60960" y="60960"/>
                </a:moveTo>
                <a:cubicBezTo>
                  <a:pt x="121920" y="471964"/>
                  <a:pt x="182880" y="882968"/>
                  <a:pt x="243840" y="129397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5951220" y="3128724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60960" y="60960"/>
                </a:moveTo>
                <a:cubicBezTo>
                  <a:pt x="121920" y="60960"/>
                  <a:pt x="182880" y="60960"/>
                  <a:pt x="24384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951220" y="4270177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243840" y="60960"/>
                </a:moveTo>
                <a:cubicBezTo>
                  <a:pt x="182880" y="60960"/>
                  <a:pt x="121920" y="6096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642860" y="4667964"/>
            <a:ext cx="1280160" cy="1603296"/>
          </a:xfrm>
          <a:custGeom>
            <a:avLst/>
            <a:gdLst/>
            <a:ahLst/>
            <a:cxnLst/>
            <a:rect l="0" t="0" r="r" b="b"/>
            <a:pathLst>
              <a:path w="1280160" h="1603296">
                <a:moveTo>
                  <a:pt x="1219200" y="60960"/>
                </a:moveTo>
                <a:cubicBezTo>
                  <a:pt x="697992" y="60960"/>
                  <a:pt x="582168" y="1542336"/>
                  <a:pt x="60960" y="1542336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68980" y="2045970"/>
            <a:ext cx="1211580" cy="3207544"/>
          </a:xfrm>
          <a:custGeom>
            <a:avLst/>
            <a:gdLst/>
            <a:ahLst/>
            <a:cxnLst/>
            <a:rect l="0" t="0" r="r" b="b"/>
            <a:pathLst>
              <a:path w="1211580" h="3207544">
                <a:moveTo>
                  <a:pt x="1150620" y="60960"/>
                </a:moveTo>
                <a:cubicBezTo>
                  <a:pt x="660273" y="60960"/>
                  <a:pt x="551307" y="3146584"/>
                  <a:pt x="60960" y="3146584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268980" y="1962150"/>
            <a:ext cx="1211580" cy="2952274"/>
          </a:xfrm>
          <a:custGeom>
            <a:avLst/>
            <a:gdLst/>
            <a:ahLst/>
            <a:cxnLst/>
            <a:rect l="0" t="0" r="r" b="b"/>
            <a:pathLst>
              <a:path w="1211580" h="2952274">
                <a:moveTo>
                  <a:pt x="1150620" y="60960"/>
                </a:moveTo>
                <a:cubicBezTo>
                  <a:pt x="660273" y="60960"/>
                  <a:pt x="551307" y="2891314"/>
                  <a:pt x="60960" y="2891314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173004" y="4834414"/>
            <a:ext cx="152400" cy="163830"/>
          </a:xfrm>
          <a:custGeom>
            <a:avLst/>
            <a:gdLst/>
            <a:ahLst/>
            <a:cxnLst/>
            <a:rect l="0" t="0" r="r" b="b"/>
            <a:pathLst>
              <a:path w="152400" h="163830">
                <a:moveTo>
                  <a:pt x="91440" y="60960"/>
                </a:moveTo>
                <a:cubicBezTo>
                  <a:pt x="81280" y="74930"/>
                  <a:pt x="71120" y="88900"/>
                  <a:pt x="60960" y="10287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30473" y="5173504"/>
            <a:ext cx="152400" cy="163830"/>
          </a:xfrm>
          <a:custGeom>
            <a:avLst/>
            <a:gdLst/>
            <a:ahLst/>
            <a:cxnLst/>
            <a:rect l="0" t="0" r="r" b="b"/>
            <a:pathLst>
              <a:path w="152400" h="163830">
                <a:moveTo>
                  <a:pt x="60960" y="102870"/>
                </a:moveTo>
                <a:cubicBezTo>
                  <a:pt x="71120" y="88900"/>
                  <a:pt x="81280" y="74930"/>
                  <a:pt x="9144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987796" y="567906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5987796" y="576288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5987796" y="482717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987796" y="491099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987796" y="316530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170676" y="4306753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837676" y="470454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395216" y="208254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395216" y="199872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240060" y="487099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67049" y="525199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47497" y="358140"/>
            <a:ext cx="412551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547497" y="563880"/>
            <a:ext cx="43815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7497" y="769620"/>
            <a:ext cx="48649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155383"/>
            <a:ext cx="2987040" cy="2873097"/>
          </a:xfrm>
          <a:prstGeom prst="roundRect">
            <a:avLst>
              <a:gd name="adj" fmla="val 424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2910" y="1250752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9580" y="1277422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17546" y="1563410"/>
            <a:ext cx="190571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9580" y="1635800"/>
            <a:ext cx="46410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4166" y="1635800"/>
            <a:ext cx="57114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45788" y="1635800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57745" y="1635800"/>
            <a:ext cx="711398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3945" y="1698664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9580" y="1845350"/>
            <a:ext cx="618887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5780" y="190821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8947" y="1845350"/>
            <a:ext cx="770811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50043" y="2112050"/>
            <a:ext cx="97321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9580" y="2184440"/>
            <a:ext cx="57114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1203" y="2184440"/>
            <a:ext cx="839034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3525" y="2451139"/>
            <a:ext cx="1689735" cy="7621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580" y="2523530"/>
            <a:ext cx="634484" cy="17906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4544" y="2523530"/>
            <a:ext cx="618887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90744" y="258639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63911" y="2523530"/>
            <a:ext cx="770811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38657" y="2790229"/>
            <a:ext cx="158460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9580" y="2862620"/>
            <a:ext cx="611624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5780" y="2925484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1684" y="2862620"/>
            <a:ext cx="1154549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67884" y="2925484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76713" y="2862620"/>
            <a:ext cx="542091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9580" y="3072169"/>
            <a:ext cx="1052155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5780" y="313503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48753" y="3338870"/>
            <a:ext cx="177450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9580" y="3411260"/>
            <a:ext cx="948095" cy="17906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30429" y="3677960"/>
            <a:ext cx="169283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9580" y="3750350"/>
            <a:ext cx="391001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900" y="4185643"/>
            <a:ext cx="2987040" cy="2324456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2910" y="4281012"/>
            <a:ext cx="121920" cy="121919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49580" y="4307682"/>
            <a:ext cx="68580" cy="6857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14763" y="4593669"/>
            <a:ext cx="130849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9580" y="4666060"/>
            <a:ext cx="381238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61298" y="4666060"/>
            <a:ext cx="356949" cy="179070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248728" y="4666060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660684" y="4666060"/>
            <a:ext cx="61888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36884" y="472892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310051" y="4666060"/>
            <a:ext cx="37469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9580" y="4875609"/>
            <a:ext cx="618768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25780" y="4938474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06109" y="5142310"/>
            <a:ext cx="101715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49580" y="5214699"/>
            <a:ext cx="512921" cy="179070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92981" y="5214699"/>
            <a:ext cx="56138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584841" y="5214699"/>
            <a:ext cx="53721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152531" y="5214699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97023" y="5481400"/>
            <a:ext cx="132623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9580" y="5553789"/>
            <a:ext cx="40886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88921" y="5553789"/>
            <a:ext cx="634484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553885" y="5553789"/>
            <a:ext cx="77081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25905" y="5820490"/>
            <a:ext cx="169735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9580" y="5892880"/>
            <a:ext cx="391120" cy="179069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72910" y="6159579"/>
            <a:ext cx="185035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9580" y="6231969"/>
            <a:ext cx="351949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32009" y="6231969"/>
            <a:ext cx="477083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39572" y="6231969"/>
            <a:ext cx="37469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274820" y="1074420"/>
            <a:ext cx="3657599" cy="5516879"/>
          </a:xfrm>
          <a:prstGeom prst="roundRect">
            <a:avLst>
              <a:gd name="adj" fmla="val 375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19600" y="1943100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195060" y="1943100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687741" y="20383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19600" y="2505432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195060" y="2505432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19600" y="3067764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195060" y="3067764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419600" y="3357324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5060" y="3357324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419600" y="3646884"/>
            <a:ext cx="336804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419600" y="4209216"/>
            <a:ext cx="1592580" cy="243841"/>
          </a:xfrm>
          <a:prstGeom prst="roundRect">
            <a:avLst>
              <a:gd name="adj" fmla="val 28124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195060" y="4209216"/>
            <a:ext cx="1592581" cy="243841"/>
          </a:xfrm>
          <a:prstGeom prst="roundRect">
            <a:avLst>
              <a:gd name="adj" fmla="val 28124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419600" y="4771549"/>
            <a:ext cx="1592580" cy="243839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195060" y="4771549"/>
            <a:ext cx="1592581" cy="243839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738104" y="4866799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419600" y="5061109"/>
            <a:ext cx="3368040" cy="243839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419600" y="5623441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95060" y="5623441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4419600" y="5943600"/>
            <a:ext cx="3368040" cy="533400"/>
          </a:xfrm>
          <a:prstGeom prst="roundRect">
            <a:avLst>
              <a:gd name="adj" fmla="val 17142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503420" y="6027419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195060" y="6027419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862060" y="2291477"/>
            <a:ext cx="2987040" cy="3082648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942071" y="2386846"/>
            <a:ext cx="121920" cy="121921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968741" y="2413516"/>
            <a:ext cx="68580" cy="6858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862310" y="2699504"/>
            <a:ext cx="88011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968741" y="2771894"/>
            <a:ext cx="532328" cy="179069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229850" y="3038594"/>
            <a:ext cx="151257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968741" y="3110984"/>
            <a:ext cx="512921" cy="17907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512142" y="3110984"/>
            <a:ext cx="561379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104001" y="3110984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515957" y="3110984"/>
            <a:ext cx="532329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1078766" y="3110984"/>
            <a:ext cx="39100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968741" y="3320534"/>
            <a:ext cx="34718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271999" y="3587234"/>
            <a:ext cx="147042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8968741" y="3659624"/>
            <a:ext cx="537210" cy="17907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536430" y="3659624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83585" y="3926324"/>
            <a:ext cx="115883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8968741" y="3998714"/>
            <a:ext cx="47148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470708" y="3998714"/>
            <a:ext cx="39100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103406" y="4265414"/>
            <a:ext cx="163901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8968741" y="4337805"/>
            <a:ext cx="683061" cy="17907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682281" y="4337805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0094238" y="4337805"/>
            <a:ext cx="61888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70438" y="4400669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0743605" y="4337805"/>
            <a:ext cx="61507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968741" y="4547354"/>
            <a:ext cx="374689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895767" y="4814055"/>
            <a:ext cx="84665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968741" y="4886444"/>
            <a:ext cx="595669" cy="17907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594889" y="4886444"/>
            <a:ext cx="689610" cy="17907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314980" y="4886444"/>
            <a:ext cx="561737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10907197" y="4886444"/>
            <a:ext cx="61341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968741" y="5095995"/>
            <a:ext cx="634483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9633704" y="5095995"/>
            <a:ext cx="381476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0045660" y="5095995"/>
            <a:ext cx="391001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0467142" y="5095995"/>
            <a:ext cx="391120" cy="17907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CC9E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2900" y="312420"/>
            <a:ext cx="34313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VUE D'ENSEMBLE · PÔLES SUPPORT &amp; PILOTAGE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2900" y="847248"/>
            <a:ext cx="437995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Qualité &amp; Environnement, Direction et DAF, autour du socle applicatif commun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021009" y="361950"/>
            <a:ext cx="191547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73177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46607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73177" y="579120"/>
            <a:ext cx="9867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94947" y="773430"/>
            <a:ext cx="19255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ou mission à confirmer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73177" y="784860"/>
            <a:ext cx="103512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valider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86740" y="1231583"/>
            <a:ext cx="2069664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86740" y="1376720"/>
            <a:ext cx="22644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CONTRÔLE · RÉSERVES · NUISANCES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9580" y="1513880"/>
            <a:ext cx="150042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C2456A"/>
                </a:solidFill>
                <a:latin typeface="Calibri"/>
              </a:rPr>
              <a:t>CONTRÔLE QUALITÉ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2880" y="1658660"/>
            <a:ext cx="997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7466" y="1658660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79088" y="1658660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82485" y="1658660"/>
            <a:ext cx="11533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Mezzoteam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74320" y="1868209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Power BI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2247" y="1868209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Quick Connect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49580" y="2062520"/>
            <a:ext cx="2432923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C2456A"/>
                </a:solidFill>
                <a:latin typeface="Calibri"/>
              </a:rPr>
              <a:t>GESTION DES MAD ET LEVÉES DE RÉSERVE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" y="2207299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03" y="2207299"/>
            <a:ext cx="13724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Trimble Connect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49580" y="2401609"/>
            <a:ext cx="171640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C2456A"/>
                </a:solidFill>
                <a:latin typeface="Calibri"/>
              </a:rPr>
              <a:t>SUIVI ENVIRONNEMENTAL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2880" y="2546390"/>
            <a:ext cx="11678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9284" y="2546390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Power BI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97211" y="2546390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Quick Connect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49580" y="2740700"/>
            <a:ext cx="1821537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SUIVI DES CONSOMMATIONS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4320" y="2885480"/>
            <a:ext cx="10535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Lafarge+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6424" y="2885480"/>
            <a:ext cx="159650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Live Objects (Orange)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10013" y="2885480"/>
            <a:ext cx="10754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3095030"/>
            <a:ext cx="149411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Sixense Monitoring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9580" y="3289339"/>
            <a:ext cx="163163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GESTION DES DÉCHETS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2880" y="3434119"/>
            <a:ext cx="14814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49580" y="3628429"/>
            <a:ext cx="171330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C2456A"/>
                </a:solidFill>
                <a:latin typeface="Calibri"/>
              </a:rPr>
              <a:t>COMMANDE DE MATÉRIEL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82880" y="3773210"/>
            <a:ext cx="924401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86740" y="4261842"/>
            <a:ext cx="1187172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6740" y="4406979"/>
            <a:ext cx="193786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PILOTAGE · SOUS-TRAITANCE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49580" y="4544140"/>
            <a:ext cx="2097643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5B57D6"/>
                </a:solidFill>
                <a:latin typeface="Calibri"/>
              </a:rPr>
              <a:t>RÉCOLTE DES KPI ET AVANCEMENT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2880" y="4688919"/>
            <a:ext cx="9146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94598" y="4688919"/>
            <a:ext cx="890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82028" y="4688919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85424" y="4688919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Power BI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43351" y="4688919"/>
            <a:ext cx="90809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Word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4320" y="4898470"/>
            <a:ext cx="106072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YELLOW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49580" y="5092779"/>
            <a:ext cx="238898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5B57D6"/>
                </a:solidFill>
                <a:latin typeface="Calibri"/>
              </a:rPr>
              <a:t>VALIDATION DES CONTRATS ET DÉPENSES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2880" y="5237559"/>
            <a:ext cx="10463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26281" y="5237559"/>
            <a:ext cx="10947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DocuSign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318141" y="5237559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E-Paraph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885831" y="5237559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49580" y="5431869"/>
            <a:ext cx="207990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5B57D6"/>
                </a:solidFill>
                <a:latin typeface="Calibri"/>
              </a:rPr>
              <a:t>DÉCLARATION ET GESTION DES ST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" y="5576649"/>
            <a:ext cx="9422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BATIS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22221" y="5576649"/>
            <a:ext cx="11678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E-Checking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287185" y="5576649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Quick Connect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49580" y="5770959"/>
            <a:ext cx="1708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5B57D6"/>
                </a:solidFill>
                <a:latin typeface="Calibri"/>
              </a:rPr>
              <a:t>GESTION DES MATÉRIELS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2880" y="5915739"/>
            <a:ext cx="9245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9580" y="6110049"/>
            <a:ext cx="155579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SERVICES GÉNÉRAUX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82880" y="6254830"/>
            <a:ext cx="885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5309" y="6254830"/>
            <a:ext cx="10104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72872" y="6254830"/>
            <a:ext cx="90809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Word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52442" y="1226820"/>
            <a:ext cx="1702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144">
                <a:solidFill>
                  <a:srgbClr val="4CC9E8"/>
                </a:solidFill>
                <a:latin typeface="Calibri"/>
              </a:rPr>
              <a:t>SOCLE APPLICATIF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57524" y="1371600"/>
            <a:ext cx="229219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80" b="1" spc="-14">
                <a:solidFill>
                  <a:srgbClr val="FFFFFF"/>
                </a:solidFill>
                <a:latin typeface="Calibri"/>
              </a:rPr>
              <a:t>Logiciels communs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22044" y="1615440"/>
            <a:ext cx="23630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0">
                <a:solidFill>
                  <a:srgbClr val="95A5C2"/>
                </a:solidFill>
                <a:latin typeface="Calibri"/>
              </a:rPr>
              <a:t>Plateformes partagées par plusieurs services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246370" y="1805940"/>
            <a:ext cx="17143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99848" y="199644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43901" y="1996440"/>
            <a:ext cx="1193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199817" y="2368273"/>
            <a:ext cx="1807488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663797" y="2558773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26160" y="2558773"/>
            <a:ext cx="11303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185767" y="2930604"/>
            <a:ext cx="18355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43212" y="3121104"/>
            <a:ext cx="945237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441996" y="3121104"/>
            <a:ext cx="1098709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733568" y="3410665"/>
            <a:ext cx="96452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542485" y="3410665"/>
            <a:ext cx="89761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498664" y="3700225"/>
            <a:ext cx="120979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318403" y="4072057"/>
            <a:ext cx="157043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743212" y="4262557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397823" y="4262557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222796" y="4634389"/>
            <a:ext cx="1761648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36877" y="4824889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494264" y="4824889"/>
            <a:ext cx="109323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599152" y="5114449"/>
            <a:ext cx="1008817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452586" y="5486281"/>
            <a:ext cx="130194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748451" y="5676781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527602" y="5676781"/>
            <a:ext cx="9274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43319" y="6088380"/>
            <a:ext cx="122884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661654" y="6225540"/>
            <a:ext cx="11922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386394" y="6088380"/>
            <a:ext cx="112597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210896" y="6225540"/>
            <a:ext cx="147697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05900" y="2367677"/>
            <a:ext cx="924997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05900" y="2512815"/>
            <a:ext cx="2203728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CONTRATS · COMPTA · ACHATS · RH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968741" y="2649974"/>
            <a:ext cx="252602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8257E6"/>
                </a:solidFill>
                <a:latin typeface="Calibri"/>
              </a:rPr>
              <a:t>ENGAGEMENT ET IMPUTATION DES DÉPENSES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702040" y="2794755"/>
            <a:ext cx="106572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Harmony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968741" y="2989065"/>
            <a:ext cx="1893570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8257E6"/>
                </a:solidFill>
                <a:latin typeface="Calibri"/>
              </a:rPr>
              <a:t>GESTION DE LA FACTURATION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702040" y="3133844"/>
            <a:ext cx="10463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9245441" y="3133844"/>
            <a:ext cx="10947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DocuSign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837302" y="3133844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0249257" y="3133844"/>
            <a:ext cx="106572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Harmony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812066" y="3133844"/>
            <a:ext cx="92440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702040" y="3343394"/>
            <a:ext cx="88058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TIPS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8968741" y="3537704"/>
            <a:ext cx="193571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8257E6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702040" y="3682484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269730" y="3682484"/>
            <a:ext cx="9148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968741" y="3876794"/>
            <a:ext cx="22473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GESTION DES COMMANDES ET ACHATS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702040" y="4021575"/>
            <a:ext cx="1004887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Achat +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9204008" y="4021575"/>
            <a:ext cx="924401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68741" y="4215885"/>
            <a:ext cx="1767126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8257E6"/>
                </a:solidFill>
                <a:latin typeface="Calibri"/>
              </a:rPr>
              <a:t>GESTION CONTRACTUELLE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702040" y="4360664"/>
            <a:ext cx="12164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NotebookLM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415582" y="4360664"/>
            <a:ext cx="9148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9918978" y="4360664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Power BI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0476905" y="4360664"/>
            <a:ext cx="11484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SharePoint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702040" y="4570214"/>
            <a:ext cx="908090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Word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8968741" y="4764524"/>
            <a:ext cx="2559486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8257E6"/>
                </a:solidFill>
                <a:latin typeface="Calibri"/>
              </a:rPr>
              <a:t>GESTION DU PERSONNEL ET DES FORMATIONS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8702040" y="4909304"/>
            <a:ext cx="11290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9328190" y="4909304"/>
            <a:ext cx="12230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0048280" y="4909304"/>
            <a:ext cx="10951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0640497" y="4909304"/>
            <a:ext cx="114680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BIP / BAPS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8702040" y="5118854"/>
            <a:ext cx="11678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E-Checking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9367005" y="5118854"/>
            <a:ext cx="914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Excel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9778961" y="5118854"/>
            <a:ext cx="92440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Pablo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0200442" y="5118854"/>
            <a:ext cx="9245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4295B3"/>
                </a:solidFill>
                <a:latin typeface="Calibri"/>
              </a:rPr>
              <a:t>Puma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2/4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5951220" y="5642491"/>
            <a:ext cx="472440" cy="670678"/>
          </a:xfrm>
          <a:custGeom>
            <a:avLst/>
            <a:gdLst/>
            <a:ahLst/>
            <a:cxnLst/>
            <a:rect l="0" t="0" r="r" b="b"/>
            <a:pathLst>
              <a:path w="472440" h="670678">
                <a:moveTo>
                  <a:pt x="60960" y="60960"/>
                </a:moveTo>
                <a:cubicBezTo>
                  <a:pt x="411480" y="60960"/>
                  <a:pt x="411480" y="609718"/>
                  <a:pt x="60960" y="609718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951220" y="5726311"/>
            <a:ext cx="304800" cy="628768"/>
          </a:xfrm>
          <a:custGeom>
            <a:avLst/>
            <a:gdLst/>
            <a:ahLst/>
            <a:cxnLst/>
            <a:rect l="0" t="0" r="r" b="b"/>
            <a:pathLst>
              <a:path w="304800" h="628768">
                <a:moveTo>
                  <a:pt x="60960" y="60960"/>
                </a:moveTo>
                <a:cubicBezTo>
                  <a:pt x="121920" y="229909"/>
                  <a:pt x="182880" y="398859"/>
                  <a:pt x="243840" y="567808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5951220" y="4790599"/>
            <a:ext cx="472440" cy="1438751"/>
          </a:xfrm>
          <a:custGeom>
            <a:avLst/>
            <a:gdLst/>
            <a:ahLst/>
            <a:cxnLst/>
            <a:rect l="0" t="0" r="r" b="b"/>
            <a:pathLst>
              <a:path w="472440" h="1438751">
                <a:moveTo>
                  <a:pt x="60960" y="60960"/>
                </a:moveTo>
                <a:cubicBezTo>
                  <a:pt x="411480" y="60960"/>
                  <a:pt x="411480" y="1377791"/>
                  <a:pt x="60960" y="137779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5951220" y="4874419"/>
            <a:ext cx="304800" cy="1396841"/>
          </a:xfrm>
          <a:custGeom>
            <a:avLst/>
            <a:gdLst/>
            <a:ahLst/>
            <a:cxnLst/>
            <a:rect l="0" t="0" r="r" b="b"/>
            <a:pathLst>
              <a:path w="304800" h="1396841">
                <a:moveTo>
                  <a:pt x="60960" y="60960"/>
                </a:moveTo>
                <a:cubicBezTo>
                  <a:pt x="121920" y="485934"/>
                  <a:pt x="182880" y="910907"/>
                  <a:pt x="243840" y="133588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5951220" y="3128724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60960" y="60960"/>
                </a:moveTo>
                <a:cubicBezTo>
                  <a:pt x="121920" y="60960"/>
                  <a:pt x="182880" y="60960"/>
                  <a:pt x="24384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726680" y="3086814"/>
            <a:ext cx="1196339" cy="132755"/>
          </a:xfrm>
          <a:custGeom>
            <a:avLst/>
            <a:gdLst/>
            <a:ahLst/>
            <a:cxnLst/>
            <a:rect l="0" t="0" r="r" b="b"/>
            <a:pathLst>
              <a:path w="1196339" h="132755">
                <a:moveTo>
                  <a:pt x="1135379" y="71795"/>
                </a:moveTo>
                <a:cubicBezTo>
                  <a:pt x="651891" y="71795"/>
                  <a:pt x="544449" y="60960"/>
                  <a:pt x="60960" y="60960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726680" y="3170634"/>
            <a:ext cx="1196339" cy="132755"/>
          </a:xfrm>
          <a:custGeom>
            <a:avLst/>
            <a:gdLst/>
            <a:ahLst/>
            <a:cxnLst/>
            <a:rect l="0" t="0" r="r" b="b"/>
            <a:pathLst>
              <a:path w="1196339" h="132755">
                <a:moveTo>
                  <a:pt x="60960" y="60960"/>
                </a:moveTo>
                <a:cubicBezTo>
                  <a:pt x="544449" y="60960"/>
                  <a:pt x="651891" y="71795"/>
                  <a:pt x="1135379" y="71795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951220" y="4270177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243840" y="60960"/>
                </a:moveTo>
                <a:cubicBezTo>
                  <a:pt x="182880" y="60960"/>
                  <a:pt x="121920" y="6096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268980" y="3439835"/>
            <a:ext cx="2987040" cy="2747605"/>
          </a:xfrm>
          <a:custGeom>
            <a:avLst/>
            <a:gdLst/>
            <a:ahLst/>
            <a:cxnLst/>
            <a:rect l="0" t="0" r="r" b="b"/>
            <a:pathLst>
              <a:path w="2987040" h="2747605">
                <a:moveTo>
                  <a:pt x="60960" y="60960"/>
                </a:moveTo>
                <a:cubicBezTo>
                  <a:pt x="1350264" y="60960"/>
                  <a:pt x="1636776" y="2686645"/>
                  <a:pt x="2926080" y="2686645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987796" y="567906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987796" y="576288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987796" y="482717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987796" y="491099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987796" y="316530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8837676" y="313422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7763256" y="320721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170676" y="4306753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3305556" y="347641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9100" y="1375409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5826" y="1375409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8430" y="1386839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00" y="169545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95826" y="169545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8430" y="1706880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9100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95826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8430" y="2026919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100" y="233553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95826" y="233553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8430" y="2346961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100" y="265557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5826" y="265557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8430" y="2667000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00" y="2975610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5826" y="29756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8430" y="2987041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9100" y="329565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95826" y="329565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8430" y="3307081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9100" y="36156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5826" y="36156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8430" y="3627120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9100" y="3935729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5826" y="3935729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8430" y="3947161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9100" y="4255771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95826" y="4255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430" y="4267200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9100" y="45758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95826" y="457581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8430" y="4587240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9100" y="4895849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5826" y="4895849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8430" y="4907281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9100" y="521589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95826" y="5215890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8430" y="5227320"/>
            <a:ext cx="542806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9100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95826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8430" y="5547360"/>
            <a:ext cx="754499" cy="14477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19100" y="5855969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95826" y="5855969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78430" y="5867401"/>
            <a:ext cx="501253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4460" y="1135380"/>
            <a:ext cx="1383031" cy="524828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6070" y="1135380"/>
            <a:ext cx="1383030" cy="524828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14460" y="1728787"/>
            <a:ext cx="1383031" cy="524828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66070" y="1728787"/>
            <a:ext cx="1383030" cy="524828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14460" y="2352675"/>
            <a:ext cx="2834640" cy="1722836"/>
          </a:xfrm>
          <a:prstGeom prst="roundRect">
            <a:avLst>
              <a:gd name="adj" fmla="val 66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51620" y="3042643"/>
            <a:ext cx="2560320" cy="68579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51620" y="3042643"/>
            <a:ext cx="1327547" cy="68579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79167" y="3042643"/>
            <a:ext cx="758548" cy="68579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37715" y="3042643"/>
            <a:ext cx="474107" cy="68579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51620" y="3332203"/>
            <a:ext cx="2560320" cy="68579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1620" y="3332203"/>
            <a:ext cx="1991320" cy="68579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42940" y="3332203"/>
            <a:ext cx="379215" cy="68579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22155" y="3332203"/>
            <a:ext cx="189547" cy="68579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51620" y="3621763"/>
            <a:ext cx="2560320" cy="68579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1620" y="3621763"/>
            <a:ext cx="1706880" cy="68579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3621763"/>
            <a:ext cx="853440" cy="68579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14460" y="4174570"/>
            <a:ext cx="2834640" cy="2371130"/>
          </a:xfrm>
          <a:prstGeom prst="roundRect">
            <a:avLst>
              <a:gd name="adj" fmla="val 482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51620" y="454509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151620" y="501884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51620" y="5492591"/>
            <a:ext cx="144780" cy="144779"/>
          </a:xfrm>
          <a:prstGeom prst="roundRect">
            <a:avLst>
              <a:gd name="adj" fmla="val 31579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51620" y="6099333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457200"/>
            <a:ext cx="641437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de données et modes d'alimentation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2900" y="847248"/>
            <a:ext cx="395609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entre outils relevés en entretien, et nature de l'alimentation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1120140"/>
            <a:ext cx="14329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SOURCE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31564" y="1120140"/>
            <a:ext cx="95178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30" b="1" spc="94">
                <a:solidFill>
                  <a:srgbClr val="78879F"/>
                </a:solidFill>
                <a:latin typeface="Calibri"/>
              </a:rPr>
              <a:t>SENS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95826" y="1120140"/>
            <a:ext cx="1742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DESTINATAIRE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8430" y="1120140"/>
            <a:ext cx="14224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1684" y="1120140"/>
            <a:ext cx="14775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9100" y="1443989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160" y="1338859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07406" y="137541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5826" y="1443989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94886" y="1338859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11730" y="14020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1684" y="1386841"/>
            <a:ext cx="18560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1764031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160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07406" y="169545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95826" y="1764031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94886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730" y="17221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1684" y="1706880"/>
            <a:ext cx="224266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9100" y="208407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160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7406" y="201548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95826" y="208407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4886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730" y="2042161"/>
            <a:ext cx="1034653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1684" y="2026921"/>
            <a:ext cx="20040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100" y="2404109"/>
            <a:ext cx="135802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160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7406" y="233553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95826" y="2404109"/>
            <a:ext cx="109347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886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1730" y="23622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1684" y="2346960"/>
            <a:ext cx="192476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100" y="272415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8160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07406" y="265557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95826" y="272415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4886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11730" y="2682239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1684" y="2667000"/>
            <a:ext cx="25519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100" y="304419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8160" y="2939057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7406" y="297560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95826" y="304419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4886" y="293905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1730" y="3002281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851684" y="2987041"/>
            <a:ext cx="21734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9100" y="3364229"/>
            <a:ext cx="1098709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160" y="32590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7406" y="329565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95826" y="3364229"/>
            <a:ext cx="1077754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94886" y="3259098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11730" y="332232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1684" y="3307080"/>
            <a:ext cx="174998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9100" y="3684270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8160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07406" y="361569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5826" y="368427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94886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11730" y="3642359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51684" y="3627120"/>
            <a:ext cx="187178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9100" y="4004310"/>
            <a:ext cx="110573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8160" y="3899179"/>
            <a:ext cx="108870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DD7E2C"/>
                </a:solidFill>
                <a:latin typeface="Calibri"/>
              </a:rPr>
              <a:t>TRAVAUX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7406" y="393572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95826" y="40043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94886" y="3899179"/>
            <a:ext cx="140053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11730" y="39624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51684" y="3947161"/>
            <a:ext cx="146935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Inventaire matériel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9100" y="4324349"/>
            <a:ext cx="155067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160" y="421921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07406" y="425577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95826" y="4324349"/>
            <a:ext cx="109347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4886" y="42192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11730" y="428244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1684" y="4267200"/>
            <a:ext cx="1432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Suivi des déchets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19100" y="464439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8160" y="45392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07406" y="457581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95826" y="464439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94886" y="453925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11730" y="4602479"/>
            <a:ext cx="103465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51684" y="4587239"/>
            <a:ext cx="188761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dessin 2D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9100" y="4964429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18160" y="4859299"/>
            <a:ext cx="140053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07406" y="489584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95826" y="4964429"/>
            <a:ext cx="127337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94886" y="4859299"/>
            <a:ext cx="13196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311730" y="49225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1684" y="4907281"/>
            <a:ext cx="21420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nuage de points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9100" y="5284471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8160" y="51793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16574" y="5215890"/>
            <a:ext cx="781645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95826" y="5284471"/>
            <a:ext cx="114097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94886" y="517933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11730" y="5242560"/>
            <a:ext cx="10762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51684" y="5227320"/>
            <a:ext cx="321361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9100" y="5604510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8160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7406" y="553592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95826" y="5604510"/>
            <a:ext cx="127337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94886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311730" y="5562599"/>
            <a:ext cx="128789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851684" y="5547359"/>
            <a:ext cx="179224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Scans vers le retraitement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100" y="5924551"/>
            <a:ext cx="110906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8160" y="5819419"/>
            <a:ext cx="13196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7406" y="585597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795826" y="5924551"/>
            <a:ext cx="1056441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894886" y="5819419"/>
            <a:ext cx="13196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11730" y="588264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51684" y="5867400"/>
            <a:ext cx="180820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Plans vers les calculs topo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04854" y="1196341"/>
            <a:ext cx="802124" cy="2743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24010" y="1470661"/>
            <a:ext cx="9638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698362" y="1196341"/>
            <a:ext cx="918447" cy="2743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23922" y="1470661"/>
            <a:ext cx="146732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46751" y="1789747"/>
            <a:ext cx="918448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022319" y="2064067"/>
            <a:ext cx="1367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SOCLE COMMUN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98362" y="1789747"/>
            <a:ext cx="918447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462141" y="2064067"/>
            <a:ext cx="139088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IDENTIFIÉS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51620" y="2459354"/>
            <a:ext cx="193333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51620" y="2897862"/>
            <a:ext cx="9513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951006" y="2897862"/>
            <a:ext cx="24467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28 · Internes 16 · Non renseigné 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51620" y="3187422"/>
            <a:ext cx="11934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926479" y="3187422"/>
            <a:ext cx="24712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42 · Automatique 8 · Non renseigné 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51620" y="3476982"/>
            <a:ext cx="10164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030302" y="3476982"/>
            <a:ext cx="23674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36 · Socle commun 18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151620" y="4281250"/>
            <a:ext cx="18465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97816" y="45584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49740" y="4522231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42 outils sur 54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est le principal point de fragilité du dispositif.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97816" y="503217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49740" y="4995981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6 services et concentre les échanges sans interface formalisée.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197816" y="55059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49740" y="5469731"/>
            <a:ext cx="2392680" cy="459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0">
                <a:solidFill>
                  <a:srgbClr val="C9D5EA"/>
                </a:solidFill>
                <a:latin typeface="Calibri"/>
              </a:rPr>
              <a:t>Seuls </a:t>
            </a:r>
            <a:r>
              <a:rPr sz="740" b="1">
                <a:solidFill>
                  <a:srgbClr val="FFFFFF"/>
                </a:solidFill>
                <a:latin typeface="Calibri"/>
              </a:rPr>
              <a:t>8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disposent d'une alimentation automatique, dont Power BI qui dépend d'exports manuels en amont.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197816" y="6112669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49740" y="6076474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restent à qualifier : aucun entretien ne documente leur nature ni leur alimentation.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3911" y="358140"/>
            <a:ext cx="244792" cy="12953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3911" y="548640"/>
            <a:ext cx="331470" cy="12953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33911" y="739140"/>
            <a:ext cx="167996" cy="12953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08114" y="13479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170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46226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08114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717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6226" y="1503401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08114" y="1741052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4314" y="1741052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0514" y="1741052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27170" y="16999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6226" y="16999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8114" y="1937623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4314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27170" y="189654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46226" y="189654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08114" y="2134195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2717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46226" y="209312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08114" y="2330768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27170" y="228969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46226" y="228969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08114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27170" y="2486263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46226" y="2486263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08114" y="272391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7170" y="268283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6226" y="268283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0811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27170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46226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08114" y="311705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27170" y="3075979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46226" y="3075979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8114" y="331362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27170" y="327255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46226" y="327255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114" y="351020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02717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46226" y="346912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08114" y="3706773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27170" y="3665696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46226" y="3665696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08114" y="390334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84314" y="3903344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2717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46226" y="3862268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08114" y="4099917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84314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7170" y="405884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6226" y="4058841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08114" y="4296490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84314" y="4296490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27170" y="425541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46226" y="425541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08114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27170" y="4451985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46226" y="445198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08114" y="4689635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027170" y="464855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46226" y="464855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8114" y="48862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084314" y="4886206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160514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36714" y="4886206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12914" y="4886206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89114" y="4886206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02717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046226" y="484513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008114" y="5082779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027170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46226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008114" y="527935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027170" y="523827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046226" y="52382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008114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27170" y="543484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046226" y="543484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008114" y="5672495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84314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160514" y="56724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027170" y="563141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5046226" y="5631417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08114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2717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46226" y="5827990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008114" y="606563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027170" y="602456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046226" y="602456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008114" y="626221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2717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5046226" y="6221135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8114" y="6458784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027170" y="641770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04622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52655" y="13479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71710" y="130683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890766" y="130683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852655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928854" y="1544479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05055" y="154447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87171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890766" y="1503401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852655" y="1741052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871710" y="1699974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0890766" y="16999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852655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928854" y="1937623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9871710" y="1896547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890766" y="189654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852655" y="21341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928854" y="21341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87171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0890766" y="2093120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852655" y="2330768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871710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0890766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852655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871710" y="2486263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890766" y="2486263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852655" y="272391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871710" y="268283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10890766" y="268283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52655" y="292048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92885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005055" y="2920484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9871710" y="287940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0890766" y="287940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852655" y="311705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871710" y="3075979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10890766" y="3075979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852655" y="3313628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928854" y="3313628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005055" y="331362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081254" y="331362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871710" y="3272552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890766" y="3272552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852655" y="351020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987171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890766" y="346912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852655" y="3706773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9871710" y="3665696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890766" y="3665696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852655" y="3903344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87171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890766" y="3862268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52655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928854" y="4099917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9005055" y="4099917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9081254" y="4099917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871710" y="4058841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890766" y="405884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852655" y="4296490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71710" y="425541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10890766" y="425541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852655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9871710" y="445198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10890766" y="445198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52655" y="4689635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871710" y="4648557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10890766" y="464855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852655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987171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10890766" y="4845130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852655" y="5082779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9871710" y="504170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10890766" y="504170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852655" y="5279351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871710" y="52382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890766" y="52382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852655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871710" y="543484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0890766" y="543484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852655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871710" y="5631417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10890766" y="563141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852655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8928854" y="5869067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005055" y="586906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081254" y="5869067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157454" y="5869067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7171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10890766" y="5827990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852655" y="606563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9871710" y="6024562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10890766" y="6024562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52655" y="6262211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8928854" y="626221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005055" y="6262211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987171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10890766" y="622113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852655" y="6458784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928854" y="6458784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9871710" y="6417708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1089076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42900" y="312419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2900" y="457200"/>
            <a:ext cx="3634383" cy="3657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2900" y="847249"/>
            <a:ext cx="3914418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nature et mode d'alimentation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639663" y="354330"/>
            <a:ext cx="12243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1971" y="369570"/>
            <a:ext cx="8086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726341" y="544830"/>
            <a:ext cx="18085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051971" y="560070"/>
            <a:ext cx="8953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562868" y="735330"/>
            <a:ext cx="11329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À qualifier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051971" y="75057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3860" y="1120140"/>
            <a:ext cx="95726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008114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02717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46226" y="1120140"/>
            <a:ext cx="135231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03860" y="1309093"/>
            <a:ext cx="9909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45230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764286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3860" y="1505664"/>
            <a:ext cx="10910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74523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64286" y="151483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88620" y="168092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745230" y="171140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76428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8620" y="1877497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74523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6428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88620" y="20740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74523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76428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88620" y="227064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745230" y="230112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764286" y="230112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03860" y="2488526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74523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76428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03860" y="2685098"/>
            <a:ext cx="11097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74523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76428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03860" y="2881669"/>
            <a:ext cx="9839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745230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764286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88620" y="305693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745230" y="308740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764286" y="308740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03860" y="3274815"/>
            <a:ext cx="10119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745230" y="3283981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764286" y="3283981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88620" y="3450073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74523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76428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03860" y="3667958"/>
            <a:ext cx="12028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745230" y="3677127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764286" y="3677127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8862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74523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76428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8862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745230" y="407027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76428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8862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745230" y="426684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476428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8862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745230" y="446341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76428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03860" y="4650820"/>
            <a:ext cx="10553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745230" y="465998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76428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88620" y="4826081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74523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764286" y="485655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03860" y="5043963"/>
            <a:ext cx="9466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745230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764286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8862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745230" y="524970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76428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03860" y="5437109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74523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76428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88620" y="56123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745230" y="564284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76428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38862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374523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76428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88620" y="600551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3745230" y="6035992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476428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403860" y="6223396"/>
            <a:ext cx="103763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74523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4764286" y="6232565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403860" y="6419969"/>
            <a:ext cx="15568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745230" y="642913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76428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6248400" y="1120140"/>
            <a:ext cx="957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52655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987171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890766" y="1120140"/>
            <a:ext cx="1352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248400" y="1309093"/>
            <a:ext cx="105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589770" y="131826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0608826" y="131826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6233160" y="148435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58977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608826" y="1514833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6248400" y="1702237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9589770" y="1711404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60882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6248400" y="1898809"/>
            <a:ext cx="8814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58977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60882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248400" y="2095382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58977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60882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248400" y="2291953"/>
            <a:ext cx="10772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589770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608826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6233160" y="246721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958977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060882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233160" y="2663786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58977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60882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233160" y="2860357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9589770" y="289083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10608826" y="289083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248400" y="3078242"/>
            <a:ext cx="8815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9589770" y="3087409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0608826" y="308740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233160" y="325350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589770" y="3283981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0608826" y="3283981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248400" y="3471385"/>
            <a:ext cx="114692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58977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1060882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248400" y="3667958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589770" y="367712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608826" y="367712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3316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958977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060882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23316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9589770" y="4070270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060882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23316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9589770" y="426684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1060882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3316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589770" y="446341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60882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233160" y="462950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589770" y="465998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1060882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6248400" y="4847392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958977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608826" y="485655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6233160" y="502265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9589770" y="505313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10608826" y="505313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623316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9589770" y="524970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060882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6248400" y="5437109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58977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60882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248400" y="5633680"/>
            <a:ext cx="97000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9589770" y="5642848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60882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3316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958977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1060882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248400" y="6026825"/>
            <a:ext cx="1446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9589770" y="6035992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1060882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6233160" y="620208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958977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0608826" y="62325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6248400" y="6419969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589770" y="642913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060882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
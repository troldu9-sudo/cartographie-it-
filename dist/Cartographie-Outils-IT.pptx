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47497" y="358140"/>
            <a:ext cx="412551" cy="144780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547497" y="563880"/>
            <a:ext cx="438150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47497" y="769620"/>
            <a:ext cx="486490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32864" y="381000"/>
            <a:ext cx="60960" cy="6096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900" y="1074420"/>
            <a:ext cx="2807970" cy="2266236"/>
          </a:xfrm>
          <a:prstGeom prst="roundRect">
            <a:avLst>
              <a:gd name="adj" fmla="val 5379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07670" y="1150382"/>
            <a:ext cx="121920" cy="121920"/>
          </a:xfrm>
          <a:prstGeom prst="ellipse">
            <a:avLst/>
          </a:prstGeom>
          <a:solidFill>
            <a:srgbClr val="3A6BE5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4340" y="1177052"/>
            <a:ext cx="68580" cy="68580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04725" y="1761173"/>
            <a:ext cx="1454705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" y="1833562"/>
            <a:ext cx="502801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7621" y="1833562"/>
            <a:ext cx="43898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37084" y="1833562"/>
            <a:ext cx="33837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91020" y="2397324"/>
            <a:ext cx="1568410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" y="2469714"/>
            <a:ext cx="534948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9768" y="2469714"/>
            <a:ext cx="556260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586508" y="2469714"/>
            <a:ext cx="46172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78712" y="2469714"/>
            <a:ext cx="342900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452092" y="2469714"/>
            <a:ext cx="580668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4340" y="2658666"/>
            <a:ext cx="717828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42310" y="1074420"/>
            <a:ext cx="2807970" cy="2266236"/>
          </a:xfrm>
          <a:prstGeom prst="roundRect">
            <a:avLst>
              <a:gd name="adj" fmla="val 5379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7080" y="1150382"/>
            <a:ext cx="121920" cy="121920"/>
          </a:xfrm>
          <a:prstGeom prst="ellipse">
            <a:avLst/>
          </a:prstGeom>
          <a:solidFill>
            <a:srgbClr val="0E9E7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33750" y="1177052"/>
            <a:ext cx="68580" cy="6858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27364" y="1620798"/>
            <a:ext cx="133147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3750" y="1693188"/>
            <a:ext cx="72854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402330" y="1745695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092773" y="1693188"/>
            <a:ext cx="498515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38493" y="2230755"/>
            <a:ext cx="182034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3750" y="2303145"/>
            <a:ext cx="502801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67031" y="2303145"/>
            <a:ext cx="457319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88249" y="2726531"/>
            <a:ext cx="1870591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333750" y="2798921"/>
            <a:ext cx="413147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402330" y="2851428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41720" y="1074420"/>
            <a:ext cx="2807970" cy="2266236"/>
          </a:xfrm>
          <a:prstGeom prst="roundRect">
            <a:avLst>
              <a:gd name="adj" fmla="val 5379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206490" y="1150382"/>
            <a:ext cx="121920" cy="121920"/>
          </a:xfrm>
          <a:prstGeom prst="ellipse">
            <a:avLst/>
          </a:prstGeom>
          <a:solidFill>
            <a:srgbClr val="0F8FA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233160" y="1177052"/>
            <a:ext cx="68580" cy="68580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20464" y="1498878"/>
            <a:ext cx="133778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33160" y="1571268"/>
            <a:ext cx="562451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148036" y="1986915"/>
            <a:ext cx="171021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33160" y="2059305"/>
            <a:ext cx="502801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99484" y="2474952"/>
            <a:ext cx="155876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33160" y="2547342"/>
            <a:ext cx="530305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36713" y="2962990"/>
            <a:ext cx="1821537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233160" y="3035380"/>
            <a:ext cx="393144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041130" y="1074420"/>
            <a:ext cx="2807970" cy="2266236"/>
          </a:xfrm>
          <a:prstGeom prst="roundRect">
            <a:avLst>
              <a:gd name="adj" fmla="val 5379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105900" y="1150382"/>
            <a:ext cx="121920" cy="121920"/>
          </a:xfrm>
          <a:prstGeom prst="ellipse">
            <a:avLst/>
          </a:prstGeom>
          <a:solidFill>
            <a:srgbClr val="DD7E2C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132570" y="1177052"/>
            <a:ext cx="68580" cy="68580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025896" y="1499473"/>
            <a:ext cx="173176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132570" y="1571863"/>
            <a:ext cx="329208" cy="158472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492258" y="1571863"/>
            <a:ext cx="562452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045542" y="1873925"/>
            <a:ext cx="1712119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132570" y="1946315"/>
            <a:ext cx="499824" cy="158472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01000" y="2362557"/>
            <a:ext cx="1856660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32570" y="2434947"/>
            <a:ext cx="530305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114359" y="2737009"/>
            <a:ext cx="1643301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88417" y="3036689"/>
            <a:ext cx="156924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42900" y="3447336"/>
            <a:ext cx="11506200" cy="877729"/>
          </a:xfrm>
          <a:prstGeom prst="roundRect">
            <a:avLst>
              <a:gd name="adj" fmla="val 13890"/>
            </a:avLst>
          </a:prstGeom>
          <a:gradFill rotWithShape="1">
            <a:gsLst>
              <a:gs pos="0">
                <a:srgbClr val="18233C"/>
              </a:gs>
              <a:gs pos="62000">
                <a:srgbClr val="0F1729"/>
              </a:gs>
            </a:gsLst>
            <a:lin scaled="0" ang="16920000"/>
          </a:gra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356360" y="362402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56360" y="383738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700451" y="3902155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659380" y="362402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2659380" y="383738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962400" y="3624025"/>
            <a:ext cx="121158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04460" y="3624025"/>
            <a:ext cx="121158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962400" y="3837384"/>
            <a:ext cx="121158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204460" y="3837384"/>
            <a:ext cx="121158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3962400" y="4050745"/>
            <a:ext cx="121158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492240" y="362402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492240" y="383738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95260" y="362402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795260" y="383738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183642" y="3902155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795260" y="405074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098280" y="3624025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098280" y="3837384"/>
            <a:ext cx="1226820" cy="182880"/>
          </a:xfrm>
          <a:prstGeom prst="roundRect">
            <a:avLst>
              <a:gd name="adj" fmla="val 29166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0401301" y="3523536"/>
            <a:ext cx="1333500" cy="710089"/>
          </a:xfrm>
          <a:prstGeom prst="roundRect">
            <a:avLst>
              <a:gd name="adj" fmla="val 10731"/>
            </a:avLst>
          </a:prstGeom>
          <a:solidFill>
            <a:srgbClr val="4CC9E8">
              <a:alpha val="7000"/>
            </a:srgbClr>
          </a:solidFill>
          <a:ln w="7620">
            <a:solidFill>
              <a:srgbClr val="4CC9E8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0454640" y="3576876"/>
            <a:ext cx="1226820" cy="259080"/>
          </a:xfrm>
          <a:prstGeom prst="roundRect">
            <a:avLst>
              <a:gd name="adj" fmla="val 20588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0454640" y="3866436"/>
            <a:ext cx="1226820" cy="259080"/>
          </a:xfrm>
          <a:prstGeom prst="roundRect">
            <a:avLst>
              <a:gd name="adj" fmla="val 20588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42900" y="4431745"/>
            <a:ext cx="3774400" cy="2159555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07670" y="4507706"/>
            <a:ext cx="121920" cy="121920"/>
          </a:xfrm>
          <a:prstGeom prst="ellipse">
            <a:avLst/>
          </a:prstGeom>
          <a:solidFill>
            <a:srgbClr val="5B57D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34340" y="4534376"/>
            <a:ext cx="68580" cy="68580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166693" y="4947642"/>
            <a:ext cx="964287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34340" y="5020032"/>
            <a:ext cx="352068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816888" y="5020032"/>
            <a:ext cx="329208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813929" y="4947642"/>
            <a:ext cx="211932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2329101" y="5020032"/>
            <a:ext cx="475655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121807" y="5534740"/>
            <a:ext cx="100917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810232" y="5534740"/>
            <a:ext cx="1215628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2329101" y="5607130"/>
            <a:ext cx="361355" cy="158472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309330" y="6007656"/>
            <a:ext cx="821650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34340" y="6080046"/>
            <a:ext cx="324564" cy="158473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89384" y="6080046"/>
            <a:ext cx="441960" cy="158473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4208740" y="4431745"/>
            <a:ext cx="3774400" cy="2159555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273510" y="4507706"/>
            <a:ext cx="121920" cy="121920"/>
          </a:xfrm>
          <a:prstGeom prst="ellipse">
            <a:avLst/>
          </a:prstGeom>
          <a:solidFill>
            <a:srgbClr val="8257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300180" y="4534376"/>
            <a:ext cx="68580" cy="68580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88662" y="4871919"/>
            <a:ext cx="508159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778943" y="4871919"/>
            <a:ext cx="1112758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194941" y="4944309"/>
            <a:ext cx="475654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995624" y="5383292"/>
            <a:ext cx="1001197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300180" y="5455682"/>
            <a:ext cx="49839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184589" y="5383292"/>
            <a:ext cx="707112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194941" y="5455682"/>
            <a:ext cx="436721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374719" y="5894665"/>
            <a:ext cx="622102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4300180" y="5967055"/>
            <a:ext cx="635318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348538" y="5894665"/>
            <a:ext cx="543163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6194941" y="5967055"/>
            <a:ext cx="553283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6778704" y="5967055"/>
            <a:ext cx="641509" cy="158472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6194941" y="6156008"/>
            <a:ext cx="521374" cy="158472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8074581" y="4431745"/>
            <a:ext cx="3774401" cy="2159555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139351" y="4507706"/>
            <a:ext cx="121920" cy="121920"/>
          </a:xfrm>
          <a:prstGeom prst="ellipse">
            <a:avLst/>
          </a:prstGeom>
          <a:solidFill>
            <a:srgbClr val="C2456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166021" y="4534376"/>
            <a:ext cx="68580" cy="68580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988742" y="4928949"/>
            <a:ext cx="873919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8166021" y="5001339"/>
            <a:ext cx="429815" cy="158473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8626316" y="5001339"/>
            <a:ext cx="530305" cy="158473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225808" y="4928949"/>
            <a:ext cx="531733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10060781" y="5001339"/>
            <a:ext cx="530305" cy="158473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192697" y="5497354"/>
            <a:ext cx="669965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8166021" y="5569744"/>
            <a:ext cx="589716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186755" y="5497354"/>
            <a:ext cx="57078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10060781" y="5569744"/>
            <a:ext cx="566262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129362" y="5622251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10657522" y="5569744"/>
            <a:ext cx="1075968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0726103" y="5622251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0060781" y="5758696"/>
            <a:ext cx="503039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10594301" y="5758696"/>
            <a:ext cx="979884" cy="15847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0662880" y="5811202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112686" y="6140529"/>
            <a:ext cx="749975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8166021" y="6212919"/>
            <a:ext cx="884158" cy="158473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084481" y="6140529"/>
            <a:ext cx="673061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42900" y="312420"/>
            <a:ext cx="38358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SYSTÈME D'INFORMATION CHANTIER · VUE D'ENSEMBLE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2900" y="457200"/>
            <a:ext cx="428708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Cartographie des outils IT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42900" y="847249"/>
            <a:ext cx="4261366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Sept pôles, leurs missions et leurs outils, autour du socle applicatif commun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021009" y="361950"/>
            <a:ext cx="191547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Développé / porté en interne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73177" y="373380"/>
            <a:ext cx="96119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46607" y="567690"/>
            <a:ext cx="148863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Éditeur du marché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73177" y="579120"/>
            <a:ext cx="98679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33415C"/>
                </a:solidFill>
                <a:latin typeface="Calibri"/>
              </a:rPr>
              <a:t>Externe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94947" y="773430"/>
            <a:ext cx="192559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Outil ou mission à confirmer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273177" y="784860"/>
            <a:ext cx="103512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À valider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654784" y="342900"/>
            <a:ext cx="18085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Alimentation automatique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837664" y="510540"/>
            <a:ext cx="138195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automatisé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837664" y="678180"/>
            <a:ext cx="169723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manuel (ressaisie)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71500" y="1127760"/>
            <a:ext cx="1529715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Méthodes &amp; BIM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3880" y="1264444"/>
            <a:ext cx="137850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INGÉNIERIE · BIM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34340" y="1711642"/>
            <a:ext cx="180284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3A6BE5"/>
                </a:solidFill>
                <a:latin typeface="Calibri"/>
              </a:rPr>
              <a:t>PRODUCTION DE MAQUETTES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0020" y="1848802"/>
            <a:ext cx="105144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3301" y="1848802"/>
            <a:ext cx="98762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Civil 3D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62764" y="1848802"/>
            <a:ext cx="88701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Revit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34340" y="2347794"/>
            <a:ext cx="168914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3A6BE5"/>
                </a:solidFill>
                <a:latin typeface="Calibri"/>
              </a:rPr>
              <a:t>GESTION DES MAQUETTES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0020" y="2484953"/>
            <a:ext cx="108358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Anaconda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5448" y="2484953"/>
            <a:ext cx="110490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BIM Vision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312188" y="2484953"/>
            <a:ext cx="101036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Inventor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4392" y="2484953"/>
            <a:ext cx="89154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QGIS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177772" y="2484953"/>
            <a:ext cx="112930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Simple BIM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60020" y="2673906"/>
            <a:ext cx="12664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Sofistik Bridge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19100" y="2832378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Mezzoteam · Trimble Connect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470910" y="1127760"/>
            <a:ext cx="1334572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Topographie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463290" y="1264444"/>
            <a:ext cx="17256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RELEVÉS · IMPLANTATION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333750" y="1571268"/>
            <a:ext cx="192607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RELEVÉS ET NUAGES DE POINTS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43250" y="1708428"/>
            <a:ext cx="119336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Cyclone 3DR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818453" y="1708428"/>
            <a:ext cx="104715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La Scene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18510" y="1866900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Trimble Connect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333750" y="2181225"/>
            <a:ext cx="143720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PLANS ET CALCULS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059430" y="2318385"/>
            <a:ext cx="105144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592711" y="2318385"/>
            <a:ext cx="100595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Covadis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333750" y="2677001"/>
            <a:ext cx="138695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SUIVI DES LEVERS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143250" y="2814161"/>
            <a:ext cx="87796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Pixis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318510" y="2972633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70320" y="1127760"/>
            <a:ext cx="1033105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Tunnel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62700" y="1264444"/>
            <a:ext cx="162853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OUVRAGE SOUTERRAIN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233160" y="1449348"/>
            <a:ext cx="191976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PLANIFICATION ET AVANCEMENT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958840" y="1586508"/>
            <a:ext cx="111109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MS Project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217920" y="1744980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Power BI · YELLOW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33160" y="1937385"/>
            <a:ext cx="154733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PLANS ET MAQUETTES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958840" y="2074545"/>
            <a:ext cx="105144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217920" y="2233017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Trimble Connect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233160" y="2425422"/>
            <a:ext cx="169878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RÉSERVES ET CONTRÔLES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958840" y="2562582"/>
            <a:ext cx="107894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217920" y="2721055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 · Quick Connect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233160" y="2913459"/>
            <a:ext cx="143601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GESTION DU STOCK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958840" y="3050619"/>
            <a:ext cx="94178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78879F"/>
                </a:solidFill>
                <a:latin typeface="Calibri"/>
              </a:rPr>
              <a:t>GMAO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269730" y="1127760"/>
            <a:ext cx="1095851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Travaux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262110" y="1264444"/>
            <a:ext cx="158281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EXÉCUTION CHANTIER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132570" y="1449943"/>
            <a:ext cx="152578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JALONS DE CHANTIER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8858250" y="1587103"/>
            <a:ext cx="87784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D7E2C"/>
                </a:solidFill>
                <a:latin typeface="Calibri"/>
              </a:rPr>
              <a:t>MMS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217938" y="1587103"/>
            <a:ext cx="111109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MS Project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132570" y="1824395"/>
            <a:ext cx="154543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ENGINS ET MATÉRIELS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858250" y="1961555"/>
            <a:ext cx="104846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DD7E2C"/>
                </a:solidFill>
                <a:latin typeface="Calibri"/>
              </a:rPr>
              <a:t>ERP MAT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17330" y="2120027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Pablo · Traktor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132570" y="2313027"/>
            <a:ext cx="140089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RÉSERVES ET MAD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858250" y="2450187"/>
            <a:ext cx="107894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132570" y="2687479"/>
            <a:ext cx="161424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CONDUITE DE CHANTIER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9117330" y="2794159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 · Mezzoteam · Quick Connect · Trimble Connect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9132570" y="2987159"/>
            <a:ext cx="168830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VALIDATION ET CONTRATS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117330" y="3093839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E-Paraph · Pablo · Word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57200" y="3508296"/>
            <a:ext cx="97369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102">
                <a:solidFill>
                  <a:srgbClr val="4CC9E8"/>
                </a:solidFill>
                <a:latin typeface="Calibri"/>
              </a:rPr>
              <a:t>SOCLE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3584496"/>
            <a:ext cx="119205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102">
                <a:solidFill>
                  <a:srgbClr val="4CC9E8"/>
                </a:solidFill>
                <a:latin typeface="Calibri"/>
              </a:rPr>
              <a:t>APPLICATIF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57200" y="3675936"/>
            <a:ext cx="1164788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>
                <a:solidFill>
                  <a:srgbClr val="FFFFFF"/>
                </a:solidFill>
                <a:latin typeface="Calibri"/>
              </a:rPr>
              <a:t>Logiciels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57200" y="3797380"/>
            <a:ext cx="1207770" cy="1523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>
                <a:solidFill>
                  <a:srgbClr val="FFFFFF"/>
                </a:solidFill>
                <a:latin typeface="Calibri"/>
              </a:rPr>
              <a:t>communs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198602" y="3508296"/>
            <a:ext cx="1542217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GED &amp; COLLABORATION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298496" y="3654505"/>
            <a:ext cx="134254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Trimble Connect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448991" y="3867864"/>
            <a:ext cx="113299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Mezzoteam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2464832" y="3508296"/>
            <a:ext cx="1615797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VALIDATION &amp; SIGNATURE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2745819" y="3654505"/>
            <a:ext cx="105382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E-Paraph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2734270" y="3867864"/>
            <a:ext cx="107704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DocuSign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370308" y="3508296"/>
            <a:ext cx="1637705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ACHATS, FINANCE &amp; TIERS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111109" y="3654505"/>
            <a:ext cx="91404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Pablo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285661" y="3654505"/>
            <a:ext cx="104917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Harmony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102656" y="3867864"/>
            <a:ext cx="93106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BATIS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374124" y="3867864"/>
            <a:ext cx="87213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TIPS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994666" y="4081224"/>
            <a:ext cx="114692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E-Checking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395442" y="3508296"/>
            <a:ext cx="1420296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RH &amp; MAIN-D'ŒUVRE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6648569" y="3654505"/>
            <a:ext cx="91416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Puma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542246" y="3867864"/>
            <a:ext cx="112680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BIP / BAPS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619643" y="3508296"/>
            <a:ext cx="1578054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TERRAIN &amp; INTÉGRATION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7770019" y="3654505"/>
            <a:ext cx="127730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Quick Connect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7932182" y="3867864"/>
            <a:ext cx="104441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YELLOW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7923609" y="4081224"/>
            <a:ext cx="97000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Traktor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9111734" y="3508296"/>
            <a:ext cx="1199912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BUREAUTIQUE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9259252" y="3654505"/>
            <a:ext cx="9048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Excel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262467" y="3867864"/>
            <a:ext cx="89844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1">
                <a:solidFill>
                  <a:srgbClr val="FFFFFF"/>
                </a:solidFill>
                <a:latin typeface="Calibri"/>
              </a:rPr>
              <a:t>Word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493812" y="3607356"/>
            <a:ext cx="11484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FFFFFF"/>
                </a:solidFill>
                <a:latin typeface="Calibri"/>
              </a:rPr>
              <a:t>SharePoint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514053" y="3706416"/>
            <a:ext cx="1107876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50" b="0" spc="18">
                <a:solidFill>
                  <a:srgbClr val="95A5C2"/>
                </a:solidFill>
                <a:latin typeface="Calibri"/>
              </a:rPr>
              <a:t>RÉFÉRENTIEL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0537627" y="3896916"/>
            <a:ext cx="106084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10395466" y="3995976"/>
            <a:ext cx="1345050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50" b="0" spc="18">
                <a:solidFill>
                  <a:srgbClr val="95A5C2"/>
                </a:solidFill>
                <a:latin typeface="Calibri"/>
              </a:rPr>
              <a:t>CABINE DE PILOTAGE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571500" y="4485084"/>
            <a:ext cx="115478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Direction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563880" y="4621768"/>
            <a:ext cx="187202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PILOTAGE · SOUS-TRAITANCE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34340" y="4898112"/>
            <a:ext cx="136481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B57D6"/>
                </a:solidFill>
                <a:latin typeface="Calibri"/>
              </a:rPr>
              <a:t>RÉCOLTE DES KPI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60020" y="5035272"/>
            <a:ext cx="90070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MIRO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42568" y="5035272"/>
            <a:ext cx="87784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MMS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19100" y="5193744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 · Power BI · Word · YELLOW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2329101" y="4898112"/>
            <a:ext cx="211728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B57D6"/>
                </a:solidFill>
                <a:latin typeface="Calibri"/>
              </a:rPr>
              <a:t>VALIDATION CONTRATS ET DÉPENSES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2054781" y="5035272"/>
            <a:ext cx="102429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Basware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2313861" y="5193744"/>
            <a:ext cx="174248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DocuSign · E-Paraph · Excel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34340" y="5485209"/>
            <a:ext cx="131992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B57D6"/>
                </a:solidFill>
                <a:latin typeface="Calibri"/>
              </a:rPr>
              <a:t>GESTION DES ST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419100" y="5591890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BATIS · E-Checking · Quick Connect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329101" y="5485209"/>
            <a:ext cx="11135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B57D6"/>
                </a:solidFill>
                <a:latin typeface="Calibri"/>
              </a:rPr>
              <a:t>MATÉRIELS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054781" y="5622369"/>
            <a:ext cx="90999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5B57D6"/>
                </a:solidFill>
                <a:latin typeface="Calibri"/>
              </a:rPr>
              <a:t>Oasis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434340" y="5958126"/>
            <a:ext cx="150745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SERVICES GÉNÉRAUX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60020" y="6095286"/>
            <a:ext cx="87320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CWT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515064" y="6095286"/>
            <a:ext cx="99060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Tableau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19100" y="6253758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Word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437340" y="4485084"/>
            <a:ext cx="90963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DAF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4429721" y="4621768"/>
            <a:ext cx="212383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CONTRATS · COMPTA · ACHATS · RH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4300180" y="4822388"/>
            <a:ext cx="182094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8257E6"/>
                </a:solidFill>
                <a:latin typeface="Calibri"/>
              </a:rPr>
              <a:t>ENGAGEMENT DES DÉPENSES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284940" y="4929069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Harmony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6194941" y="4822388"/>
            <a:ext cx="121646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8257E6"/>
                </a:solidFill>
                <a:latin typeface="Calibri"/>
              </a:rPr>
              <a:t>FACTURATION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5920621" y="4959548"/>
            <a:ext cx="102429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Basware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6179701" y="5118021"/>
            <a:ext cx="1742479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DocuSign · Excel · Harmony · Pablo · TIPS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4300180" y="5333762"/>
            <a:ext cx="132790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8257E6"/>
                </a:solidFill>
                <a:latin typeface="Calibri"/>
              </a:rPr>
              <a:t>ENCAISSEMENTS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4025860" y="5470922"/>
            <a:ext cx="10470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E-Project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4284940" y="5629394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6194941" y="5333762"/>
            <a:ext cx="162210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COMMANDES ET ACHATS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5920621" y="5470922"/>
            <a:ext cx="98536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78879F"/>
                </a:solidFill>
                <a:latin typeface="Calibri"/>
              </a:rPr>
              <a:t>Achat +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6179701" y="5629394"/>
            <a:ext cx="1742479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Pablo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300180" y="5845136"/>
            <a:ext cx="170699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8257E6"/>
                </a:solidFill>
                <a:latin typeface="Calibri"/>
              </a:rPr>
              <a:t>GESTION CONTRACTUELLE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025860" y="5982295"/>
            <a:ext cx="118395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NotebookLM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284940" y="6140768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 · Power BI · SharePoint · Word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6194941" y="5845136"/>
            <a:ext cx="178605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8257E6"/>
                </a:solidFill>
                <a:latin typeface="Calibri"/>
              </a:rPr>
              <a:t>PERSONNEL ET FORMATIONS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5920621" y="5982295"/>
            <a:ext cx="110192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By My Site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504384" y="5982295"/>
            <a:ext cx="119014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8257E6"/>
                </a:solidFill>
                <a:latin typeface="Calibri"/>
              </a:rPr>
              <a:t>H&amp;R For You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5920621" y="6171248"/>
            <a:ext cx="107001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78879F"/>
                </a:solidFill>
                <a:latin typeface="Calibri"/>
              </a:rPr>
              <a:t>Neoaccès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6179701" y="6329720"/>
            <a:ext cx="1742479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BIP / BAPS · E-Checking · Excel · Pablo · Puma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8303181" y="4485084"/>
            <a:ext cx="1980366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8295561" y="4621768"/>
            <a:ext cx="218134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CONTRÔLE · RÉSERVES · NUISANCES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8166021" y="4879419"/>
            <a:ext cx="14551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C2456A"/>
                </a:solidFill>
                <a:latin typeface="Calibri"/>
              </a:rPr>
              <a:t>CONTRÔLE QUALITÉ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7891700" y="5016580"/>
            <a:ext cx="97845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78879F"/>
                </a:solidFill>
                <a:latin typeface="Calibri"/>
              </a:rPr>
              <a:t>CEMEX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8351996" y="5016580"/>
            <a:ext cx="107894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8150781" y="5175052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 · Mezzoteam · Power BI · Quick Connect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10060781" y="4879419"/>
            <a:ext cx="179748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C2456A"/>
                </a:solidFill>
                <a:latin typeface="Calibri"/>
              </a:rPr>
              <a:t>MAD ET LEVÉES DE RÉSERVE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9786462" y="5016580"/>
            <a:ext cx="107894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10045541" y="5175052"/>
            <a:ext cx="174248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Trimble Connect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8166021" y="5447824"/>
            <a:ext cx="165913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C2456A"/>
                </a:solidFill>
                <a:latin typeface="Calibri"/>
              </a:rPr>
              <a:t>SUIVI ENVIRONNEMENTAL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7891700" y="5584984"/>
            <a:ext cx="113835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PowerPoint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8150781" y="5743456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Power BI · Quick Connect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060781" y="5447824"/>
            <a:ext cx="175843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SUIVI DES CONSOMMATIONS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9870281" y="5584984"/>
            <a:ext cx="103108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Lafarge+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10467023" y="5584984"/>
            <a:ext cx="154078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Live Objects (Orange)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9786462" y="5773936"/>
            <a:ext cx="105167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Lucee TP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10403800" y="5773936"/>
            <a:ext cx="144470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Sixense Monitoring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8166021" y="6091000"/>
            <a:ext cx="157912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GESTION DES DÉCHETS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7891700" y="6228160"/>
            <a:ext cx="143279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1">
                <a:solidFill>
                  <a:srgbClr val="33415C"/>
                </a:solidFill>
                <a:latin typeface="Calibri"/>
              </a:rPr>
              <a:t>Wastemarket Place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0060781" y="6091000"/>
            <a:ext cx="165615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C2456A"/>
                </a:solidFill>
                <a:latin typeface="Calibri"/>
              </a:rPr>
              <a:t>COMMANDE DE MATÉRIEL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10045541" y="6197679"/>
            <a:ext cx="174248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Pablo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1429762" y="6644640"/>
            <a:ext cx="110513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1/3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10264140" y="3603546"/>
            <a:ext cx="251460" cy="130969"/>
          </a:xfrm>
          <a:custGeom>
            <a:avLst/>
            <a:gdLst/>
            <a:ahLst/>
            <a:cxnLst/>
            <a:rect l="0" t="0" r="r" b="b"/>
            <a:pathLst>
              <a:path w="251460" h="130969">
                <a:moveTo>
                  <a:pt x="60960" y="70009"/>
                </a:moveTo>
                <a:cubicBezTo>
                  <a:pt x="104140" y="66993"/>
                  <a:pt x="147320" y="63976"/>
                  <a:pt x="190500" y="60960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0264140" y="3696415"/>
            <a:ext cx="251460" cy="318611"/>
          </a:xfrm>
          <a:custGeom>
            <a:avLst/>
            <a:gdLst/>
            <a:ahLst/>
            <a:cxnLst/>
            <a:rect l="0" t="0" r="r" b="b"/>
            <a:pathLst>
              <a:path w="251460" h="318611">
                <a:moveTo>
                  <a:pt x="60960" y="60960"/>
                </a:moveTo>
                <a:cubicBezTo>
                  <a:pt x="104140" y="126524"/>
                  <a:pt x="147320" y="192087"/>
                  <a:pt x="190500" y="257651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8961120" y="3612595"/>
            <a:ext cx="1554480" cy="196691"/>
          </a:xfrm>
          <a:custGeom>
            <a:avLst/>
            <a:gdLst/>
            <a:ahLst/>
            <a:cxnLst/>
            <a:rect l="0" t="0" r="r" b="b"/>
            <a:pathLst>
              <a:path w="1554480" h="196691">
                <a:moveTo>
                  <a:pt x="60960" y="60960"/>
                </a:moveTo>
                <a:cubicBezTo>
                  <a:pt x="705612" y="60960"/>
                  <a:pt x="848868" y="135731"/>
                  <a:pt x="1493520" y="135731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8961120" y="3696415"/>
            <a:ext cx="1554480" cy="402431"/>
          </a:xfrm>
          <a:custGeom>
            <a:avLst/>
            <a:gdLst/>
            <a:ahLst/>
            <a:cxnLst/>
            <a:rect l="0" t="0" r="r" b="b"/>
            <a:pathLst>
              <a:path w="1554480" h="402431">
                <a:moveTo>
                  <a:pt x="60960" y="60960"/>
                </a:moveTo>
                <a:cubicBezTo>
                  <a:pt x="705612" y="60960"/>
                  <a:pt x="848868" y="341471"/>
                  <a:pt x="1493520" y="341471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5113020" y="3654505"/>
            <a:ext cx="152400" cy="121920"/>
          </a:xfrm>
          <a:custGeom>
            <a:avLst/>
            <a:gdLst/>
            <a:ahLst/>
            <a:cxnLst/>
            <a:rect l="0" t="0" r="r" b="b"/>
            <a:pathLst>
              <a:path w="152400" h="121920">
                <a:moveTo>
                  <a:pt x="60960" y="60960"/>
                </a:moveTo>
                <a:cubicBezTo>
                  <a:pt x="71120" y="60960"/>
                  <a:pt x="81280" y="60960"/>
                  <a:pt x="91440" y="60960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5707380" y="3745945"/>
            <a:ext cx="744438" cy="746760"/>
          </a:xfrm>
          <a:custGeom>
            <a:avLst/>
            <a:gdLst/>
            <a:ahLst/>
            <a:cxnLst/>
            <a:rect l="0" t="0" r="r" b="b"/>
            <a:pathLst>
              <a:path w="744438" h="746760">
                <a:moveTo>
                  <a:pt x="683478" y="685800"/>
                </a:moveTo>
                <a:cubicBezTo>
                  <a:pt x="683478" y="373380"/>
                  <a:pt x="60960" y="373380"/>
                  <a:pt x="60960" y="60960"/>
                </a:cubicBezTo>
              </a:path>
            </a:pathLst>
          </a:custGeom>
          <a:noFill/>
          <a:ln w="15240">
            <a:solidFill>
              <a:srgbClr val="8257E6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5791200" y="3745945"/>
            <a:ext cx="744438" cy="746760"/>
          </a:xfrm>
          <a:custGeom>
            <a:avLst/>
            <a:gdLst/>
            <a:ahLst/>
            <a:cxnLst/>
            <a:rect l="0" t="0" r="r" b="b"/>
            <a:pathLst>
              <a:path w="744438" h="746760">
                <a:moveTo>
                  <a:pt x="60960" y="60960"/>
                </a:moveTo>
                <a:cubicBezTo>
                  <a:pt x="60960" y="373380"/>
                  <a:pt x="683478" y="373380"/>
                  <a:pt x="683478" y="685800"/>
                </a:cubicBezTo>
              </a:path>
            </a:pathLst>
          </a:custGeom>
          <a:noFill/>
          <a:ln w="15240">
            <a:solidFill>
              <a:srgbClr val="8257E6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7044690" y="3745945"/>
            <a:ext cx="121920" cy="152399"/>
          </a:xfrm>
          <a:custGeom>
            <a:avLst/>
            <a:gdLst/>
            <a:ahLst/>
            <a:cxnLst/>
            <a:rect l="0" t="0" r="r" b="b"/>
            <a:pathLst>
              <a:path w="121920" h="152399">
                <a:moveTo>
                  <a:pt x="60960" y="91439"/>
                </a:moveTo>
                <a:cubicBezTo>
                  <a:pt x="60960" y="76200"/>
                  <a:pt x="60960" y="76200"/>
                  <a:pt x="60960" y="60960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9321522" y="3279696"/>
            <a:ext cx="1681758" cy="647700"/>
          </a:xfrm>
          <a:custGeom>
            <a:avLst/>
            <a:gdLst/>
            <a:ahLst/>
            <a:cxnLst/>
            <a:rect l="0" t="0" r="r" b="b"/>
            <a:pathLst>
              <a:path w="1681758" h="647700">
                <a:moveTo>
                  <a:pt x="60960" y="60960"/>
                </a:moveTo>
                <a:cubicBezTo>
                  <a:pt x="60960" y="323850"/>
                  <a:pt x="1620798" y="323850"/>
                  <a:pt x="1620798" y="586740"/>
                </a:cubicBezTo>
              </a:path>
            </a:pathLst>
          </a:custGeom>
          <a:noFill/>
          <a:ln w="15240">
            <a:solidFill>
              <a:srgbClr val="DD7E2C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8547139" y="4064556"/>
            <a:ext cx="2707601" cy="428149"/>
          </a:xfrm>
          <a:custGeom>
            <a:avLst/>
            <a:gdLst/>
            <a:ahLst/>
            <a:cxnLst/>
            <a:rect l="0" t="0" r="r" b="b"/>
            <a:pathLst>
              <a:path w="2707601" h="428149">
                <a:moveTo>
                  <a:pt x="60960" y="367189"/>
                </a:moveTo>
                <a:cubicBezTo>
                  <a:pt x="60960" y="214075"/>
                  <a:pt x="2646641" y="214075"/>
                  <a:pt x="2646641" y="60960"/>
                </a:cubicBezTo>
              </a:path>
            </a:pathLst>
          </a:custGeom>
          <a:noFill/>
          <a:ln w="15240">
            <a:solidFill>
              <a:srgbClr val="C2456A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1950720" y="3279696"/>
            <a:ext cx="1695390" cy="405289"/>
          </a:xfrm>
          <a:custGeom>
            <a:avLst/>
            <a:gdLst/>
            <a:ahLst/>
            <a:cxnLst/>
            <a:rect l="0" t="0" r="r" b="b"/>
            <a:pathLst>
              <a:path w="1695390" h="405289">
                <a:moveTo>
                  <a:pt x="60960" y="344329"/>
                </a:moveTo>
                <a:cubicBezTo>
                  <a:pt x="60960" y="202644"/>
                  <a:pt x="1634430" y="202644"/>
                  <a:pt x="1634430" y="60960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1866900" y="3279696"/>
            <a:ext cx="1892082" cy="405289"/>
          </a:xfrm>
          <a:custGeom>
            <a:avLst/>
            <a:gdLst/>
            <a:ahLst/>
            <a:cxnLst/>
            <a:rect l="0" t="0" r="r" b="b"/>
            <a:pathLst>
              <a:path w="1892082" h="405289">
                <a:moveTo>
                  <a:pt x="60960" y="344329"/>
                </a:moveTo>
                <a:cubicBezTo>
                  <a:pt x="60960" y="202644"/>
                  <a:pt x="1831122" y="202644"/>
                  <a:pt x="1831122" y="60960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4001333" y="1711464"/>
            <a:ext cx="152400" cy="121920"/>
          </a:xfrm>
          <a:custGeom>
            <a:avLst/>
            <a:gdLst/>
            <a:ahLst/>
            <a:cxnLst/>
            <a:rect l="0" t="0" r="r" b="b"/>
            <a:pathLst>
              <a:path w="152400" h="121920">
                <a:moveTo>
                  <a:pt x="91440" y="60960"/>
                </a:moveTo>
                <a:cubicBezTo>
                  <a:pt x="81280" y="60960"/>
                  <a:pt x="71120" y="60960"/>
                  <a:pt x="60960" y="60960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775591" y="2321421"/>
            <a:ext cx="152400" cy="121920"/>
          </a:xfrm>
          <a:custGeom>
            <a:avLst/>
            <a:gdLst/>
            <a:ahLst/>
            <a:cxnLst/>
            <a:rect l="0" t="0" r="r" b="b"/>
            <a:pathLst>
              <a:path w="152400" h="121920">
                <a:moveTo>
                  <a:pt x="60960" y="60960"/>
                </a:moveTo>
                <a:cubicBezTo>
                  <a:pt x="71120" y="60960"/>
                  <a:pt x="81280" y="60960"/>
                  <a:pt x="91440" y="60960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0479524" y="51816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33415C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0479524" y="68580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33415C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10300716" y="364917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10300716" y="373299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8997696" y="364917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997696" y="373299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5149596" y="369108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6366474" y="440736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25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5827776" y="378252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25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7081266" y="381300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9358098" y="3316272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7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8583715" y="440736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24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1987296" y="359964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1903476" y="359964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4068389" y="174804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3812167" y="235799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9100" y="137541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95826" y="137541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8430" y="138684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9100" y="16954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95826" y="16954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8430" y="1706880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9100" y="201549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95826" y="201549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8430" y="202692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100" y="233553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95826" y="233553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8430" y="2346961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100" y="265557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95826" y="265557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8430" y="266700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100" y="2975610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95826" y="297561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8430" y="298704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9100" y="32956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95826" y="3295650"/>
            <a:ext cx="53340" cy="53340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8430" y="3307081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9100" y="361569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95826" y="361569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8430" y="362712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19100" y="3935730"/>
            <a:ext cx="53340" cy="53340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95826" y="393573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78430" y="3947160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9100" y="4255771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95826" y="4255771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8430" y="4267200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19100" y="457581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95826" y="4575810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8430" y="458724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19100" y="48958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95826" y="4895850"/>
            <a:ext cx="53340" cy="5334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8430" y="4907281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19100" y="5215890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795826" y="5215890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578430" y="5227320"/>
            <a:ext cx="542806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19100" y="5535930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795826" y="5535930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78430" y="5547360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19100" y="5855970"/>
            <a:ext cx="53340" cy="5334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795826" y="5855970"/>
            <a:ext cx="53340" cy="5334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578430" y="5867401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014460" y="1135380"/>
            <a:ext cx="1383031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466070" y="1135380"/>
            <a:ext cx="1383030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014460" y="1728788"/>
            <a:ext cx="1383031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466070" y="1728788"/>
            <a:ext cx="1383030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014460" y="2352675"/>
            <a:ext cx="2834640" cy="1722836"/>
          </a:xfrm>
          <a:prstGeom prst="roundRect">
            <a:avLst>
              <a:gd name="adj" fmla="val 663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151620" y="3042642"/>
            <a:ext cx="2560320" cy="68581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51620" y="3042642"/>
            <a:ext cx="1327547" cy="68581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479167" y="3042642"/>
            <a:ext cx="758548" cy="68581"/>
          </a:xfrm>
          <a:prstGeom prst="rect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37715" y="3042642"/>
            <a:ext cx="474107" cy="68581"/>
          </a:xfrm>
          <a:prstGeom prst="rect">
            <a:avLst/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151620" y="3332202"/>
            <a:ext cx="2560320" cy="68581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51620" y="3332202"/>
            <a:ext cx="1991320" cy="68581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142940" y="3332202"/>
            <a:ext cx="379215" cy="68581"/>
          </a:xfrm>
          <a:prstGeom prst="rect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522155" y="3332202"/>
            <a:ext cx="189547" cy="68581"/>
          </a:xfrm>
          <a:prstGeom prst="rect">
            <a:avLst/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151620" y="3621763"/>
            <a:ext cx="2560320" cy="68580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51620" y="3621763"/>
            <a:ext cx="1706880" cy="68580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858500" y="3621763"/>
            <a:ext cx="853440" cy="68580"/>
          </a:xfrm>
          <a:prstGeom prst="rect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9014460" y="4174570"/>
            <a:ext cx="2834640" cy="2371129"/>
          </a:xfrm>
          <a:prstGeom prst="roundRect">
            <a:avLst>
              <a:gd name="adj" fmla="val 4820"/>
            </a:avLst>
          </a:prstGeom>
          <a:gradFill rotWithShape="1">
            <a:gsLst>
              <a:gs pos="0">
                <a:srgbClr val="18233C"/>
              </a:gs>
              <a:gs pos="62000">
                <a:srgbClr val="0F1729"/>
              </a:gs>
            </a:gsLst>
            <a:lin scaled="0" ang="16920000"/>
          </a:gra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51620" y="4545091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151620" y="5018841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151620" y="5492591"/>
            <a:ext cx="144780" cy="144780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151620" y="6099333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42900" y="312420"/>
            <a:ext cx="123920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ANNEXE 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2900" y="457200"/>
            <a:ext cx="6414373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Flux de données et modes d'alimentation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2900" y="847248"/>
            <a:ext cx="395609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Échanges entre outils relevés en entretien, et nature de l'alimentation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9100" y="1120140"/>
            <a:ext cx="143291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OUTIL SOURCE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31564" y="1120140"/>
            <a:ext cx="95178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30" b="1" spc="94">
                <a:solidFill>
                  <a:srgbClr val="78879F"/>
                </a:solidFill>
                <a:latin typeface="Calibri"/>
              </a:rPr>
              <a:t>SENS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95826" y="1120140"/>
            <a:ext cx="174200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OUTIL DESTINATAIRE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78430" y="1120140"/>
            <a:ext cx="142243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51684" y="1120140"/>
            <a:ext cx="147756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OBJET DU FLUX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9100" y="1443990"/>
            <a:ext cx="9347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8160" y="133885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07406" y="137541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95826" y="1443990"/>
            <a:ext cx="118872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94886" y="133885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11730" y="140208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851684" y="1386841"/>
            <a:ext cx="185606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Dépôt des tableaux de suivi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" y="1764030"/>
            <a:ext cx="934760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8160" y="165889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07406" y="169545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95826" y="1764030"/>
            <a:ext cx="1093470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94886" y="165889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11730" y="172212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51684" y="1706880"/>
            <a:ext cx="224266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Alimentation de la cabine de pilotage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9100" y="2084070"/>
            <a:ext cx="135802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8160" y="1978937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07406" y="201549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95826" y="2084070"/>
            <a:ext cx="118872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894886" y="1978937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11730" y="204216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51684" y="2026920"/>
            <a:ext cx="20040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Fiches de contrôle vers le DOE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9100" y="2404110"/>
            <a:ext cx="135802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8160" y="229897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07406" y="2335531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95826" y="2404110"/>
            <a:ext cx="109347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94886" y="229897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11730" y="236220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1684" y="2346960"/>
            <a:ext cx="192476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Indicateurs qualité et sécurité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9100" y="2724150"/>
            <a:ext cx="94523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8160" y="261901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07406" y="265557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95826" y="2724150"/>
            <a:ext cx="109870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94886" y="261901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311730" y="2682240"/>
            <a:ext cx="1034653" cy="114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51684" y="2667000"/>
            <a:ext cx="255198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Commandes vers l'engagement de dépense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9100" y="3044190"/>
            <a:ext cx="107775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8160" y="2939058"/>
            <a:ext cx="86225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8257E6"/>
                </a:solidFill>
                <a:latin typeface="Calibri"/>
              </a:rPr>
              <a:t>DAF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07406" y="297561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795826" y="3044190"/>
            <a:ext cx="109870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894886" y="293905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311730" y="3002281"/>
            <a:ext cx="1034653" cy="114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851684" y="2987040"/>
            <a:ext cx="217348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Factures fournisseurs harmonisées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9100" y="3364230"/>
            <a:ext cx="109870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8160" y="325909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7406" y="3295650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95826" y="3364230"/>
            <a:ext cx="107775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94886" y="3259098"/>
            <a:ext cx="86225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8257E6"/>
                </a:solidFill>
                <a:latin typeface="Calibri"/>
              </a:rPr>
              <a:t>DAF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311730" y="332232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851684" y="3307080"/>
            <a:ext cx="174998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Retour de saisie et litiges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19100" y="3684270"/>
            <a:ext cx="118693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8160" y="357913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107406" y="361569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795826" y="3684270"/>
            <a:ext cx="94523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894886" y="357913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311730" y="364236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51684" y="3627120"/>
            <a:ext cx="1871782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Heures chantier vers la paie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19100" y="4004310"/>
            <a:ext cx="1105733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18160" y="3899178"/>
            <a:ext cx="108870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DD7E2C"/>
                </a:solidFill>
                <a:latin typeface="Calibri"/>
              </a:rPr>
              <a:t>TRAVAUX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07406" y="393573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95826" y="4004310"/>
            <a:ext cx="109347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94886" y="389917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311730" y="396240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851684" y="3947160"/>
            <a:ext cx="1469351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Inventaire matériel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19100" y="4324350"/>
            <a:ext cx="1550670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160" y="4219218"/>
            <a:ext cx="19335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C2456A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07406" y="4255770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795826" y="4324350"/>
            <a:ext cx="1093470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894886" y="421921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11730" y="428244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851684" y="4267200"/>
            <a:ext cx="143244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Suivi des déchets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19100" y="4644390"/>
            <a:ext cx="143208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18160" y="453925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07406" y="457581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795826" y="4644390"/>
            <a:ext cx="11090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AutoCAD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894886" y="4539258"/>
            <a:ext cx="1319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311730" y="460248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851684" y="4587239"/>
            <a:ext cx="1887617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Maquettes vers le dessin 2D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19100" y="4964429"/>
            <a:ext cx="1432084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18160" y="485929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07406" y="489585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795826" y="4964429"/>
            <a:ext cx="1273373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894886" y="4859298"/>
            <a:ext cx="1319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311730" y="492252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851684" y="4907281"/>
            <a:ext cx="214205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Maquettes vers le nuage de points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19100" y="5284471"/>
            <a:ext cx="143208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18160" y="517933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16574" y="5215890"/>
            <a:ext cx="781645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⇢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795826" y="5284471"/>
            <a:ext cx="114097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IDCapture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894886" y="5179338"/>
            <a:ext cx="19335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C2456A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311730" y="5242560"/>
            <a:ext cx="107620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INDIRECT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851684" y="5227320"/>
            <a:ext cx="321361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Repérage des constats — flux indirect, par captures d'écran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19100" y="5604510"/>
            <a:ext cx="11040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La Scene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18160" y="5499377"/>
            <a:ext cx="1319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107406" y="5535929"/>
            <a:ext cx="800100" cy="1600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795826" y="5604510"/>
            <a:ext cx="1273373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894886" y="5499377"/>
            <a:ext cx="1319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311730" y="556260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851684" y="5547360"/>
            <a:ext cx="179224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Scans vers le retraitement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19100" y="5924550"/>
            <a:ext cx="11090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AutoCAD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18160" y="5819419"/>
            <a:ext cx="1319689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107406" y="5855971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795826" y="5924550"/>
            <a:ext cx="105644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894886" y="5819419"/>
            <a:ext cx="1319689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11730" y="588264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851684" y="5867400"/>
            <a:ext cx="180820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Plans vers les calculs topo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04854" y="1196341"/>
            <a:ext cx="802124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224010" y="1470660"/>
            <a:ext cx="96381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PÔLES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698362" y="1196341"/>
            <a:ext cx="918447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54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423922" y="1470660"/>
            <a:ext cx="146732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OUTILS RECENSÉS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246751" y="1789747"/>
            <a:ext cx="918448" cy="2743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18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022319" y="2064067"/>
            <a:ext cx="136731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SOCLE COMMUN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698362" y="1789747"/>
            <a:ext cx="918447" cy="2743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15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462141" y="2064067"/>
            <a:ext cx="139088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FLUX IDENTIFIÉS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151620" y="2459355"/>
            <a:ext cx="193333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19">
                <a:solidFill>
                  <a:srgbClr val="78879F"/>
                </a:solidFill>
                <a:latin typeface="Calibri"/>
              </a:rPr>
              <a:t>RÉPARTITION DU PARC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151620" y="2897862"/>
            <a:ext cx="95131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Nature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9951006" y="2897862"/>
            <a:ext cx="244673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Externes 28 · Internes 16 · Non renseigné 10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9151620" y="3187423"/>
            <a:ext cx="1193483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Alimentation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926479" y="3187423"/>
            <a:ext cx="2471261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Manuel 42 · Automatique 8 · Non renseigné 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51620" y="3476983"/>
            <a:ext cx="101643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Position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030302" y="3476983"/>
            <a:ext cx="236743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Applications métier 36 · Socle commun 18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151620" y="4281250"/>
            <a:ext cx="184654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19">
                <a:solidFill>
                  <a:srgbClr val="4CC9E8"/>
                </a:solidFill>
                <a:latin typeface="Calibri"/>
              </a:rPr>
              <a:t>POINTS D'ATTENTION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9197816" y="4558427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349740" y="4522231"/>
            <a:ext cx="2392680" cy="32694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42 outils sur 54</a:t>
            </a:r>
            <a:r>
              <a:rPr sz="740" b="0">
                <a:solidFill>
                  <a:srgbClr val="C9D5EA"/>
                </a:solidFill>
                <a:latin typeface="Calibri"/>
              </a:rPr>
              <a:t> sont alimentés manuellement : la ressaisie est le principal point de fragilité du dispositif.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9197816" y="5032177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349740" y="4995981"/>
            <a:ext cx="2392680" cy="3269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Excel</a:t>
            </a:r>
            <a:r>
              <a:rPr sz="740" b="0">
                <a:solidFill>
                  <a:srgbClr val="C9D5EA"/>
                </a:solidFill>
                <a:latin typeface="Calibri"/>
              </a:rPr>
              <a:t> est présent dans 6 services et concentre les échanges sans interface formalisée.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197816" y="5505927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349740" y="5469731"/>
            <a:ext cx="2392680" cy="459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0">
                <a:solidFill>
                  <a:srgbClr val="C9D5EA"/>
                </a:solidFill>
                <a:latin typeface="Calibri"/>
              </a:rPr>
              <a:t>Seuls </a:t>
            </a:r>
            <a:r>
              <a:rPr sz="740" b="1">
                <a:solidFill>
                  <a:srgbClr val="FFFFFF"/>
                </a:solidFill>
                <a:latin typeface="Calibri"/>
              </a:rPr>
              <a:t>8 outils</a:t>
            </a:r>
            <a:r>
              <a:rPr sz="740" b="0">
                <a:solidFill>
                  <a:srgbClr val="C9D5EA"/>
                </a:solidFill>
                <a:latin typeface="Calibri"/>
              </a:rPr>
              <a:t> disposent d'une alimentation automatique, dont Power BI qui dépend d'exports manuels en amont.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9197816" y="6112669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349740" y="6076474"/>
            <a:ext cx="2392680" cy="32694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4 outils</a:t>
            </a:r>
            <a:r>
              <a:rPr sz="740" b="0">
                <a:solidFill>
                  <a:srgbClr val="C9D5EA"/>
                </a:solidFill>
                <a:latin typeface="Calibri"/>
              </a:rPr>
              <a:t> restent à qualifier : aucun entretien ne documente leur nature ni leur alimentation.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1429762" y="6644640"/>
            <a:ext cx="110513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33911" y="358140"/>
            <a:ext cx="244792" cy="129539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33911" y="548640"/>
            <a:ext cx="331470" cy="129539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33911" y="739140"/>
            <a:ext cx="167996" cy="12953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08114" y="1347906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027170" y="130683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46226" y="130683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008114" y="1544479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27170" y="1503401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46226" y="1503401"/>
            <a:ext cx="382905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008114" y="1741052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84314" y="1741052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160514" y="1741052"/>
            <a:ext cx="53340" cy="5333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27170" y="1699974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46226" y="1699974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08114" y="1937623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84314" y="1937623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027170" y="1896547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46226" y="1896547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08114" y="2134195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27170" y="209312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46226" y="2093120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08114" y="2330768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027170" y="228969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46226" y="2289690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008114" y="2527341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027170" y="2486263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46226" y="2486263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008114" y="2723912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027170" y="2682836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46226" y="2682836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008114" y="2920484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027170" y="2879407"/>
            <a:ext cx="167997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46226" y="2879407"/>
            <a:ext cx="167997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008114" y="3117057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027170" y="3075979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46226" y="3075979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008114" y="3313628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027170" y="3272552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46226" y="3272552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008114" y="3510201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027170" y="346912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46226" y="3469125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008114" y="3706773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027170" y="3665696"/>
            <a:ext cx="167997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46226" y="3665696"/>
            <a:ext cx="317897" cy="135614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08114" y="3903344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84314" y="3903344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027170" y="3862268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46226" y="3862268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08114" y="4099917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84314" y="4099917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027170" y="4058841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046226" y="4058841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08114" y="4296490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084314" y="4296490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027170" y="4255414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046226" y="4255414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008114" y="4493062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027170" y="4451985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046226" y="4451985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008114" y="4689635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027170" y="4648557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046226" y="4648557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008114" y="4886206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084314" y="4886206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160514" y="4886206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236714" y="4886206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312914" y="4886206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389114" y="4886206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027170" y="484513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5046226" y="4845130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008114" y="5082779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027170" y="504170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046226" y="504170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008114" y="5279351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027170" y="5238274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046226" y="5238274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008114" y="5475922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027170" y="5434846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046226" y="5434846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008114" y="5672495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084314" y="5672495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160514" y="5672495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027170" y="5631417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5046226" y="5631417"/>
            <a:ext cx="382905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08114" y="5869067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027170" y="5827990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046226" y="5827990"/>
            <a:ext cx="382905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008114" y="6065638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4027170" y="6024562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5046226" y="6024562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008114" y="6262211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4027170" y="622113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5046226" y="6221135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008114" y="6458784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027170" y="6417708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5046226" y="6417708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852655" y="1347906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871710" y="1306831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0890766" y="1306831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852655" y="1544479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928854" y="1544479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005055" y="1544479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9871710" y="1503401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10890766" y="1503401"/>
            <a:ext cx="317897" cy="135614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852655" y="1741052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9871710" y="1699974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10890766" y="1699974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852655" y="1937623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928854" y="1937623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9871710" y="1896547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10890766" y="1896547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852655" y="2134195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928854" y="2134195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9871710" y="209312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10890766" y="2093120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852655" y="2330768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871710" y="2289690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10890766" y="2289690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852655" y="2527341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9871710" y="2486263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0890766" y="2486263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852655" y="2723912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871710" y="2682836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10890766" y="2682836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852655" y="2920484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928854" y="2920484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005055" y="2920484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9871710" y="2879407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10890766" y="2879407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852655" y="3117057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9871710" y="3075979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10890766" y="3075979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852655" y="3313628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928854" y="3313628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005055" y="3313628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081254" y="3313628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9871710" y="3272552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10890766" y="3272552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8852655" y="3510201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9871710" y="346912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10890766" y="3469125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8852655" y="3706773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9871710" y="3665696"/>
            <a:ext cx="379453" cy="135614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10890766" y="3665696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8852655" y="3903344"/>
            <a:ext cx="53340" cy="53341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9871710" y="3862268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10890766" y="3862268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852655" y="4099917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928854" y="4099917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9005055" y="4099917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9081254" y="4099917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9871710" y="4058841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10890766" y="4058841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852655" y="4296490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871710" y="4255414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10890766" y="4255414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852655" y="4493062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9871710" y="445198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10890766" y="4451985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852655" y="4689635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9871710" y="4648557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10890766" y="4648557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8852655" y="4886206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9871710" y="484513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10890766" y="4845130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8852655" y="5082779"/>
            <a:ext cx="53340" cy="53341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9871710" y="5041701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10890766" y="5041701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8852655" y="5279351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9871710" y="5238274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10890766" y="5238274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8852655" y="5475922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9871710" y="5434846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10890766" y="5434846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8852655" y="5672495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9871710" y="5631417"/>
            <a:ext cx="379453" cy="135614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10890766" y="5631417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8852655" y="5869067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8928854" y="5869067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005055" y="5869067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9081254" y="5869067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9157454" y="5869067"/>
            <a:ext cx="53340" cy="5333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9871710" y="5827990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6" name="Rounded Rectangle 185"/>
          <p:cNvSpPr/>
          <p:nvPr/>
        </p:nvSpPr>
        <p:spPr>
          <a:xfrm>
            <a:off x="10890766" y="5827990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8852655" y="6065638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8" name="Rounded Rectangle 187"/>
          <p:cNvSpPr/>
          <p:nvPr/>
        </p:nvSpPr>
        <p:spPr>
          <a:xfrm>
            <a:off x="9871710" y="6024562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10890766" y="6024562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852655" y="6262211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8928854" y="6262211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9005055" y="6262211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9871710" y="622113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4" name="Rounded Rectangle 193"/>
          <p:cNvSpPr/>
          <p:nvPr/>
        </p:nvSpPr>
        <p:spPr>
          <a:xfrm>
            <a:off x="10890766" y="6221135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8852655" y="6458784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8928854" y="6458784"/>
            <a:ext cx="53340" cy="5333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9871710" y="6417708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10890766" y="6417708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342900" y="312420"/>
            <a:ext cx="123920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ANNEXE 2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42900" y="457200"/>
            <a:ext cx="3634383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Référentiel des outils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42900" y="847248"/>
            <a:ext cx="3914418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Tous les outils recensés, avec éditeur, nature et mode d'alimentation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639663" y="354330"/>
            <a:ext cx="122432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Outil interne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1971" y="369570"/>
            <a:ext cx="80867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726341" y="544830"/>
            <a:ext cx="180855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Alimentation automatique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051971" y="560070"/>
            <a:ext cx="89535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0562868" y="735330"/>
            <a:ext cx="113299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À qualifier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051971" y="750570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03860" y="1120140"/>
            <a:ext cx="95726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OUTIL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008114" y="1120140"/>
            <a:ext cx="113752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SERVICES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027170" y="1120140"/>
            <a:ext cx="104727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NATURE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046226" y="1120140"/>
            <a:ext cx="135231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03860" y="1309093"/>
            <a:ext cx="99095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Achat +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745230" y="1318260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764286" y="1318260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3860" y="1505664"/>
            <a:ext cx="10910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Anaconda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3745230" y="151483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764286" y="151483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88620" y="1680925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AutoCAD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745230" y="1711404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4764286" y="171140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88620" y="1877497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Basware</a:t>
            </a:r>
            <a:r>
              <a:rPr sz="570" b="0">
                <a:solidFill>
                  <a:srgbClr val="78879F"/>
                </a:solidFill>
                <a:latin typeface="Calibri"/>
              </a:rPr>
              <a:t> Soletanche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3745230" y="19079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64286" y="19079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88620" y="2074068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BATIS</a:t>
            </a:r>
            <a:r>
              <a:rPr sz="570" b="0">
                <a:solidFill>
                  <a:srgbClr val="78879F"/>
                </a:solidFill>
                <a:latin typeface="Calibri"/>
              </a:rPr>
              <a:t> Tisseo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745230" y="210454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764286" y="210454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88620" y="2270641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BIM Vision</a:t>
            </a:r>
            <a:r>
              <a:rPr sz="570" b="0">
                <a:solidFill>
                  <a:srgbClr val="78879F"/>
                </a:solidFill>
                <a:latin typeface="Calibri"/>
              </a:rPr>
              <a:t> Technologia BIM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745230" y="2301122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764286" y="230112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03860" y="2488526"/>
            <a:ext cx="112680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3745230" y="249769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764286" y="249769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03860" y="2685098"/>
            <a:ext cx="110978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By My Site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3745230" y="2694265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4764286" y="2694265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403860" y="2881669"/>
            <a:ext cx="9839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CEMEX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745230" y="2890838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764286" y="2890838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388620" y="305693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Civil 3D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3745230" y="308740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764286" y="308740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403860" y="3274815"/>
            <a:ext cx="101191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3745230" y="3283981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764286" y="3283981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88620" y="3450073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CWT</a:t>
            </a:r>
            <a:r>
              <a:rPr sz="570" b="0">
                <a:solidFill>
                  <a:srgbClr val="78879F"/>
                </a:solidFill>
                <a:latin typeface="Calibri"/>
              </a:rPr>
              <a:t> CWT EUROPE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3745230" y="3480554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4764286" y="348055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403860" y="3667958"/>
            <a:ext cx="12028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3745230" y="3677127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4764286" y="3677127"/>
            <a:ext cx="8817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Mixte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88620" y="3843219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DocuSign</a:t>
            </a:r>
            <a:r>
              <a:rPr sz="570" b="0">
                <a:solidFill>
                  <a:srgbClr val="78879F"/>
                </a:solidFill>
                <a:latin typeface="Calibri"/>
              </a:rPr>
              <a:t> Docusign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745230" y="387369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764286" y="387369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388620" y="403979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E-Checking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3745230" y="4070270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764286" y="4070270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388620" y="4236362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E-Paraph</a:t>
            </a:r>
            <a:r>
              <a:rPr sz="570" b="0">
                <a:solidFill>
                  <a:srgbClr val="78879F"/>
                </a:solidFill>
                <a:latin typeface="Calibri"/>
              </a:rPr>
              <a:t> E-paraph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3745230" y="426684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4764286" y="426684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388620" y="4432935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E-Project</a:t>
            </a:r>
            <a:r>
              <a:rPr sz="570" b="0">
                <a:solidFill>
                  <a:srgbClr val="78879F"/>
                </a:solidFill>
                <a:latin typeface="Calibri"/>
              </a:rPr>
              <a:t> Tisseo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745230" y="4463416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4764286" y="446341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403860" y="4650820"/>
            <a:ext cx="105537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745230" y="4659987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4764286" y="4659987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388620" y="4826081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3745230" y="485655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764286" y="485655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403860" y="5043963"/>
            <a:ext cx="94666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GMAO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3745230" y="505313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4764286" y="505313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388620" y="521922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H&amp;R For You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3745230" y="524970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4764286" y="524970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403860" y="5437109"/>
            <a:ext cx="104917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3745230" y="54462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4764286" y="54462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88620" y="5612368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IDCapture</a:t>
            </a:r>
            <a:r>
              <a:rPr sz="570" b="0">
                <a:solidFill>
                  <a:srgbClr val="78879F"/>
                </a:solidFill>
                <a:latin typeface="Calibri"/>
              </a:rPr>
              <a:t> IDCAPTURE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3745230" y="564284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764286" y="564284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388620" y="580894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Inventor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3745230" y="5839419"/>
            <a:ext cx="966192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4764286" y="5839419"/>
            <a:ext cx="946785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388620" y="6005513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La Scene</a:t>
            </a:r>
            <a:r>
              <a:rPr sz="570" b="0">
                <a:solidFill>
                  <a:srgbClr val="78879F"/>
                </a:solidFill>
                <a:latin typeface="Calibri"/>
              </a:rPr>
              <a:t> Leica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3745230" y="6035992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4764286" y="6035992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403860" y="6223396"/>
            <a:ext cx="1037630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Lafarge+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3745230" y="6232565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4764286" y="6232565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403860" y="6419969"/>
            <a:ext cx="155686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Live Objects (Orange)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745230" y="6429137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764286" y="6429137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6248400" y="1120140"/>
            <a:ext cx="957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OUTIL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8852655" y="1120140"/>
            <a:ext cx="113752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SERVICES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9871710" y="1120140"/>
            <a:ext cx="104727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NATURE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10890766" y="1120140"/>
            <a:ext cx="135231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248400" y="1309093"/>
            <a:ext cx="105846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Lucee TP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9589770" y="1318260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0608826" y="1318260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6233160" y="1484352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Mezzoteam</a:t>
            </a:r>
            <a:r>
              <a:rPr sz="570" b="0">
                <a:solidFill>
                  <a:srgbClr val="78879F"/>
                </a:solidFill>
                <a:latin typeface="Calibri"/>
              </a:rPr>
              <a:t> MEZZOTEAM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9589770" y="151483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10608826" y="1514833"/>
            <a:ext cx="8817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Mixte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6248400" y="1702237"/>
            <a:ext cx="90475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MIRO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9589770" y="1711404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10608826" y="171140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6248400" y="1898809"/>
            <a:ext cx="88142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MMS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9589770" y="19079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10608826" y="19079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6248400" y="2095382"/>
            <a:ext cx="111906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MS Project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589770" y="210454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0608826" y="210454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6248400" y="2291953"/>
            <a:ext cx="10772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Neoaccès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9589770" y="230112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0608826" y="230112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6233160" y="246721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NotebookLM</a:t>
            </a:r>
            <a:r>
              <a:rPr sz="570" b="0">
                <a:solidFill>
                  <a:srgbClr val="78879F"/>
                </a:solidFill>
                <a:latin typeface="Calibri"/>
              </a:rPr>
              <a:t> GOOGLE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9589770" y="249769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10608826" y="249769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6233160" y="2663786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Oasis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9589770" y="2694265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10608826" y="2694265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6233160" y="2860357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  <a:r>
              <a:rPr sz="570" b="0">
                <a:solidFill>
                  <a:srgbClr val="78879F"/>
                </a:solidFill>
                <a:latin typeface="Calibri"/>
              </a:rPr>
              <a:t> Systra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9589770" y="289083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10608826" y="289083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6248400" y="3078242"/>
            <a:ext cx="88153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Pixis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9589770" y="3087409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0608826" y="3087409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6233160" y="3253503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9589770" y="3283981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10608826" y="3283981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6248400" y="3471385"/>
            <a:ext cx="1146929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PowerPoint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9589770" y="3480554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10608826" y="348055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6248400" y="3667958"/>
            <a:ext cx="91416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9589770" y="3677127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0608826" y="3677127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6233160" y="3843219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QGIS</a:t>
            </a:r>
            <a:r>
              <a:rPr sz="570" b="0">
                <a:solidFill>
                  <a:srgbClr val="78879F"/>
                </a:solidFill>
                <a:latin typeface="Calibri"/>
              </a:rPr>
              <a:t> QGIS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9589770" y="387369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0608826" y="387369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6233160" y="403979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  <a:r>
              <a:rPr sz="570" b="0">
                <a:solidFill>
                  <a:srgbClr val="78879F"/>
                </a:solidFill>
                <a:latin typeface="Calibri"/>
              </a:rPr>
              <a:t> Synologie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9589770" y="4070270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10608826" y="4070270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233160" y="4236362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Revit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9589770" y="426684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10608826" y="426684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6233160" y="4432935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SharePoint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9589770" y="4463416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608826" y="446341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6233160" y="4629508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Simple BIM</a:t>
            </a:r>
            <a:r>
              <a:rPr sz="570" b="0">
                <a:solidFill>
                  <a:srgbClr val="78879F"/>
                </a:solidFill>
                <a:latin typeface="Calibri"/>
              </a:rPr>
              <a:t> Licence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9589770" y="4659987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10608826" y="4659987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6248400" y="4847392"/>
            <a:ext cx="145899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Sixense Monitoring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9589770" y="485655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608826" y="4856559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6233160" y="5022651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Sofistik Bridge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9589770" y="5053132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10608826" y="505313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6233160" y="521922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Tableau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9589770" y="524970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10608826" y="524970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6248400" y="5437109"/>
            <a:ext cx="87213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TIPS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9589770" y="54462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10608826" y="54462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6248400" y="5633680"/>
            <a:ext cx="970002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Traktor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9589770" y="5642848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608826" y="564284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6233160" y="580894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Trimble Connect</a:t>
            </a:r>
            <a:r>
              <a:rPr sz="570" b="0">
                <a:solidFill>
                  <a:srgbClr val="78879F"/>
                </a:solidFill>
                <a:latin typeface="Calibri"/>
              </a:rPr>
              <a:t> tekla bimsight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9589770" y="5839419"/>
            <a:ext cx="966192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10608826" y="5839419"/>
            <a:ext cx="946785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6248400" y="6026825"/>
            <a:ext cx="144684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9589770" y="6035992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10608826" y="6035992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6233160" y="620208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Word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9589770" y="6232565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10608826" y="6232565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6248400" y="6419969"/>
            <a:ext cx="104441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YELLOW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589770" y="6429137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0608826" y="6429137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1429762" y="6644640"/>
            <a:ext cx="110513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
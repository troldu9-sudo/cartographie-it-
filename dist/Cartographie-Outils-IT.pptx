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608933" y="358140"/>
            <a:ext cx="412551" cy="144780"/>
          </a:xfrm>
          <a:prstGeom prst="roundRect">
            <a:avLst>
              <a:gd name="adj" fmla="val 50000"/>
            </a:avLst>
          </a:prstGeom>
          <a:solidFill>
            <a:srgbClr val="5B57D6">
              <a:alpha val="13000"/>
            </a:srgbClr>
          </a:solidFill>
          <a:ln w="7620">
            <a:solidFill>
              <a:srgbClr val="5B57D6">
                <a:alpha val="3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08933" y="563880"/>
            <a:ext cx="438150" cy="144780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08933" y="769620"/>
            <a:ext cx="521494" cy="144780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32864" y="381000"/>
            <a:ext cx="60960" cy="60960"/>
          </a:xfrm>
          <a:prstGeom prst="ellipse">
            <a:avLst/>
          </a:prstGeom>
          <a:solidFill>
            <a:srgbClr val="4C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2900" y="1074420"/>
            <a:ext cx="2228136" cy="1454825"/>
          </a:xfrm>
          <a:prstGeom prst="roundRect">
            <a:avLst>
              <a:gd name="adj" fmla="val 8380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>
            <a:outerShdw blurRad="228600" dist="76200" dir="5400000" rotWithShape="0">
              <a:srgbClr val="0D152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07670" y="1150382"/>
            <a:ext cx="121920" cy="121920"/>
          </a:xfrm>
          <a:prstGeom prst="ellipse">
            <a:avLst/>
          </a:prstGeom>
          <a:solidFill>
            <a:srgbClr val="3A6BE5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34340" y="1177052"/>
            <a:ext cx="68580" cy="68580"/>
          </a:xfrm>
          <a:prstGeom prst="ellipse">
            <a:avLst/>
          </a:prstGeom>
          <a:solidFill>
            <a:srgbClr val="3A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4340" y="1531144"/>
            <a:ext cx="534948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99768" y="1531144"/>
            <a:ext cx="502801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533049" y="1531144"/>
            <a:ext cx="556260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" y="1720096"/>
            <a:ext cx="438984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3803" y="1720096"/>
            <a:ext cx="461724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396008" y="1720096"/>
            <a:ext cx="659964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64588" y="1772603"/>
            <a:ext cx="53340" cy="53340"/>
          </a:xfrm>
          <a:prstGeom prst="ellipse">
            <a:avLst/>
          </a:prstGeom>
          <a:solidFill>
            <a:srgbClr val="4C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086451" y="1720096"/>
            <a:ext cx="342900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4340" y="1909048"/>
            <a:ext cx="338376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3196" y="1909048"/>
            <a:ext cx="580668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414343" y="1909048"/>
            <a:ext cx="717828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4340" y="2098000"/>
            <a:ext cx="781764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662476" y="1074420"/>
            <a:ext cx="2228136" cy="1454825"/>
          </a:xfrm>
          <a:prstGeom prst="roundRect">
            <a:avLst>
              <a:gd name="adj" fmla="val 8380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>
            <a:outerShdw blurRad="228600" dist="76200" dir="5400000" rotWithShape="0">
              <a:srgbClr val="0D152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727246" y="1150382"/>
            <a:ext cx="121920" cy="121920"/>
          </a:xfrm>
          <a:prstGeom prst="ellipse">
            <a:avLst/>
          </a:prstGeom>
          <a:solidFill>
            <a:srgbClr val="0E9E78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53916" y="1177052"/>
            <a:ext cx="68580" cy="68580"/>
          </a:xfrm>
          <a:prstGeom prst="ellipse">
            <a:avLst/>
          </a:prstGeom>
          <a:solidFill>
            <a:srgbClr val="0E9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753916" y="1531144"/>
            <a:ext cx="457319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241715" y="1531144"/>
            <a:ext cx="728543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310295" y="1583650"/>
            <a:ext cx="53340" cy="53340"/>
          </a:xfrm>
          <a:prstGeom prst="ellipse">
            <a:avLst/>
          </a:prstGeom>
          <a:solidFill>
            <a:srgbClr val="4C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000738" y="1531144"/>
            <a:ext cx="352187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753916" y="1720096"/>
            <a:ext cx="498515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282910" y="1720096"/>
            <a:ext cx="413147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351490" y="1772603"/>
            <a:ext cx="53340" cy="53340"/>
          </a:xfrm>
          <a:prstGeom prst="ellipse">
            <a:avLst/>
          </a:prstGeom>
          <a:solidFill>
            <a:srgbClr val="4C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726538" y="1720096"/>
            <a:ext cx="571500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753916" y="1909048"/>
            <a:ext cx="781764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982051" y="1074420"/>
            <a:ext cx="2228135" cy="1454825"/>
          </a:xfrm>
          <a:prstGeom prst="roundRect">
            <a:avLst>
              <a:gd name="adj" fmla="val 8380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>
            <a:outerShdw blurRad="228600" dist="76200" dir="5400000" rotWithShape="0">
              <a:srgbClr val="0D152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046821" y="1150382"/>
            <a:ext cx="121920" cy="121920"/>
          </a:xfrm>
          <a:prstGeom prst="ellipse">
            <a:avLst/>
          </a:prstGeom>
          <a:solidFill>
            <a:srgbClr val="0F8FA8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73491" y="1177052"/>
            <a:ext cx="68580" cy="68580"/>
          </a:xfrm>
          <a:prstGeom prst="ellipse">
            <a:avLst/>
          </a:prstGeom>
          <a:solidFill>
            <a:srgbClr val="0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073491" y="1531144"/>
            <a:ext cx="502801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606772" y="1531144"/>
            <a:ext cx="499825" cy="158472"/>
          </a:xfrm>
          <a:prstGeom prst="roundRect">
            <a:avLst>
              <a:gd name="adj" fmla="val 50000"/>
            </a:avLst>
          </a:prstGeom>
          <a:solidFill>
            <a:srgbClr val="0F8FA8">
              <a:alpha val="12000"/>
            </a:srgbClr>
          </a:solidFill>
          <a:ln w="7620">
            <a:solidFill>
              <a:srgbClr val="0F8FA8">
                <a:alpha val="3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137077" y="1531144"/>
            <a:ext cx="352187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519743" y="1531144"/>
            <a:ext cx="393144" cy="15847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073491" y="1720096"/>
            <a:ext cx="530304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634276" y="1720096"/>
            <a:ext cx="562451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227207" y="1720096"/>
            <a:ext cx="361236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073491" y="1909048"/>
            <a:ext cx="573048" cy="158472"/>
          </a:xfrm>
          <a:prstGeom prst="roundRect">
            <a:avLst>
              <a:gd name="adj" fmla="val 50000"/>
            </a:avLst>
          </a:prstGeom>
          <a:solidFill>
            <a:srgbClr val="0F8FA8">
              <a:alpha val="12000"/>
            </a:srgbClr>
          </a:solidFill>
          <a:ln w="7620">
            <a:solidFill>
              <a:srgbClr val="0F8FA8">
                <a:alpha val="3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142072" y="1961555"/>
            <a:ext cx="53340" cy="53340"/>
          </a:xfrm>
          <a:prstGeom prst="ellipse">
            <a:avLst/>
          </a:prstGeom>
          <a:solidFill>
            <a:srgbClr val="4C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677019" y="1909048"/>
            <a:ext cx="717828" cy="158472"/>
          </a:xfrm>
          <a:prstGeom prst="roundRect">
            <a:avLst>
              <a:gd name="adj" fmla="val 50000"/>
            </a:avLst>
          </a:prstGeom>
          <a:solidFill>
            <a:srgbClr val="0F8FA8">
              <a:alpha val="12000"/>
            </a:srgbClr>
          </a:solidFill>
          <a:ln w="7620">
            <a:solidFill>
              <a:srgbClr val="0F8FA8">
                <a:alpha val="3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073491" y="2098000"/>
            <a:ext cx="781764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885736" y="2098000"/>
            <a:ext cx="572929" cy="158472"/>
          </a:xfrm>
          <a:prstGeom prst="roundRect">
            <a:avLst>
              <a:gd name="adj" fmla="val 50000"/>
            </a:avLst>
          </a:prstGeom>
          <a:solidFill>
            <a:srgbClr val="0F8FA8">
              <a:alpha val="12000"/>
            </a:srgbClr>
          </a:solidFill>
          <a:ln w="7620">
            <a:solidFill>
              <a:srgbClr val="0F8FA8">
                <a:alpha val="3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954316" y="2150507"/>
            <a:ext cx="53340" cy="53340"/>
          </a:xfrm>
          <a:prstGeom prst="ellipse">
            <a:avLst/>
          </a:prstGeom>
          <a:solidFill>
            <a:srgbClr val="4C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301627" y="1074420"/>
            <a:ext cx="2228136" cy="1454825"/>
          </a:xfrm>
          <a:prstGeom prst="roundRect">
            <a:avLst>
              <a:gd name="adj" fmla="val 8380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>
            <a:outerShdw blurRad="228600" dist="76200" dir="5400000" rotWithShape="0">
              <a:srgbClr val="0D152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366397" y="1150382"/>
            <a:ext cx="121920" cy="121920"/>
          </a:xfrm>
          <a:prstGeom prst="ellipse">
            <a:avLst/>
          </a:prstGeom>
          <a:solidFill>
            <a:srgbClr val="DD7E2C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393067" y="1177052"/>
            <a:ext cx="68580" cy="68580"/>
          </a:xfrm>
          <a:prstGeom prst="ellipse">
            <a:avLst/>
          </a:prstGeom>
          <a:solidFill>
            <a:srgbClr val="DD7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393067" y="1531144"/>
            <a:ext cx="498396" cy="158472"/>
          </a:xfrm>
          <a:prstGeom prst="roundRect">
            <a:avLst>
              <a:gd name="adj" fmla="val 50000"/>
            </a:avLst>
          </a:prstGeom>
          <a:solidFill>
            <a:srgbClr val="DD7E2C">
              <a:alpha val="12000"/>
            </a:srgbClr>
          </a:solidFill>
          <a:ln w="7620">
            <a:solidFill>
              <a:srgbClr val="DD7E2C">
                <a:alpha val="3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921943" y="1531144"/>
            <a:ext cx="499824" cy="158472"/>
          </a:xfrm>
          <a:prstGeom prst="roundRect">
            <a:avLst>
              <a:gd name="adj" fmla="val 50000"/>
            </a:avLst>
          </a:prstGeom>
          <a:solidFill>
            <a:srgbClr val="DD7E2C">
              <a:alpha val="12000"/>
            </a:srgbClr>
          </a:solidFill>
          <a:ln w="7620">
            <a:solidFill>
              <a:srgbClr val="DD7E2C">
                <a:alpha val="3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452247" y="1531144"/>
            <a:ext cx="352186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834914" y="1531144"/>
            <a:ext cx="530305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393067" y="1720096"/>
            <a:ext cx="329208" cy="158472"/>
          </a:xfrm>
          <a:prstGeom prst="roundRect">
            <a:avLst>
              <a:gd name="adj" fmla="val 50000"/>
            </a:avLst>
          </a:prstGeom>
          <a:solidFill>
            <a:srgbClr val="DD7E2C">
              <a:alpha val="12000"/>
            </a:srgbClr>
          </a:solidFill>
          <a:ln w="7620">
            <a:solidFill>
              <a:srgbClr val="DD7E2C">
                <a:alpha val="3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7752755" y="1720096"/>
            <a:ext cx="562451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345686" y="1720096"/>
            <a:ext cx="659964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414266" y="1772603"/>
            <a:ext cx="53341" cy="53340"/>
          </a:xfrm>
          <a:prstGeom prst="ellipse">
            <a:avLst/>
          </a:prstGeom>
          <a:solidFill>
            <a:srgbClr val="4C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393067" y="1909048"/>
            <a:ext cx="448032" cy="15847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C2456A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7871579" y="1909048"/>
            <a:ext cx="361236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263294" y="1909048"/>
            <a:ext cx="573048" cy="158472"/>
          </a:xfrm>
          <a:prstGeom prst="roundRect">
            <a:avLst>
              <a:gd name="adj" fmla="val 50000"/>
            </a:avLst>
          </a:prstGeom>
          <a:solidFill>
            <a:srgbClr val="DD7E2C">
              <a:alpha val="12000"/>
            </a:srgbClr>
          </a:solidFill>
          <a:ln w="7620">
            <a:solidFill>
              <a:srgbClr val="DD7E2C">
                <a:alpha val="3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331875" y="1961555"/>
            <a:ext cx="53340" cy="53340"/>
          </a:xfrm>
          <a:prstGeom prst="ellipse">
            <a:avLst/>
          </a:prstGeom>
          <a:solidFill>
            <a:srgbClr val="4C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7393067" y="2098000"/>
            <a:ext cx="717828" cy="158472"/>
          </a:xfrm>
          <a:prstGeom prst="roundRect">
            <a:avLst>
              <a:gd name="adj" fmla="val 50000"/>
            </a:avLst>
          </a:prstGeom>
          <a:solidFill>
            <a:srgbClr val="DD7E2C">
              <a:alpha val="12000"/>
            </a:srgbClr>
          </a:solidFill>
          <a:ln w="7620">
            <a:solidFill>
              <a:srgbClr val="DD7E2C">
                <a:alpha val="3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8141375" y="2098000"/>
            <a:ext cx="416124" cy="158472"/>
          </a:xfrm>
          <a:prstGeom prst="roundRect">
            <a:avLst>
              <a:gd name="adj" fmla="val 50000"/>
            </a:avLst>
          </a:prstGeom>
          <a:solidFill>
            <a:srgbClr val="DD7E2C">
              <a:alpha val="12000"/>
            </a:srgbClr>
          </a:solidFill>
          <a:ln w="7620">
            <a:solidFill>
              <a:srgbClr val="DD7E2C">
                <a:alpha val="3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8587978" y="2098000"/>
            <a:ext cx="781764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393067" y="2286952"/>
            <a:ext cx="345876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9621203" y="1074420"/>
            <a:ext cx="2228135" cy="1454825"/>
          </a:xfrm>
          <a:prstGeom prst="roundRect">
            <a:avLst>
              <a:gd name="adj" fmla="val 8380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>
            <a:outerShdw blurRad="228600" dist="76200" dir="5400000" rotWithShape="0">
              <a:srgbClr val="0D152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685973" y="1150382"/>
            <a:ext cx="121920" cy="121920"/>
          </a:xfrm>
          <a:prstGeom prst="ellipse">
            <a:avLst/>
          </a:prstGeom>
          <a:solidFill>
            <a:srgbClr val="A9761A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712643" y="1177052"/>
            <a:ext cx="68580" cy="68580"/>
          </a:xfrm>
          <a:prstGeom prst="ellipse">
            <a:avLst/>
          </a:prstGeom>
          <a:solidFill>
            <a:srgbClr val="A9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9712643" y="1531144"/>
            <a:ext cx="704135" cy="15847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C2456A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0447258" y="1531144"/>
            <a:ext cx="475655" cy="158472"/>
          </a:xfrm>
          <a:prstGeom prst="roundRect">
            <a:avLst>
              <a:gd name="adj" fmla="val 50000"/>
            </a:avLst>
          </a:prstGeom>
          <a:solidFill>
            <a:srgbClr val="A9761A">
              <a:alpha val="12000"/>
            </a:srgbClr>
          </a:solidFill>
          <a:ln w="7620">
            <a:solidFill>
              <a:srgbClr val="A9761A">
                <a:alpha val="3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0953393" y="1531144"/>
            <a:ext cx="425172" cy="15847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C2456A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9712643" y="1720096"/>
            <a:ext cx="498395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10241518" y="1720096"/>
            <a:ext cx="352187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10624185" y="1720096"/>
            <a:ext cx="635318" cy="158472"/>
          </a:xfrm>
          <a:prstGeom prst="roundRect">
            <a:avLst>
              <a:gd name="adj" fmla="val 50000"/>
            </a:avLst>
          </a:prstGeom>
          <a:solidFill>
            <a:srgbClr val="A9761A">
              <a:alpha val="12000"/>
            </a:srgbClr>
          </a:solidFill>
          <a:ln w="7620">
            <a:solidFill>
              <a:srgbClr val="A9761A">
                <a:alpha val="3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11289983" y="1720096"/>
            <a:ext cx="448032" cy="15847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C2456A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9712643" y="1909048"/>
            <a:ext cx="573047" cy="158472"/>
          </a:xfrm>
          <a:prstGeom prst="roundRect">
            <a:avLst>
              <a:gd name="adj" fmla="val 50000"/>
            </a:avLst>
          </a:prstGeom>
          <a:solidFill>
            <a:srgbClr val="A9761A">
              <a:alpha val="12000"/>
            </a:srgbClr>
          </a:solidFill>
          <a:ln w="7620">
            <a:solidFill>
              <a:srgbClr val="A9761A">
                <a:alpha val="3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781223" y="1961555"/>
            <a:ext cx="53340" cy="53340"/>
          </a:xfrm>
          <a:prstGeom prst="ellipse">
            <a:avLst/>
          </a:prstGeom>
          <a:solidFill>
            <a:srgbClr val="4C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10316171" y="1909048"/>
            <a:ext cx="571500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10918151" y="1909048"/>
            <a:ext cx="345876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342900" y="3393996"/>
            <a:ext cx="11506200" cy="877729"/>
          </a:xfrm>
          <a:prstGeom prst="roundRect">
            <a:avLst>
              <a:gd name="adj" fmla="val 13890"/>
            </a:avLst>
          </a:prstGeom>
          <a:gradFill rotWithShape="1">
            <a:gsLst>
              <a:gs pos="0">
                <a:srgbClr val="18233C"/>
              </a:gs>
              <a:gs pos="62000">
                <a:srgbClr val="0F1729"/>
              </a:gs>
            </a:gsLst>
            <a:lin scaled="0" ang="16920000"/>
          </a:gradFill>
          <a:ln w="7620">
            <a:solidFill>
              <a:srgbClr val="FFFFF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1356360" y="3570685"/>
            <a:ext cx="1226820" cy="182880"/>
          </a:xfrm>
          <a:prstGeom prst="roundRect">
            <a:avLst>
              <a:gd name="adj" fmla="val 29166"/>
            </a:avLst>
          </a:prstGeom>
          <a:solidFill>
            <a:srgbClr val="FFFFFF">
              <a:alpha val="6000"/>
            </a:srgbClr>
          </a:solidFill>
          <a:ln w="762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1356360" y="3784044"/>
            <a:ext cx="1226820" cy="182880"/>
          </a:xfrm>
          <a:prstGeom prst="roundRect">
            <a:avLst>
              <a:gd name="adj" fmla="val 29166"/>
            </a:avLst>
          </a:prstGeom>
          <a:solidFill>
            <a:srgbClr val="FFFFFF">
              <a:alpha val="6000"/>
            </a:srgbClr>
          </a:solidFill>
          <a:ln w="762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700451" y="3848814"/>
            <a:ext cx="53340" cy="53340"/>
          </a:xfrm>
          <a:prstGeom prst="ellipse">
            <a:avLst/>
          </a:prstGeom>
          <a:solidFill>
            <a:srgbClr val="4C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2659380" y="3570685"/>
            <a:ext cx="1226820" cy="182880"/>
          </a:xfrm>
          <a:prstGeom prst="roundRect">
            <a:avLst>
              <a:gd name="adj" fmla="val 29166"/>
            </a:avLst>
          </a:prstGeom>
          <a:solidFill>
            <a:srgbClr val="4CC9E8">
              <a:alpha val="13000"/>
            </a:srgbClr>
          </a:solidFill>
          <a:ln w="7620">
            <a:solidFill>
              <a:srgbClr val="4CC9E8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2659380" y="3784044"/>
            <a:ext cx="1226820" cy="182880"/>
          </a:xfrm>
          <a:prstGeom prst="roundRect">
            <a:avLst>
              <a:gd name="adj" fmla="val 29166"/>
            </a:avLst>
          </a:prstGeom>
          <a:solidFill>
            <a:srgbClr val="FFFFFF">
              <a:alpha val="6000"/>
            </a:srgbClr>
          </a:solidFill>
          <a:ln w="762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3962400" y="3570685"/>
            <a:ext cx="1211580" cy="182880"/>
          </a:xfrm>
          <a:prstGeom prst="roundRect">
            <a:avLst>
              <a:gd name="adj" fmla="val 29166"/>
            </a:avLst>
          </a:prstGeom>
          <a:solidFill>
            <a:srgbClr val="FFFFFF">
              <a:alpha val="6000"/>
            </a:srgbClr>
          </a:solidFill>
          <a:ln w="762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5204460" y="3570685"/>
            <a:ext cx="1211580" cy="182880"/>
          </a:xfrm>
          <a:prstGeom prst="roundRect">
            <a:avLst>
              <a:gd name="adj" fmla="val 29166"/>
            </a:avLst>
          </a:prstGeom>
          <a:solidFill>
            <a:srgbClr val="4CC9E8">
              <a:alpha val="13000"/>
            </a:srgbClr>
          </a:solidFill>
          <a:ln w="7620">
            <a:solidFill>
              <a:srgbClr val="4CC9E8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3962400" y="3784044"/>
            <a:ext cx="1211580" cy="182880"/>
          </a:xfrm>
          <a:prstGeom prst="roundRect">
            <a:avLst>
              <a:gd name="adj" fmla="val 29166"/>
            </a:avLst>
          </a:prstGeom>
          <a:solidFill>
            <a:srgbClr val="FFFFFF">
              <a:alpha val="6000"/>
            </a:srgbClr>
          </a:solidFill>
          <a:ln w="762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5204460" y="3784044"/>
            <a:ext cx="1211580" cy="182880"/>
          </a:xfrm>
          <a:prstGeom prst="roundRect">
            <a:avLst>
              <a:gd name="adj" fmla="val 29166"/>
            </a:avLst>
          </a:prstGeom>
          <a:solidFill>
            <a:srgbClr val="4CC9E8">
              <a:alpha val="13000"/>
            </a:srgbClr>
          </a:solidFill>
          <a:ln w="7620">
            <a:solidFill>
              <a:srgbClr val="4CC9E8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3962400" y="3997404"/>
            <a:ext cx="1211580" cy="182880"/>
          </a:xfrm>
          <a:prstGeom prst="roundRect">
            <a:avLst>
              <a:gd name="adj" fmla="val 29166"/>
            </a:avLst>
          </a:prstGeom>
          <a:solidFill>
            <a:srgbClr val="FFFFFF">
              <a:alpha val="6000"/>
            </a:srgbClr>
          </a:solidFill>
          <a:ln w="762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6492240" y="3570685"/>
            <a:ext cx="1226820" cy="182880"/>
          </a:xfrm>
          <a:prstGeom prst="roundRect">
            <a:avLst>
              <a:gd name="adj" fmla="val 29166"/>
            </a:avLst>
          </a:prstGeom>
          <a:solidFill>
            <a:srgbClr val="4CC9E8">
              <a:alpha val="13000"/>
            </a:srgbClr>
          </a:solidFill>
          <a:ln w="7620">
            <a:solidFill>
              <a:srgbClr val="4CC9E8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6492240" y="3784044"/>
            <a:ext cx="1226820" cy="182880"/>
          </a:xfrm>
          <a:prstGeom prst="roundRect">
            <a:avLst>
              <a:gd name="adj" fmla="val 29166"/>
            </a:avLst>
          </a:prstGeom>
          <a:solidFill>
            <a:srgbClr val="4CC9E8">
              <a:alpha val="13000"/>
            </a:srgbClr>
          </a:solidFill>
          <a:ln w="7620">
            <a:solidFill>
              <a:srgbClr val="4CC9E8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7795260" y="3570685"/>
            <a:ext cx="1226820" cy="182880"/>
          </a:xfrm>
          <a:prstGeom prst="roundRect">
            <a:avLst>
              <a:gd name="adj" fmla="val 29166"/>
            </a:avLst>
          </a:prstGeom>
          <a:solidFill>
            <a:srgbClr val="4CC9E8">
              <a:alpha val="13000"/>
            </a:srgbClr>
          </a:solidFill>
          <a:ln w="7620">
            <a:solidFill>
              <a:srgbClr val="4CC9E8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7795260" y="3784044"/>
            <a:ext cx="1226820" cy="182880"/>
          </a:xfrm>
          <a:prstGeom prst="roundRect">
            <a:avLst>
              <a:gd name="adj" fmla="val 29166"/>
            </a:avLst>
          </a:prstGeom>
          <a:solidFill>
            <a:srgbClr val="4CC9E8">
              <a:alpha val="13000"/>
            </a:srgbClr>
          </a:solidFill>
          <a:ln w="7620">
            <a:solidFill>
              <a:srgbClr val="4CC9E8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8183642" y="3848814"/>
            <a:ext cx="53340" cy="53340"/>
          </a:xfrm>
          <a:prstGeom prst="ellipse">
            <a:avLst/>
          </a:prstGeom>
          <a:solidFill>
            <a:srgbClr val="4C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7795260" y="3997404"/>
            <a:ext cx="1226820" cy="182880"/>
          </a:xfrm>
          <a:prstGeom prst="roundRect">
            <a:avLst>
              <a:gd name="adj" fmla="val 29166"/>
            </a:avLst>
          </a:prstGeom>
          <a:solidFill>
            <a:srgbClr val="4CC9E8">
              <a:alpha val="13000"/>
            </a:srgbClr>
          </a:solidFill>
          <a:ln w="7620">
            <a:solidFill>
              <a:srgbClr val="4CC9E8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9098280" y="3570685"/>
            <a:ext cx="1226820" cy="182880"/>
          </a:xfrm>
          <a:prstGeom prst="roundRect">
            <a:avLst>
              <a:gd name="adj" fmla="val 29166"/>
            </a:avLst>
          </a:prstGeom>
          <a:solidFill>
            <a:srgbClr val="FFFFFF">
              <a:alpha val="6000"/>
            </a:srgbClr>
          </a:solidFill>
          <a:ln w="762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9098280" y="3784044"/>
            <a:ext cx="1226820" cy="182880"/>
          </a:xfrm>
          <a:prstGeom prst="roundRect">
            <a:avLst>
              <a:gd name="adj" fmla="val 29166"/>
            </a:avLst>
          </a:prstGeom>
          <a:solidFill>
            <a:srgbClr val="FFFFFF">
              <a:alpha val="6000"/>
            </a:srgbClr>
          </a:solidFill>
          <a:ln w="762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9098280" y="3997404"/>
            <a:ext cx="1226820" cy="182880"/>
          </a:xfrm>
          <a:prstGeom prst="roundRect">
            <a:avLst>
              <a:gd name="adj" fmla="val 29166"/>
            </a:avLst>
          </a:prstGeom>
          <a:solidFill>
            <a:srgbClr val="FFFFFF">
              <a:alpha val="6000"/>
            </a:srgbClr>
          </a:solidFill>
          <a:ln w="762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10401301" y="3470195"/>
            <a:ext cx="1333500" cy="710089"/>
          </a:xfrm>
          <a:prstGeom prst="roundRect">
            <a:avLst>
              <a:gd name="adj" fmla="val 10731"/>
            </a:avLst>
          </a:prstGeom>
          <a:solidFill>
            <a:srgbClr val="4CC9E8">
              <a:alpha val="7000"/>
            </a:srgbClr>
          </a:solidFill>
          <a:ln w="7620">
            <a:solidFill>
              <a:srgbClr val="4CC9E8">
                <a:alpha val="2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10454640" y="3523536"/>
            <a:ext cx="1226820" cy="259080"/>
          </a:xfrm>
          <a:prstGeom prst="roundRect">
            <a:avLst>
              <a:gd name="adj" fmla="val 20588"/>
            </a:avLst>
          </a:prstGeom>
          <a:solidFill>
            <a:srgbClr val="FFFFFF">
              <a:alpha val="5000"/>
            </a:srgbClr>
          </a:solidFill>
          <a:ln w="762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10454640" y="3813096"/>
            <a:ext cx="1226820" cy="259080"/>
          </a:xfrm>
          <a:prstGeom prst="roundRect">
            <a:avLst>
              <a:gd name="adj" fmla="val 20588"/>
            </a:avLst>
          </a:prstGeom>
          <a:solidFill>
            <a:srgbClr val="FFFFFF">
              <a:alpha val="5000"/>
            </a:srgbClr>
          </a:solidFill>
          <a:ln w="762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342900" y="5136475"/>
            <a:ext cx="2807970" cy="1454825"/>
          </a:xfrm>
          <a:prstGeom prst="roundRect">
            <a:avLst>
              <a:gd name="adj" fmla="val 8380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>
            <a:outerShdw blurRad="228600" dist="76200" dir="5400000" rotWithShape="0">
              <a:srgbClr val="0D152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07670" y="5212437"/>
            <a:ext cx="121920" cy="121920"/>
          </a:xfrm>
          <a:prstGeom prst="ellipse">
            <a:avLst/>
          </a:prstGeom>
          <a:solidFill>
            <a:srgbClr val="5B57D6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34340" y="5239107"/>
            <a:ext cx="68580" cy="68580"/>
          </a:xfrm>
          <a:prstGeom prst="ellipse">
            <a:avLst/>
          </a:prstGeom>
          <a:solidFill>
            <a:srgbClr val="5B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434340" y="5593199"/>
            <a:ext cx="377904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842724" y="5593199"/>
            <a:ext cx="475655" cy="158472"/>
          </a:xfrm>
          <a:prstGeom prst="roundRect">
            <a:avLst>
              <a:gd name="adj" fmla="val 50000"/>
            </a:avLst>
          </a:prstGeom>
          <a:solidFill>
            <a:srgbClr val="5B57D6">
              <a:alpha val="12000"/>
            </a:srgbClr>
          </a:solidFill>
          <a:ln w="7620">
            <a:solidFill>
              <a:srgbClr val="5B57D6">
                <a:alpha val="3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1348859" y="5593199"/>
            <a:ext cx="324564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1703904" y="5593199"/>
            <a:ext cx="521136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2255520" y="5593199"/>
            <a:ext cx="589836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434340" y="5782152"/>
            <a:ext cx="498396" cy="158472"/>
          </a:xfrm>
          <a:prstGeom prst="roundRect">
            <a:avLst>
              <a:gd name="adj" fmla="val 50000"/>
            </a:avLst>
          </a:prstGeom>
          <a:solidFill>
            <a:srgbClr val="5B57D6">
              <a:alpha val="12000"/>
            </a:srgbClr>
          </a:solidFill>
          <a:ln w="7620">
            <a:solidFill>
              <a:srgbClr val="5B57D6">
                <a:alpha val="3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963216" y="5782152"/>
            <a:ext cx="352187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1345882" y="5782152"/>
            <a:ext cx="352068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1728430" y="5782152"/>
            <a:ext cx="329208" cy="158472"/>
          </a:xfrm>
          <a:prstGeom prst="roundRect">
            <a:avLst>
              <a:gd name="adj" fmla="val 50000"/>
            </a:avLst>
          </a:prstGeom>
          <a:solidFill>
            <a:srgbClr val="5B57D6">
              <a:alpha val="12000"/>
            </a:srgbClr>
          </a:solidFill>
          <a:ln w="7620">
            <a:solidFill>
              <a:srgbClr val="5B57D6">
                <a:alpha val="3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2088118" y="5782152"/>
            <a:ext cx="361355" cy="158472"/>
          </a:xfrm>
          <a:prstGeom prst="roundRect">
            <a:avLst>
              <a:gd name="adj" fmla="val 50000"/>
            </a:avLst>
          </a:prstGeom>
          <a:solidFill>
            <a:srgbClr val="5B57D6">
              <a:alpha val="12000"/>
            </a:srgbClr>
          </a:solidFill>
          <a:ln w="7620">
            <a:solidFill>
              <a:srgbClr val="5B57D6">
                <a:alpha val="3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2479953" y="5782152"/>
            <a:ext cx="573048" cy="158472"/>
          </a:xfrm>
          <a:prstGeom prst="roundRect">
            <a:avLst>
              <a:gd name="adj" fmla="val 50000"/>
            </a:avLst>
          </a:prstGeom>
          <a:solidFill>
            <a:srgbClr val="5B57D6">
              <a:alpha val="12000"/>
            </a:srgbClr>
          </a:solidFill>
          <a:ln w="7620">
            <a:solidFill>
              <a:srgbClr val="5B57D6">
                <a:alpha val="3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2548533" y="5834658"/>
            <a:ext cx="53340" cy="53340"/>
          </a:xfrm>
          <a:prstGeom prst="ellipse">
            <a:avLst/>
          </a:prstGeom>
          <a:solidFill>
            <a:srgbClr val="4C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434340" y="5971103"/>
            <a:ext cx="717828" cy="158472"/>
          </a:xfrm>
          <a:prstGeom prst="roundRect">
            <a:avLst>
              <a:gd name="adj" fmla="val 50000"/>
            </a:avLst>
          </a:prstGeom>
          <a:solidFill>
            <a:srgbClr val="5B57D6">
              <a:alpha val="12000"/>
            </a:srgbClr>
          </a:solidFill>
          <a:ln w="7620">
            <a:solidFill>
              <a:srgbClr val="5B57D6">
                <a:alpha val="3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1182648" y="5971103"/>
            <a:ext cx="441960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1655088" y="5971103"/>
            <a:ext cx="345877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2031444" y="5971103"/>
            <a:ext cx="572929" cy="158472"/>
          </a:xfrm>
          <a:prstGeom prst="roundRect">
            <a:avLst>
              <a:gd name="adj" fmla="val 50000"/>
            </a:avLst>
          </a:prstGeom>
          <a:solidFill>
            <a:srgbClr val="5B57D6">
              <a:alpha val="12000"/>
            </a:srgbClr>
          </a:solidFill>
          <a:ln w="7620">
            <a:solidFill>
              <a:srgbClr val="5B57D6">
                <a:alpha val="3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2100024" y="6023610"/>
            <a:ext cx="53340" cy="53340"/>
          </a:xfrm>
          <a:prstGeom prst="ellipse">
            <a:avLst/>
          </a:prstGeom>
          <a:solidFill>
            <a:srgbClr val="4C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3242310" y="5136475"/>
            <a:ext cx="2807970" cy="1454825"/>
          </a:xfrm>
          <a:prstGeom prst="roundRect">
            <a:avLst>
              <a:gd name="adj" fmla="val 8380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>
            <a:outerShdw blurRad="228600" dist="76200" dir="5400000" rotWithShape="0">
              <a:srgbClr val="0D152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3307080" y="5212437"/>
            <a:ext cx="121920" cy="121920"/>
          </a:xfrm>
          <a:prstGeom prst="ellipse">
            <a:avLst/>
          </a:prstGeom>
          <a:solidFill>
            <a:srgbClr val="8257E6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3333750" y="5239107"/>
            <a:ext cx="68580" cy="68580"/>
          </a:xfrm>
          <a:prstGeom prst="ellipse">
            <a:avLst/>
          </a:prstGeom>
          <a:solidFill>
            <a:srgbClr val="82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3333750" y="5593199"/>
            <a:ext cx="570072" cy="158472"/>
          </a:xfrm>
          <a:prstGeom prst="roundRect">
            <a:avLst>
              <a:gd name="adj" fmla="val 50000"/>
            </a:avLst>
          </a:prstGeom>
          <a:solidFill>
            <a:srgbClr val="8257E6">
              <a:alpha val="12000"/>
            </a:srgbClr>
          </a:solidFill>
          <a:ln w="7620">
            <a:solidFill>
              <a:srgbClr val="8257E6">
                <a:alpha val="3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3934301" y="5593199"/>
            <a:ext cx="370284" cy="15847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C2456A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4335066" y="5593199"/>
            <a:ext cx="507445" cy="15847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C2456A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4403646" y="5645706"/>
            <a:ext cx="53340" cy="53340"/>
          </a:xfrm>
          <a:prstGeom prst="ellipse">
            <a:avLst/>
          </a:prstGeom>
          <a:solidFill>
            <a:srgbClr val="4C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4872990" y="5593199"/>
            <a:ext cx="475654" cy="158472"/>
          </a:xfrm>
          <a:prstGeom prst="roundRect">
            <a:avLst>
              <a:gd name="adj" fmla="val 50000"/>
            </a:avLst>
          </a:prstGeom>
          <a:solidFill>
            <a:srgbClr val="8257E6">
              <a:alpha val="12000"/>
            </a:srgbClr>
          </a:solidFill>
          <a:ln w="7620">
            <a:solidFill>
              <a:srgbClr val="8257E6">
                <a:alpha val="3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5379125" y="5593199"/>
            <a:ext cx="553283" cy="158472"/>
          </a:xfrm>
          <a:prstGeom prst="roundRect">
            <a:avLst>
              <a:gd name="adj" fmla="val 50000"/>
            </a:avLst>
          </a:prstGeom>
          <a:solidFill>
            <a:srgbClr val="8257E6">
              <a:alpha val="12000"/>
            </a:srgbClr>
          </a:solidFill>
          <a:ln w="7620">
            <a:solidFill>
              <a:srgbClr val="8257E6">
                <a:alpha val="3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3333750" y="5782152"/>
            <a:ext cx="521137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3885367" y="5782152"/>
            <a:ext cx="589836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4505682" y="5782152"/>
            <a:ext cx="498396" cy="158472"/>
          </a:xfrm>
          <a:prstGeom prst="roundRect">
            <a:avLst>
              <a:gd name="adj" fmla="val 50000"/>
            </a:avLst>
          </a:prstGeom>
          <a:solidFill>
            <a:srgbClr val="8257E6">
              <a:alpha val="12000"/>
            </a:srgbClr>
          </a:solidFill>
          <a:ln w="7620">
            <a:solidFill>
              <a:srgbClr val="8257E6">
                <a:alpha val="3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5034558" y="5782152"/>
            <a:ext cx="352187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3333750" y="5971103"/>
            <a:ext cx="641509" cy="158472"/>
          </a:xfrm>
          <a:prstGeom prst="roundRect">
            <a:avLst>
              <a:gd name="adj" fmla="val 50000"/>
            </a:avLst>
          </a:prstGeom>
          <a:solidFill>
            <a:srgbClr val="8257E6">
              <a:alpha val="12000"/>
            </a:srgbClr>
          </a:solidFill>
          <a:ln w="7620">
            <a:solidFill>
              <a:srgbClr val="8257E6">
                <a:alpha val="3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4005739" y="5971103"/>
            <a:ext cx="493871" cy="158472"/>
          </a:xfrm>
          <a:prstGeom prst="roundRect">
            <a:avLst>
              <a:gd name="adj" fmla="val 50000"/>
            </a:avLst>
          </a:prstGeom>
          <a:solidFill>
            <a:srgbClr val="8257E6">
              <a:alpha val="12000"/>
            </a:srgbClr>
          </a:solidFill>
          <a:ln w="7620">
            <a:solidFill>
              <a:srgbClr val="8257E6">
                <a:alpha val="3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0" name="Rounded Rectangle 139"/>
          <p:cNvSpPr/>
          <p:nvPr/>
        </p:nvSpPr>
        <p:spPr>
          <a:xfrm>
            <a:off x="4530090" y="5971103"/>
            <a:ext cx="521375" cy="15847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1" name="Rounded Rectangle 140"/>
          <p:cNvSpPr/>
          <p:nvPr/>
        </p:nvSpPr>
        <p:spPr>
          <a:xfrm>
            <a:off x="5081945" y="5971103"/>
            <a:ext cx="361236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2" name="Rounded Rectangle 141"/>
          <p:cNvSpPr/>
          <p:nvPr/>
        </p:nvSpPr>
        <p:spPr>
          <a:xfrm>
            <a:off x="5473660" y="5971103"/>
            <a:ext cx="361236" cy="158472"/>
          </a:xfrm>
          <a:prstGeom prst="roundRect">
            <a:avLst>
              <a:gd name="adj" fmla="val 50000"/>
            </a:avLst>
          </a:prstGeom>
          <a:solidFill>
            <a:srgbClr val="8257E6">
              <a:alpha val="12000"/>
            </a:srgbClr>
          </a:solidFill>
          <a:ln w="7620">
            <a:solidFill>
              <a:srgbClr val="8257E6">
                <a:alpha val="3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3333750" y="6160056"/>
            <a:ext cx="320040" cy="158472"/>
          </a:xfrm>
          <a:prstGeom prst="roundRect">
            <a:avLst>
              <a:gd name="adj" fmla="val 50000"/>
            </a:avLst>
          </a:prstGeom>
          <a:solidFill>
            <a:srgbClr val="8257E6">
              <a:alpha val="12000"/>
            </a:srgbClr>
          </a:solidFill>
          <a:ln w="7620">
            <a:solidFill>
              <a:srgbClr val="8257E6">
                <a:alpha val="3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6141720" y="5136475"/>
            <a:ext cx="2807970" cy="1454825"/>
          </a:xfrm>
          <a:prstGeom prst="roundRect">
            <a:avLst>
              <a:gd name="adj" fmla="val 8380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>
            <a:outerShdw blurRad="228600" dist="76200" dir="5400000" rotWithShape="0">
              <a:srgbClr val="0D152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206490" y="5212437"/>
            <a:ext cx="121920" cy="121920"/>
          </a:xfrm>
          <a:prstGeom prst="ellipse">
            <a:avLst/>
          </a:prstGeom>
          <a:solidFill>
            <a:srgbClr val="C2456A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233160" y="5239107"/>
            <a:ext cx="68580" cy="68580"/>
          </a:xfrm>
          <a:prstGeom prst="ellipse">
            <a:avLst/>
          </a:prstGeom>
          <a:solidFill>
            <a:srgbClr val="C24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6233160" y="5593199"/>
            <a:ext cx="429816" cy="15847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6693456" y="5593199"/>
            <a:ext cx="352187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9" name="Rounded Rectangle 148"/>
          <p:cNvSpPr/>
          <p:nvPr/>
        </p:nvSpPr>
        <p:spPr>
          <a:xfrm>
            <a:off x="7076122" y="5593199"/>
            <a:ext cx="530305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7636906" y="5593199"/>
            <a:ext cx="566262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7705487" y="5645706"/>
            <a:ext cx="53340" cy="53340"/>
          </a:xfrm>
          <a:prstGeom prst="ellipse">
            <a:avLst/>
          </a:prstGeom>
          <a:solidFill>
            <a:srgbClr val="4C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2" name="Rounded Rectangle 151"/>
          <p:cNvSpPr/>
          <p:nvPr/>
        </p:nvSpPr>
        <p:spPr>
          <a:xfrm>
            <a:off x="6233160" y="5782152"/>
            <a:ext cx="1075968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301740" y="5834658"/>
            <a:ext cx="53340" cy="53340"/>
          </a:xfrm>
          <a:prstGeom prst="ellipse">
            <a:avLst/>
          </a:prstGeom>
          <a:solidFill>
            <a:srgbClr val="4C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7339608" y="5782152"/>
            <a:ext cx="503039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5" name="Rounded Rectangle 154"/>
          <p:cNvSpPr/>
          <p:nvPr/>
        </p:nvSpPr>
        <p:spPr>
          <a:xfrm>
            <a:off x="7873127" y="5782152"/>
            <a:ext cx="659964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7941707" y="5834658"/>
            <a:ext cx="53340" cy="53340"/>
          </a:xfrm>
          <a:prstGeom prst="ellipse">
            <a:avLst/>
          </a:prstGeom>
          <a:solidFill>
            <a:srgbClr val="4C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7" name="Rounded Rectangle 156"/>
          <p:cNvSpPr/>
          <p:nvPr/>
        </p:nvSpPr>
        <p:spPr>
          <a:xfrm>
            <a:off x="6233160" y="5971103"/>
            <a:ext cx="361236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8" name="Rounded Rectangle 157"/>
          <p:cNvSpPr/>
          <p:nvPr/>
        </p:nvSpPr>
        <p:spPr>
          <a:xfrm>
            <a:off x="6624876" y="5971103"/>
            <a:ext cx="573048" cy="158472"/>
          </a:xfrm>
          <a:prstGeom prst="roundRect">
            <a:avLst>
              <a:gd name="adj" fmla="val 50000"/>
            </a:avLst>
          </a:prstGeom>
          <a:solidFill>
            <a:srgbClr val="C2456A">
              <a:alpha val="12000"/>
            </a:srgbClr>
          </a:solidFill>
          <a:ln w="7620">
            <a:solidFill>
              <a:srgbClr val="C2456A">
                <a:alpha val="3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6693456" y="6023610"/>
            <a:ext cx="53340" cy="53340"/>
          </a:xfrm>
          <a:prstGeom prst="ellipse">
            <a:avLst/>
          </a:prstGeom>
          <a:solidFill>
            <a:srgbClr val="4C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0" name="Rounded Rectangle 159"/>
          <p:cNvSpPr/>
          <p:nvPr/>
        </p:nvSpPr>
        <p:spPr>
          <a:xfrm>
            <a:off x="7228404" y="5971103"/>
            <a:ext cx="589716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1" name="Rounded Rectangle 160"/>
          <p:cNvSpPr/>
          <p:nvPr/>
        </p:nvSpPr>
        <p:spPr>
          <a:xfrm>
            <a:off x="7848600" y="5971103"/>
            <a:ext cx="717828" cy="158472"/>
          </a:xfrm>
          <a:prstGeom prst="roundRect">
            <a:avLst>
              <a:gd name="adj" fmla="val 50000"/>
            </a:avLst>
          </a:prstGeom>
          <a:solidFill>
            <a:srgbClr val="C2456A">
              <a:alpha val="12000"/>
            </a:srgbClr>
          </a:solidFill>
          <a:ln w="7620">
            <a:solidFill>
              <a:srgbClr val="C2456A">
                <a:alpha val="3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2" name="Rounded Rectangle 161"/>
          <p:cNvSpPr/>
          <p:nvPr/>
        </p:nvSpPr>
        <p:spPr>
          <a:xfrm>
            <a:off x="6233160" y="6160056"/>
            <a:ext cx="979884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6301740" y="6212562"/>
            <a:ext cx="53340" cy="53340"/>
          </a:xfrm>
          <a:prstGeom prst="ellipse">
            <a:avLst/>
          </a:prstGeom>
          <a:solidFill>
            <a:srgbClr val="4C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4" name="Rounded Rectangle 163"/>
          <p:cNvSpPr/>
          <p:nvPr/>
        </p:nvSpPr>
        <p:spPr>
          <a:xfrm>
            <a:off x="7243525" y="6160056"/>
            <a:ext cx="781764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5" name="Rounded Rectangle 164"/>
          <p:cNvSpPr/>
          <p:nvPr/>
        </p:nvSpPr>
        <p:spPr>
          <a:xfrm>
            <a:off x="6233160" y="6349008"/>
            <a:ext cx="884158" cy="158473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6" name="Rounded Rectangle 165"/>
          <p:cNvSpPr/>
          <p:nvPr/>
        </p:nvSpPr>
        <p:spPr>
          <a:xfrm>
            <a:off x="9041130" y="5136475"/>
            <a:ext cx="2807970" cy="1454825"/>
          </a:xfrm>
          <a:prstGeom prst="roundRect">
            <a:avLst>
              <a:gd name="adj" fmla="val 8380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>
            <a:outerShdw blurRad="228600" dist="76200" dir="5400000" rotWithShape="0">
              <a:srgbClr val="0D152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9105900" y="5212437"/>
            <a:ext cx="121920" cy="121920"/>
          </a:xfrm>
          <a:prstGeom prst="ellipse">
            <a:avLst/>
          </a:prstGeom>
          <a:solidFill>
            <a:srgbClr val="D93025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9132570" y="5239107"/>
            <a:ext cx="68580" cy="68580"/>
          </a:xfrm>
          <a:prstGeom prst="ellipse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9" name="Rounded Rectangle 168"/>
          <p:cNvSpPr/>
          <p:nvPr/>
        </p:nvSpPr>
        <p:spPr>
          <a:xfrm>
            <a:off x="9132570" y="5593199"/>
            <a:ext cx="553284" cy="158472"/>
          </a:xfrm>
          <a:prstGeom prst="roundRect">
            <a:avLst>
              <a:gd name="adj" fmla="val 50000"/>
            </a:avLst>
          </a:prstGeom>
          <a:solidFill>
            <a:srgbClr val="D93025">
              <a:alpha val="12000"/>
            </a:srgbClr>
          </a:solidFill>
          <a:ln w="7620">
            <a:solidFill>
              <a:srgbClr val="D93025">
                <a:alpha val="3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0" name="Rounded Rectangle 169"/>
          <p:cNvSpPr/>
          <p:nvPr/>
        </p:nvSpPr>
        <p:spPr>
          <a:xfrm>
            <a:off x="9716333" y="5593199"/>
            <a:ext cx="374928" cy="15847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C2456A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1" name="Rounded Rectangle 170"/>
          <p:cNvSpPr/>
          <p:nvPr/>
        </p:nvSpPr>
        <p:spPr>
          <a:xfrm>
            <a:off x="10121741" y="5593199"/>
            <a:ext cx="969050" cy="15847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C2456A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2" name="Rounded Rectangle 171"/>
          <p:cNvSpPr/>
          <p:nvPr/>
        </p:nvSpPr>
        <p:spPr>
          <a:xfrm>
            <a:off x="9132570" y="5782152"/>
            <a:ext cx="859870" cy="15847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C2456A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3" name="Rounded Rectangle 172"/>
          <p:cNvSpPr/>
          <p:nvPr/>
        </p:nvSpPr>
        <p:spPr>
          <a:xfrm>
            <a:off x="10022919" y="5782152"/>
            <a:ext cx="361117" cy="15847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C2456A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" name="Rounded Rectangle 173"/>
          <p:cNvSpPr/>
          <p:nvPr/>
        </p:nvSpPr>
        <p:spPr>
          <a:xfrm>
            <a:off x="10414516" y="5782152"/>
            <a:ext cx="659964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10483096" y="5834658"/>
            <a:ext cx="53340" cy="53340"/>
          </a:xfrm>
          <a:prstGeom prst="ellipse">
            <a:avLst/>
          </a:prstGeom>
          <a:solidFill>
            <a:srgbClr val="4C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6" name="Rounded Rectangle 175"/>
          <p:cNvSpPr/>
          <p:nvPr/>
        </p:nvSpPr>
        <p:spPr>
          <a:xfrm>
            <a:off x="11104960" y="5782152"/>
            <a:ext cx="361236" cy="15847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7" name="Rounded Rectangle 176"/>
          <p:cNvSpPr/>
          <p:nvPr/>
        </p:nvSpPr>
        <p:spPr>
          <a:xfrm>
            <a:off x="9132570" y="5971103"/>
            <a:ext cx="573048" cy="158472"/>
          </a:xfrm>
          <a:prstGeom prst="roundRect">
            <a:avLst>
              <a:gd name="adj" fmla="val 50000"/>
            </a:avLst>
          </a:prstGeom>
          <a:solidFill>
            <a:srgbClr val="D93025">
              <a:alpha val="12000"/>
            </a:srgbClr>
          </a:solidFill>
          <a:ln w="7620">
            <a:solidFill>
              <a:srgbClr val="D93025">
                <a:alpha val="3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9201150" y="6023610"/>
            <a:ext cx="53341" cy="53340"/>
          </a:xfrm>
          <a:prstGeom prst="ellipse">
            <a:avLst/>
          </a:prstGeom>
          <a:solidFill>
            <a:srgbClr val="4C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9" name="Rounded Rectangle 178"/>
          <p:cNvSpPr/>
          <p:nvPr/>
        </p:nvSpPr>
        <p:spPr>
          <a:xfrm>
            <a:off x="9736098" y="5971103"/>
            <a:ext cx="717828" cy="158472"/>
          </a:xfrm>
          <a:prstGeom prst="roundRect">
            <a:avLst>
              <a:gd name="adj" fmla="val 50000"/>
            </a:avLst>
          </a:prstGeom>
          <a:solidFill>
            <a:srgbClr val="D93025">
              <a:alpha val="12000"/>
            </a:srgbClr>
          </a:solidFill>
          <a:ln w="7620">
            <a:solidFill>
              <a:srgbClr val="D93025">
                <a:alpha val="3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0" name="Rounded Rectangle 179"/>
          <p:cNvSpPr/>
          <p:nvPr/>
        </p:nvSpPr>
        <p:spPr>
          <a:xfrm>
            <a:off x="10484406" y="5971103"/>
            <a:ext cx="1065371" cy="15847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C2456A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342900" y="312420"/>
            <a:ext cx="3835836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1" spc="132">
                <a:solidFill>
                  <a:srgbClr val="78879F"/>
                </a:solidFill>
                <a:latin typeface="Calibri"/>
              </a:rPr>
              <a:t>SYSTÈME D'INFORMATION CHANTIER · VUE D'ENSEMBLE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342900" y="457200"/>
            <a:ext cx="4287084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400" b="1" spc="-48">
                <a:solidFill>
                  <a:srgbClr val="0D1526"/>
                </a:solidFill>
                <a:latin typeface="Calibri"/>
              </a:rPr>
              <a:t>Cartographie des outils IT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342900" y="847249"/>
            <a:ext cx="305181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40" b="0">
                <a:solidFill>
                  <a:srgbClr val="78879F"/>
                </a:solidFill>
                <a:latin typeface="Calibri"/>
              </a:rPr>
              <a:t>Neuf pôles, 64 outils et le socle applicatif commun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9082445" y="361950"/>
            <a:ext cx="1915477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>
                <a:solidFill>
                  <a:srgbClr val="33415C"/>
                </a:solidFill>
                <a:latin typeface="Calibri"/>
              </a:rPr>
              <a:t>Développé / porté en interne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8334613" y="373380"/>
            <a:ext cx="961192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1" spc="24">
                <a:solidFill>
                  <a:srgbClr val="5B57D6"/>
                </a:solidFill>
                <a:latin typeface="Calibri"/>
              </a:rPr>
              <a:t>Interne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9108043" y="567690"/>
            <a:ext cx="1488639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>
                <a:solidFill>
                  <a:srgbClr val="33415C"/>
                </a:solidFill>
                <a:latin typeface="Calibri"/>
              </a:rPr>
              <a:t>Éditeur du marché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8334613" y="579120"/>
            <a:ext cx="986791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1" spc="24">
                <a:solidFill>
                  <a:srgbClr val="33415C"/>
                </a:solidFill>
                <a:latin typeface="Calibri"/>
              </a:rPr>
              <a:t>Externe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9191387" y="773430"/>
            <a:ext cx="1829158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>
                <a:solidFill>
                  <a:srgbClr val="33415C"/>
                </a:solidFill>
                <a:latin typeface="Calibri"/>
              </a:rPr>
              <a:t>Apporté par le brief métier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8334613" y="784860"/>
            <a:ext cx="1070134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1" spc="24">
                <a:solidFill>
                  <a:srgbClr val="78879F"/>
                </a:solidFill>
                <a:latin typeface="Calibri"/>
              </a:rPr>
              <a:t>Hors BDD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0654784" y="342900"/>
            <a:ext cx="1808560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>
                <a:solidFill>
                  <a:srgbClr val="33415C"/>
                </a:solidFill>
                <a:latin typeface="Calibri"/>
              </a:rPr>
              <a:t>Alimentation automatique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0837664" y="510540"/>
            <a:ext cx="1381959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>
                <a:solidFill>
                  <a:srgbClr val="33415C"/>
                </a:solidFill>
                <a:latin typeface="Calibri"/>
              </a:rPr>
              <a:t>Flux automatisé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10837664" y="678180"/>
            <a:ext cx="1697236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>
                <a:solidFill>
                  <a:srgbClr val="33415C"/>
                </a:solidFill>
                <a:latin typeface="Calibri"/>
              </a:rPr>
              <a:t>Flux manuel (ressaisie)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571500" y="1127760"/>
            <a:ext cx="1529715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69" b="1" spc="-9">
                <a:solidFill>
                  <a:srgbClr val="0D1526"/>
                </a:solidFill>
                <a:latin typeface="Calibri"/>
              </a:rPr>
              <a:t>Méthodes &amp; BIM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563880" y="1264444"/>
            <a:ext cx="1598057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40" b="1" spc="54">
                <a:solidFill>
                  <a:srgbClr val="78879F"/>
                </a:solidFill>
                <a:latin typeface="Calibri"/>
              </a:rPr>
              <a:t>MAQUETTES ET PLANS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563880" y="1386364"/>
            <a:ext cx="1068110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09" b="1" spc="51">
                <a:solidFill>
                  <a:srgbClr val="3A6BE5"/>
                </a:solidFill>
                <a:latin typeface="Calibri"/>
              </a:rPr>
              <a:t>11 OUTILS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60020" y="1546384"/>
            <a:ext cx="1083588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Anaconda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725448" y="1546384"/>
            <a:ext cx="1051441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AutoCAD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258729" y="1546384"/>
            <a:ext cx="1104900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BIM Vision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160020" y="1735336"/>
            <a:ext cx="987624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Civil 3D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629483" y="1735336"/>
            <a:ext cx="1010364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Inventor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205508" y="1735336"/>
            <a:ext cx="1124783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Mezzoteam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812131" y="1735336"/>
            <a:ext cx="891540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QGIS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60020" y="1924288"/>
            <a:ext cx="887016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Revit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528876" y="1924288"/>
            <a:ext cx="1129308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Simple BIM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140023" y="1924288"/>
            <a:ext cx="1266468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Sofistik Bridge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160020" y="2113240"/>
            <a:ext cx="1330404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Trimble Connect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2891076" y="1127760"/>
            <a:ext cx="1334572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69" b="1" spc="-9">
                <a:solidFill>
                  <a:srgbClr val="0D1526"/>
                </a:solidFill>
                <a:latin typeface="Calibri"/>
              </a:rPr>
              <a:t>Topographie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2883456" y="1264444"/>
            <a:ext cx="1725692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40" b="1" spc="54">
                <a:solidFill>
                  <a:srgbClr val="78879F"/>
                </a:solidFill>
                <a:latin typeface="Calibri"/>
              </a:rPr>
              <a:t>RELEVÉS · IMPLANTATION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2883456" y="1386364"/>
            <a:ext cx="1029176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09" b="1" spc="51">
                <a:solidFill>
                  <a:srgbClr val="0E9E78"/>
                </a:solidFill>
                <a:latin typeface="Calibri"/>
              </a:rPr>
              <a:t>7 OUTILS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2479596" y="1546384"/>
            <a:ext cx="1005959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Covadis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3051215" y="1546384"/>
            <a:ext cx="1193363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Cyclone 3DR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3726418" y="1546384"/>
            <a:ext cx="900827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Excel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2479596" y="1735336"/>
            <a:ext cx="1047155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La Scene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3092410" y="1735336"/>
            <a:ext cx="877967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Pixis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3452217" y="1735336"/>
            <a:ext cx="1120140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SharePoint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2479596" y="1924288"/>
            <a:ext cx="1330404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Trimble Connect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5210652" y="1127760"/>
            <a:ext cx="1450181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69" b="1" spc="-9">
                <a:solidFill>
                  <a:srgbClr val="0D1526"/>
                </a:solidFill>
                <a:latin typeface="Calibri"/>
              </a:rPr>
              <a:t>Travaux tunnel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5203031" y="1264444"/>
            <a:ext cx="1841897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40" b="1" spc="54">
                <a:solidFill>
                  <a:srgbClr val="78879F"/>
                </a:solidFill>
                <a:latin typeface="Calibri"/>
              </a:rPr>
              <a:t>CREUSEMENT ET TUNNELIER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5203031" y="1386364"/>
            <a:ext cx="1068110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09" b="1" spc="51">
                <a:solidFill>
                  <a:srgbClr val="0F8FA8"/>
                </a:solidFill>
                <a:latin typeface="Calibri"/>
              </a:rPr>
              <a:t>11 OUTILS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4799172" y="1546384"/>
            <a:ext cx="1051441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AutoCAD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5332452" y="1546384"/>
            <a:ext cx="1048465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0F8FA8"/>
                </a:solidFill>
                <a:latin typeface="Calibri"/>
              </a:rPr>
              <a:t>ERP MAT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5862757" y="1546384"/>
            <a:ext cx="900827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Excel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6245424" y="1546384"/>
            <a:ext cx="941784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78879F"/>
                </a:solidFill>
                <a:latin typeface="Calibri"/>
              </a:rPr>
              <a:t>GMAO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4799172" y="1735336"/>
            <a:ext cx="1078944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IDCapture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5359956" y="1735336"/>
            <a:ext cx="1111092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MS Project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5952887" y="1735336"/>
            <a:ext cx="909876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Pablo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4882991" y="1924288"/>
            <a:ext cx="1037868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0F8FA8"/>
                </a:solidFill>
                <a:latin typeface="Calibri"/>
              </a:rPr>
              <a:t>Power BI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5402699" y="1924288"/>
            <a:ext cx="1266468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0F8FA8"/>
                </a:solidFill>
                <a:latin typeface="Calibri"/>
              </a:rPr>
              <a:t>Quick Connect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4799172" y="2113240"/>
            <a:ext cx="1330404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Trimble Connect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5695236" y="2113240"/>
            <a:ext cx="1037749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0F8FA8"/>
                </a:solidFill>
                <a:latin typeface="Calibri"/>
              </a:rPr>
              <a:t>YELLOW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7530227" y="1127760"/>
            <a:ext cx="1095852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69" b="1" spc="-9">
                <a:solidFill>
                  <a:srgbClr val="0D1526"/>
                </a:solidFill>
                <a:latin typeface="Calibri"/>
              </a:rPr>
              <a:t>Travaux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7522607" y="1264444"/>
            <a:ext cx="1629013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40" b="1" spc="54">
                <a:solidFill>
                  <a:srgbClr val="78879F"/>
                </a:solidFill>
                <a:latin typeface="Calibri"/>
              </a:rPr>
              <a:t>CONDUITE DE TRAVAUX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7522607" y="1386364"/>
            <a:ext cx="1071682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09" b="1" spc="51">
                <a:solidFill>
                  <a:srgbClr val="DD7E2C"/>
                </a:solidFill>
                <a:latin typeface="Calibri"/>
              </a:rPr>
              <a:t>14 OUTILS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7118747" y="1546384"/>
            <a:ext cx="1047036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DD7E2C"/>
                </a:solidFill>
                <a:latin typeface="Calibri"/>
              </a:rPr>
              <a:t>E-Paraph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7647622" y="1546384"/>
            <a:ext cx="1048465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DD7E2C"/>
                </a:solidFill>
                <a:latin typeface="Calibri"/>
              </a:rPr>
              <a:t>ERP MAT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8177927" y="1546384"/>
            <a:ext cx="900827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Excel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8560594" y="1546384"/>
            <a:ext cx="1078944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IDCapture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7118747" y="1735336"/>
            <a:ext cx="877848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DD7E2C"/>
                </a:solidFill>
                <a:latin typeface="Calibri"/>
              </a:rPr>
              <a:t>MMS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7478435" y="1735336"/>
            <a:ext cx="1111092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MS Project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8155186" y="1735336"/>
            <a:ext cx="1124783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Mezzoteam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7118747" y="1924288"/>
            <a:ext cx="996672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8C4365"/>
                </a:solidFill>
                <a:latin typeface="Calibri"/>
              </a:rPr>
              <a:t>Outlook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7597259" y="1924288"/>
            <a:ext cx="909876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Pablo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8072795" y="1924288"/>
            <a:ext cx="1037868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DD7E2C"/>
                </a:solidFill>
                <a:latin typeface="Calibri"/>
              </a:rPr>
              <a:t>Power BI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7118747" y="2113240"/>
            <a:ext cx="1266468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DD7E2C"/>
                </a:solidFill>
                <a:latin typeface="Calibri"/>
              </a:rPr>
              <a:t>Quick Connect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867054" y="2113240"/>
            <a:ext cx="964764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DD7E2C"/>
                </a:solidFill>
                <a:latin typeface="Calibri"/>
              </a:rPr>
              <a:t>Traktor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8313658" y="2113240"/>
            <a:ext cx="1330404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Trimble Connect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7118747" y="2302193"/>
            <a:ext cx="894517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Word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9849803" y="1127760"/>
            <a:ext cx="1070967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69" b="1" spc="-9">
                <a:solidFill>
                  <a:srgbClr val="0D1526"/>
                </a:solidFill>
                <a:latin typeface="Calibri"/>
              </a:rPr>
              <a:t>Contrat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9842182" y="1264444"/>
            <a:ext cx="1719025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40" b="1" spc="54">
                <a:solidFill>
                  <a:srgbClr val="78879F"/>
                </a:solidFill>
                <a:latin typeface="Calibri"/>
              </a:rPr>
              <a:t>CONTRACT MANAGEMENT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9842182" y="1386364"/>
            <a:ext cx="1071682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09" b="1" spc="51">
                <a:solidFill>
                  <a:srgbClr val="A9761A"/>
                </a:solidFill>
                <a:latin typeface="Calibri"/>
              </a:rPr>
              <a:t>10 OUTILS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9438323" y="1546384"/>
            <a:ext cx="1252775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8C4365"/>
                </a:solidFill>
                <a:latin typeface="Calibri"/>
              </a:rPr>
              <a:t>Appli bancaire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10172938" y="1546384"/>
            <a:ext cx="1024295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A9761A"/>
                </a:solidFill>
                <a:latin typeface="Calibri"/>
              </a:rPr>
              <a:t>Basware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10679073" y="1546384"/>
            <a:ext cx="973813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8C4365"/>
                </a:solidFill>
                <a:latin typeface="Calibri"/>
              </a:rPr>
              <a:t>Chorus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9438323" y="1735336"/>
            <a:ext cx="1047036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E-Project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9967199" y="1735336"/>
            <a:ext cx="900826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Excel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10349865" y="1735336"/>
            <a:ext cx="1183958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A9761A"/>
                </a:solidFill>
                <a:latin typeface="Calibri"/>
              </a:rPr>
              <a:t>NotebookLM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11015662" y="1735336"/>
            <a:ext cx="996672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8C4365"/>
                </a:solidFill>
                <a:latin typeface="Calibri"/>
              </a:rPr>
              <a:t>Outlook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9522143" y="1924288"/>
            <a:ext cx="1037868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A9761A"/>
                </a:solidFill>
                <a:latin typeface="Calibri"/>
              </a:rPr>
              <a:t>Power BI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10041850" y="1924288"/>
            <a:ext cx="1120141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SharePoint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10643830" y="1924288"/>
            <a:ext cx="894516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Word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457200" y="3454955"/>
            <a:ext cx="973693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09" b="1" spc="102">
                <a:solidFill>
                  <a:srgbClr val="4CC9E8"/>
                </a:solidFill>
                <a:latin typeface="Calibri"/>
              </a:rPr>
              <a:t>SOCLE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457200" y="3531156"/>
            <a:ext cx="1192054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09" b="1" spc="102">
                <a:solidFill>
                  <a:srgbClr val="4CC9E8"/>
                </a:solidFill>
                <a:latin typeface="Calibri"/>
              </a:rPr>
              <a:t>APPLICATIF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457200" y="3622596"/>
            <a:ext cx="1164788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69" b="1">
                <a:solidFill>
                  <a:srgbClr val="FFFFFF"/>
                </a:solidFill>
                <a:latin typeface="Calibri"/>
              </a:rPr>
              <a:t>Logiciels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457200" y="3744040"/>
            <a:ext cx="1207770" cy="15239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69" b="1">
                <a:solidFill>
                  <a:srgbClr val="FFFFFF"/>
                </a:solidFill>
                <a:latin typeface="Calibri"/>
              </a:rPr>
              <a:t>communs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1198602" y="3454955"/>
            <a:ext cx="1542217" cy="990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80" b="1" spc="48">
                <a:solidFill>
                  <a:srgbClr val="95A5C2"/>
                </a:solidFill>
                <a:latin typeface="Calibri"/>
              </a:rPr>
              <a:t>GED &amp; COLLABORATION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1298496" y="3601165"/>
            <a:ext cx="1342549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FFFFFF"/>
                </a:solidFill>
                <a:latin typeface="Calibri"/>
              </a:rPr>
              <a:t>Trimble Connect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1448991" y="3814524"/>
            <a:ext cx="1132999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FFFFFF"/>
                </a:solidFill>
                <a:latin typeface="Calibri"/>
              </a:rPr>
              <a:t>Mezzoteam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2464832" y="3454955"/>
            <a:ext cx="1615797" cy="990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80" b="1" spc="48">
                <a:solidFill>
                  <a:srgbClr val="95A5C2"/>
                </a:solidFill>
                <a:latin typeface="Calibri"/>
              </a:rPr>
              <a:t>VALIDATION &amp; SIGNATURE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2745819" y="3601165"/>
            <a:ext cx="1053822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FFFFFF"/>
                </a:solidFill>
                <a:latin typeface="Calibri"/>
              </a:rPr>
              <a:t>E-Paraph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2734270" y="3814524"/>
            <a:ext cx="1077040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FFFFFF"/>
                </a:solidFill>
                <a:latin typeface="Calibri"/>
              </a:rPr>
              <a:t>DocuSign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4370308" y="3454955"/>
            <a:ext cx="1637705" cy="990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80" b="1" spc="48">
                <a:solidFill>
                  <a:srgbClr val="95A5C2"/>
                </a:solidFill>
                <a:latin typeface="Calibri"/>
              </a:rPr>
              <a:t>ACHATS, FINANCE &amp; TIERS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4111109" y="3601165"/>
            <a:ext cx="914043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FFFFFF"/>
                </a:solidFill>
                <a:latin typeface="Calibri"/>
              </a:rPr>
              <a:t>Pablo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5285661" y="3601165"/>
            <a:ext cx="1049179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FFFFFF"/>
                </a:solidFill>
                <a:latin typeface="Calibri"/>
              </a:rPr>
              <a:t>Harmony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4102656" y="3814524"/>
            <a:ext cx="931068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FFFFFF"/>
                </a:solidFill>
                <a:latin typeface="Calibri"/>
              </a:rPr>
              <a:t>BATIS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5374124" y="3814524"/>
            <a:ext cx="872133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FFFFFF"/>
                </a:solidFill>
                <a:latin typeface="Calibri"/>
              </a:rPr>
              <a:t>TIPS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3994666" y="4027884"/>
            <a:ext cx="1146929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FFFFFF"/>
                </a:solidFill>
                <a:latin typeface="Calibri"/>
              </a:rPr>
              <a:t>E-Checking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6395442" y="3454955"/>
            <a:ext cx="1420296" cy="990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80" b="1" spc="48">
                <a:solidFill>
                  <a:srgbClr val="95A5C2"/>
                </a:solidFill>
                <a:latin typeface="Calibri"/>
              </a:rPr>
              <a:t>RH &amp; MAIN-D'ŒUVRE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6648569" y="3601165"/>
            <a:ext cx="914162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FFFFFF"/>
                </a:solidFill>
                <a:latin typeface="Calibri"/>
              </a:rPr>
              <a:t>Puma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6542246" y="3814524"/>
            <a:ext cx="1126807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FFFFFF"/>
                </a:solidFill>
                <a:latin typeface="Calibri"/>
              </a:rPr>
              <a:t>BIP / BAPS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7619643" y="3454955"/>
            <a:ext cx="1578054" cy="990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80" b="1" spc="48">
                <a:solidFill>
                  <a:srgbClr val="95A5C2"/>
                </a:solidFill>
                <a:latin typeface="Calibri"/>
              </a:rPr>
              <a:t>TERRAIN &amp; INTÉGRATION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7770019" y="3601165"/>
            <a:ext cx="1277303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FFFFFF"/>
                </a:solidFill>
                <a:latin typeface="Calibri"/>
              </a:rPr>
              <a:t>Quick Connect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7932182" y="3814524"/>
            <a:ext cx="1044416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FFFFFF"/>
                </a:solidFill>
                <a:latin typeface="Calibri"/>
              </a:rPr>
              <a:t>YELLOW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7923609" y="4027884"/>
            <a:ext cx="970003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FFFFFF"/>
                </a:solidFill>
                <a:latin typeface="Calibri"/>
              </a:rPr>
              <a:t>Traktor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9111734" y="3454955"/>
            <a:ext cx="1199912" cy="990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80" b="1" spc="48">
                <a:solidFill>
                  <a:srgbClr val="95A5C2"/>
                </a:solidFill>
                <a:latin typeface="Calibri"/>
              </a:rPr>
              <a:t>BUREAUTIQUE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9259252" y="3601165"/>
            <a:ext cx="904875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FFFFFF"/>
                </a:solidFill>
                <a:latin typeface="Calibri"/>
              </a:rPr>
              <a:t>Excel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9262467" y="3814524"/>
            <a:ext cx="898446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FFFFFF"/>
                </a:solidFill>
                <a:latin typeface="Calibri"/>
              </a:rPr>
              <a:t>Word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9210437" y="4027884"/>
            <a:ext cx="1002506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FFFFFF"/>
                </a:solidFill>
                <a:latin typeface="Calibri"/>
              </a:rPr>
              <a:t>Outlook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10493812" y="3554016"/>
            <a:ext cx="1148477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90" b="1">
                <a:solidFill>
                  <a:srgbClr val="FFFFFF"/>
                </a:solidFill>
                <a:latin typeface="Calibri"/>
              </a:rPr>
              <a:t>SharePoint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10514053" y="3653076"/>
            <a:ext cx="1107876" cy="990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50" b="0" spc="18">
                <a:solidFill>
                  <a:srgbClr val="95A5C2"/>
                </a:solidFill>
                <a:latin typeface="Calibri"/>
              </a:rPr>
              <a:t>RÉFÉRENTIEL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10537627" y="3843576"/>
            <a:ext cx="1060847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90" b="1">
                <a:solidFill>
                  <a:srgbClr val="FFFFFF"/>
                </a:solidFill>
                <a:latin typeface="Calibri"/>
              </a:rPr>
              <a:t>Power BI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10395466" y="3942636"/>
            <a:ext cx="1345050" cy="990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50" b="0" spc="18">
                <a:solidFill>
                  <a:srgbClr val="95A5C2"/>
                </a:solidFill>
                <a:latin typeface="Calibri"/>
              </a:rPr>
              <a:t>CABINE DE PILOTAGE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571500" y="5189815"/>
            <a:ext cx="1154787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69" b="1" spc="-9">
                <a:solidFill>
                  <a:srgbClr val="0D1526"/>
                </a:solidFill>
                <a:latin typeface="Calibri"/>
              </a:rPr>
              <a:t>Direction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563880" y="5326499"/>
            <a:ext cx="1659969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40" b="1" spc="54">
                <a:solidFill>
                  <a:srgbClr val="78879F"/>
                </a:solidFill>
                <a:latin typeface="Calibri"/>
              </a:rPr>
              <a:t>PILOTAGE DU CHANTIER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563880" y="5448419"/>
            <a:ext cx="1071682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09" b="1" spc="51">
                <a:solidFill>
                  <a:srgbClr val="5B57D6"/>
                </a:solidFill>
                <a:latin typeface="Calibri"/>
              </a:rPr>
              <a:t>15 OUTILS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160020" y="5608439"/>
            <a:ext cx="926544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BATIS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568404" y="5608439"/>
            <a:ext cx="1024295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5B57D6"/>
                </a:solidFill>
                <a:latin typeface="Calibri"/>
              </a:rPr>
              <a:t>Basware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074539" y="5608439"/>
            <a:ext cx="873204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CWT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1429584" y="5608439"/>
            <a:ext cx="1069776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DocuSign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1981200" y="5608439"/>
            <a:ext cx="1138476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E-Checking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160020" y="5797391"/>
            <a:ext cx="1047036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5B57D6"/>
                </a:solidFill>
                <a:latin typeface="Calibri"/>
              </a:rPr>
              <a:t>E-Paraph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688896" y="5797391"/>
            <a:ext cx="900827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Excel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1071563" y="5797391"/>
            <a:ext cx="900708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MIRO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1454110" y="5797391"/>
            <a:ext cx="877848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5B57D6"/>
                </a:solidFill>
                <a:latin typeface="Calibri"/>
              </a:rPr>
              <a:t>MMS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1813798" y="5797391"/>
            <a:ext cx="909995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5B57D6"/>
                </a:solidFill>
                <a:latin typeface="Calibri"/>
              </a:rPr>
              <a:t>Oasis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2289453" y="5797391"/>
            <a:ext cx="1037868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5B57D6"/>
                </a:solidFill>
                <a:latin typeface="Calibri"/>
              </a:rPr>
              <a:t>Power BI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160020" y="5986343"/>
            <a:ext cx="1266468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5B57D6"/>
                </a:solidFill>
                <a:latin typeface="Calibri"/>
              </a:rPr>
              <a:t>Quick Connect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908328" y="5986343"/>
            <a:ext cx="990600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Tableau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1380768" y="5986343"/>
            <a:ext cx="894516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Word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1840944" y="5986343"/>
            <a:ext cx="1037749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5B57D6"/>
                </a:solidFill>
                <a:latin typeface="Calibri"/>
              </a:rPr>
              <a:t>YELLOW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3470910" y="5189815"/>
            <a:ext cx="909637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69" b="1" spc="-9">
                <a:solidFill>
                  <a:srgbClr val="0D1526"/>
                </a:solidFill>
                <a:latin typeface="Calibri"/>
              </a:rPr>
              <a:t>DAF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3463290" y="5326499"/>
            <a:ext cx="1909882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40" b="1" spc="54">
                <a:solidFill>
                  <a:srgbClr val="78879F"/>
                </a:solidFill>
                <a:latin typeface="Calibri"/>
              </a:rPr>
              <a:t>RH · COMPTABILITÉ · GESTION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3463290" y="5448419"/>
            <a:ext cx="1071682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09" b="1" spc="51">
                <a:solidFill>
                  <a:srgbClr val="8257E6"/>
                </a:solidFill>
                <a:latin typeface="Calibri"/>
              </a:rPr>
              <a:t>15 OUTILS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3059430" y="5608439"/>
            <a:ext cx="1118711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8257E6"/>
                </a:solidFill>
                <a:latin typeface="Calibri"/>
              </a:rPr>
              <a:t>BIP / BAPS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3659981" y="5608439"/>
            <a:ext cx="918924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8C4365"/>
                </a:solidFill>
                <a:latin typeface="Calibri"/>
              </a:rPr>
              <a:t>BYCN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4144566" y="5608439"/>
            <a:ext cx="972265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8C4365"/>
                </a:solidFill>
                <a:latin typeface="Calibri"/>
              </a:rPr>
              <a:t>BYMAT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4598670" y="5608439"/>
            <a:ext cx="1024295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8257E6"/>
                </a:solidFill>
                <a:latin typeface="Calibri"/>
              </a:rPr>
              <a:t>Basware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5104805" y="5608439"/>
            <a:ext cx="1101923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8257E6"/>
                </a:solidFill>
                <a:latin typeface="Calibri"/>
              </a:rPr>
              <a:t>By My Site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3059430" y="5797391"/>
            <a:ext cx="1069777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DocuSign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3611047" y="5797391"/>
            <a:ext cx="1138476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E-Checking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4231362" y="5797391"/>
            <a:ext cx="1047036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8257E6"/>
                </a:solidFill>
                <a:latin typeface="Calibri"/>
              </a:rPr>
              <a:t>E-Paraph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4760238" y="5797391"/>
            <a:ext cx="900827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Excel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3059430" y="5986343"/>
            <a:ext cx="1190148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8257E6"/>
                </a:solidFill>
                <a:latin typeface="Calibri"/>
              </a:rPr>
              <a:t>H&amp;R For You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3731419" y="5986343"/>
            <a:ext cx="1042511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8257E6"/>
                </a:solidFill>
                <a:latin typeface="Calibri"/>
              </a:rPr>
              <a:t>Harmony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4255770" y="5986343"/>
            <a:ext cx="1070015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78879F"/>
                </a:solidFill>
                <a:latin typeface="Calibri"/>
              </a:rPr>
              <a:t>Neoaccès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4807625" y="5986343"/>
            <a:ext cx="909876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Pablo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5199340" y="5986343"/>
            <a:ext cx="909876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8257E6"/>
                </a:solidFill>
                <a:latin typeface="Calibri"/>
              </a:rPr>
              <a:t>Puma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3059430" y="6175296"/>
            <a:ext cx="868680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8257E6"/>
                </a:solidFill>
                <a:latin typeface="Calibri"/>
              </a:rPr>
              <a:t>TIPS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6370320" y="5189815"/>
            <a:ext cx="1980366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69" b="1" spc="-9">
                <a:solidFill>
                  <a:srgbClr val="0D1526"/>
                </a:solidFill>
                <a:latin typeface="Calibri"/>
              </a:rPr>
              <a:t>Qualité &amp; Environnement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6362700" y="5326499"/>
            <a:ext cx="1808202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40" b="1" spc="54">
                <a:solidFill>
                  <a:srgbClr val="78879F"/>
                </a:solidFill>
                <a:latin typeface="Calibri"/>
              </a:rPr>
              <a:t>CONTRÔLE ET CONFORMITÉ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6362700" y="5448419"/>
            <a:ext cx="1071682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09" b="1" spc="51">
                <a:solidFill>
                  <a:srgbClr val="C2456A"/>
                </a:solidFill>
                <a:latin typeface="Calibri"/>
              </a:rPr>
              <a:t>14 OUTILS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5958840" y="5608439"/>
            <a:ext cx="978456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78879F"/>
                </a:solidFill>
                <a:latin typeface="Calibri"/>
              </a:rPr>
              <a:t>CEMEX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6419136" y="5608439"/>
            <a:ext cx="900827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Excel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6801802" y="5608439"/>
            <a:ext cx="1078944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IDCapture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7446407" y="5608439"/>
            <a:ext cx="1031081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Lafarge+</a:t>
            </a:r>
          </a:p>
        </p:txBody>
      </p:sp>
      <p:sp>
        <p:nvSpPr>
          <p:cNvPr id="335" name="TextBox 334"/>
          <p:cNvSpPr txBox="1"/>
          <p:nvPr/>
        </p:nvSpPr>
        <p:spPr>
          <a:xfrm>
            <a:off x="6042660" y="5797391"/>
            <a:ext cx="1540788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Live Objects (Orange)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7065288" y="5797391"/>
            <a:ext cx="1051679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Lucee TP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7682627" y="5797391"/>
            <a:ext cx="1124783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Mezzoteam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5958840" y="5986343"/>
            <a:ext cx="909876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Pablo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6434376" y="5986343"/>
            <a:ext cx="1037868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C2456A"/>
                </a:solidFill>
                <a:latin typeface="Calibri"/>
              </a:rPr>
              <a:t>Power BI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6954084" y="5986343"/>
            <a:ext cx="1138357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PowerPoint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7574280" y="5986343"/>
            <a:ext cx="1266468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C2456A"/>
                </a:solidFill>
                <a:latin typeface="Calibri"/>
              </a:rPr>
              <a:t>Quick Connect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6042660" y="6175296"/>
            <a:ext cx="1444705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Sixense Monitoring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6969205" y="6175296"/>
            <a:ext cx="1330404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Trimble Connect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5958840" y="6364248"/>
            <a:ext cx="1432798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Wastemarket Place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9269730" y="5189815"/>
            <a:ext cx="1112997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69" b="1" spc="-9">
                <a:solidFill>
                  <a:srgbClr val="0D1526"/>
                </a:solidFill>
                <a:latin typeface="Calibri"/>
              </a:rPr>
              <a:t>Sécurité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9262110" y="5326499"/>
            <a:ext cx="1890355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40" b="1" spc="54">
                <a:solidFill>
                  <a:srgbClr val="78879F"/>
                </a:solidFill>
                <a:latin typeface="Calibri"/>
              </a:rPr>
              <a:t>PRÉVENTION · HABILITATIONS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9262110" y="5448419"/>
            <a:ext cx="1071682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09" b="1" spc="51">
                <a:solidFill>
                  <a:srgbClr val="D93025"/>
                </a:solidFill>
                <a:latin typeface="Calibri"/>
              </a:rPr>
              <a:t>10 OUTILS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8858250" y="5608439"/>
            <a:ext cx="1101924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D93025"/>
                </a:solidFill>
                <a:latin typeface="Calibri"/>
              </a:rPr>
              <a:t>By My Site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9442014" y="5608439"/>
            <a:ext cx="923567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8C4365"/>
                </a:solidFill>
                <a:latin typeface="Calibri"/>
              </a:rPr>
              <a:t>Cority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9847422" y="5608439"/>
            <a:ext cx="1517689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8C4365"/>
                </a:solidFill>
                <a:latin typeface="Calibri"/>
              </a:rPr>
              <a:t>HRMYOU / Global HR</a:t>
            </a:r>
          </a:p>
        </p:txBody>
      </p:sp>
      <p:sp>
        <p:nvSpPr>
          <p:cNvPr id="351" name="TextBox 350"/>
          <p:cNvSpPr txBox="1"/>
          <p:nvPr/>
        </p:nvSpPr>
        <p:spPr>
          <a:xfrm>
            <a:off x="8858250" y="5797391"/>
            <a:ext cx="1408510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8C4365"/>
                </a:solidFill>
                <a:latin typeface="Calibri"/>
              </a:rPr>
              <a:t>Heures Travaillées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9748600" y="5797391"/>
            <a:ext cx="909756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8C4365"/>
                </a:solidFill>
                <a:latin typeface="Calibri"/>
              </a:rPr>
              <a:t>Lotus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10224016" y="5797391"/>
            <a:ext cx="1124783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Mezzoteam</a:t>
            </a:r>
          </a:p>
        </p:txBody>
      </p:sp>
      <p:sp>
        <p:nvSpPr>
          <p:cNvPr id="354" name="TextBox 353"/>
          <p:cNvSpPr txBox="1"/>
          <p:nvPr/>
        </p:nvSpPr>
        <p:spPr>
          <a:xfrm>
            <a:off x="10830639" y="5797391"/>
            <a:ext cx="909876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33415C"/>
                </a:solidFill>
                <a:latin typeface="Calibri"/>
              </a:rPr>
              <a:t>Pablo</a:t>
            </a:r>
          </a:p>
        </p:txBody>
      </p:sp>
      <p:sp>
        <p:nvSpPr>
          <p:cNvPr id="355" name="TextBox 354"/>
          <p:cNvSpPr txBox="1"/>
          <p:nvPr/>
        </p:nvSpPr>
        <p:spPr>
          <a:xfrm>
            <a:off x="8942070" y="5986343"/>
            <a:ext cx="1037868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D93025"/>
                </a:solidFill>
                <a:latin typeface="Calibri"/>
              </a:rPr>
              <a:t>Power BI</a:t>
            </a:r>
          </a:p>
        </p:txBody>
      </p:sp>
      <p:sp>
        <p:nvSpPr>
          <p:cNvPr id="356" name="TextBox 355"/>
          <p:cNvSpPr txBox="1"/>
          <p:nvPr/>
        </p:nvSpPr>
        <p:spPr>
          <a:xfrm>
            <a:off x="9461778" y="5986343"/>
            <a:ext cx="1266468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D93025"/>
                </a:solidFill>
                <a:latin typeface="Calibri"/>
              </a:rPr>
              <a:t>Quick Connect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10210086" y="5986343"/>
            <a:ext cx="1614011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1">
                <a:solidFill>
                  <a:srgbClr val="8C4365"/>
                </a:solidFill>
                <a:latin typeface="Calibri"/>
              </a:rPr>
              <a:t>Quick Connect Sécurité</a:t>
            </a:r>
          </a:p>
        </p:txBody>
      </p:sp>
      <p:sp>
        <p:nvSpPr>
          <p:cNvPr id="358" name="TextBox 357"/>
          <p:cNvSpPr txBox="1"/>
          <p:nvPr/>
        </p:nvSpPr>
        <p:spPr>
          <a:xfrm>
            <a:off x="342900" y="6644640"/>
            <a:ext cx="258699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>
                <a:solidFill>
                  <a:srgbClr val="78879F"/>
                </a:solidFill>
                <a:latin typeface="Calibri"/>
              </a:rPr>
              <a:t>Source : BDD Cartographie Outils IT — 16 entretiens</a:t>
            </a:r>
          </a:p>
        </p:txBody>
      </p:sp>
      <p:sp>
        <p:nvSpPr>
          <p:cNvPr id="359" name="TextBox 358"/>
          <p:cNvSpPr txBox="1"/>
          <p:nvPr/>
        </p:nvSpPr>
        <p:spPr>
          <a:xfrm>
            <a:off x="11344990" y="6644640"/>
            <a:ext cx="1189911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>
                <a:solidFill>
                  <a:srgbClr val="78879F"/>
                </a:solidFill>
                <a:latin typeface="Calibri"/>
              </a:rPr>
              <a:t>Planche 1 / 13</a:t>
            </a:r>
          </a:p>
        </p:txBody>
      </p:sp>
      <p:sp>
        <p:nvSpPr>
          <p:cNvPr id="360" name="Rectangle 359"/>
          <p:cNvSpPr/>
          <p:nvPr/>
        </p:nvSpPr>
        <p:spPr>
          <a:xfrm>
            <a:off x="10264140" y="3550206"/>
            <a:ext cx="251460" cy="130969"/>
          </a:xfrm>
          <a:custGeom>
            <a:avLst/>
            <a:gdLst/>
            <a:ahLst/>
            <a:cxnLst/>
            <a:rect l="0" t="0" r="r" b="b"/>
            <a:pathLst>
              <a:path w="251460" h="130969">
                <a:moveTo>
                  <a:pt x="60960" y="70009"/>
                </a:moveTo>
                <a:cubicBezTo>
                  <a:pt x="104140" y="66993"/>
                  <a:pt x="147320" y="63976"/>
                  <a:pt x="190500" y="60960"/>
                </a:cubicBezTo>
              </a:path>
            </a:pathLst>
          </a:custGeom>
          <a:noFill/>
          <a:ln w="15240">
            <a:solidFill>
              <a:srgbClr val="4CC9E8"/>
            </a:solidFill>
            <a:prstDash val="dash"/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10264140" y="3643075"/>
            <a:ext cx="251460" cy="318611"/>
          </a:xfrm>
          <a:custGeom>
            <a:avLst/>
            <a:gdLst/>
            <a:ahLst/>
            <a:cxnLst/>
            <a:rect l="0" t="0" r="r" b="b"/>
            <a:pathLst>
              <a:path w="251460" h="318611">
                <a:moveTo>
                  <a:pt x="60960" y="60960"/>
                </a:moveTo>
                <a:cubicBezTo>
                  <a:pt x="104140" y="126524"/>
                  <a:pt x="147320" y="192087"/>
                  <a:pt x="190500" y="257651"/>
                </a:cubicBezTo>
              </a:path>
            </a:pathLst>
          </a:custGeom>
          <a:noFill/>
          <a:ln w="15240">
            <a:solidFill>
              <a:srgbClr val="4CC9E8"/>
            </a:solidFill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8961120" y="3559255"/>
            <a:ext cx="1554480" cy="196691"/>
          </a:xfrm>
          <a:custGeom>
            <a:avLst/>
            <a:gdLst/>
            <a:ahLst/>
            <a:cxnLst/>
            <a:rect l="0" t="0" r="r" b="b"/>
            <a:pathLst>
              <a:path w="1554480" h="196691">
                <a:moveTo>
                  <a:pt x="60960" y="60960"/>
                </a:moveTo>
                <a:cubicBezTo>
                  <a:pt x="705612" y="60960"/>
                  <a:pt x="848868" y="135731"/>
                  <a:pt x="1493520" y="135731"/>
                </a:cubicBezTo>
              </a:path>
            </a:pathLst>
          </a:custGeom>
          <a:noFill/>
          <a:ln w="15240">
            <a:solidFill>
              <a:srgbClr val="4CC9E8"/>
            </a:solidFill>
            <a:prstDash val="dash"/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8961120" y="3643075"/>
            <a:ext cx="1554480" cy="402431"/>
          </a:xfrm>
          <a:custGeom>
            <a:avLst/>
            <a:gdLst/>
            <a:ahLst/>
            <a:cxnLst/>
            <a:rect l="0" t="0" r="r" b="b"/>
            <a:pathLst>
              <a:path w="1554480" h="402431">
                <a:moveTo>
                  <a:pt x="60960" y="60960"/>
                </a:moveTo>
                <a:cubicBezTo>
                  <a:pt x="705612" y="60960"/>
                  <a:pt x="848868" y="341471"/>
                  <a:pt x="1493520" y="341471"/>
                </a:cubicBezTo>
              </a:path>
            </a:pathLst>
          </a:custGeom>
          <a:noFill/>
          <a:ln w="15240">
            <a:solidFill>
              <a:srgbClr val="4CC9E8"/>
            </a:solidFill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5113020" y="3517345"/>
            <a:ext cx="152400" cy="205740"/>
          </a:xfrm>
          <a:custGeom>
            <a:avLst/>
            <a:gdLst/>
            <a:ahLst/>
            <a:cxnLst/>
            <a:rect l="0" t="0" r="r" b="b"/>
            <a:pathLst>
              <a:path w="152400" h="205740">
                <a:moveTo>
                  <a:pt x="60960" y="144780"/>
                </a:moveTo>
                <a:cubicBezTo>
                  <a:pt x="71120" y="116840"/>
                  <a:pt x="81280" y="88900"/>
                  <a:pt x="91440" y="60960"/>
                </a:cubicBezTo>
              </a:path>
            </a:pathLst>
          </a:custGeom>
          <a:noFill/>
          <a:ln w="15240">
            <a:solidFill>
              <a:srgbClr val="4CC9E8"/>
            </a:solidFill>
            <a:prstDash val="dash"/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5007947" y="3692604"/>
            <a:ext cx="863263" cy="1504831"/>
          </a:xfrm>
          <a:custGeom>
            <a:avLst/>
            <a:gdLst/>
            <a:ahLst/>
            <a:cxnLst/>
            <a:rect l="0" t="0" r="r" b="b"/>
            <a:pathLst>
              <a:path w="863263" h="1504831">
                <a:moveTo>
                  <a:pt x="60960" y="1443871"/>
                </a:moveTo>
                <a:cubicBezTo>
                  <a:pt x="60960" y="752415"/>
                  <a:pt x="802303" y="752415"/>
                  <a:pt x="802303" y="60960"/>
                </a:cubicBezTo>
              </a:path>
            </a:pathLst>
          </a:custGeom>
          <a:noFill/>
          <a:ln w="15240">
            <a:solidFill>
              <a:srgbClr val="8257E6"/>
            </a:solidFill>
            <a:prstDash val="dash"/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5091767" y="3692604"/>
            <a:ext cx="863263" cy="1504831"/>
          </a:xfrm>
          <a:custGeom>
            <a:avLst/>
            <a:gdLst/>
            <a:ahLst/>
            <a:cxnLst/>
            <a:rect l="0" t="0" r="r" b="b"/>
            <a:pathLst>
              <a:path w="863263" h="1504831">
                <a:moveTo>
                  <a:pt x="802303" y="60960"/>
                </a:moveTo>
                <a:cubicBezTo>
                  <a:pt x="802303" y="752415"/>
                  <a:pt x="60960" y="752415"/>
                  <a:pt x="60960" y="1443871"/>
                </a:cubicBezTo>
              </a:path>
            </a:pathLst>
          </a:custGeom>
          <a:noFill/>
          <a:ln w="15240">
            <a:solidFill>
              <a:srgbClr val="8257E6"/>
            </a:solidFill>
            <a:prstDash val="dash"/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7044690" y="3692604"/>
            <a:ext cx="121920" cy="152400"/>
          </a:xfrm>
          <a:custGeom>
            <a:avLst/>
            <a:gdLst/>
            <a:ahLst/>
            <a:cxnLst/>
            <a:rect l="0" t="0" r="r" b="b"/>
            <a:pathLst>
              <a:path w="121920" h="152400">
                <a:moveTo>
                  <a:pt x="60960" y="91440"/>
                </a:moveTo>
                <a:cubicBezTo>
                  <a:pt x="60960" y="76200"/>
                  <a:pt x="60960" y="76200"/>
                  <a:pt x="60960" y="60960"/>
                </a:cubicBezTo>
              </a:path>
            </a:pathLst>
          </a:custGeom>
          <a:noFill/>
          <a:ln w="15240">
            <a:solidFill>
              <a:srgbClr val="4CC9E8"/>
            </a:solidFill>
            <a:prstDash val="dash"/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8110895" y="2468285"/>
            <a:ext cx="2892386" cy="1405771"/>
          </a:xfrm>
          <a:custGeom>
            <a:avLst/>
            <a:gdLst/>
            <a:ahLst/>
            <a:cxnLst/>
            <a:rect l="0" t="0" r="r" b="b"/>
            <a:pathLst>
              <a:path w="2892386" h="1405771">
                <a:moveTo>
                  <a:pt x="60960" y="60960"/>
                </a:moveTo>
                <a:cubicBezTo>
                  <a:pt x="60960" y="702885"/>
                  <a:pt x="2831426" y="702885"/>
                  <a:pt x="2831426" y="1344811"/>
                </a:cubicBezTo>
              </a:path>
            </a:pathLst>
          </a:custGeom>
          <a:noFill/>
          <a:ln w="15240">
            <a:solidFill>
              <a:srgbClr val="DD7E2C"/>
            </a:solidFill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6614279" y="4011216"/>
            <a:ext cx="4640461" cy="1186220"/>
          </a:xfrm>
          <a:custGeom>
            <a:avLst/>
            <a:gdLst/>
            <a:ahLst/>
            <a:cxnLst/>
            <a:rect l="0" t="0" r="r" b="b"/>
            <a:pathLst>
              <a:path w="4640461" h="1186220">
                <a:moveTo>
                  <a:pt x="60960" y="1125260"/>
                </a:moveTo>
                <a:cubicBezTo>
                  <a:pt x="60960" y="593110"/>
                  <a:pt x="4579501" y="593110"/>
                  <a:pt x="4579501" y="60960"/>
                </a:cubicBezTo>
              </a:path>
            </a:pathLst>
          </a:custGeom>
          <a:noFill/>
          <a:ln w="15240">
            <a:solidFill>
              <a:srgbClr val="C2456A"/>
            </a:solidFill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1950720" y="2468285"/>
            <a:ext cx="1155323" cy="1163360"/>
          </a:xfrm>
          <a:custGeom>
            <a:avLst/>
            <a:gdLst/>
            <a:ahLst/>
            <a:cxnLst/>
            <a:rect l="0" t="0" r="r" b="b"/>
            <a:pathLst>
              <a:path w="1155323" h="1163360">
                <a:moveTo>
                  <a:pt x="60960" y="1102400"/>
                </a:moveTo>
                <a:cubicBezTo>
                  <a:pt x="60960" y="581680"/>
                  <a:pt x="1094363" y="581680"/>
                  <a:pt x="1094363" y="60960"/>
                </a:cubicBezTo>
              </a:path>
            </a:pathLst>
          </a:custGeom>
          <a:noFill/>
          <a:ln w="15240">
            <a:solidFill>
              <a:srgbClr val="0E9E78"/>
            </a:solidFill>
            <a:prstDash val="dash"/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1866900" y="2468285"/>
            <a:ext cx="1800046" cy="1163360"/>
          </a:xfrm>
          <a:custGeom>
            <a:avLst/>
            <a:gdLst/>
            <a:ahLst/>
            <a:cxnLst/>
            <a:rect l="0" t="0" r="r" b="b"/>
            <a:pathLst>
              <a:path w="1800046" h="1163360">
                <a:moveTo>
                  <a:pt x="60960" y="1102400"/>
                </a:moveTo>
                <a:cubicBezTo>
                  <a:pt x="60960" y="581680"/>
                  <a:pt x="1739086" y="581680"/>
                  <a:pt x="1739086" y="60960"/>
                </a:cubicBezTo>
              </a:path>
            </a:pathLst>
          </a:custGeom>
          <a:noFill/>
          <a:ln w="15240">
            <a:solidFill>
              <a:srgbClr val="0E9E78"/>
            </a:solidFill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2900303" y="1628656"/>
            <a:ext cx="143232" cy="152400"/>
          </a:xfrm>
          <a:custGeom>
            <a:avLst/>
            <a:gdLst/>
            <a:ahLst/>
            <a:cxnLst/>
            <a:rect l="0" t="0" r="r" b="b"/>
            <a:pathLst>
              <a:path w="143232" h="152400">
                <a:moveTo>
                  <a:pt x="60960" y="91440"/>
                </a:moveTo>
                <a:cubicBezTo>
                  <a:pt x="60960" y="76200"/>
                  <a:pt x="82272" y="76200"/>
                  <a:pt x="82272" y="60960"/>
                </a:cubicBezTo>
              </a:path>
            </a:pathLst>
          </a:custGeom>
          <a:noFill/>
          <a:ln w="15240">
            <a:solidFill>
              <a:srgbClr val="0E9E78"/>
            </a:solidFill>
            <a:prstDash val="dash"/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10479524" y="518160"/>
            <a:ext cx="358140" cy="121920"/>
          </a:xfrm>
          <a:custGeom>
            <a:avLst/>
            <a:gdLst/>
            <a:ahLst/>
            <a:cxnLst/>
            <a:rect l="0" t="0" r="r" b="b"/>
            <a:pathLst>
              <a:path w="358140" h="121920">
                <a:moveTo>
                  <a:pt x="60960" y="60960"/>
                </a:moveTo>
                <a:cubicBezTo>
                  <a:pt x="129540" y="60960"/>
                  <a:pt x="236220" y="60960"/>
                  <a:pt x="297180" y="60960"/>
                </a:cubicBezTo>
              </a:path>
            </a:pathLst>
          </a:custGeom>
          <a:noFill/>
          <a:ln w="15240">
            <a:solidFill>
              <a:srgbClr val="33415C"/>
            </a:solidFill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10479524" y="685800"/>
            <a:ext cx="358140" cy="121920"/>
          </a:xfrm>
          <a:custGeom>
            <a:avLst/>
            <a:gdLst/>
            <a:ahLst/>
            <a:cxnLst/>
            <a:rect l="0" t="0" r="r" b="b"/>
            <a:pathLst>
              <a:path w="358140" h="121920">
                <a:moveTo>
                  <a:pt x="60960" y="60960"/>
                </a:moveTo>
                <a:cubicBezTo>
                  <a:pt x="129540" y="60960"/>
                  <a:pt x="236220" y="60960"/>
                  <a:pt x="297180" y="60960"/>
                </a:cubicBezTo>
              </a:path>
            </a:pathLst>
          </a:custGeom>
          <a:noFill/>
          <a:ln w="15240">
            <a:solidFill>
              <a:srgbClr val="33415C"/>
            </a:solidFill>
            <a:prstDash val="dash"/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10300716" y="3595831"/>
            <a:ext cx="48768" cy="487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4CC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10300716" y="3679651"/>
            <a:ext cx="48768" cy="487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4CC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8997696" y="3595831"/>
            <a:ext cx="48768" cy="487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4CC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8997696" y="3679651"/>
            <a:ext cx="48768" cy="487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4CC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5149596" y="3637741"/>
            <a:ext cx="48768" cy="487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4CC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5044523" y="5112091"/>
            <a:ext cx="48768" cy="487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825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5869686" y="3729180"/>
            <a:ext cx="48768" cy="487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825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7081266" y="3759660"/>
            <a:ext cx="48768" cy="487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4CC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8147471" y="2504861"/>
            <a:ext cx="48768" cy="487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DD7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6650855" y="5112091"/>
            <a:ext cx="48768" cy="487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245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1987296" y="3546301"/>
            <a:ext cx="48768" cy="487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E9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1903476" y="3546301"/>
            <a:ext cx="48768" cy="487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E9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2936879" y="1695712"/>
            <a:ext cx="48768" cy="487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E9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608933" y="358140"/>
            <a:ext cx="412551" cy="144780"/>
          </a:xfrm>
          <a:prstGeom prst="roundRect">
            <a:avLst>
              <a:gd name="adj" fmla="val 50000"/>
            </a:avLst>
          </a:prstGeom>
          <a:solidFill>
            <a:srgbClr val="5B57D6">
              <a:alpha val="13000"/>
            </a:srgbClr>
          </a:solidFill>
          <a:ln w="7620">
            <a:solidFill>
              <a:srgbClr val="5B57D6">
                <a:alpha val="3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08933" y="563880"/>
            <a:ext cx="438150" cy="144780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08933" y="769620"/>
            <a:ext cx="521494" cy="144780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32864" y="381000"/>
            <a:ext cx="60960" cy="60960"/>
          </a:xfrm>
          <a:prstGeom prst="ellipse">
            <a:avLst/>
          </a:prstGeom>
          <a:solidFill>
            <a:srgbClr val="4C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2900" y="1074420"/>
            <a:ext cx="3774400" cy="1032986"/>
          </a:xfrm>
          <a:prstGeom prst="roundRect">
            <a:avLst>
              <a:gd name="adj" fmla="val 11802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>
            <a:outerShdw blurRad="228600" dist="76200" dir="5400000" rotWithShape="0">
              <a:srgbClr val="0D152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07670" y="1150382"/>
            <a:ext cx="121920" cy="121920"/>
          </a:xfrm>
          <a:prstGeom prst="ellipse">
            <a:avLst/>
          </a:prstGeom>
          <a:solidFill>
            <a:srgbClr val="3A6BE5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34340" y="1177052"/>
            <a:ext cx="68580" cy="68580"/>
          </a:xfrm>
          <a:prstGeom prst="ellipse">
            <a:avLst/>
          </a:prstGeom>
          <a:solidFill>
            <a:srgbClr val="3A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4340" y="1401604"/>
            <a:ext cx="3591521" cy="181927"/>
          </a:xfrm>
          <a:prstGeom prst="roundRect">
            <a:avLst>
              <a:gd name="adj" fmla="val 33507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" y="1621631"/>
            <a:ext cx="3591521" cy="181927"/>
          </a:xfrm>
          <a:prstGeom prst="roundRect">
            <a:avLst>
              <a:gd name="adj" fmla="val 33507"/>
            </a:avLst>
          </a:prstGeom>
          <a:solidFill>
            <a:srgbClr val="3A6BE5">
              <a:alpha val="12000"/>
            </a:srgbClr>
          </a:solidFill>
          <a:ln w="7620">
            <a:solidFill>
              <a:srgbClr val="3A6BE5">
                <a:alpha val="3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08740" y="1074420"/>
            <a:ext cx="3774400" cy="1032986"/>
          </a:xfrm>
          <a:prstGeom prst="roundRect">
            <a:avLst>
              <a:gd name="adj" fmla="val 11802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>
            <a:outerShdw blurRad="228600" dist="76200" dir="5400000" rotWithShape="0">
              <a:srgbClr val="0D152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3510" y="1150382"/>
            <a:ext cx="121920" cy="121920"/>
          </a:xfrm>
          <a:prstGeom prst="ellipse">
            <a:avLst/>
          </a:prstGeom>
          <a:solidFill>
            <a:srgbClr val="0E9E78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00180" y="1177052"/>
            <a:ext cx="68580" cy="68580"/>
          </a:xfrm>
          <a:prstGeom prst="ellipse">
            <a:avLst/>
          </a:prstGeom>
          <a:solidFill>
            <a:srgbClr val="0E9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00180" y="1401604"/>
            <a:ext cx="3591520" cy="181927"/>
          </a:xfrm>
          <a:prstGeom prst="roundRect">
            <a:avLst>
              <a:gd name="adj" fmla="val 33507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00180" y="1621631"/>
            <a:ext cx="3591520" cy="181927"/>
          </a:xfrm>
          <a:prstGeom prst="roundRect">
            <a:avLst>
              <a:gd name="adj" fmla="val 33507"/>
            </a:avLst>
          </a:prstGeom>
          <a:solidFill>
            <a:srgbClr val="0E9E78">
              <a:alpha val="12000"/>
            </a:srgbClr>
          </a:solidFill>
          <a:ln w="7620">
            <a:solidFill>
              <a:srgbClr val="0E9E78">
                <a:alpha val="3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00180" y="1841659"/>
            <a:ext cx="3591520" cy="181927"/>
          </a:xfrm>
          <a:prstGeom prst="roundRect">
            <a:avLst>
              <a:gd name="adj" fmla="val 33507"/>
            </a:avLst>
          </a:prstGeom>
          <a:solidFill>
            <a:srgbClr val="0E9E78">
              <a:alpha val="12000"/>
            </a:srgbClr>
          </a:solidFill>
          <a:ln w="7620">
            <a:solidFill>
              <a:srgbClr val="0E9E78">
                <a:alpha val="3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74581" y="1074420"/>
            <a:ext cx="3774401" cy="1032986"/>
          </a:xfrm>
          <a:prstGeom prst="roundRect">
            <a:avLst>
              <a:gd name="adj" fmla="val 11802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>
            <a:outerShdw blurRad="228600" dist="76200" dir="5400000" rotWithShape="0">
              <a:srgbClr val="0D152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139351" y="1150382"/>
            <a:ext cx="121920" cy="121920"/>
          </a:xfrm>
          <a:prstGeom prst="ellipse">
            <a:avLst/>
          </a:prstGeom>
          <a:solidFill>
            <a:srgbClr val="0F8FA8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66021" y="1177052"/>
            <a:ext cx="68580" cy="68580"/>
          </a:xfrm>
          <a:prstGeom prst="ellipse">
            <a:avLst/>
          </a:prstGeom>
          <a:solidFill>
            <a:srgbClr val="0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66021" y="1401604"/>
            <a:ext cx="3591521" cy="181927"/>
          </a:xfrm>
          <a:prstGeom prst="roundRect">
            <a:avLst>
              <a:gd name="adj" fmla="val 33507"/>
            </a:avLst>
          </a:prstGeom>
          <a:solidFill>
            <a:srgbClr val="0F8FA8">
              <a:alpha val="12000"/>
            </a:srgbClr>
          </a:solidFill>
          <a:ln w="7620">
            <a:solidFill>
              <a:srgbClr val="0F8FA8">
                <a:alpha val="3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66021" y="1621631"/>
            <a:ext cx="3591521" cy="181927"/>
          </a:xfrm>
          <a:prstGeom prst="roundRect">
            <a:avLst>
              <a:gd name="adj" fmla="val 33507"/>
            </a:avLst>
          </a:prstGeom>
          <a:solidFill>
            <a:srgbClr val="0F8FA8">
              <a:alpha val="12000"/>
            </a:srgbClr>
          </a:solidFill>
          <a:ln w="7620">
            <a:solidFill>
              <a:srgbClr val="0F8FA8">
                <a:alpha val="3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66021" y="1841659"/>
            <a:ext cx="3591521" cy="181927"/>
          </a:xfrm>
          <a:prstGeom prst="roundRect">
            <a:avLst>
              <a:gd name="adj" fmla="val 33507"/>
            </a:avLst>
          </a:prstGeom>
          <a:solidFill>
            <a:srgbClr val="0F8FA8">
              <a:alpha val="12000"/>
            </a:srgbClr>
          </a:solidFill>
          <a:ln w="7620">
            <a:solidFill>
              <a:srgbClr val="0F8FA8">
                <a:alpha val="3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42900" y="2766298"/>
            <a:ext cx="3774400" cy="1473041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>
            <a:outerShdw blurRad="228600" dist="76200" dir="5400000" rotWithShape="0">
              <a:srgbClr val="0D152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07670" y="2842260"/>
            <a:ext cx="121920" cy="121921"/>
          </a:xfrm>
          <a:prstGeom prst="ellipse">
            <a:avLst/>
          </a:prstGeom>
          <a:solidFill>
            <a:srgbClr val="5B57D6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4340" y="2868930"/>
            <a:ext cx="68580" cy="68581"/>
          </a:xfrm>
          <a:prstGeom prst="ellipse">
            <a:avLst/>
          </a:prstGeom>
          <a:solidFill>
            <a:srgbClr val="5B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4340" y="3093482"/>
            <a:ext cx="3591521" cy="181927"/>
          </a:xfrm>
          <a:prstGeom prst="roundRect">
            <a:avLst>
              <a:gd name="adj" fmla="val 33507"/>
            </a:avLst>
          </a:prstGeom>
          <a:solidFill>
            <a:srgbClr val="5B57D6">
              <a:alpha val="12000"/>
            </a:srgbClr>
          </a:solidFill>
          <a:ln w="7620">
            <a:solidFill>
              <a:srgbClr val="5B57D6">
                <a:alpha val="3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4340" y="3313509"/>
            <a:ext cx="3591521" cy="181928"/>
          </a:xfrm>
          <a:prstGeom prst="roundRect">
            <a:avLst>
              <a:gd name="adj" fmla="val 33507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4340" y="3533537"/>
            <a:ext cx="3591521" cy="181928"/>
          </a:xfrm>
          <a:prstGeom prst="roundRect">
            <a:avLst>
              <a:gd name="adj" fmla="val 33507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34340" y="3753565"/>
            <a:ext cx="3591521" cy="181927"/>
          </a:xfrm>
          <a:prstGeom prst="roundRect">
            <a:avLst>
              <a:gd name="adj" fmla="val 33507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4340" y="3973592"/>
            <a:ext cx="3591521" cy="181927"/>
          </a:xfrm>
          <a:prstGeom prst="roundRect">
            <a:avLst>
              <a:gd name="adj" fmla="val 33507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208740" y="2766298"/>
            <a:ext cx="3774400" cy="1473041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>
            <a:outerShdw blurRad="228600" dist="76200" dir="5400000" rotWithShape="0">
              <a:srgbClr val="0D152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273510" y="2842260"/>
            <a:ext cx="121920" cy="121921"/>
          </a:xfrm>
          <a:prstGeom prst="ellipse">
            <a:avLst/>
          </a:prstGeom>
          <a:solidFill>
            <a:srgbClr val="A9761A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300180" y="2868930"/>
            <a:ext cx="68580" cy="68581"/>
          </a:xfrm>
          <a:prstGeom prst="ellipse">
            <a:avLst/>
          </a:prstGeom>
          <a:solidFill>
            <a:srgbClr val="A9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300180" y="3093482"/>
            <a:ext cx="3591520" cy="181927"/>
          </a:xfrm>
          <a:prstGeom prst="roundRect">
            <a:avLst>
              <a:gd name="adj" fmla="val 33507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300180" y="3313509"/>
            <a:ext cx="3591520" cy="181928"/>
          </a:xfrm>
          <a:prstGeom prst="roundRect">
            <a:avLst>
              <a:gd name="adj" fmla="val 33507"/>
            </a:avLst>
          </a:prstGeom>
          <a:solidFill>
            <a:srgbClr val="A9761A">
              <a:alpha val="12000"/>
            </a:srgbClr>
          </a:solidFill>
          <a:ln w="7620">
            <a:solidFill>
              <a:srgbClr val="A9761A">
                <a:alpha val="3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00180" y="3533537"/>
            <a:ext cx="3591520" cy="181928"/>
          </a:xfrm>
          <a:prstGeom prst="roundRect">
            <a:avLst>
              <a:gd name="adj" fmla="val 33507"/>
            </a:avLst>
          </a:prstGeom>
          <a:solidFill>
            <a:srgbClr val="A9761A">
              <a:alpha val="12000"/>
            </a:srgbClr>
          </a:solidFill>
          <a:ln w="7620">
            <a:solidFill>
              <a:srgbClr val="A9761A">
                <a:alpha val="3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300180" y="3753565"/>
            <a:ext cx="3591520" cy="181927"/>
          </a:xfrm>
          <a:prstGeom prst="roundRect">
            <a:avLst>
              <a:gd name="adj" fmla="val 33507"/>
            </a:avLst>
          </a:prstGeom>
          <a:solidFill>
            <a:srgbClr val="A9761A">
              <a:alpha val="12000"/>
            </a:srgbClr>
          </a:solidFill>
          <a:ln w="7620">
            <a:solidFill>
              <a:srgbClr val="A9761A">
                <a:alpha val="3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074581" y="2766298"/>
            <a:ext cx="3774401" cy="1473041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>
            <a:outerShdw blurRad="228600" dist="76200" dir="5400000" rotWithShape="0">
              <a:srgbClr val="0D152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139351" y="2842260"/>
            <a:ext cx="121920" cy="121921"/>
          </a:xfrm>
          <a:prstGeom prst="ellipse">
            <a:avLst/>
          </a:prstGeom>
          <a:solidFill>
            <a:srgbClr val="8257E6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166021" y="2868930"/>
            <a:ext cx="68580" cy="68581"/>
          </a:xfrm>
          <a:prstGeom prst="ellipse">
            <a:avLst/>
          </a:prstGeom>
          <a:solidFill>
            <a:srgbClr val="82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166021" y="3093482"/>
            <a:ext cx="3591521" cy="181927"/>
          </a:xfrm>
          <a:prstGeom prst="roundRect">
            <a:avLst>
              <a:gd name="adj" fmla="val 33507"/>
            </a:avLst>
          </a:prstGeom>
          <a:solidFill>
            <a:srgbClr val="8257E6">
              <a:alpha val="12000"/>
            </a:srgbClr>
          </a:solidFill>
          <a:ln w="7620">
            <a:solidFill>
              <a:srgbClr val="8257E6">
                <a:alpha val="3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166021" y="3313509"/>
            <a:ext cx="3591521" cy="181928"/>
          </a:xfrm>
          <a:prstGeom prst="roundRect">
            <a:avLst>
              <a:gd name="adj" fmla="val 33507"/>
            </a:avLst>
          </a:prstGeom>
          <a:solidFill>
            <a:srgbClr val="8257E6">
              <a:alpha val="12000"/>
            </a:srgbClr>
          </a:solidFill>
          <a:ln w="7620">
            <a:solidFill>
              <a:srgbClr val="8257E6">
                <a:alpha val="3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166021" y="3533537"/>
            <a:ext cx="3591521" cy="181928"/>
          </a:xfrm>
          <a:prstGeom prst="roundRect">
            <a:avLst>
              <a:gd name="adj" fmla="val 33507"/>
            </a:avLst>
          </a:prstGeom>
          <a:solidFill>
            <a:srgbClr val="8257E6">
              <a:alpha val="12000"/>
            </a:srgbClr>
          </a:solidFill>
          <a:ln w="7620">
            <a:solidFill>
              <a:srgbClr val="8257E6">
                <a:alpha val="3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166021" y="3753565"/>
            <a:ext cx="3591521" cy="181927"/>
          </a:xfrm>
          <a:prstGeom prst="roundRect">
            <a:avLst>
              <a:gd name="adj" fmla="val 33507"/>
            </a:avLst>
          </a:prstGeom>
          <a:solidFill>
            <a:srgbClr val="8257E6">
              <a:alpha val="12000"/>
            </a:srgbClr>
          </a:solidFill>
          <a:ln w="7620">
            <a:solidFill>
              <a:srgbClr val="8257E6">
                <a:alpha val="3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166021" y="3973592"/>
            <a:ext cx="3591521" cy="181927"/>
          </a:xfrm>
          <a:prstGeom prst="roundRect">
            <a:avLst>
              <a:gd name="adj" fmla="val 33507"/>
            </a:avLst>
          </a:prstGeom>
          <a:solidFill>
            <a:srgbClr val="8257E6">
              <a:alpha val="12000"/>
            </a:srgbClr>
          </a:solidFill>
          <a:ln w="7620">
            <a:solidFill>
              <a:srgbClr val="8257E6">
                <a:alpha val="3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42900" y="4898232"/>
            <a:ext cx="3774400" cy="1693068"/>
          </a:xfrm>
          <a:prstGeom prst="roundRect">
            <a:avLst>
              <a:gd name="adj" fmla="val 7201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>
            <a:outerShdw blurRad="228600" dist="76200" dir="5400000" rotWithShape="0">
              <a:srgbClr val="0D152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07670" y="4974193"/>
            <a:ext cx="121920" cy="121920"/>
          </a:xfrm>
          <a:prstGeom prst="ellipse">
            <a:avLst/>
          </a:prstGeom>
          <a:solidFill>
            <a:srgbClr val="C2456A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34340" y="5000863"/>
            <a:ext cx="68580" cy="68580"/>
          </a:xfrm>
          <a:prstGeom prst="ellipse">
            <a:avLst/>
          </a:prstGeom>
          <a:solidFill>
            <a:srgbClr val="C24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34340" y="5225415"/>
            <a:ext cx="3591521" cy="181927"/>
          </a:xfrm>
          <a:prstGeom prst="roundRect">
            <a:avLst>
              <a:gd name="adj" fmla="val 33507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34340" y="5445443"/>
            <a:ext cx="3591521" cy="181927"/>
          </a:xfrm>
          <a:prstGeom prst="roundRect">
            <a:avLst>
              <a:gd name="adj" fmla="val 33507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34340" y="5665470"/>
            <a:ext cx="3591521" cy="181928"/>
          </a:xfrm>
          <a:prstGeom prst="roundRect">
            <a:avLst>
              <a:gd name="adj" fmla="val 33507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34340" y="5885497"/>
            <a:ext cx="3591521" cy="181927"/>
          </a:xfrm>
          <a:prstGeom prst="roundRect">
            <a:avLst>
              <a:gd name="adj" fmla="val 33507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34340" y="6105526"/>
            <a:ext cx="3591521" cy="181927"/>
          </a:xfrm>
          <a:prstGeom prst="roundRect">
            <a:avLst>
              <a:gd name="adj" fmla="val 33507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34340" y="6325552"/>
            <a:ext cx="3591521" cy="181928"/>
          </a:xfrm>
          <a:prstGeom prst="roundRect">
            <a:avLst>
              <a:gd name="adj" fmla="val 33507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208740" y="4898232"/>
            <a:ext cx="3774400" cy="1693068"/>
          </a:xfrm>
          <a:prstGeom prst="roundRect">
            <a:avLst>
              <a:gd name="adj" fmla="val 7201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>
            <a:outerShdw blurRad="228600" dist="76200" dir="5400000" rotWithShape="0">
              <a:srgbClr val="0D152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273510" y="4974193"/>
            <a:ext cx="121920" cy="121920"/>
          </a:xfrm>
          <a:prstGeom prst="ellipse">
            <a:avLst/>
          </a:prstGeom>
          <a:solidFill>
            <a:srgbClr val="DD7E2C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300180" y="5000863"/>
            <a:ext cx="68580" cy="68580"/>
          </a:xfrm>
          <a:prstGeom prst="ellipse">
            <a:avLst/>
          </a:prstGeom>
          <a:solidFill>
            <a:srgbClr val="DD7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300180" y="5225415"/>
            <a:ext cx="3591520" cy="181927"/>
          </a:xfrm>
          <a:prstGeom prst="roundRect">
            <a:avLst>
              <a:gd name="adj" fmla="val 33507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300180" y="5445443"/>
            <a:ext cx="3591520" cy="181927"/>
          </a:xfrm>
          <a:prstGeom prst="roundRect">
            <a:avLst>
              <a:gd name="adj" fmla="val 33507"/>
            </a:avLst>
          </a:prstGeom>
          <a:solidFill>
            <a:srgbClr val="DD7E2C">
              <a:alpha val="12000"/>
            </a:srgbClr>
          </a:solidFill>
          <a:ln w="7620">
            <a:solidFill>
              <a:srgbClr val="DD7E2C">
                <a:alpha val="3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300180" y="5665470"/>
            <a:ext cx="3591520" cy="181928"/>
          </a:xfrm>
          <a:prstGeom prst="roundRect">
            <a:avLst>
              <a:gd name="adj" fmla="val 33507"/>
            </a:avLst>
          </a:prstGeom>
          <a:solidFill>
            <a:srgbClr val="DD7E2C">
              <a:alpha val="12000"/>
            </a:srgbClr>
          </a:solidFill>
          <a:ln w="7620">
            <a:solidFill>
              <a:srgbClr val="DD7E2C">
                <a:alpha val="3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4300180" y="5885497"/>
            <a:ext cx="3591520" cy="181927"/>
          </a:xfrm>
          <a:prstGeom prst="roundRect">
            <a:avLst>
              <a:gd name="adj" fmla="val 33507"/>
            </a:avLst>
          </a:prstGeom>
          <a:solidFill>
            <a:srgbClr val="DD7E2C">
              <a:alpha val="12000"/>
            </a:srgbClr>
          </a:solidFill>
          <a:ln w="7620">
            <a:solidFill>
              <a:srgbClr val="DD7E2C">
                <a:alpha val="3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4300180" y="6105526"/>
            <a:ext cx="3591520" cy="181927"/>
          </a:xfrm>
          <a:prstGeom prst="roundRect">
            <a:avLst>
              <a:gd name="adj" fmla="val 33507"/>
            </a:avLst>
          </a:prstGeom>
          <a:solidFill>
            <a:srgbClr val="DD7E2C">
              <a:alpha val="12000"/>
            </a:srgbClr>
          </a:solidFill>
          <a:ln w="7620">
            <a:solidFill>
              <a:srgbClr val="DD7E2C">
                <a:alpha val="3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300180" y="6325552"/>
            <a:ext cx="3591520" cy="181928"/>
          </a:xfrm>
          <a:prstGeom prst="roundRect">
            <a:avLst>
              <a:gd name="adj" fmla="val 33507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8074581" y="4898232"/>
            <a:ext cx="3774401" cy="1693068"/>
          </a:xfrm>
          <a:prstGeom prst="roundRect">
            <a:avLst>
              <a:gd name="adj" fmla="val 7201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>
            <a:outerShdw blurRad="228600" dist="76200" dir="5400000" rotWithShape="0">
              <a:srgbClr val="0D152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139351" y="4974193"/>
            <a:ext cx="121920" cy="121920"/>
          </a:xfrm>
          <a:prstGeom prst="ellipse">
            <a:avLst/>
          </a:prstGeom>
          <a:solidFill>
            <a:srgbClr val="D93025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166021" y="5000863"/>
            <a:ext cx="68580" cy="68580"/>
          </a:xfrm>
          <a:prstGeom prst="ellipse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166021" y="5225415"/>
            <a:ext cx="3591521" cy="181927"/>
          </a:xfrm>
          <a:prstGeom prst="roundRect">
            <a:avLst>
              <a:gd name="adj" fmla="val 33507"/>
            </a:avLst>
          </a:prstGeom>
          <a:solidFill>
            <a:srgbClr val="D93025">
              <a:alpha val="12000"/>
            </a:srgbClr>
          </a:solidFill>
          <a:ln w="7620">
            <a:solidFill>
              <a:srgbClr val="D93025">
                <a:alpha val="3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166021" y="5445443"/>
            <a:ext cx="3591521" cy="181927"/>
          </a:xfrm>
          <a:prstGeom prst="roundRect">
            <a:avLst>
              <a:gd name="adj" fmla="val 33507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8166021" y="5665470"/>
            <a:ext cx="3591521" cy="181928"/>
          </a:xfrm>
          <a:prstGeom prst="roundRect">
            <a:avLst>
              <a:gd name="adj" fmla="val 33507"/>
            </a:avLst>
          </a:prstGeom>
          <a:solidFill>
            <a:srgbClr val="D93025">
              <a:alpha val="12000"/>
            </a:srgbClr>
          </a:solidFill>
          <a:ln w="7620">
            <a:solidFill>
              <a:srgbClr val="D93025">
                <a:alpha val="3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42900" y="312420"/>
            <a:ext cx="4284464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1" spc="132">
                <a:solidFill>
                  <a:srgbClr val="78879F"/>
                </a:solidFill>
                <a:latin typeface="Calibri"/>
              </a:rPr>
              <a:t>SYSTÈME D'INFORMATION CHANTIER · ÉCHANGES ENTRE PÔLES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42900" y="457200"/>
            <a:ext cx="3263622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400" b="1" spc="-48">
                <a:solidFill>
                  <a:srgbClr val="0D1526"/>
                </a:solidFill>
                <a:latin typeface="Calibri"/>
              </a:rPr>
              <a:t>Flux inter-services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2900" y="847248"/>
            <a:ext cx="4119801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40" b="0">
                <a:solidFill>
                  <a:srgbClr val="78879F"/>
                </a:solidFill>
                <a:latin typeface="Calibri"/>
              </a:rPr>
              <a:t>14 échanges entre pôles ; 4 enchaînements internes détaillés en annexe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82445" y="361950"/>
            <a:ext cx="1915477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>
                <a:solidFill>
                  <a:srgbClr val="33415C"/>
                </a:solidFill>
                <a:latin typeface="Calibri"/>
              </a:rPr>
              <a:t>Développé / porté en interne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34613" y="373380"/>
            <a:ext cx="961192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1" spc="24">
                <a:solidFill>
                  <a:srgbClr val="5B57D6"/>
                </a:solidFill>
                <a:latin typeface="Calibri"/>
              </a:rPr>
              <a:t>Interne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08043" y="567690"/>
            <a:ext cx="1488639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>
                <a:solidFill>
                  <a:srgbClr val="33415C"/>
                </a:solidFill>
                <a:latin typeface="Calibri"/>
              </a:rPr>
              <a:t>Éditeur du marché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34613" y="579120"/>
            <a:ext cx="986791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1" spc="24">
                <a:solidFill>
                  <a:srgbClr val="33415C"/>
                </a:solidFill>
                <a:latin typeface="Calibri"/>
              </a:rPr>
              <a:t>Externe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91387" y="773430"/>
            <a:ext cx="1829158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>
                <a:solidFill>
                  <a:srgbClr val="33415C"/>
                </a:solidFill>
                <a:latin typeface="Calibri"/>
              </a:rPr>
              <a:t>Apporté par le brief métier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34613" y="784860"/>
            <a:ext cx="1070134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1" spc="24">
                <a:solidFill>
                  <a:srgbClr val="78879F"/>
                </a:solidFill>
                <a:latin typeface="Calibri"/>
              </a:rPr>
              <a:t>Hors BDD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54784" y="342900"/>
            <a:ext cx="1808560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>
                <a:solidFill>
                  <a:srgbClr val="33415C"/>
                </a:solidFill>
                <a:latin typeface="Calibri"/>
              </a:rPr>
              <a:t>Alimentation automatique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837664" y="510540"/>
            <a:ext cx="1381959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>
                <a:solidFill>
                  <a:srgbClr val="33415C"/>
                </a:solidFill>
                <a:latin typeface="Calibri"/>
              </a:rPr>
              <a:t>Flux automatisé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837664" y="678180"/>
            <a:ext cx="1697236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>
                <a:solidFill>
                  <a:srgbClr val="33415C"/>
                </a:solidFill>
                <a:latin typeface="Calibri"/>
              </a:rPr>
              <a:t>Flux manuel (ressaisie)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71500" y="1127760"/>
            <a:ext cx="1529715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69" b="1" spc="-9">
                <a:solidFill>
                  <a:srgbClr val="0D1526"/>
                </a:solidFill>
                <a:latin typeface="Calibri"/>
              </a:rPr>
              <a:t>Méthodes &amp; BIM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3880" y="1264444"/>
            <a:ext cx="1598057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40" b="1" spc="54">
                <a:solidFill>
                  <a:srgbClr val="78879F"/>
                </a:solidFill>
                <a:latin typeface="Calibri"/>
              </a:rPr>
              <a:t>MAQUETTES ET PLANS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452801" y="1432084"/>
            <a:ext cx="1554599" cy="11429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0" b="1">
                <a:solidFill>
                  <a:srgbClr val="33415C"/>
                </a:solidFill>
                <a:latin typeface="Calibri"/>
              </a:rPr>
              <a:t>Production de maquettes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488877" y="1652111"/>
            <a:ext cx="1482328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0" b="1">
                <a:solidFill>
                  <a:srgbClr val="3A6BE5"/>
                </a:solidFill>
                <a:latin typeface="Calibri"/>
              </a:rPr>
              <a:t>Gestion des maquettes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437340" y="1127760"/>
            <a:ext cx="1334572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69" b="1" spc="-9">
                <a:solidFill>
                  <a:srgbClr val="0D1526"/>
                </a:solidFill>
                <a:latin typeface="Calibri"/>
              </a:rPr>
              <a:t>Topographie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429721" y="1264444"/>
            <a:ext cx="1725692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40" b="1" spc="54">
                <a:solidFill>
                  <a:srgbClr val="78879F"/>
                </a:solidFill>
                <a:latin typeface="Calibri"/>
              </a:rPr>
              <a:t>RELEVÉS · IMPLANTATION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948476" y="1432084"/>
            <a:ext cx="2294811" cy="11429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0" b="1">
                <a:solidFill>
                  <a:srgbClr val="33415C"/>
                </a:solidFill>
                <a:latin typeface="Calibri"/>
              </a:rPr>
              <a:t>Acquisition et traitement des nuages de points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199936" y="1652111"/>
            <a:ext cx="1791891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0" b="1">
                <a:solidFill>
                  <a:srgbClr val="0E9E78"/>
                </a:solidFill>
                <a:latin typeface="Calibri"/>
              </a:rPr>
              <a:t>Reporting et diffusion des plans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391031" y="1872139"/>
            <a:ext cx="1409819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0" b="1">
                <a:solidFill>
                  <a:srgbClr val="0E9E78"/>
                </a:solidFill>
                <a:latin typeface="Calibri"/>
              </a:rPr>
              <a:t>Guidage du tunnelier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303181" y="1127760"/>
            <a:ext cx="1450181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69" b="1" spc="-9">
                <a:solidFill>
                  <a:srgbClr val="0D1526"/>
                </a:solidFill>
                <a:latin typeface="Calibri"/>
              </a:rPr>
              <a:t>Travaux tunnel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295561" y="1264444"/>
            <a:ext cx="1841896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40" b="1" spc="54">
                <a:solidFill>
                  <a:srgbClr val="78879F"/>
                </a:solidFill>
                <a:latin typeface="Calibri"/>
              </a:rPr>
              <a:t>CREUSEMENT ET TUNNELIER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280922" y="1432084"/>
            <a:ext cx="1361599" cy="11429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0" b="1">
                <a:solidFill>
                  <a:srgbClr val="0F8FA8"/>
                </a:solidFill>
                <a:latin typeface="Calibri"/>
              </a:rPr>
              <a:t>Gestion de chantier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097208" y="1652111"/>
            <a:ext cx="1729145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0" b="1">
                <a:solidFill>
                  <a:srgbClr val="0F8FA8"/>
                </a:solidFill>
                <a:latin typeface="Calibri"/>
              </a:rPr>
              <a:t>Avancement et jalons chantier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270920" y="1872139"/>
            <a:ext cx="1381721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0" b="1">
                <a:solidFill>
                  <a:srgbClr val="0F8FA8"/>
                </a:solidFill>
                <a:latin typeface="Calibri"/>
              </a:rPr>
              <a:t>Commande chantier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71500" y="2819638"/>
            <a:ext cx="1154787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69" b="1" spc="-9">
                <a:solidFill>
                  <a:srgbClr val="0D1526"/>
                </a:solidFill>
                <a:latin typeface="Calibri"/>
              </a:rPr>
              <a:t>Direction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63880" y="2956322"/>
            <a:ext cx="1659969" cy="1066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40" b="1" spc="54">
                <a:solidFill>
                  <a:srgbClr val="78879F"/>
                </a:solidFill>
                <a:latin typeface="Calibri"/>
              </a:rPr>
              <a:t>PILOTAGE DU CHANTIER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613535" y="3123962"/>
            <a:ext cx="1233011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0" b="1">
                <a:solidFill>
                  <a:srgbClr val="5B57D6"/>
                </a:solidFill>
                <a:latin typeface="Calibri"/>
              </a:rPr>
              <a:t>Récolte des KPI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344097" y="3343989"/>
            <a:ext cx="1772007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0" b="1">
                <a:solidFill>
                  <a:srgbClr val="33415C"/>
                </a:solidFill>
                <a:latin typeface="Calibri"/>
              </a:rPr>
              <a:t>Validation contrats et dépenses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623655" y="3564017"/>
            <a:ext cx="1212771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0" b="1">
                <a:solidFill>
                  <a:srgbClr val="33415C"/>
                </a:solidFill>
                <a:latin typeface="Calibri"/>
              </a:rPr>
              <a:t>Gestion des ST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730216" y="3784044"/>
            <a:ext cx="999649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0" b="1">
                <a:solidFill>
                  <a:srgbClr val="33415C"/>
                </a:solidFill>
                <a:latin typeface="Calibri"/>
              </a:rPr>
              <a:t>Matériels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567220" y="4004072"/>
            <a:ext cx="1325761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0" b="1">
                <a:solidFill>
                  <a:srgbClr val="33415C"/>
                </a:solidFill>
                <a:latin typeface="Calibri"/>
              </a:rPr>
              <a:t>Services généraux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437340" y="2819638"/>
            <a:ext cx="1070967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69" b="1" spc="-9">
                <a:solidFill>
                  <a:srgbClr val="0D1526"/>
                </a:solidFill>
                <a:latin typeface="Calibri"/>
              </a:rPr>
              <a:t>Contrat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429721" y="2956322"/>
            <a:ext cx="1719024" cy="1066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40" b="1" spc="54">
                <a:solidFill>
                  <a:srgbClr val="78879F"/>
                </a:solidFill>
                <a:latin typeface="Calibri"/>
              </a:rPr>
              <a:t>CONTRACT MANAGEMENT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392936" y="3123962"/>
            <a:ext cx="140589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0" b="1">
                <a:solidFill>
                  <a:srgbClr val="33415C"/>
                </a:solidFill>
                <a:latin typeface="Calibri"/>
              </a:rPr>
              <a:t>Gestion des contrats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231368" y="3343989"/>
            <a:ext cx="1729145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0" b="1">
                <a:solidFill>
                  <a:srgbClr val="A9761A"/>
                </a:solidFill>
                <a:latin typeface="Calibri"/>
              </a:rPr>
              <a:t>Avancement et jalons chantier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276255" y="3564017"/>
            <a:ext cx="1639372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0" b="1">
                <a:solidFill>
                  <a:srgbClr val="A9761A"/>
                </a:solidFill>
                <a:latin typeface="Calibri"/>
              </a:rPr>
              <a:t>Gestion des encaissements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370791" y="3784044"/>
            <a:ext cx="1450181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0" b="1">
                <a:solidFill>
                  <a:srgbClr val="A9761A"/>
                </a:solidFill>
                <a:latin typeface="Calibri"/>
              </a:rPr>
              <a:t>Facturation partenaire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303181" y="2819638"/>
            <a:ext cx="909637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69" b="1" spc="-9">
                <a:solidFill>
                  <a:srgbClr val="0D1526"/>
                </a:solidFill>
                <a:latin typeface="Calibri"/>
              </a:rPr>
              <a:t>DAF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295561" y="2956322"/>
            <a:ext cx="1909881" cy="1066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40" b="1" spc="54">
                <a:solidFill>
                  <a:srgbClr val="78879F"/>
                </a:solidFill>
                <a:latin typeface="Calibri"/>
              </a:rPr>
              <a:t>RH · COMPTABILITÉ · GESTION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274969" y="3123962"/>
            <a:ext cx="1373624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0" b="1">
                <a:solidFill>
                  <a:srgbClr val="8257E6"/>
                </a:solidFill>
                <a:latin typeface="Calibri"/>
              </a:rPr>
              <a:t>Contrôle budgétaire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188411" y="3343989"/>
            <a:ext cx="154674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0" b="1">
                <a:solidFill>
                  <a:srgbClr val="8257E6"/>
                </a:solidFill>
                <a:latin typeface="Calibri"/>
              </a:rPr>
              <a:t>Préfacturation partenaire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12900" y="3564017"/>
            <a:ext cx="2097762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0" b="1">
                <a:solidFill>
                  <a:srgbClr val="8257E6"/>
                </a:solidFill>
                <a:latin typeface="Calibri"/>
              </a:rPr>
              <a:t>Engagement des dépenses et facturation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112091" y="3784044"/>
            <a:ext cx="1699261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0" b="1">
                <a:solidFill>
                  <a:srgbClr val="8257E6"/>
                </a:solidFill>
                <a:latin typeface="Calibri"/>
              </a:rPr>
              <a:t>Onboarding RH et formations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111972" y="4004072"/>
            <a:ext cx="1699498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0" b="1">
                <a:solidFill>
                  <a:srgbClr val="8257E6"/>
                </a:solidFill>
                <a:latin typeface="Calibri"/>
              </a:rPr>
              <a:t>Gestion du personnel et paye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71500" y="4951571"/>
            <a:ext cx="1980366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69" b="1" spc="-9">
                <a:solidFill>
                  <a:srgbClr val="0D1526"/>
                </a:solidFill>
                <a:latin typeface="Calibri"/>
              </a:rPr>
              <a:t>Qualité &amp; Environnement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63880" y="5088255"/>
            <a:ext cx="1808202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40" b="1" spc="54">
                <a:solidFill>
                  <a:srgbClr val="78879F"/>
                </a:solidFill>
                <a:latin typeface="Calibri"/>
              </a:rPr>
              <a:t>CONTRÔLE ET CONFORMITÉ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611630" y="5255895"/>
            <a:ext cx="1236821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0" b="1">
                <a:solidFill>
                  <a:srgbClr val="33415C"/>
                </a:solidFill>
                <a:latin typeface="Calibri"/>
              </a:rPr>
              <a:t>Contrôle qualité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456492" y="5475923"/>
            <a:ext cx="1547098" cy="11429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0" b="1">
                <a:solidFill>
                  <a:srgbClr val="33415C"/>
                </a:solidFill>
                <a:latin typeface="Calibri"/>
              </a:rPr>
              <a:t>MaD et levées de réserve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500902" y="5695950"/>
            <a:ext cx="1458277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0" b="1">
                <a:solidFill>
                  <a:srgbClr val="33415C"/>
                </a:solidFill>
                <a:latin typeface="Calibri"/>
              </a:rPr>
              <a:t>Suivi environnemental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440656" y="5915977"/>
            <a:ext cx="1578888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0" b="1">
                <a:solidFill>
                  <a:srgbClr val="33415C"/>
                </a:solidFill>
                <a:latin typeface="Calibri"/>
              </a:rPr>
              <a:t>Suivi des consommations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533168" y="6136005"/>
            <a:ext cx="1393865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0" b="1">
                <a:solidFill>
                  <a:srgbClr val="33415C"/>
                </a:solidFill>
                <a:latin typeface="Calibri"/>
              </a:rPr>
              <a:t>Gestion des déchets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488877" y="6356033"/>
            <a:ext cx="1482447" cy="11429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0" b="1">
                <a:solidFill>
                  <a:srgbClr val="33415C"/>
                </a:solidFill>
                <a:latin typeface="Calibri"/>
              </a:rPr>
              <a:t>Commande de matériel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437340" y="4951571"/>
            <a:ext cx="1095851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69" b="1" spc="-9">
                <a:solidFill>
                  <a:srgbClr val="0D1526"/>
                </a:solidFill>
                <a:latin typeface="Calibri"/>
              </a:rPr>
              <a:t>Travaux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429721" y="5088255"/>
            <a:ext cx="1629013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40" b="1" spc="54">
                <a:solidFill>
                  <a:srgbClr val="78879F"/>
                </a:solidFill>
                <a:latin typeface="Calibri"/>
              </a:rPr>
              <a:t>CONDUITE DE TRAVAUX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201841" y="5255895"/>
            <a:ext cx="1788081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0" b="1">
                <a:solidFill>
                  <a:srgbClr val="33415C"/>
                </a:solidFill>
                <a:latin typeface="Calibri"/>
              </a:rPr>
              <a:t>Gestion de chantier et imprévus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231368" y="5475923"/>
            <a:ext cx="1729145" cy="11429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0" b="1">
                <a:solidFill>
                  <a:srgbClr val="DD7E2C"/>
                </a:solidFill>
                <a:latin typeface="Calibri"/>
              </a:rPr>
              <a:t>Avancement et jalons chantier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256133" y="5695950"/>
            <a:ext cx="1679496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0" b="1">
                <a:solidFill>
                  <a:srgbClr val="DD7E2C"/>
                </a:solidFill>
                <a:latin typeface="Calibri"/>
              </a:rPr>
              <a:t>Commande matériel chantier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255657" y="5915977"/>
            <a:ext cx="1680448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0" b="1">
                <a:solidFill>
                  <a:srgbClr val="DD7E2C"/>
                </a:solidFill>
                <a:latin typeface="Calibri"/>
              </a:rPr>
              <a:t>Commande de main-d'œuvre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409129" y="6136005"/>
            <a:ext cx="1373624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0" b="1">
                <a:solidFill>
                  <a:srgbClr val="DD7E2C"/>
                </a:solidFill>
                <a:latin typeface="Calibri"/>
              </a:rPr>
              <a:t>Contrôle budgétaire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183743" y="6356033"/>
            <a:ext cx="1824395" cy="11429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0" b="1">
                <a:solidFill>
                  <a:srgbClr val="33415C"/>
                </a:solidFill>
                <a:latin typeface="Calibri"/>
              </a:rPr>
              <a:t>Gestion des contrats et avenants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303181" y="4951571"/>
            <a:ext cx="1112997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69" b="1" spc="-9">
                <a:solidFill>
                  <a:srgbClr val="0D1526"/>
                </a:solidFill>
                <a:latin typeface="Calibri"/>
              </a:rPr>
              <a:t>Sécurité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295561" y="5088255"/>
            <a:ext cx="1890355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40" b="1" spc="54">
                <a:solidFill>
                  <a:srgbClr val="78879F"/>
                </a:solidFill>
                <a:latin typeface="Calibri"/>
              </a:rPr>
              <a:t>PRÉVENTION · HABILITATIONS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037558" y="5255895"/>
            <a:ext cx="1848326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0" b="1">
                <a:solidFill>
                  <a:srgbClr val="D93025"/>
                </a:solidFill>
                <a:latin typeface="Calibri"/>
              </a:rPr>
              <a:t>Accueil, formation et habilitations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174242" y="5475923"/>
            <a:ext cx="1574959" cy="11429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0" b="1">
                <a:solidFill>
                  <a:srgbClr val="33415C"/>
                </a:solidFill>
                <a:latin typeface="Calibri"/>
              </a:rPr>
              <a:t>Prévention et suivi terrain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011246" y="5695950"/>
            <a:ext cx="1900951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0" b="1">
                <a:solidFill>
                  <a:srgbClr val="D93025"/>
                </a:solidFill>
                <a:latin typeface="Calibri"/>
              </a:rPr>
              <a:t>Événements et indicateurs sécurité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42900" y="6644640"/>
            <a:ext cx="258699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>
                <a:solidFill>
                  <a:srgbClr val="78879F"/>
                </a:solidFill>
                <a:latin typeface="Calibri"/>
              </a:rPr>
              <a:t>Source : BDD Cartographie Outils IT — 16 entretiens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1344990" y="6644640"/>
            <a:ext cx="1189911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>
                <a:solidFill>
                  <a:srgbClr val="78879F"/>
                </a:solidFill>
                <a:latin typeface="Calibri"/>
              </a:rPr>
              <a:t>Planche 2 / 13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905440" y="4178379"/>
            <a:ext cx="3599141" cy="780813"/>
          </a:xfrm>
          <a:custGeom>
            <a:avLst/>
            <a:gdLst/>
            <a:ahLst/>
            <a:cxnLst/>
            <a:rect l="0" t="0" r="r" b="b"/>
            <a:pathLst>
              <a:path w="3599141" h="780813">
                <a:moveTo>
                  <a:pt x="60960" y="719853"/>
                </a:moveTo>
                <a:cubicBezTo>
                  <a:pt x="60960" y="390406"/>
                  <a:pt x="3538181" y="390406"/>
                  <a:pt x="3538181" y="60960"/>
                </a:cubicBezTo>
              </a:path>
            </a:pathLst>
          </a:custGeom>
          <a:noFill/>
          <a:ln w="15240">
            <a:solidFill>
              <a:srgbClr val="DD7E2C"/>
            </a:solidFill>
            <a:prstDash val="dash"/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6423600" y="4178379"/>
            <a:ext cx="3164801" cy="780813"/>
          </a:xfrm>
          <a:custGeom>
            <a:avLst/>
            <a:gdLst/>
            <a:ahLst/>
            <a:cxnLst/>
            <a:rect l="0" t="0" r="r" b="b"/>
            <a:pathLst>
              <a:path w="3164801" h="780813">
                <a:moveTo>
                  <a:pt x="3103841" y="60960"/>
                </a:moveTo>
                <a:cubicBezTo>
                  <a:pt x="3103841" y="390406"/>
                  <a:pt x="60960" y="390406"/>
                  <a:pt x="60960" y="719853"/>
                </a:cubicBezTo>
              </a:path>
            </a:pathLst>
          </a:custGeom>
          <a:noFill/>
          <a:ln w="15240">
            <a:solidFill>
              <a:srgbClr val="8257E6"/>
            </a:solidFill>
            <a:prstDash val="dash"/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7922180" y="3343513"/>
            <a:ext cx="213360" cy="561975"/>
          </a:xfrm>
          <a:custGeom>
            <a:avLst/>
            <a:gdLst/>
            <a:ahLst/>
            <a:cxnLst/>
            <a:rect l="0" t="0" r="r" b="b"/>
            <a:pathLst>
              <a:path w="213360" h="561975">
                <a:moveTo>
                  <a:pt x="152400" y="60960"/>
                </a:moveTo>
                <a:cubicBezTo>
                  <a:pt x="121920" y="207645"/>
                  <a:pt x="91440" y="354330"/>
                  <a:pt x="60960" y="501015"/>
                </a:cubicBezTo>
              </a:path>
            </a:pathLst>
          </a:custGeom>
          <a:noFill/>
          <a:ln w="15240">
            <a:solidFill>
              <a:srgbClr val="8257E6"/>
            </a:solidFill>
            <a:prstDash val="dash"/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9641741" y="4178379"/>
            <a:ext cx="640080" cy="780813"/>
          </a:xfrm>
          <a:custGeom>
            <a:avLst/>
            <a:gdLst/>
            <a:ahLst/>
            <a:cxnLst/>
            <a:rect l="0" t="0" r="r" b="b"/>
            <a:pathLst>
              <a:path w="640080" h="780813">
                <a:moveTo>
                  <a:pt x="579120" y="60960"/>
                </a:moveTo>
                <a:cubicBezTo>
                  <a:pt x="579120" y="390406"/>
                  <a:pt x="60960" y="390406"/>
                  <a:pt x="60960" y="719853"/>
                </a:cubicBezTo>
              </a:path>
            </a:pathLst>
          </a:custGeom>
          <a:noFill/>
          <a:ln w="15240">
            <a:solidFill>
              <a:srgbClr val="8257E6"/>
            </a:solidFill>
            <a:prstDash val="dash"/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6164520" y="4178379"/>
            <a:ext cx="4376381" cy="780813"/>
          </a:xfrm>
          <a:custGeom>
            <a:avLst/>
            <a:gdLst/>
            <a:ahLst/>
            <a:cxnLst/>
            <a:rect l="0" t="0" r="r" b="b"/>
            <a:pathLst>
              <a:path w="4376381" h="780813">
                <a:moveTo>
                  <a:pt x="60960" y="719853"/>
                </a:moveTo>
                <a:cubicBezTo>
                  <a:pt x="60960" y="390406"/>
                  <a:pt x="4315421" y="390406"/>
                  <a:pt x="4315421" y="60960"/>
                </a:cubicBezTo>
              </a:path>
            </a:pathLst>
          </a:custGeom>
          <a:noFill/>
          <a:ln w="15240">
            <a:solidFill>
              <a:srgbClr val="DD7E2C"/>
            </a:solidFill>
            <a:prstDash val="dash"/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646360" y="4178379"/>
            <a:ext cx="381000" cy="780813"/>
          </a:xfrm>
          <a:custGeom>
            <a:avLst/>
            <a:gdLst/>
            <a:ahLst/>
            <a:cxnLst/>
            <a:rect l="0" t="0" r="r" b="b"/>
            <a:pathLst>
              <a:path w="381000" h="780813">
                <a:moveTo>
                  <a:pt x="60960" y="719853"/>
                </a:moveTo>
                <a:cubicBezTo>
                  <a:pt x="60960" y="390406"/>
                  <a:pt x="320040" y="390406"/>
                  <a:pt x="320040" y="60960"/>
                </a:cubicBezTo>
              </a:path>
            </a:pathLst>
          </a:custGeom>
          <a:noFill/>
          <a:ln w="15240">
            <a:solidFill>
              <a:srgbClr val="DD7E2C"/>
            </a:solidFill>
            <a:prstDash val="dash"/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650980" y="4178379"/>
            <a:ext cx="4117300" cy="780813"/>
          </a:xfrm>
          <a:custGeom>
            <a:avLst/>
            <a:gdLst/>
            <a:ahLst/>
            <a:cxnLst/>
            <a:rect l="0" t="0" r="r" b="b"/>
            <a:pathLst>
              <a:path w="4117300" h="780813">
                <a:moveTo>
                  <a:pt x="4056340" y="719853"/>
                </a:moveTo>
                <a:cubicBezTo>
                  <a:pt x="4056340" y="390406"/>
                  <a:pt x="60960" y="390406"/>
                  <a:pt x="60960" y="60960"/>
                </a:cubicBezTo>
              </a:path>
            </a:pathLst>
          </a:custGeom>
          <a:noFill/>
          <a:ln w="15240">
            <a:solidFill>
              <a:srgbClr val="DD7E2C"/>
            </a:solidFill>
            <a:prstDash val="dash"/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567160" y="2046446"/>
            <a:ext cx="8455581" cy="780812"/>
          </a:xfrm>
          <a:custGeom>
            <a:avLst/>
            <a:gdLst/>
            <a:ahLst/>
            <a:cxnLst/>
            <a:rect l="0" t="0" r="r" b="b"/>
            <a:pathLst>
              <a:path w="8455581" h="780812">
                <a:moveTo>
                  <a:pt x="8394621" y="60960"/>
                </a:moveTo>
                <a:cubicBezTo>
                  <a:pt x="8394621" y="390406"/>
                  <a:pt x="60960" y="390406"/>
                  <a:pt x="60960" y="719852"/>
                </a:cubicBezTo>
              </a:path>
            </a:pathLst>
          </a:custGeom>
          <a:noFill/>
          <a:ln w="15240">
            <a:solidFill>
              <a:srgbClr val="0F8FA8"/>
            </a:solidFill>
            <a:prstDash val="dash"/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905440" y="2046446"/>
            <a:ext cx="4201121" cy="780812"/>
          </a:xfrm>
          <a:custGeom>
            <a:avLst/>
            <a:gdLst/>
            <a:ahLst/>
            <a:cxnLst/>
            <a:rect l="0" t="0" r="r" b="b"/>
            <a:pathLst>
              <a:path w="4201121" h="780812">
                <a:moveTo>
                  <a:pt x="4140161" y="60960"/>
                </a:moveTo>
                <a:cubicBezTo>
                  <a:pt x="4140161" y="390406"/>
                  <a:pt x="60960" y="390406"/>
                  <a:pt x="60960" y="719852"/>
                </a:cubicBezTo>
              </a:path>
            </a:pathLst>
          </a:custGeom>
          <a:noFill/>
          <a:ln w="15240">
            <a:solidFill>
              <a:srgbClr val="0F8FA8"/>
            </a:solidFill>
            <a:prstDash val="dash"/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9298841" y="2046446"/>
            <a:ext cx="982980" cy="780812"/>
          </a:xfrm>
          <a:custGeom>
            <a:avLst/>
            <a:gdLst/>
            <a:ahLst/>
            <a:cxnLst/>
            <a:rect l="0" t="0" r="r" b="b"/>
            <a:pathLst>
              <a:path w="982980" h="780812">
                <a:moveTo>
                  <a:pt x="922020" y="60960"/>
                </a:moveTo>
                <a:cubicBezTo>
                  <a:pt x="922020" y="390406"/>
                  <a:pt x="60960" y="390406"/>
                  <a:pt x="60960" y="719852"/>
                </a:cubicBezTo>
              </a:path>
            </a:pathLst>
          </a:custGeom>
          <a:noFill/>
          <a:ln w="15240">
            <a:solidFill>
              <a:srgbClr val="0F8FA8"/>
            </a:solidFill>
            <a:prstDash val="dash"/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4056340" y="1651635"/>
            <a:ext cx="213360" cy="121920"/>
          </a:xfrm>
          <a:custGeom>
            <a:avLst/>
            <a:gdLst/>
            <a:ahLst/>
            <a:cxnLst/>
            <a:rect l="0" t="0" r="r" b="b"/>
            <a:pathLst>
              <a:path w="213360" h="121920">
                <a:moveTo>
                  <a:pt x="152400" y="60960"/>
                </a:moveTo>
                <a:cubicBezTo>
                  <a:pt x="121920" y="60960"/>
                  <a:pt x="91440" y="60960"/>
                  <a:pt x="60960" y="60960"/>
                </a:cubicBezTo>
              </a:path>
            </a:pathLst>
          </a:custGeom>
          <a:noFill/>
          <a:ln w="15240">
            <a:solidFill>
              <a:srgbClr val="0E9E78"/>
            </a:solidFill>
            <a:prstDash val="dash"/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7922180" y="1431608"/>
            <a:ext cx="213360" cy="341947"/>
          </a:xfrm>
          <a:custGeom>
            <a:avLst/>
            <a:gdLst/>
            <a:ahLst/>
            <a:cxnLst/>
            <a:rect l="0" t="0" r="r" b="b"/>
            <a:pathLst>
              <a:path w="213360" h="341947">
                <a:moveTo>
                  <a:pt x="60960" y="280987"/>
                </a:moveTo>
                <a:cubicBezTo>
                  <a:pt x="91440" y="207645"/>
                  <a:pt x="121920" y="134302"/>
                  <a:pt x="152400" y="60960"/>
                </a:cubicBezTo>
              </a:path>
            </a:pathLst>
          </a:custGeom>
          <a:noFill/>
          <a:ln w="15240">
            <a:solidFill>
              <a:srgbClr val="0E9E78"/>
            </a:solidFill>
            <a:prstDash val="dash"/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7922180" y="1567815"/>
            <a:ext cx="213360" cy="425767"/>
          </a:xfrm>
          <a:custGeom>
            <a:avLst/>
            <a:gdLst/>
            <a:ahLst/>
            <a:cxnLst/>
            <a:rect l="0" t="0" r="r" b="b"/>
            <a:pathLst>
              <a:path w="213360" h="425767">
                <a:moveTo>
                  <a:pt x="60960" y="364807"/>
                </a:moveTo>
                <a:cubicBezTo>
                  <a:pt x="91440" y="263525"/>
                  <a:pt x="121920" y="162242"/>
                  <a:pt x="152400" y="60960"/>
                </a:cubicBezTo>
              </a:path>
            </a:pathLst>
          </a:custGeom>
          <a:noFill/>
          <a:ln w="15240">
            <a:solidFill>
              <a:srgbClr val="0E9E78"/>
            </a:solidFill>
            <a:prstDash val="dash"/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734800" y="4178379"/>
            <a:ext cx="8547021" cy="780813"/>
          </a:xfrm>
          <a:custGeom>
            <a:avLst/>
            <a:gdLst/>
            <a:ahLst/>
            <a:cxnLst/>
            <a:rect l="0" t="0" r="r" b="b"/>
            <a:pathLst>
              <a:path w="8547021" h="780813">
                <a:moveTo>
                  <a:pt x="8486061" y="719853"/>
                </a:moveTo>
                <a:cubicBezTo>
                  <a:pt x="8486061" y="390406"/>
                  <a:pt x="60960" y="390406"/>
                  <a:pt x="60960" y="60960"/>
                </a:cubicBezTo>
              </a:path>
            </a:pathLst>
          </a:custGeom>
          <a:noFill/>
          <a:ln w="15240">
            <a:solidFill>
              <a:srgbClr val="D93025"/>
            </a:solidFill>
            <a:prstDash val="dash"/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0479524" y="518160"/>
            <a:ext cx="358140" cy="121920"/>
          </a:xfrm>
          <a:custGeom>
            <a:avLst/>
            <a:gdLst/>
            <a:ahLst/>
            <a:cxnLst/>
            <a:rect l="0" t="0" r="r" b="b"/>
            <a:pathLst>
              <a:path w="358140" h="121920">
                <a:moveTo>
                  <a:pt x="60960" y="60960"/>
                </a:moveTo>
                <a:cubicBezTo>
                  <a:pt x="129540" y="60960"/>
                  <a:pt x="236220" y="60960"/>
                  <a:pt x="297180" y="60960"/>
                </a:cubicBezTo>
              </a:path>
            </a:pathLst>
          </a:custGeom>
          <a:noFill/>
          <a:ln w="15240">
            <a:solidFill>
              <a:srgbClr val="33415C"/>
            </a:solidFill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10479524" y="685800"/>
            <a:ext cx="358140" cy="121920"/>
          </a:xfrm>
          <a:custGeom>
            <a:avLst/>
            <a:gdLst/>
            <a:ahLst/>
            <a:cxnLst/>
            <a:rect l="0" t="0" r="r" b="b"/>
            <a:pathLst>
              <a:path w="358140" h="121920">
                <a:moveTo>
                  <a:pt x="60960" y="60960"/>
                </a:moveTo>
                <a:cubicBezTo>
                  <a:pt x="129540" y="60960"/>
                  <a:pt x="236220" y="60960"/>
                  <a:pt x="297180" y="60960"/>
                </a:cubicBezTo>
              </a:path>
            </a:pathLst>
          </a:custGeom>
          <a:noFill/>
          <a:ln w="15240">
            <a:solidFill>
              <a:srgbClr val="33415C"/>
            </a:solidFill>
            <a:prstDash val="dash"/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5942016" y="4873848"/>
            <a:ext cx="48768" cy="487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DD7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9503057" y="4214955"/>
            <a:ext cx="48768" cy="487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825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8050196" y="3380089"/>
            <a:ext cx="48768" cy="487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825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10196477" y="4214955"/>
            <a:ext cx="48768" cy="487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825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6201096" y="4873848"/>
            <a:ext cx="48768" cy="487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DD7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5682936" y="4873848"/>
            <a:ext cx="48768" cy="487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DD7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5682936" y="4873848"/>
            <a:ext cx="48768" cy="487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DD7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9937397" y="2083022"/>
            <a:ext cx="48768" cy="487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F8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0021217" y="2083022"/>
            <a:ext cx="48768" cy="487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F8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0196477" y="2083022"/>
            <a:ext cx="48768" cy="487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F8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4184356" y="1688211"/>
            <a:ext cx="48768" cy="487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E9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7958756" y="1688211"/>
            <a:ext cx="48768" cy="487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E9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7958756" y="1908238"/>
            <a:ext cx="48768" cy="487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E9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0196477" y="4873848"/>
            <a:ext cx="48768" cy="487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D93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285215" y="358140"/>
            <a:ext cx="561617" cy="144780"/>
          </a:xfrm>
          <a:prstGeom prst="roundRect">
            <a:avLst>
              <a:gd name="adj" fmla="val 50000"/>
            </a:avLst>
          </a:prstGeom>
          <a:solidFill>
            <a:srgbClr val="5B57D6">
              <a:alpha val="13000"/>
            </a:srgbClr>
          </a:solidFill>
          <a:ln w="7620">
            <a:solidFill>
              <a:srgbClr val="5B57D6">
                <a:alpha val="3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85215" y="563880"/>
            <a:ext cx="582810" cy="144780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2900" y="1074419"/>
            <a:ext cx="11506200" cy="100274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0520" y="1082039"/>
            <a:ext cx="30480" cy="987505"/>
          </a:xfrm>
          <a:prstGeom prst="roundRect">
            <a:avLst>
              <a:gd name="adj" fmla="val 50000"/>
            </a:avLst>
          </a:prstGeom>
          <a:solidFill>
            <a:srgbClr val="5B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28800" y="1165860"/>
            <a:ext cx="1158240" cy="819865"/>
          </a:xfrm>
          <a:prstGeom prst="roundRect">
            <a:avLst>
              <a:gd name="adj" fmla="val 9294"/>
            </a:avLst>
          </a:prstGeom>
          <a:solidFill>
            <a:srgbClr val="5B57D6">
              <a:alpha val="8000"/>
            </a:srgbClr>
          </a:solidFill>
          <a:ln w="7620">
            <a:solidFill>
              <a:srgbClr val="5B57D6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30591" y="1431607"/>
            <a:ext cx="749618" cy="288250"/>
          </a:xfrm>
          <a:prstGeom prst="roundRect">
            <a:avLst>
              <a:gd name="adj" fmla="val 26435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525929" y="1431607"/>
            <a:ext cx="624840" cy="288250"/>
          </a:xfrm>
          <a:prstGeom prst="roundRect">
            <a:avLst>
              <a:gd name="adj" fmla="val 26435"/>
            </a:avLst>
          </a:prstGeom>
          <a:solidFill>
            <a:srgbClr val="5B57D6">
              <a:alpha val="10000"/>
            </a:srgbClr>
          </a:solidFill>
          <a:ln w="7620">
            <a:solidFill>
              <a:srgbClr val="5B57D6">
                <a:alpha val="3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96489" y="1431607"/>
            <a:ext cx="624840" cy="288250"/>
          </a:xfrm>
          <a:prstGeom prst="roundRect">
            <a:avLst>
              <a:gd name="adj" fmla="val 26435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67049" y="1431607"/>
            <a:ext cx="624839" cy="288250"/>
          </a:xfrm>
          <a:prstGeom prst="roundRect">
            <a:avLst>
              <a:gd name="adj" fmla="val 26435"/>
            </a:avLst>
          </a:prstGeom>
          <a:solidFill>
            <a:srgbClr val="5B57D6">
              <a:alpha val="10000"/>
            </a:srgbClr>
          </a:solidFill>
          <a:ln w="7620">
            <a:solidFill>
              <a:srgbClr val="5B57D6">
                <a:alpha val="3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37609" y="1431607"/>
            <a:ext cx="624840" cy="288250"/>
          </a:xfrm>
          <a:prstGeom prst="roundRect">
            <a:avLst>
              <a:gd name="adj" fmla="val 26435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08169" y="1431607"/>
            <a:ext cx="624840" cy="288250"/>
          </a:xfrm>
          <a:prstGeom prst="roundRect">
            <a:avLst>
              <a:gd name="adj" fmla="val 26435"/>
            </a:avLst>
          </a:prstGeom>
          <a:solidFill>
            <a:srgbClr val="5B57D6">
              <a:alpha val="10000"/>
            </a:srgbClr>
          </a:solidFill>
          <a:ln w="7620">
            <a:solidFill>
              <a:srgbClr val="5B57D6">
                <a:alpha val="3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576560" y="1165860"/>
            <a:ext cx="1158241" cy="819865"/>
          </a:xfrm>
          <a:prstGeom prst="roundRect">
            <a:avLst>
              <a:gd name="adj" fmla="val 9294"/>
            </a:avLst>
          </a:prstGeom>
          <a:solidFill>
            <a:srgbClr val="5B57D6">
              <a:alpha val="15000"/>
            </a:srgbClr>
          </a:solidFill>
          <a:ln w="7620">
            <a:solidFill>
              <a:srgbClr val="5B57D6">
                <a:alpha val="4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2900" y="2168604"/>
            <a:ext cx="11506200" cy="100274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0520" y="2176224"/>
            <a:ext cx="30480" cy="987505"/>
          </a:xfrm>
          <a:prstGeom prst="roundRect">
            <a:avLst>
              <a:gd name="adj" fmla="val 50000"/>
            </a:avLst>
          </a:prstGeom>
          <a:solidFill>
            <a:srgbClr val="5B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828800" y="2260044"/>
            <a:ext cx="1158240" cy="819865"/>
          </a:xfrm>
          <a:prstGeom prst="roundRect">
            <a:avLst>
              <a:gd name="adj" fmla="val 9294"/>
            </a:avLst>
          </a:prstGeom>
          <a:solidFill>
            <a:srgbClr val="5B57D6">
              <a:alpha val="8000"/>
            </a:srgbClr>
          </a:solidFill>
          <a:ln w="7620">
            <a:solidFill>
              <a:srgbClr val="5B57D6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63540" y="2525792"/>
            <a:ext cx="624840" cy="288250"/>
          </a:xfrm>
          <a:prstGeom prst="roundRect">
            <a:avLst>
              <a:gd name="adj" fmla="val 26435"/>
            </a:avLst>
          </a:prstGeom>
          <a:solidFill>
            <a:srgbClr val="5B57D6">
              <a:alpha val="10000"/>
            </a:srgbClr>
          </a:solidFill>
          <a:ln w="7620">
            <a:solidFill>
              <a:srgbClr val="5B57D6">
                <a:alpha val="3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34100" y="2525792"/>
            <a:ext cx="624840" cy="288250"/>
          </a:xfrm>
          <a:prstGeom prst="roundRect">
            <a:avLst>
              <a:gd name="adj" fmla="val 26435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04660" y="2525792"/>
            <a:ext cx="624840" cy="288250"/>
          </a:xfrm>
          <a:prstGeom prst="roundRect">
            <a:avLst>
              <a:gd name="adj" fmla="val 26435"/>
            </a:avLst>
          </a:prstGeom>
          <a:solidFill>
            <a:srgbClr val="5B57D6">
              <a:alpha val="10000"/>
            </a:srgbClr>
          </a:solidFill>
          <a:ln w="7620">
            <a:solidFill>
              <a:srgbClr val="5B57D6">
                <a:alpha val="3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75220" y="2525792"/>
            <a:ext cx="624840" cy="288250"/>
          </a:xfrm>
          <a:prstGeom prst="roundRect">
            <a:avLst>
              <a:gd name="adj" fmla="val 26435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576560" y="2260044"/>
            <a:ext cx="1158241" cy="819865"/>
          </a:xfrm>
          <a:prstGeom prst="roundRect">
            <a:avLst>
              <a:gd name="adj" fmla="val 9294"/>
            </a:avLst>
          </a:prstGeom>
          <a:solidFill>
            <a:srgbClr val="5B57D6">
              <a:alpha val="15000"/>
            </a:srgbClr>
          </a:solidFill>
          <a:ln w="7620">
            <a:solidFill>
              <a:srgbClr val="5B57D6">
                <a:alpha val="4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42900" y="3262789"/>
            <a:ext cx="11506200" cy="100274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50520" y="3270409"/>
            <a:ext cx="30480" cy="987505"/>
          </a:xfrm>
          <a:prstGeom prst="roundRect">
            <a:avLst>
              <a:gd name="adj" fmla="val 50000"/>
            </a:avLst>
          </a:prstGeom>
          <a:solidFill>
            <a:srgbClr val="5B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828800" y="3354229"/>
            <a:ext cx="1158240" cy="819865"/>
          </a:xfrm>
          <a:prstGeom prst="roundRect">
            <a:avLst>
              <a:gd name="adj" fmla="val 9294"/>
            </a:avLst>
          </a:prstGeom>
          <a:solidFill>
            <a:srgbClr val="5B57D6">
              <a:alpha val="8000"/>
            </a:srgbClr>
          </a:solidFill>
          <a:ln w="7620">
            <a:solidFill>
              <a:srgbClr val="5B57D6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739289" y="3619976"/>
            <a:ext cx="624840" cy="288250"/>
          </a:xfrm>
          <a:prstGeom prst="roundRect">
            <a:avLst>
              <a:gd name="adj" fmla="val 26435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9849" y="3619976"/>
            <a:ext cx="624840" cy="288250"/>
          </a:xfrm>
          <a:prstGeom prst="roundRect">
            <a:avLst>
              <a:gd name="adj" fmla="val 26435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080409" y="3619976"/>
            <a:ext cx="743902" cy="288250"/>
          </a:xfrm>
          <a:prstGeom prst="roundRect">
            <a:avLst>
              <a:gd name="adj" fmla="val 26435"/>
            </a:avLst>
          </a:prstGeom>
          <a:solidFill>
            <a:srgbClr val="5B57D6">
              <a:alpha val="10000"/>
            </a:srgbClr>
          </a:solidFill>
          <a:ln w="7620">
            <a:solidFill>
              <a:srgbClr val="5B57D6">
                <a:alpha val="3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576560" y="3354229"/>
            <a:ext cx="1158241" cy="819865"/>
          </a:xfrm>
          <a:prstGeom prst="roundRect">
            <a:avLst>
              <a:gd name="adj" fmla="val 9294"/>
            </a:avLst>
          </a:prstGeom>
          <a:solidFill>
            <a:srgbClr val="5B57D6">
              <a:alpha val="15000"/>
            </a:srgbClr>
          </a:solidFill>
          <a:ln w="7620">
            <a:solidFill>
              <a:srgbClr val="5B57D6">
                <a:alpha val="4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2900" y="4356974"/>
            <a:ext cx="11506200" cy="100274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50520" y="4364594"/>
            <a:ext cx="30480" cy="987505"/>
          </a:xfrm>
          <a:prstGeom prst="roundRect">
            <a:avLst>
              <a:gd name="adj" fmla="val 50000"/>
            </a:avLst>
          </a:prstGeom>
          <a:solidFill>
            <a:srgbClr val="5B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828800" y="4448414"/>
            <a:ext cx="1158240" cy="819863"/>
          </a:xfrm>
          <a:prstGeom prst="roundRect">
            <a:avLst>
              <a:gd name="adj" fmla="val 9294"/>
            </a:avLst>
          </a:prstGeom>
          <a:solidFill>
            <a:srgbClr val="5B57D6">
              <a:alpha val="8000"/>
            </a:srgbClr>
          </a:solidFill>
          <a:ln w="7620">
            <a:solidFill>
              <a:srgbClr val="5B57D6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69380" y="4714161"/>
            <a:ext cx="624840" cy="288250"/>
          </a:xfrm>
          <a:prstGeom prst="roundRect">
            <a:avLst>
              <a:gd name="adj" fmla="val 26435"/>
            </a:avLst>
          </a:prstGeom>
          <a:solidFill>
            <a:srgbClr val="5B57D6">
              <a:alpha val="10000"/>
            </a:srgbClr>
          </a:solidFill>
          <a:ln w="7620">
            <a:solidFill>
              <a:srgbClr val="5B57D6">
                <a:alpha val="3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576560" y="4448414"/>
            <a:ext cx="1158241" cy="819863"/>
          </a:xfrm>
          <a:prstGeom prst="roundRect">
            <a:avLst>
              <a:gd name="adj" fmla="val 9294"/>
            </a:avLst>
          </a:prstGeom>
          <a:solidFill>
            <a:srgbClr val="5B57D6">
              <a:alpha val="15000"/>
            </a:srgbClr>
          </a:solidFill>
          <a:ln w="7620">
            <a:solidFill>
              <a:srgbClr val="5B57D6">
                <a:alpha val="4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42900" y="5451157"/>
            <a:ext cx="11506200" cy="100274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50520" y="5458776"/>
            <a:ext cx="30480" cy="987505"/>
          </a:xfrm>
          <a:prstGeom prst="roundRect">
            <a:avLst>
              <a:gd name="adj" fmla="val 50000"/>
            </a:avLst>
          </a:prstGeom>
          <a:solidFill>
            <a:srgbClr val="5B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828800" y="5542599"/>
            <a:ext cx="1158240" cy="819865"/>
          </a:xfrm>
          <a:prstGeom prst="roundRect">
            <a:avLst>
              <a:gd name="adj" fmla="val 9294"/>
            </a:avLst>
          </a:prstGeom>
          <a:solidFill>
            <a:srgbClr val="5B57D6">
              <a:alpha val="8000"/>
            </a:srgbClr>
          </a:solidFill>
          <a:ln w="7620">
            <a:solidFill>
              <a:srgbClr val="5B57D6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798820" y="5808344"/>
            <a:ext cx="624840" cy="288252"/>
          </a:xfrm>
          <a:prstGeom prst="roundRect">
            <a:avLst>
              <a:gd name="adj" fmla="val 26435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469380" y="5808344"/>
            <a:ext cx="624840" cy="288252"/>
          </a:xfrm>
          <a:prstGeom prst="roundRect">
            <a:avLst>
              <a:gd name="adj" fmla="val 26435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139940" y="5808344"/>
            <a:ext cx="624840" cy="288252"/>
          </a:xfrm>
          <a:prstGeom prst="roundRect">
            <a:avLst>
              <a:gd name="adj" fmla="val 26435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576560" y="5542599"/>
            <a:ext cx="1158241" cy="819865"/>
          </a:xfrm>
          <a:prstGeom prst="roundRect">
            <a:avLst>
              <a:gd name="adj" fmla="val 9294"/>
            </a:avLst>
          </a:prstGeom>
          <a:solidFill>
            <a:srgbClr val="5B57D6">
              <a:alpha val="15000"/>
            </a:srgbClr>
          </a:solidFill>
          <a:ln w="7620">
            <a:solidFill>
              <a:srgbClr val="5B57D6">
                <a:alpha val="4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2900" y="312420"/>
            <a:ext cx="2426970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1" spc="132">
                <a:solidFill>
                  <a:srgbClr val="78879F"/>
                </a:solidFill>
                <a:latin typeface="Calibri"/>
              </a:rPr>
              <a:t>AFFICHE SERVICE · DIRECTION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2900" y="457200"/>
            <a:ext cx="1952030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400" b="1" spc="-48">
                <a:solidFill>
                  <a:srgbClr val="0D1526"/>
                </a:solidFill>
                <a:latin typeface="Calibri"/>
              </a:rPr>
              <a:t>Direction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2900" y="847248"/>
            <a:ext cx="3810714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40" b="0">
                <a:solidFill>
                  <a:srgbClr val="78879F"/>
                </a:solidFill>
                <a:latin typeface="Calibri"/>
              </a:rPr>
              <a:t>Missions et outils rattachés — processus non recueilli en entretien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07792" y="361950"/>
            <a:ext cx="1488758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>
                <a:solidFill>
                  <a:srgbClr val="33415C"/>
                </a:solidFill>
                <a:latin typeface="Calibri"/>
              </a:rPr>
              <a:t>15 outils rattachés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10894" y="373380"/>
            <a:ext cx="1110258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1" spc="24">
                <a:solidFill>
                  <a:srgbClr val="5B57D6"/>
                </a:solidFill>
                <a:latin typeface="Calibri"/>
              </a:rPr>
              <a:t>5 missions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28985" y="567690"/>
            <a:ext cx="1605915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>
                <a:solidFill>
                  <a:srgbClr val="33415C"/>
                </a:solidFill>
                <a:latin typeface="Calibri"/>
              </a:rPr>
              <a:t>avec les autres pôles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10894" y="579120"/>
            <a:ext cx="1131451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1" spc="24">
                <a:solidFill>
                  <a:srgbClr val="78879F"/>
                </a:solidFill>
                <a:latin typeface="Calibri"/>
              </a:rPr>
              <a:t>3 échanges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1449466"/>
            <a:ext cx="1391484" cy="1371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0D1526"/>
                </a:solidFill>
                <a:latin typeface="Calibri"/>
              </a:rPr>
              <a:t>Récolte des KPI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1592341"/>
            <a:ext cx="1449943" cy="990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480" b="1" spc="48">
                <a:solidFill>
                  <a:srgbClr val="78879F"/>
                </a:solidFill>
                <a:latin typeface="Calibri"/>
              </a:rPr>
              <a:t>ORDRE NON ATTESTÉ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51792" y="1477447"/>
            <a:ext cx="912257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5B57D6"/>
                </a:solidFill>
                <a:latin typeface="Calibri"/>
              </a:rPr>
              <a:t>DÉBUT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45231" y="1556622"/>
            <a:ext cx="1125379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à documenter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38356" y="1503403"/>
            <a:ext cx="735568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52963" y="1469708"/>
            <a:ext cx="904756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MIRO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63892" y="1577817"/>
            <a:ext cx="1283017" cy="9905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int/ext TODO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97580" y="1469708"/>
            <a:ext cx="881419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MMS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75064" y="1577817"/>
            <a:ext cx="1126450" cy="9905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interne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56472" y="1469708"/>
            <a:ext cx="904875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Excel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39552" y="1577817"/>
            <a:ext cx="1138714" cy="9905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57142" y="1469708"/>
            <a:ext cx="1044536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Power BI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55356" y="1577817"/>
            <a:ext cx="1048107" cy="9905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auto · interne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00806" y="1469708"/>
            <a:ext cx="898446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Word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80673" y="1577817"/>
            <a:ext cx="1138713" cy="9905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98381" y="1469708"/>
            <a:ext cx="1044416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YELLOW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96476" y="1577817"/>
            <a:ext cx="1048107" cy="9905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auto · interne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75476" y="1503403"/>
            <a:ext cx="735568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658595" y="1477447"/>
            <a:ext cx="994171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5B57D6"/>
                </a:solidFill>
                <a:latin typeface="Calibri"/>
              </a:rPr>
              <a:t>FINALITÉ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92991" y="1556622"/>
            <a:ext cx="1125379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à documenter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2920" y="2487453"/>
            <a:ext cx="1628180" cy="1371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0D1526"/>
                </a:solidFill>
                <a:latin typeface="Calibri"/>
              </a:rPr>
              <a:t>Validation contrats et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2920" y="2599849"/>
            <a:ext cx="1117640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0D1526"/>
                </a:solidFill>
                <a:latin typeface="Calibri"/>
              </a:rPr>
              <a:t>dépenses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2742724"/>
            <a:ext cx="1449943" cy="990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480" b="1" spc="48">
                <a:solidFill>
                  <a:srgbClr val="78879F"/>
                </a:solidFill>
                <a:latin typeface="Calibri"/>
              </a:rPr>
              <a:t>ORDRE NON ATTESTÉ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951792" y="2571632"/>
            <a:ext cx="912257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5B57D6"/>
                </a:solidFill>
                <a:latin typeface="Calibri"/>
              </a:rPr>
              <a:t>DÉBUT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845231" y="2650807"/>
            <a:ext cx="1125379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à documenter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038356" y="2597586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260539" y="2563893"/>
            <a:ext cx="1030724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Basware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212675" y="2672000"/>
            <a:ext cx="1126450" cy="990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interne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908000" y="2563893"/>
            <a:ext cx="1077040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DocuSign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877163" y="2672000"/>
            <a:ext cx="1138714" cy="990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90110" y="2563893"/>
            <a:ext cx="1053822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E-Paraph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53795" y="2672000"/>
            <a:ext cx="1126450" cy="990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interne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35203" y="2563893"/>
            <a:ext cx="904874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Excel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218283" y="2672000"/>
            <a:ext cx="1138714" cy="990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475476" y="2597586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658595" y="2571632"/>
            <a:ext cx="994171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5B57D6"/>
                </a:solidFill>
                <a:latin typeface="Calibri"/>
              </a:rPr>
              <a:t>FINALITÉ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592991" y="2650807"/>
            <a:ext cx="1125379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à documenter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2920" y="3637836"/>
            <a:ext cx="1365885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0D1526"/>
                </a:solidFill>
                <a:latin typeface="Calibri"/>
              </a:rPr>
              <a:t>Gestion des ST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2920" y="3780711"/>
            <a:ext cx="1449943" cy="990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480" b="1" spc="48">
                <a:solidFill>
                  <a:srgbClr val="78879F"/>
                </a:solidFill>
                <a:latin typeface="Calibri"/>
              </a:rPr>
              <a:t>ORDRE NON ATTESTÉ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951792" y="3665815"/>
            <a:ext cx="912257" cy="8382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5B57D6"/>
                </a:solidFill>
                <a:latin typeface="Calibri"/>
              </a:rPr>
              <a:t>DÉBUT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45231" y="3744992"/>
            <a:ext cx="1125379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à documenter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038356" y="3691771"/>
            <a:ext cx="735568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586174" y="3658077"/>
            <a:ext cx="931069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BATIS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482352" y="3766185"/>
            <a:ext cx="1138714" cy="990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148745" y="3658077"/>
            <a:ext cx="1146929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E-Checking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152912" y="3766185"/>
            <a:ext cx="1138714" cy="990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813709" y="3658077"/>
            <a:ext cx="1277303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Quick Connect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889075" y="3766185"/>
            <a:ext cx="1126450" cy="990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interne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475476" y="3691771"/>
            <a:ext cx="735568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658595" y="3665815"/>
            <a:ext cx="994171" cy="8382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5B57D6"/>
                </a:solidFill>
                <a:latin typeface="Calibri"/>
              </a:rPr>
              <a:t>FINALITÉ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592991" y="3744992"/>
            <a:ext cx="1125379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à documenter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02920" y="4732020"/>
            <a:ext cx="1090255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0D1526"/>
                </a:solidFill>
                <a:latin typeface="Calibri"/>
              </a:rPr>
              <a:t>Matériels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02920" y="4874895"/>
            <a:ext cx="1449943" cy="9905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480" b="1" spc="48">
                <a:solidFill>
                  <a:srgbClr val="78879F"/>
                </a:solidFill>
                <a:latin typeface="Calibri"/>
              </a:rPr>
              <a:t>ORDRE NON ATTESTÉ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951792" y="4760000"/>
            <a:ext cx="912257" cy="8382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5B57D6"/>
                </a:solidFill>
                <a:latin typeface="Calibri"/>
              </a:rPr>
              <a:t>DÉBUT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845231" y="4839177"/>
            <a:ext cx="1125379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à documenter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038356" y="4785955"/>
            <a:ext cx="735568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324719" y="4752260"/>
            <a:ext cx="914162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Oasis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218515" y="4860369"/>
            <a:ext cx="1126450" cy="990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interne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475476" y="4785955"/>
            <a:ext cx="735568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658595" y="4760000"/>
            <a:ext cx="994171" cy="8382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5B57D6"/>
                </a:solidFill>
                <a:latin typeface="Calibri"/>
              </a:rPr>
              <a:t>FINALITÉ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592991" y="4839177"/>
            <a:ext cx="1125379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à documenter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02920" y="5826205"/>
            <a:ext cx="1511618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33415C"/>
                </a:solidFill>
                <a:latin typeface="Calibri"/>
              </a:rPr>
              <a:t>Services généraux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02920" y="5969080"/>
            <a:ext cx="1399937" cy="990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480" b="1" spc="48">
                <a:solidFill>
                  <a:srgbClr val="78879F"/>
                </a:solidFill>
                <a:latin typeface="Calibri"/>
              </a:rPr>
              <a:t>MISSION PROPOSÉE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951792" y="5854184"/>
            <a:ext cx="912257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5B57D6"/>
                </a:solidFill>
                <a:latin typeface="Calibri"/>
              </a:rPr>
              <a:t>DÉBUT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845231" y="5933361"/>
            <a:ext cx="1125379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à documenter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038356" y="5880140"/>
            <a:ext cx="735568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72852" y="5846445"/>
            <a:ext cx="876657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CWT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541883" y="5954554"/>
            <a:ext cx="1138714" cy="990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283524" y="5846445"/>
            <a:ext cx="996434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Tableau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212443" y="5954554"/>
            <a:ext cx="1138714" cy="990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003137" y="5846445"/>
            <a:ext cx="898445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Word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883003" y="5954554"/>
            <a:ext cx="1138714" cy="990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475476" y="5880140"/>
            <a:ext cx="735568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658595" y="5854184"/>
            <a:ext cx="994171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5B57D6"/>
                </a:solidFill>
                <a:latin typeface="Calibri"/>
              </a:rPr>
              <a:t>FINALITÉ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592991" y="5933361"/>
            <a:ext cx="1125379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à documenter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42900" y="6507479"/>
            <a:ext cx="3324939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>
                <a:solidFill>
                  <a:srgbClr val="78879F"/>
                </a:solidFill>
                <a:latin typeface="Calibri"/>
              </a:rPr>
              <a:t>Alimentation et nature reprises de la BDD. Le processus reste à documenter.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42900" y="6644640"/>
            <a:ext cx="258699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>
                <a:solidFill>
                  <a:srgbClr val="78879F"/>
                </a:solidFill>
                <a:latin typeface="Calibri"/>
              </a:rPr>
              <a:t>Source : BDD Cartographie Outils IT — 16 entretiens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1344990" y="6644640"/>
            <a:ext cx="1189911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>
                <a:solidFill>
                  <a:srgbClr val="78879F"/>
                </a:solidFill>
                <a:latin typeface="Calibri"/>
              </a:rPr>
              <a:t>Planche 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285215" y="358140"/>
            <a:ext cx="561617" cy="144779"/>
          </a:xfrm>
          <a:prstGeom prst="roundRect">
            <a:avLst>
              <a:gd name="adj" fmla="val 50000"/>
            </a:avLst>
          </a:prstGeom>
          <a:solidFill>
            <a:srgbClr val="5B57D6">
              <a:alpha val="13000"/>
            </a:srgbClr>
          </a:solidFill>
          <a:ln w="7620">
            <a:solidFill>
              <a:srgbClr val="5B57D6">
                <a:alpha val="3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85215" y="563880"/>
            <a:ext cx="582810" cy="144779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2900" y="1074419"/>
            <a:ext cx="11506200" cy="100274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0520" y="1082039"/>
            <a:ext cx="30480" cy="987505"/>
          </a:xfrm>
          <a:prstGeom prst="roundRect">
            <a:avLst>
              <a:gd name="adj" fmla="val 50000"/>
            </a:avLst>
          </a:prstGeom>
          <a:solidFill>
            <a:srgbClr val="82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28800" y="1165860"/>
            <a:ext cx="1524000" cy="819865"/>
          </a:xfrm>
          <a:prstGeom prst="roundRect">
            <a:avLst>
              <a:gd name="adj" fmla="val 9294"/>
            </a:avLst>
          </a:prstGeom>
          <a:solidFill>
            <a:srgbClr val="8257E6">
              <a:alpha val="8000"/>
            </a:srgbClr>
          </a:solidFill>
          <a:ln w="7620">
            <a:solidFill>
              <a:srgbClr val="8257E6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82140" y="1692711"/>
            <a:ext cx="1417320" cy="175023"/>
          </a:xfrm>
          <a:prstGeom prst="roundRect">
            <a:avLst>
              <a:gd name="adj" fmla="val 50000"/>
            </a:avLst>
          </a:prstGeom>
          <a:solidFill>
            <a:srgbClr val="DD7E2C">
              <a:alpha val="14000"/>
            </a:srgbClr>
          </a:solidFill>
          <a:ln w="7620">
            <a:solidFill>
              <a:srgbClr val="DD7E2C">
                <a:alpha val="4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05200" y="1165860"/>
            <a:ext cx="1524000" cy="819865"/>
          </a:xfrm>
          <a:prstGeom prst="roundRect">
            <a:avLst>
              <a:gd name="adj" fmla="val 9294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81600" y="1165860"/>
            <a:ext cx="1524000" cy="819865"/>
          </a:xfrm>
          <a:prstGeom prst="roundRect">
            <a:avLst>
              <a:gd name="adj" fmla="val 9294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0" y="1165860"/>
            <a:ext cx="1524000" cy="819865"/>
          </a:xfrm>
          <a:prstGeom prst="roundRect">
            <a:avLst>
              <a:gd name="adj" fmla="val 9294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34400" y="1165860"/>
            <a:ext cx="1524000" cy="819865"/>
          </a:xfrm>
          <a:prstGeom prst="roundRect">
            <a:avLst>
              <a:gd name="adj" fmla="val 9294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210801" y="1165860"/>
            <a:ext cx="1524000" cy="819865"/>
          </a:xfrm>
          <a:prstGeom prst="roundRect">
            <a:avLst>
              <a:gd name="adj" fmla="val 9294"/>
            </a:avLst>
          </a:prstGeom>
          <a:solidFill>
            <a:srgbClr val="8257E6">
              <a:alpha val="15000"/>
            </a:srgbClr>
          </a:solidFill>
          <a:ln w="7620">
            <a:solidFill>
              <a:srgbClr val="8257E6">
                <a:alpha val="4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264140" y="1590437"/>
            <a:ext cx="1417320" cy="175021"/>
          </a:xfrm>
          <a:prstGeom prst="roundRect">
            <a:avLst>
              <a:gd name="adj" fmla="val 50000"/>
            </a:avLst>
          </a:prstGeom>
          <a:solidFill>
            <a:srgbClr val="DD7E2C">
              <a:alpha val="14000"/>
            </a:srgbClr>
          </a:solidFill>
          <a:ln w="7620">
            <a:solidFill>
              <a:srgbClr val="DD7E2C">
                <a:alpha val="4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2900" y="2168604"/>
            <a:ext cx="11506200" cy="100274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0520" y="2176224"/>
            <a:ext cx="30480" cy="987505"/>
          </a:xfrm>
          <a:prstGeom prst="roundRect">
            <a:avLst>
              <a:gd name="adj" fmla="val 50000"/>
            </a:avLst>
          </a:prstGeom>
          <a:solidFill>
            <a:srgbClr val="82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828800" y="2260044"/>
            <a:ext cx="1859280" cy="819865"/>
          </a:xfrm>
          <a:prstGeom prst="roundRect">
            <a:avLst>
              <a:gd name="adj" fmla="val 9294"/>
            </a:avLst>
          </a:prstGeom>
          <a:solidFill>
            <a:srgbClr val="8257E6">
              <a:alpha val="8000"/>
            </a:srgbClr>
          </a:solidFill>
          <a:ln w="7620">
            <a:solidFill>
              <a:srgbClr val="8257E6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840480" y="2260044"/>
            <a:ext cx="1859280" cy="819865"/>
          </a:xfrm>
          <a:prstGeom prst="roundRect">
            <a:avLst>
              <a:gd name="adj" fmla="val 9294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52160" y="2260044"/>
            <a:ext cx="1859280" cy="819865"/>
          </a:xfrm>
          <a:prstGeom prst="roundRect">
            <a:avLst>
              <a:gd name="adj" fmla="val 9294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863841" y="2260044"/>
            <a:ext cx="1859279" cy="819865"/>
          </a:xfrm>
          <a:prstGeom prst="roundRect">
            <a:avLst>
              <a:gd name="adj" fmla="val 9294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875521" y="2260044"/>
            <a:ext cx="1859280" cy="819865"/>
          </a:xfrm>
          <a:prstGeom prst="roundRect">
            <a:avLst>
              <a:gd name="adj" fmla="val 9294"/>
            </a:avLst>
          </a:prstGeom>
          <a:solidFill>
            <a:srgbClr val="8257E6">
              <a:alpha val="15000"/>
            </a:srgbClr>
          </a:solidFill>
          <a:ln w="7620">
            <a:solidFill>
              <a:srgbClr val="8257E6">
                <a:alpha val="4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928860" y="2578060"/>
            <a:ext cx="1752600" cy="175023"/>
          </a:xfrm>
          <a:prstGeom prst="roundRect">
            <a:avLst>
              <a:gd name="adj" fmla="val 50000"/>
            </a:avLst>
          </a:prstGeom>
          <a:solidFill>
            <a:srgbClr val="A9761A">
              <a:alpha val="14000"/>
            </a:srgbClr>
          </a:solidFill>
          <a:ln w="7620">
            <a:solidFill>
              <a:srgbClr val="A9761A">
                <a:alpha val="4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928860" y="2791182"/>
            <a:ext cx="1752600" cy="175021"/>
          </a:xfrm>
          <a:prstGeom prst="roundRect">
            <a:avLst>
              <a:gd name="adj" fmla="val 50000"/>
            </a:avLst>
          </a:prstGeom>
          <a:solidFill>
            <a:srgbClr val="8257E6">
              <a:alpha val="14000"/>
            </a:srgbClr>
          </a:solidFill>
          <a:ln w="7620">
            <a:solidFill>
              <a:srgbClr val="8257E6">
                <a:alpha val="4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42900" y="3262789"/>
            <a:ext cx="11506200" cy="100274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0520" y="3270409"/>
            <a:ext cx="30480" cy="987505"/>
          </a:xfrm>
          <a:prstGeom prst="roundRect">
            <a:avLst>
              <a:gd name="adj" fmla="val 50000"/>
            </a:avLst>
          </a:prstGeom>
          <a:solidFill>
            <a:srgbClr val="82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828800" y="3354229"/>
            <a:ext cx="1104900" cy="819865"/>
          </a:xfrm>
          <a:prstGeom prst="roundRect">
            <a:avLst>
              <a:gd name="adj" fmla="val 9294"/>
            </a:avLst>
          </a:prstGeom>
          <a:solidFill>
            <a:srgbClr val="8257E6">
              <a:alpha val="8000"/>
            </a:srgbClr>
          </a:solidFill>
          <a:ln w="7620">
            <a:solidFill>
              <a:srgbClr val="8257E6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086100" y="3354229"/>
            <a:ext cx="1104900" cy="819865"/>
          </a:xfrm>
          <a:prstGeom prst="roundRect">
            <a:avLst>
              <a:gd name="adj" fmla="val 9294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43400" y="3354229"/>
            <a:ext cx="1104900" cy="819865"/>
          </a:xfrm>
          <a:prstGeom prst="roundRect">
            <a:avLst>
              <a:gd name="adj" fmla="val 9294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600700" y="3354229"/>
            <a:ext cx="1104900" cy="819865"/>
          </a:xfrm>
          <a:prstGeom prst="roundRect">
            <a:avLst>
              <a:gd name="adj" fmla="val 9294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858000" y="3354229"/>
            <a:ext cx="1104900" cy="819865"/>
          </a:xfrm>
          <a:prstGeom prst="roundRect">
            <a:avLst>
              <a:gd name="adj" fmla="val 9294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15301" y="3354229"/>
            <a:ext cx="1104900" cy="819865"/>
          </a:xfrm>
          <a:prstGeom prst="roundRect">
            <a:avLst>
              <a:gd name="adj" fmla="val 9294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72600" y="3354229"/>
            <a:ext cx="1104900" cy="819865"/>
          </a:xfrm>
          <a:prstGeom prst="roundRect">
            <a:avLst>
              <a:gd name="adj" fmla="val 9294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629900" y="3354229"/>
            <a:ext cx="1104901" cy="819865"/>
          </a:xfrm>
          <a:prstGeom prst="roundRect">
            <a:avLst>
              <a:gd name="adj" fmla="val 9294"/>
            </a:avLst>
          </a:prstGeom>
          <a:solidFill>
            <a:srgbClr val="8257E6">
              <a:alpha val="15000"/>
            </a:srgbClr>
          </a:solidFill>
          <a:ln w="7620">
            <a:solidFill>
              <a:srgbClr val="8257E6">
                <a:alpha val="4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683241" y="3778805"/>
            <a:ext cx="998220" cy="175023"/>
          </a:xfrm>
          <a:prstGeom prst="roundRect">
            <a:avLst>
              <a:gd name="adj" fmla="val 50000"/>
            </a:avLst>
          </a:prstGeom>
          <a:solidFill>
            <a:srgbClr val="8257E6">
              <a:alpha val="14000"/>
            </a:srgbClr>
          </a:solidFill>
          <a:ln w="7620">
            <a:solidFill>
              <a:srgbClr val="8257E6">
                <a:alpha val="4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42900" y="4356974"/>
            <a:ext cx="11506200" cy="100274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50520" y="4364594"/>
            <a:ext cx="30480" cy="987505"/>
          </a:xfrm>
          <a:prstGeom prst="roundRect">
            <a:avLst>
              <a:gd name="adj" fmla="val 50000"/>
            </a:avLst>
          </a:prstGeom>
          <a:solidFill>
            <a:srgbClr val="82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828800" y="4448414"/>
            <a:ext cx="1524000" cy="819863"/>
          </a:xfrm>
          <a:prstGeom prst="roundRect">
            <a:avLst>
              <a:gd name="adj" fmla="val 9294"/>
            </a:avLst>
          </a:prstGeom>
          <a:solidFill>
            <a:srgbClr val="8257E6">
              <a:alpha val="8000"/>
            </a:srgbClr>
          </a:solidFill>
          <a:ln w="7620">
            <a:solidFill>
              <a:srgbClr val="8257E6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505200" y="4448414"/>
            <a:ext cx="1524000" cy="819863"/>
          </a:xfrm>
          <a:prstGeom prst="roundRect">
            <a:avLst>
              <a:gd name="adj" fmla="val 9294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181600" y="4448414"/>
            <a:ext cx="1524000" cy="819863"/>
          </a:xfrm>
          <a:prstGeom prst="roundRect">
            <a:avLst>
              <a:gd name="adj" fmla="val 9294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858000" y="4448414"/>
            <a:ext cx="1524000" cy="819863"/>
          </a:xfrm>
          <a:prstGeom prst="roundRect">
            <a:avLst>
              <a:gd name="adj" fmla="val 9294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534400" y="4448414"/>
            <a:ext cx="1524000" cy="819863"/>
          </a:xfrm>
          <a:prstGeom prst="roundRect">
            <a:avLst>
              <a:gd name="adj" fmla="val 9294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210801" y="4448414"/>
            <a:ext cx="1524000" cy="819863"/>
          </a:xfrm>
          <a:prstGeom prst="roundRect">
            <a:avLst>
              <a:gd name="adj" fmla="val 9294"/>
            </a:avLst>
          </a:prstGeom>
          <a:solidFill>
            <a:srgbClr val="8257E6">
              <a:alpha val="15000"/>
            </a:srgbClr>
          </a:solidFill>
          <a:ln w="7620">
            <a:solidFill>
              <a:srgbClr val="8257E6">
                <a:alpha val="4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264140" y="4872990"/>
            <a:ext cx="1417320" cy="175021"/>
          </a:xfrm>
          <a:prstGeom prst="roundRect">
            <a:avLst>
              <a:gd name="adj" fmla="val 50000"/>
            </a:avLst>
          </a:prstGeom>
          <a:solidFill>
            <a:srgbClr val="D93025">
              <a:alpha val="14000"/>
            </a:srgbClr>
          </a:solidFill>
          <a:ln w="7620">
            <a:solidFill>
              <a:srgbClr val="D93025">
                <a:alpha val="4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42900" y="5451157"/>
            <a:ext cx="11506200" cy="100274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50520" y="5458776"/>
            <a:ext cx="30480" cy="987505"/>
          </a:xfrm>
          <a:prstGeom prst="roundRect">
            <a:avLst>
              <a:gd name="adj" fmla="val 50000"/>
            </a:avLst>
          </a:prstGeom>
          <a:solidFill>
            <a:srgbClr val="82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828800" y="5542599"/>
            <a:ext cx="1524000" cy="819865"/>
          </a:xfrm>
          <a:prstGeom prst="roundRect">
            <a:avLst>
              <a:gd name="adj" fmla="val 9294"/>
            </a:avLst>
          </a:prstGeom>
          <a:solidFill>
            <a:srgbClr val="8257E6">
              <a:alpha val="8000"/>
            </a:srgbClr>
          </a:solidFill>
          <a:ln w="7620">
            <a:solidFill>
              <a:srgbClr val="8257E6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882140" y="5967174"/>
            <a:ext cx="1417320" cy="175023"/>
          </a:xfrm>
          <a:prstGeom prst="roundRect">
            <a:avLst>
              <a:gd name="adj" fmla="val 50000"/>
            </a:avLst>
          </a:prstGeom>
          <a:solidFill>
            <a:srgbClr val="DD7E2C">
              <a:alpha val="14000"/>
            </a:srgbClr>
          </a:solidFill>
          <a:ln w="7620">
            <a:solidFill>
              <a:srgbClr val="DD7E2C">
                <a:alpha val="4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505200" y="5542599"/>
            <a:ext cx="1524000" cy="819865"/>
          </a:xfrm>
          <a:prstGeom prst="roundRect">
            <a:avLst>
              <a:gd name="adj" fmla="val 9294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181600" y="5542599"/>
            <a:ext cx="1524000" cy="819865"/>
          </a:xfrm>
          <a:prstGeom prst="roundRect">
            <a:avLst>
              <a:gd name="adj" fmla="val 9294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858000" y="5542599"/>
            <a:ext cx="1524000" cy="819865"/>
          </a:xfrm>
          <a:prstGeom prst="roundRect">
            <a:avLst>
              <a:gd name="adj" fmla="val 9294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534400" y="5542599"/>
            <a:ext cx="1524000" cy="819865"/>
          </a:xfrm>
          <a:prstGeom prst="roundRect">
            <a:avLst>
              <a:gd name="adj" fmla="val 9294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0210801" y="5542599"/>
            <a:ext cx="1524000" cy="819865"/>
          </a:xfrm>
          <a:prstGeom prst="roundRect">
            <a:avLst>
              <a:gd name="adj" fmla="val 9294"/>
            </a:avLst>
          </a:prstGeom>
          <a:solidFill>
            <a:srgbClr val="8257E6">
              <a:alpha val="15000"/>
            </a:srgbClr>
          </a:solidFill>
          <a:ln w="7620">
            <a:solidFill>
              <a:srgbClr val="8257E6">
                <a:alpha val="4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0264140" y="5967174"/>
            <a:ext cx="1417320" cy="175023"/>
          </a:xfrm>
          <a:prstGeom prst="roundRect">
            <a:avLst>
              <a:gd name="adj" fmla="val 50000"/>
            </a:avLst>
          </a:prstGeom>
          <a:solidFill>
            <a:srgbClr val="8257E6">
              <a:alpha val="14000"/>
            </a:srgbClr>
          </a:solidFill>
          <a:ln w="7620">
            <a:solidFill>
              <a:srgbClr val="8257E6">
                <a:alpha val="4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2900" y="312419"/>
            <a:ext cx="2037636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1" spc="132">
                <a:solidFill>
                  <a:srgbClr val="78879F"/>
                </a:solidFill>
                <a:latin typeface="Calibri"/>
              </a:rPr>
              <a:t>AFFICHE SERVICE · DAF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2900" y="457200"/>
            <a:ext cx="1293971" cy="36575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400" b="1" spc="-48">
                <a:solidFill>
                  <a:srgbClr val="0D1526"/>
                </a:solidFill>
                <a:latin typeface="Calibri"/>
              </a:rPr>
              <a:t>DAF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2900" y="847249"/>
            <a:ext cx="3496747" cy="15239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40" b="0">
                <a:solidFill>
                  <a:srgbClr val="78879F"/>
                </a:solidFill>
                <a:latin typeface="Calibri"/>
              </a:rPr>
              <a:t>Flux de la donnée par mission — de son entrée à sa finalité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07792" y="361950"/>
            <a:ext cx="1488758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>
                <a:solidFill>
                  <a:srgbClr val="33415C"/>
                </a:solidFill>
                <a:latin typeface="Calibri"/>
              </a:rPr>
              <a:t>15 outils rattachés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10894" y="373380"/>
            <a:ext cx="1110258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1" spc="24">
                <a:solidFill>
                  <a:srgbClr val="5B57D6"/>
                </a:solidFill>
                <a:latin typeface="Calibri"/>
              </a:rPr>
              <a:t>5 missions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28985" y="567690"/>
            <a:ext cx="1605915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>
                <a:solidFill>
                  <a:srgbClr val="33415C"/>
                </a:solidFill>
                <a:latin typeface="Calibri"/>
              </a:rPr>
              <a:t>avec les autres pôles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10894" y="579120"/>
            <a:ext cx="1131451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1" spc="24">
                <a:solidFill>
                  <a:srgbClr val="78879F"/>
                </a:solidFill>
                <a:latin typeface="Calibri"/>
              </a:rPr>
              <a:t>9 échanges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1449466"/>
            <a:ext cx="1572697" cy="1371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0D1526"/>
                </a:solidFill>
                <a:latin typeface="Calibri"/>
              </a:rPr>
              <a:t>Contrôle budgétaire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" y="1592341"/>
            <a:ext cx="1770817" cy="990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480" b="1" spc="48">
                <a:solidFill>
                  <a:srgbClr val="78879F"/>
                </a:solidFill>
                <a:latin typeface="Calibri"/>
              </a:rPr>
              <a:t>CONJOINT AVEC LES TRAVAUX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114074" y="1268611"/>
            <a:ext cx="953452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8257E6"/>
                </a:solidFill>
                <a:latin typeface="Calibri"/>
              </a:rPr>
              <a:t>ENTRÉE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927622" y="1347788"/>
            <a:ext cx="1326237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VALO main-d'œuvre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866900" y="1450062"/>
            <a:ext cx="1463040" cy="14799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690"/>
              </a:lnSpc>
            </a:pPr>
            <a:r>
              <a:rPr sz="530" b="1">
                <a:solidFill>
                  <a:srgbClr val="33415C"/>
                </a:solidFill>
                <a:latin typeface="Calibri"/>
              </a:rPr>
              <a:t>Extraction matériel · </a:t>
            </a:r>
            <a:r>
              <a:rPr sz="530" b="1">
                <a:solidFill>
                  <a:srgbClr val="0D1526"/>
                </a:solidFill>
                <a:latin typeface="Calibri"/>
              </a:rPr>
              <a:t>BYMAT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866900" y="1552338"/>
            <a:ext cx="1463040" cy="14799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690"/>
              </a:lnSpc>
            </a:pPr>
            <a:r>
              <a:rPr sz="530" b="1">
                <a:solidFill>
                  <a:srgbClr val="33415C"/>
                </a:solidFill>
                <a:latin typeface="Calibri"/>
              </a:rPr>
              <a:t>Dépenses diverses · </a:t>
            </a:r>
            <a:r>
              <a:rPr sz="530" b="1">
                <a:solidFill>
                  <a:srgbClr val="0D1526"/>
                </a:solidFill>
                <a:latin typeface="Calibri"/>
              </a:rPr>
              <a:t>Basware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09907" y="1700331"/>
            <a:ext cx="961787" cy="8382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09" b="1" spc="12">
                <a:solidFill>
                  <a:srgbClr val="DD7E2C"/>
                </a:solidFill>
                <a:latin typeface="Calibri"/>
              </a:rPr>
              <a:t>← Travaux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872139" y="1764982"/>
            <a:ext cx="1437204" cy="8382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09" b="1" spc="12">
                <a:solidFill>
                  <a:srgbClr val="DD7E2C"/>
                </a:solidFill>
                <a:latin typeface="Calibri"/>
              </a:rPr>
              <a:t>Commande matériel chantier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04116" y="1503403"/>
            <a:ext cx="735568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529489" y="1418630"/>
            <a:ext cx="1475422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Constitution de la PC100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14763" y="1520904"/>
            <a:ext cx="904875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Excel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97843" y="1629013"/>
            <a:ext cx="1138714" cy="990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80516" y="1503403"/>
            <a:ext cx="735568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50750" y="1418630"/>
            <a:ext cx="1785581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Ventilation par centre d'imputation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91162" y="1520904"/>
            <a:ext cx="904875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Excel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74243" y="1629013"/>
            <a:ext cx="1138714" cy="990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756916" y="1503403"/>
            <a:ext cx="735568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38010" y="1418630"/>
            <a:ext cx="1363861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Ventilation par atelier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67563" y="1520904"/>
            <a:ext cx="904874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Excel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050643" y="1629013"/>
            <a:ext cx="1138714" cy="990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33316" y="1503403"/>
            <a:ext cx="735568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71059" y="1418630"/>
            <a:ext cx="1650563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Contrôle des écarts au budget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843963" y="1520904"/>
            <a:ext cx="904874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Excel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727044" y="1629013"/>
            <a:ext cx="1138713" cy="990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109716" y="1503403"/>
            <a:ext cx="735568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475714" y="1370885"/>
            <a:ext cx="994171" cy="8382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8257E6"/>
                </a:solidFill>
                <a:latin typeface="Calibri"/>
              </a:rPr>
              <a:t>FINALITÉ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231278" y="1450062"/>
            <a:ext cx="1483043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Budget par atelier arbitré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491907" y="1598057"/>
            <a:ext cx="961787" cy="8382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09" b="1" spc="12">
                <a:solidFill>
                  <a:srgbClr val="DD7E2C"/>
                </a:solidFill>
                <a:latin typeface="Calibri"/>
              </a:rPr>
              <a:t>→ Travaux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369035" y="1662708"/>
            <a:ext cx="1207412" cy="8382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09" b="1" spc="12">
                <a:solidFill>
                  <a:srgbClr val="DD7E2C"/>
                </a:solidFill>
                <a:latin typeface="Calibri"/>
              </a:rPr>
              <a:t>Contrôle budgétaire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02920" y="2598539"/>
            <a:ext cx="1794867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0D1526"/>
                </a:solidFill>
                <a:latin typeface="Calibri"/>
              </a:rPr>
              <a:t>Préfacturation partenaire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281714" y="2469356"/>
            <a:ext cx="953452" cy="8382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8257E6"/>
                </a:solidFill>
                <a:latin typeface="Calibri"/>
              </a:rPr>
              <a:t>ENTRÉE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866900" y="2548533"/>
            <a:ext cx="1798320" cy="14799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690"/>
              </a:lnSpc>
            </a:pPr>
            <a:r>
              <a:rPr sz="530" b="1">
                <a:solidFill>
                  <a:srgbClr val="33415C"/>
                </a:solidFill>
                <a:latin typeface="Calibri"/>
              </a:rPr>
              <a:t>Factures partenaires · </a:t>
            </a:r>
            <a:r>
              <a:rPr sz="530" b="1">
                <a:solidFill>
                  <a:srgbClr val="0D1526"/>
                </a:solidFill>
                <a:latin typeface="Calibri"/>
              </a:rPr>
              <a:t>Basware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866900" y="2650807"/>
            <a:ext cx="1798320" cy="147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690"/>
              </a:lnSpc>
            </a:pPr>
            <a:r>
              <a:rPr sz="530" b="1">
                <a:solidFill>
                  <a:srgbClr val="33415C"/>
                </a:solidFill>
                <a:latin typeface="Calibri"/>
              </a:rPr>
              <a:t>Pointage main-d'œuvre · </a:t>
            </a:r>
            <a:r>
              <a:rPr sz="530" b="1">
                <a:solidFill>
                  <a:srgbClr val="0D1526"/>
                </a:solidFill>
                <a:latin typeface="Calibri"/>
              </a:rPr>
              <a:t>Puma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866900" y="2753083"/>
            <a:ext cx="1798320" cy="14799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690"/>
              </a:lnSpc>
            </a:pPr>
            <a:r>
              <a:rPr sz="530" b="1">
                <a:solidFill>
                  <a:srgbClr val="33415C"/>
                </a:solidFill>
                <a:latin typeface="Calibri"/>
              </a:rPr>
              <a:t>Heures intérim · </a:t>
            </a:r>
            <a:r>
              <a:rPr sz="530" b="1">
                <a:solidFill>
                  <a:srgbClr val="0D1526"/>
                </a:solidFill>
                <a:latin typeface="Calibri"/>
              </a:rPr>
              <a:t>BIP / BAPS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739396" y="2597586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064080" y="2512815"/>
            <a:ext cx="1412081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Extraction du pointage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17683" y="2615088"/>
            <a:ext cx="904875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Excel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200763" y="2723198"/>
            <a:ext cx="1138714" cy="990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751076" y="2597586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038374" y="2512815"/>
            <a:ext cx="1486734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Préfacturation mensuelle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329362" y="2615088"/>
            <a:ext cx="904875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Excel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212443" y="2723198"/>
            <a:ext cx="1138714" cy="990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762755" y="2597586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130183" y="2512815"/>
            <a:ext cx="1326475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Circuit de validation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266510" y="2615088"/>
            <a:ext cx="1053822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E-Paraph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230195" y="2723198"/>
            <a:ext cx="1126451" cy="990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interne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774436" y="2597586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308074" y="2358510"/>
            <a:ext cx="994172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8257E6"/>
                </a:solidFill>
                <a:latin typeface="Calibri"/>
              </a:rPr>
              <a:t>FINALITÉ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771459" y="2437687"/>
            <a:ext cx="2067401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Valorisation de la main-d'œuvre (VALO MO)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330101" y="2585680"/>
            <a:ext cx="950119" cy="8382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09" b="1" spc="12">
                <a:solidFill>
                  <a:srgbClr val="A9761A"/>
                </a:solidFill>
                <a:latin typeface="Calibri"/>
              </a:rPr>
              <a:t>→ Contrat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171629" y="2650331"/>
            <a:ext cx="1266944" cy="8382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09" b="1" spc="12">
                <a:solidFill>
                  <a:srgbClr val="A9761A"/>
                </a:solidFill>
                <a:latin typeface="Calibri"/>
              </a:rPr>
              <a:t>Facturation partenaire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372011" y="2798802"/>
            <a:ext cx="866299" cy="8382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09" b="1" spc="12">
                <a:solidFill>
                  <a:srgbClr val="8257E6"/>
                </a:solidFill>
                <a:latin typeface="Calibri"/>
              </a:rPr>
              <a:t>→ DAF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201394" y="2863453"/>
            <a:ext cx="1207413" cy="8382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09" b="1" spc="12">
                <a:solidFill>
                  <a:srgbClr val="8257E6"/>
                </a:solidFill>
                <a:latin typeface="Calibri"/>
              </a:rPr>
              <a:t>Contrôle budgétaire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02920" y="3636526"/>
            <a:ext cx="1892022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0D1526"/>
                </a:solidFill>
                <a:latin typeface="Calibri"/>
              </a:rPr>
              <a:t>Engagement des dépenses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02920" y="3748921"/>
            <a:ext cx="1275874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0D1526"/>
                </a:solidFill>
                <a:latin typeface="Calibri"/>
              </a:rPr>
              <a:t>et facturation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904524" y="3665815"/>
            <a:ext cx="953452" cy="8382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8257E6"/>
                </a:solidFill>
                <a:latin typeface="Calibri"/>
              </a:rPr>
              <a:t>ENTRÉE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786890" y="3744992"/>
            <a:ext cx="1188720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Besoin chantier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985016" y="3691771"/>
            <a:ext cx="735568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995732" y="3606999"/>
            <a:ext cx="1285518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Bon de commande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181469" y="3709273"/>
            <a:ext cx="914043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Pablo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069193" y="3817382"/>
            <a:ext cx="1138714" cy="990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242316" y="3691771"/>
            <a:ext cx="735568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120753" y="3606999"/>
            <a:ext cx="1550075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Engagement de la dépense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371261" y="3709273"/>
            <a:ext cx="1049179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Harmony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332565" y="3817382"/>
            <a:ext cx="1126450" cy="990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interne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499616" y="3691771"/>
            <a:ext cx="735568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495449" y="3606999"/>
            <a:ext cx="131540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Facture fournisseur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637729" y="3709273"/>
            <a:ext cx="1030724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Basware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589866" y="3817382"/>
            <a:ext cx="1126450" cy="990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interne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756916" y="3691771"/>
            <a:ext cx="735568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788110" y="3606999"/>
            <a:ext cx="1244560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Validation interne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883480" y="3709273"/>
            <a:ext cx="1053822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E-Paraph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847166" y="3817382"/>
            <a:ext cx="1126450" cy="990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interne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014216" y="3691771"/>
            <a:ext cx="735568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170188" y="3606999"/>
            <a:ext cx="995005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Signature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129230" y="3709273"/>
            <a:ext cx="1077040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DocuSign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098393" y="3817382"/>
            <a:ext cx="1138714" cy="990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271516" y="3691771"/>
            <a:ext cx="735568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302711" y="3606999"/>
            <a:ext cx="1244679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Mise en paiement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488924" y="3709273"/>
            <a:ext cx="872133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TIPS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361765" y="3817382"/>
            <a:ext cx="1126451" cy="990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interne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528816" y="3691771"/>
            <a:ext cx="735568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685264" y="3559255"/>
            <a:ext cx="994172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8257E6"/>
                </a:solidFill>
                <a:latin typeface="Calibri"/>
              </a:rPr>
              <a:t>FINALITÉ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407254" y="3638432"/>
            <a:ext cx="1550193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Dépense engagée et réglée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749201" y="3786426"/>
            <a:ext cx="866299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09" b="1" spc="12">
                <a:solidFill>
                  <a:srgbClr val="8257E6"/>
                </a:solidFill>
                <a:latin typeface="Calibri"/>
              </a:rPr>
              <a:t>→ DAF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578584" y="3851077"/>
            <a:ext cx="1207413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09" b="1" spc="12">
                <a:solidFill>
                  <a:srgbClr val="8257E6"/>
                </a:solidFill>
                <a:latin typeface="Calibri"/>
              </a:rPr>
              <a:t>Contrôle budgétaire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02920" y="4730710"/>
            <a:ext cx="1485543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0D1526"/>
                </a:solidFill>
                <a:latin typeface="Calibri"/>
              </a:rPr>
              <a:t>Onboarding RH et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02920" y="4843106"/>
            <a:ext cx="1168479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0D1526"/>
                </a:solidFill>
                <a:latin typeface="Calibri"/>
              </a:rPr>
              <a:t>formations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14074" y="4760000"/>
            <a:ext cx="953452" cy="8382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8257E6"/>
                </a:solidFill>
                <a:latin typeface="Calibri"/>
              </a:rPr>
              <a:t>ENTRÉE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003822" y="4839177"/>
            <a:ext cx="1173837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Nouvel arrivant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404116" y="4785955"/>
            <a:ext cx="735568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529370" y="4701184"/>
            <a:ext cx="1475661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Vérification travail illégal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693676" y="4803458"/>
            <a:ext cx="1146929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E-Checking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697843" y="4911567"/>
            <a:ext cx="1138714" cy="9905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5080516" y="4785955"/>
            <a:ext cx="735568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289471" y="4701184"/>
            <a:ext cx="1308139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Badge et accès site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404961" y="4803458"/>
            <a:ext cx="1077278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Neoaccès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247084" y="4911567"/>
            <a:ext cx="1392913" cy="9905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alim. TODO · int/ext TODO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756916" y="4785955"/>
            <a:ext cx="735568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6993970" y="4701184"/>
            <a:ext cx="125194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Plan de formation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065050" y="4803458"/>
            <a:ext cx="1109782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By My Site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7056715" y="4911567"/>
            <a:ext cx="1126450" cy="9905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interne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433316" y="4785955"/>
            <a:ext cx="735568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8558689" y="4701184"/>
            <a:ext cx="147542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Commande de formation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8839319" y="4803458"/>
            <a:ext cx="914043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Pablo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8727044" y="4911567"/>
            <a:ext cx="1138713" cy="9905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0109716" y="4785955"/>
            <a:ext cx="735568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475714" y="4653439"/>
            <a:ext cx="994171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8257E6"/>
                </a:solidFill>
                <a:latin typeface="Calibri"/>
              </a:rPr>
              <a:t>FINALITÉ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0117694" y="4732616"/>
            <a:ext cx="1710214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Collaborateur habilité et sur site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486787" y="4880609"/>
            <a:ext cx="972026" cy="8382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09" b="1" spc="12">
                <a:solidFill>
                  <a:srgbClr val="D93025"/>
                </a:solidFill>
                <a:latin typeface="Calibri"/>
              </a:rPr>
              <a:t>→ Sécurité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186750" y="4945262"/>
            <a:ext cx="1571982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09" b="1" spc="12">
                <a:solidFill>
                  <a:srgbClr val="D93025"/>
                </a:solidFill>
                <a:latin typeface="Calibri"/>
              </a:rPr>
              <a:t>Accueil, formation et habilitations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502920" y="5770007"/>
            <a:ext cx="1754148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0D1526"/>
                </a:solidFill>
                <a:latin typeface="Calibri"/>
              </a:rPr>
              <a:t>Gestion du personnel et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502920" y="5882401"/>
            <a:ext cx="899160" cy="1371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0D1526"/>
                </a:solidFill>
                <a:latin typeface="Calibri"/>
              </a:rPr>
              <a:t>paye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502920" y="6025276"/>
            <a:ext cx="1312426" cy="990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480" b="1" spc="48">
                <a:solidFill>
                  <a:srgbClr val="78879F"/>
                </a:solidFill>
                <a:latin typeface="Calibri"/>
              </a:rPr>
              <a:t>BYCN ET INTÉRIM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114074" y="5747624"/>
            <a:ext cx="953452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8257E6"/>
                </a:solidFill>
                <a:latin typeface="Calibri"/>
              </a:rPr>
              <a:t>ENTRÉE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866900" y="5826799"/>
            <a:ext cx="1463040" cy="14799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690"/>
              </a:lnSpc>
            </a:pPr>
            <a:r>
              <a:rPr sz="530" b="1">
                <a:solidFill>
                  <a:srgbClr val="33415C"/>
                </a:solidFill>
                <a:latin typeface="Calibri"/>
              </a:rPr>
              <a:t>Pointage chantier · </a:t>
            </a:r>
            <a:r>
              <a:rPr sz="530" b="1">
                <a:solidFill>
                  <a:srgbClr val="0D1526"/>
                </a:solidFill>
                <a:latin typeface="Calibri"/>
              </a:rPr>
              <a:t>Puma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2109907" y="5974794"/>
            <a:ext cx="961787" cy="8382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09" b="1" spc="12">
                <a:solidFill>
                  <a:srgbClr val="DD7E2C"/>
                </a:solidFill>
                <a:latin typeface="Calibri"/>
              </a:rPr>
              <a:t>← Travaux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873329" y="6039445"/>
            <a:ext cx="1434822" cy="8382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09" b="1" spc="12">
                <a:solidFill>
                  <a:srgbClr val="DD7E2C"/>
                </a:solidFill>
                <a:latin typeface="Calibri"/>
              </a:rPr>
              <a:t>Commande de main-d'œuvre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3404116" y="5880140"/>
            <a:ext cx="735568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3689509" y="5795367"/>
            <a:ext cx="1155264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Heures intérim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3703797" y="5897643"/>
            <a:ext cx="1126807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BIP / BAPS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3703915" y="6005750"/>
            <a:ext cx="1126450" cy="990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interne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080516" y="5880140"/>
            <a:ext cx="735568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5215176" y="5795367"/>
            <a:ext cx="1456730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Compagnons Bouygues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5481876" y="5897643"/>
            <a:ext cx="923329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BYCN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5381863" y="6005750"/>
            <a:ext cx="1123355" cy="990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AC597A"/>
                </a:solidFill>
                <a:latin typeface="Calibri"/>
              </a:rPr>
              <a:t>hors BDD · brief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6756916" y="5880140"/>
            <a:ext cx="735568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6917651" y="5795367"/>
            <a:ext cx="1404700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Congés et attestations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7020163" y="5897643"/>
            <a:ext cx="1199674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H&amp;R For You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7056715" y="6005750"/>
            <a:ext cx="1126450" cy="990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interne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8433316" y="5880140"/>
            <a:ext cx="735568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8629412" y="5795367"/>
            <a:ext cx="1333976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Contrôle des heures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8843963" y="5897643"/>
            <a:ext cx="904874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Excel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8727044" y="6005750"/>
            <a:ext cx="1138713" cy="990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0109716" y="5880140"/>
            <a:ext cx="735568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0475714" y="5747624"/>
            <a:ext cx="994171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8257E6"/>
                </a:solidFill>
                <a:latin typeface="Calibri"/>
              </a:rPr>
              <a:t>FINALITÉ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0145435" y="5826799"/>
            <a:ext cx="1654731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Paye émise, heures valorisées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0539651" y="5974794"/>
            <a:ext cx="866299" cy="8382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09" b="1" spc="12">
                <a:solidFill>
                  <a:srgbClr val="8257E6"/>
                </a:solidFill>
                <a:latin typeface="Calibri"/>
              </a:rPr>
              <a:t>→ DAF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0302479" y="6039445"/>
            <a:ext cx="1340644" cy="8382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09" b="1" spc="12">
                <a:solidFill>
                  <a:srgbClr val="8257E6"/>
                </a:solidFill>
                <a:latin typeface="Calibri"/>
              </a:rPr>
              <a:t>Préfacturation partenaire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342900" y="6507479"/>
            <a:ext cx="4419362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>
                <a:solidFill>
                  <a:srgbClr val="78879F"/>
                </a:solidFill>
                <a:latin typeface="Calibri"/>
              </a:rPr>
              <a:t>Chaînes issues du brief métier ; nature et alimentation reprises de la BDD. 9 échanges avec les autres pôles.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342900" y="6644640"/>
            <a:ext cx="258699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>
                <a:solidFill>
                  <a:srgbClr val="78879F"/>
                </a:solidFill>
                <a:latin typeface="Calibri"/>
              </a:rPr>
              <a:t>Source : BDD Cartographie Outils IT — 16 entretiens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1344990" y="6644640"/>
            <a:ext cx="1189911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>
                <a:solidFill>
                  <a:srgbClr val="78879F"/>
                </a:solidFill>
                <a:latin typeface="Calibri"/>
              </a:rPr>
              <a:t>Planche 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285215" y="358140"/>
            <a:ext cx="561617" cy="144779"/>
          </a:xfrm>
          <a:prstGeom prst="roundRect">
            <a:avLst>
              <a:gd name="adj" fmla="val 50000"/>
            </a:avLst>
          </a:prstGeom>
          <a:solidFill>
            <a:srgbClr val="5B57D6">
              <a:alpha val="13000"/>
            </a:srgbClr>
          </a:solidFill>
          <a:ln w="7620">
            <a:solidFill>
              <a:srgbClr val="5B57D6">
                <a:alpha val="3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85215" y="563880"/>
            <a:ext cx="582810" cy="144779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2900" y="1074419"/>
            <a:ext cx="11506200" cy="1276351"/>
          </a:xfrm>
          <a:prstGeom prst="roundRect">
            <a:avLst>
              <a:gd name="adj" fmla="val 8358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0520" y="1082039"/>
            <a:ext cx="30480" cy="1261111"/>
          </a:xfrm>
          <a:prstGeom prst="roundRect">
            <a:avLst>
              <a:gd name="adj" fmla="val 50000"/>
            </a:avLst>
          </a:prstGeom>
          <a:solidFill>
            <a:srgbClr val="A9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28800" y="1165860"/>
            <a:ext cx="1524000" cy="1093471"/>
          </a:xfrm>
          <a:prstGeom prst="roundRect">
            <a:avLst>
              <a:gd name="adj" fmla="val 6968"/>
            </a:avLst>
          </a:prstGeom>
          <a:solidFill>
            <a:srgbClr val="A9761A">
              <a:alpha val="8000"/>
            </a:srgbClr>
          </a:solidFill>
          <a:ln w="7620">
            <a:solidFill>
              <a:srgbClr val="A9761A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05200" y="1165860"/>
            <a:ext cx="1524000" cy="1093471"/>
          </a:xfrm>
          <a:prstGeom prst="roundRect">
            <a:avLst>
              <a:gd name="adj" fmla="val 6968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81600" y="1165860"/>
            <a:ext cx="1524000" cy="1093471"/>
          </a:xfrm>
          <a:prstGeom prst="roundRect">
            <a:avLst>
              <a:gd name="adj" fmla="val 6968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0" y="1165860"/>
            <a:ext cx="1524000" cy="1093471"/>
          </a:xfrm>
          <a:prstGeom prst="roundRect">
            <a:avLst>
              <a:gd name="adj" fmla="val 6968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34400" y="1165860"/>
            <a:ext cx="1524000" cy="1093471"/>
          </a:xfrm>
          <a:prstGeom prst="roundRect">
            <a:avLst>
              <a:gd name="adj" fmla="val 6968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210801" y="1165860"/>
            <a:ext cx="1524000" cy="1093471"/>
          </a:xfrm>
          <a:prstGeom prst="roundRect">
            <a:avLst>
              <a:gd name="adj" fmla="val 6968"/>
            </a:avLst>
          </a:prstGeom>
          <a:solidFill>
            <a:srgbClr val="A9761A">
              <a:alpha val="15000"/>
            </a:srgbClr>
          </a:solidFill>
          <a:ln w="7620">
            <a:solidFill>
              <a:srgbClr val="A9761A">
                <a:alpha val="4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900" y="2442211"/>
            <a:ext cx="11506200" cy="1276351"/>
          </a:xfrm>
          <a:prstGeom prst="roundRect">
            <a:avLst>
              <a:gd name="adj" fmla="val 8358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0520" y="2449831"/>
            <a:ext cx="30480" cy="1261108"/>
          </a:xfrm>
          <a:prstGeom prst="roundRect">
            <a:avLst>
              <a:gd name="adj" fmla="val 50000"/>
            </a:avLst>
          </a:prstGeom>
          <a:solidFill>
            <a:srgbClr val="A9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828800" y="2533651"/>
            <a:ext cx="1859280" cy="1093469"/>
          </a:xfrm>
          <a:prstGeom prst="roundRect">
            <a:avLst>
              <a:gd name="adj" fmla="val 6968"/>
            </a:avLst>
          </a:prstGeom>
          <a:solidFill>
            <a:srgbClr val="A9761A">
              <a:alpha val="8000"/>
            </a:srgbClr>
          </a:solidFill>
          <a:ln w="7620">
            <a:solidFill>
              <a:srgbClr val="A9761A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882140" y="3095029"/>
            <a:ext cx="1752600" cy="175021"/>
          </a:xfrm>
          <a:prstGeom prst="roundRect">
            <a:avLst>
              <a:gd name="adj" fmla="val 50000"/>
            </a:avLst>
          </a:prstGeom>
          <a:solidFill>
            <a:srgbClr val="DD7E2C">
              <a:alpha val="14000"/>
            </a:srgbClr>
          </a:solidFill>
          <a:ln w="7620">
            <a:solidFill>
              <a:srgbClr val="DD7E2C">
                <a:alpha val="4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840480" y="2533651"/>
            <a:ext cx="1859280" cy="1093469"/>
          </a:xfrm>
          <a:prstGeom prst="roundRect">
            <a:avLst>
              <a:gd name="adj" fmla="val 6968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852160" y="2533651"/>
            <a:ext cx="1859280" cy="1093469"/>
          </a:xfrm>
          <a:prstGeom prst="roundRect">
            <a:avLst>
              <a:gd name="adj" fmla="val 6968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863841" y="2533651"/>
            <a:ext cx="1859279" cy="1093469"/>
          </a:xfrm>
          <a:prstGeom prst="roundRect">
            <a:avLst>
              <a:gd name="adj" fmla="val 6968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875521" y="2533651"/>
            <a:ext cx="1859280" cy="1093469"/>
          </a:xfrm>
          <a:prstGeom prst="roundRect">
            <a:avLst>
              <a:gd name="adj" fmla="val 6968"/>
            </a:avLst>
          </a:prstGeom>
          <a:solidFill>
            <a:srgbClr val="A9761A">
              <a:alpha val="15000"/>
            </a:srgbClr>
          </a:solidFill>
          <a:ln w="7620">
            <a:solidFill>
              <a:srgbClr val="A9761A">
                <a:alpha val="4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928860" y="3095029"/>
            <a:ext cx="1752600" cy="175021"/>
          </a:xfrm>
          <a:prstGeom prst="roundRect">
            <a:avLst>
              <a:gd name="adj" fmla="val 50000"/>
            </a:avLst>
          </a:prstGeom>
          <a:solidFill>
            <a:srgbClr val="A9761A">
              <a:alpha val="14000"/>
            </a:srgbClr>
          </a:solidFill>
          <a:ln w="7620">
            <a:solidFill>
              <a:srgbClr val="A9761A">
                <a:alpha val="4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2900" y="3810000"/>
            <a:ext cx="11506200" cy="1276349"/>
          </a:xfrm>
          <a:prstGeom prst="roundRect">
            <a:avLst>
              <a:gd name="adj" fmla="val 8358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0520" y="3817620"/>
            <a:ext cx="30480" cy="1261110"/>
          </a:xfrm>
          <a:prstGeom prst="roundRect">
            <a:avLst>
              <a:gd name="adj" fmla="val 50000"/>
            </a:avLst>
          </a:prstGeom>
          <a:solidFill>
            <a:srgbClr val="A9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828800" y="3901438"/>
            <a:ext cx="1284565" cy="1093473"/>
          </a:xfrm>
          <a:prstGeom prst="roundRect">
            <a:avLst>
              <a:gd name="adj" fmla="val 6968"/>
            </a:avLst>
          </a:prstGeom>
          <a:solidFill>
            <a:srgbClr val="A9761A">
              <a:alpha val="8000"/>
            </a:srgbClr>
          </a:solidFill>
          <a:ln w="7620">
            <a:solidFill>
              <a:srgbClr val="A9761A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265765" y="3901438"/>
            <a:ext cx="1284565" cy="1093473"/>
          </a:xfrm>
          <a:prstGeom prst="roundRect">
            <a:avLst>
              <a:gd name="adj" fmla="val 6968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702731" y="3901438"/>
            <a:ext cx="1284566" cy="1093473"/>
          </a:xfrm>
          <a:prstGeom prst="roundRect">
            <a:avLst>
              <a:gd name="adj" fmla="val 6968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39696" y="3901438"/>
            <a:ext cx="1284566" cy="1093473"/>
          </a:xfrm>
          <a:prstGeom prst="roundRect">
            <a:avLst>
              <a:gd name="adj" fmla="val 6968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576661" y="3901438"/>
            <a:ext cx="1284565" cy="1093473"/>
          </a:xfrm>
          <a:prstGeom prst="roundRect">
            <a:avLst>
              <a:gd name="adj" fmla="val 6968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013626" y="3901438"/>
            <a:ext cx="1284566" cy="1093473"/>
          </a:xfrm>
          <a:prstGeom prst="roundRect">
            <a:avLst>
              <a:gd name="adj" fmla="val 6968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450592" y="3901438"/>
            <a:ext cx="1284565" cy="1093473"/>
          </a:xfrm>
          <a:prstGeom prst="roundRect">
            <a:avLst>
              <a:gd name="adj" fmla="val 6968"/>
            </a:avLst>
          </a:prstGeom>
          <a:solidFill>
            <a:srgbClr val="A9761A">
              <a:alpha val="15000"/>
            </a:srgbClr>
          </a:solidFill>
          <a:ln w="7620">
            <a:solidFill>
              <a:srgbClr val="A9761A">
                <a:alpha val="4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42900" y="5177791"/>
            <a:ext cx="11506200" cy="1276349"/>
          </a:xfrm>
          <a:prstGeom prst="roundRect">
            <a:avLst>
              <a:gd name="adj" fmla="val 8358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50520" y="5185411"/>
            <a:ext cx="30480" cy="1261110"/>
          </a:xfrm>
          <a:prstGeom prst="roundRect">
            <a:avLst>
              <a:gd name="adj" fmla="val 50000"/>
            </a:avLst>
          </a:prstGeom>
          <a:solidFill>
            <a:srgbClr val="A9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828800" y="5269229"/>
            <a:ext cx="2362200" cy="1093469"/>
          </a:xfrm>
          <a:prstGeom prst="roundRect">
            <a:avLst>
              <a:gd name="adj" fmla="val 6968"/>
            </a:avLst>
          </a:prstGeom>
          <a:solidFill>
            <a:srgbClr val="A9761A">
              <a:alpha val="8000"/>
            </a:srgbClr>
          </a:solidFill>
          <a:ln w="7620">
            <a:solidFill>
              <a:srgbClr val="A9761A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882140" y="5830611"/>
            <a:ext cx="2255520" cy="175021"/>
          </a:xfrm>
          <a:prstGeom prst="roundRect">
            <a:avLst>
              <a:gd name="adj" fmla="val 50000"/>
            </a:avLst>
          </a:prstGeom>
          <a:solidFill>
            <a:srgbClr val="8257E6">
              <a:alpha val="14000"/>
            </a:srgbClr>
          </a:solidFill>
          <a:ln w="7620">
            <a:solidFill>
              <a:srgbClr val="8257E6">
                <a:alpha val="4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343400" y="5269229"/>
            <a:ext cx="2362200" cy="1093469"/>
          </a:xfrm>
          <a:prstGeom prst="roundRect">
            <a:avLst>
              <a:gd name="adj" fmla="val 6968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858000" y="5269229"/>
            <a:ext cx="2362200" cy="1093469"/>
          </a:xfrm>
          <a:prstGeom prst="roundRect">
            <a:avLst>
              <a:gd name="adj" fmla="val 6968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372600" y="5269229"/>
            <a:ext cx="2362200" cy="1093469"/>
          </a:xfrm>
          <a:prstGeom prst="roundRect">
            <a:avLst>
              <a:gd name="adj" fmla="val 6968"/>
            </a:avLst>
          </a:prstGeom>
          <a:solidFill>
            <a:srgbClr val="A9761A">
              <a:alpha val="15000"/>
            </a:srgbClr>
          </a:solidFill>
          <a:ln w="7620">
            <a:solidFill>
              <a:srgbClr val="A9761A">
                <a:alpha val="4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2900" y="312419"/>
            <a:ext cx="2335887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1" spc="132">
                <a:solidFill>
                  <a:srgbClr val="78879F"/>
                </a:solidFill>
                <a:latin typeface="Calibri"/>
              </a:rPr>
              <a:t>AFFICHE SERVICE · CONTRAT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2900" y="457200"/>
            <a:ext cx="1726763" cy="36575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400" b="1" spc="-48">
                <a:solidFill>
                  <a:srgbClr val="0D1526"/>
                </a:solidFill>
                <a:latin typeface="Calibri"/>
              </a:rPr>
              <a:t>Contrat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2900" y="847249"/>
            <a:ext cx="3496747" cy="15239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40" b="0">
                <a:solidFill>
                  <a:srgbClr val="78879F"/>
                </a:solidFill>
                <a:latin typeface="Calibri"/>
              </a:rPr>
              <a:t>Flux de la donnée par mission — de son entrée à sa finalité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07792" y="361950"/>
            <a:ext cx="1488758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>
                <a:solidFill>
                  <a:srgbClr val="33415C"/>
                </a:solidFill>
                <a:latin typeface="Calibri"/>
              </a:rPr>
              <a:t>10 outils rattachés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0894" y="373380"/>
            <a:ext cx="1110258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1" spc="24">
                <a:solidFill>
                  <a:srgbClr val="5B57D6"/>
                </a:solidFill>
                <a:latin typeface="Calibri"/>
              </a:rPr>
              <a:t>4 missions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28985" y="567690"/>
            <a:ext cx="1605915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>
                <a:solidFill>
                  <a:srgbClr val="33415C"/>
                </a:solidFill>
                <a:latin typeface="Calibri"/>
              </a:rPr>
              <a:t>avec les autres pôles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10894" y="579120"/>
            <a:ext cx="1131451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1" spc="24">
                <a:solidFill>
                  <a:srgbClr val="78879F"/>
                </a:solidFill>
                <a:latin typeface="Calibri"/>
              </a:rPr>
              <a:t>4 échanges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1641158"/>
            <a:ext cx="1614249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0D1526"/>
                </a:solidFill>
                <a:latin typeface="Calibri"/>
              </a:rPr>
              <a:t>Gestion des contrats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14074" y="1614250"/>
            <a:ext cx="953452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A9761A"/>
                </a:solidFill>
                <a:latin typeface="Calibri"/>
              </a:rPr>
              <a:t>ENTRÉE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36790" y="1693426"/>
            <a:ext cx="1308021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Marché et avenants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04116" y="1640205"/>
            <a:ext cx="735568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00212" y="1555432"/>
            <a:ext cx="1333976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Dépôt documentaire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02963" y="1657708"/>
            <a:ext cx="1128355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SharePoint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97843" y="1765815"/>
            <a:ext cx="1138714" cy="990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80516" y="1640205"/>
            <a:ext cx="735568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88982" y="1555432"/>
            <a:ext cx="1509236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Mémoires et réclamations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46859" y="1657708"/>
            <a:ext cx="1193363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NotebookLM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80315" y="1765815"/>
            <a:ext cx="1126450" cy="990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interne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56916" y="1640205"/>
            <a:ext cx="735568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15056" y="1555432"/>
            <a:ext cx="1009888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Rédaction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70777" y="1657708"/>
            <a:ext cx="898446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Word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50643" y="1765815"/>
            <a:ext cx="1138714" cy="990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33316" y="1640205"/>
            <a:ext cx="735568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83347" y="1555432"/>
            <a:ext cx="1225986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Suivi contractuel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43963" y="1657708"/>
            <a:ext cx="904874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Excel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27044" y="1765815"/>
            <a:ext cx="1138713" cy="990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09716" y="1640205"/>
            <a:ext cx="735568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75714" y="1614250"/>
            <a:ext cx="994171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A9761A"/>
                </a:solidFill>
                <a:latin typeface="Calibri"/>
              </a:rPr>
              <a:t>FINALITÉ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16396" y="1693426"/>
            <a:ext cx="1512809" cy="106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Dossier contractuel à jour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2920" y="2952750"/>
            <a:ext cx="1642586" cy="1371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0D1526"/>
                </a:solidFill>
                <a:latin typeface="Calibri"/>
              </a:rPr>
              <a:t>Avancement et jalons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920" y="3065145"/>
            <a:ext cx="1048822" cy="13715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0D1526"/>
                </a:solidFill>
                <a:latin typeface="Calibri"/>
              </a:rPr>
              <a:t>chantier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281714" y="2875477"/>
            <a:ext cx="953452" cy="8382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A9761A"/>
                </a:solidFill>
                <a:latin typeface="Calibri"/>
              </a:rPr>
              <a:t>ENTRÉE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77760" y="2954656"/>
            <a:ext cx="1361361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Avancement chantier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277547" y="3102648"/>
            <a:ext cx="961787" cy="8382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09" b="1" spc="12">
                <a:solidFill>
                  <a:srgbClr val="DD7E2C"/>
                </a:solidFill>
                <a:latin typeface="Calibri"/>
              </a:rPr>
              <a:t>← Travaux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19776" y="3167301"/>
            <a:ext cx="1477327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09" b="1" spc="12">
                <a:solidFill>
                  <a:srgbClr val="DD7E2C"/>
                </a:solidFill>
                <a:latin typeface="Calibri"/>
              </a:rPr>
              <a:t>Avancement et jalons chantier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739396" y="3007995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203740" y="2923223"/>
            <a:ext cx="1132641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Consolidation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17683" y="3025497"/>
            <a:ext cx="904875" cy="12192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Excel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00763" y="3133606"/>
            <a:ext cx="1138714" cy="9905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751076" y="3007995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166961" y="2923223"/>
            <a:ext cx="1229558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Note de situation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32577" y="3025497"/>
            <a:ext cx="898446" cy="12192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Word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12443" y="3133606"/>
            <a:ext cx="1138714" cy="9905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762755" y="3007995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194119" y="2923223"/>
            <a:ext cx="119860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Tableau de bord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71153" y="3025497"/>
            <a:ext cx="1044535" cy="12192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Power BI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69367" y="3133606"/>
            <a:ext cx="1048107" cy="9905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auto · interne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774436" y="3007995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308074" y="2875477"/>
            <a:ext cx="994172" cy="8382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A9761A"/>
                </a:solidFill>
                <a:latin typeface="Calibri"/>
              </a:rPr>
              <a:t>FINALITÉ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030063" y="2954656"/>
            <a:ext cx="1550075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Situation mensuelle établie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330101" y="3102648"/>
            <a:ext cx="950119" cy="8382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09" b="1" spc="12">
                <a:solidFill>
                  <a:srgbClr val="A9761A"/>
                </a:solidFill>
                <a:latin typeface="Calibri"/>
              </a:rPr>
              <a:t>→ Contrat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101620" y="3167301"/>
            <a:ext cx="1406961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09" b="1" spc="12">
                <a:solidFill>
                  <a:srgbClr val="A9761A"/>
                </a:solidFill>
                <a:latin typeface="Calibri"/>
              </a:rPr>
              <a:t>Gestion des encaissements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02920" y="4320541"/>
            <a:ext cx="1220510" cy="13715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0D1526"/>
                </a:solidFill>
                <a:latin typeface="Calibri"/>
              </a:rPr>
              <a:t>Gestion des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02920" y="4432937"/>
            <a:ext cx="1356479" cy="13715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0D1526"/>
                </a:solidFill>
                <a:latin typeface="Calibri"/>
              </a:rPr>
              <a:t>encaissements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994297" y="4306254"/>
            <a:ext cx="953452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A9761A"/>
                </a:solidFill>
                <a:latin typeface="Calibri"/>
              </a:rPr>
              <a:t>ENTRÉE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866900" y="4385429"/>
            <a:ext cx="1223605" cy="2350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690"/>
              </a:lnSpc>
            </a:pPr>
            <a:r>
              <a:rPr sz="530" b="1">
                <a:solidFill>
                  <a:srgbClr val="33415C"/>
                </a:solidFill>
                <a:latin typeface="Calibri"/>
              </a:rPr>
              <a:t>Suivi des avancements et jalons · </a:t>
            </a:r>
            <a:r>
              <a:rPr sz="530" b="1">
                <a:solidFill>
                  <a:srgbClr val="0D1526"/>
                </a:solidFill>
                <a:latin typeface="Calibri"/>
              </a:rPr>
              <a:t>Excel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164681" y="4375786"/>
            <a:ext cx="735568" cy="1447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979777" y="4291011"/>
            <a:ext cx="1856541" cy="1066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Situation envoyée au maître d'œuvre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406735" y="4393288"/>
            <a:ext cx="1002506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Outlook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346371" y="4501397"/>
            <a:ext cx="1123355" cy="9905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AC597A"/>
                </a:solidFill>
                <a:latin typeface="Calibri"/>
              </a:rPr>
              <a:t>hors BDD · brief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601647" y="4375786"/>
            <a:ext cx="735568" cy="1447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681776" y="4291011"/>
            <a:ext cx="1326475" cy="1066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Circuit de validation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818102" y="4393288"/>
            <a:ext cx="1053822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E-Project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703445" y="4501397"/>
            <a:ext cx="1283017" cy="9905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int/ext TODO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038612" y="4375786"/>
            <a:ext cx="735568" cy="1447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925026" y="4345902"/>
            <a:ext cx="1713905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Validation et paiement du maître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280190" y="4432937"/>
            <a:ext cx="1003459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d'ouvrage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475578" y="4375786"/>
            <a:ext cx="735568" cy="1447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476887" y="4291011"/>
            <a:ext cx="1484115" cy="1066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Facture maître d'ouvrage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729299" y="4393288"/>
            <a:ext cx="979170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Chorus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657267" y="4501397"/>
            <a:ext cx="1123355" cy="9905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AC597A"/>
                </a:solidFill>
                <a:latin typeface="Calibri"/>
              </a:rPr>
              <a:t>hors BDD · brief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12543" y="4375786"/>
            <a:ext cx="735568" cy="1447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083873" y="4291011"/>
            <a:ext cx="1144072" cy="1066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Envoi par mail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154597" y="4393288"/>
            <a:ext cx="1002506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Outlook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094232" y="4501397"/>
            <a:ext cx="1123355" cy="9905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AC597A"/>
                </a:solidFill>
                <a:latin typeface="Calibri"/>
              </a:rPr>
              <a:t>hors BDD · brief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349508" y="4375786"/>
            <a:ext cx="735568" cy="1447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595729" y="4251366"/>
            <a:ext cx="994172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A9761A"/>
                </a:solidFill>
                <a:latin typeface="Calibri"/>
              </a:rPr>
              <a:t>FINALITÉ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327125" y="4330541"/>
            <a:ext cx="1531501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Dispatch entre partenaires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461189" y="4432815"/>
            <a:ext cx="1263373" cy="12192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Appli bancaire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531198" y="4540924"/>
            <a:ext cx="1123355" cy="9905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AC597A"/>
                </a:solidFill>
                <a:latin typeface="Calibri"/>
              </a:rPr>
              <a:t>hors BDD · brief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02920" y="5744526"/>
            <a:ext cx="1670566" cy="1371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0D1526"/>
                </a:solidFill>
                <a:latin typeface="Calibri"/>
              </a:rPr>
              <a:t>Facturation partenaire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533174" y="5611059"/>
            <a:ext cx="953452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A9761A"/>
                </a:solidFill>
                <a:latin typeface="Calibri"/>
              </a:rPr>
              <a:t>ENTRÉE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161699" y="5690234"/>
            <a:ext cx="1696403" cy="1066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Valorisation de la main-d'œuvre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576751" y="5838231"/>
            <a:ext cx="866299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09" b="1" spc="12">
                <a:solidFill>
                  <a:srgbClr val="8257E6"/>
                </a:solidFill>
                <a:latin typeface="Calibri"/>
              </a:rPr>
              <a:t>← DAF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339578" y="5902880"/>
            <a:ext cx="1340644" cy="8382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09" b="1" spc="12">
                <a:solidFill>
                  <a:srgbClr val="8257E6"/>
                </a:solidFill>
                <a:latin typeface="Calibri"/>
              </a:rPr>
              <a:t>Préfacturation partenaire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242316" y="5743573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889064" y="5658802"/>
            <a:ext cx="1270754" cy="1066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Facture partenaire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009078" y="5761076"/>
            <a:ext cx="1030724" cy="12192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Basware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961215" y="5869185"/>
            <a:ext cx="1126450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interne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756916" y="5743573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265908" y="5658802"/>
            <a:ext cx="1546265" cy="1066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Activation de la facturation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512129" y="5761076"/>
            <a:ext cx="1053823" cy="12192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E-Project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397592" y="5869185"/>
            <a:ext cx="1283017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int/ext TODO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271516" y="5743573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056614" y="5717619"/>
            <a:ext cx="994172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A9761A"/>
                </a:solidFill>
                <a:latin typeface="Calibri"/>
              </a:rPr>
              <a:t>FINALITÉ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925764" y="5796794"/>
            <a:ext cx="1255872" cy="1066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Partenaire facturé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42900" y="6507479"/>
            <a:ext cx="4419362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>
                <a:solidFill>
                  <a:srgbClr val="78879F"/>
                </a:solidFill>
                <a:latin typeface="Calibri"/>
              </a:rPr>
              <a:t>Chaînes issues du brief métier ; nature et alimentation reprises de la BDD. 4 échanges avec les autres pôles.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42900" y="6644640"/>
            <a:ext cx="2586990" cy="11429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>
                <a:solidFill>
                  <a:srgbClr val="78879F"/>
                </a:solidFill>
                <a:latin typeface="Calibri"/>
              </a:rPr>
              <a:t>Source : BDD Cartographie Outils IT — 16 entretiens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1344990" y="6644640"/>
            <a:ext cx="1189911" cy="11429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>
                <a:solidFill>
                  <a:srgbClr val="78879F"/>
                </a:solidFill>
                <a:latin typeface="Calibri"/>
              </a:rPr>
              <a:t>Planche 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285215" y="358140"/>
            <a:ext cx="561617" cy="144781"/>
          </a:xfrm>
          <a:prstGeom prst="roundRect">
            <a:avLst>
              <a:gd name="adj" fmla="val 50000"/>
            </a:avLst>
          </a:prstGeom>
          <a:solidFill>
            <a:srgbClr val="5B57D6">
              <a:alpha val="13000"/>
            </a:srgbClr>
          </a:solidFill>
          <a:ln w="7620">
            <a:solidFill>
              <a:srgbClr val="5B57D6">
                <a:alpha val="3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85215" y="563880"/>
            <a:ext cx="582810" cy="144781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2900" y="1770341"/>
            <a:ext cx="11506200" cy="1600198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0520" y="1777961"/>
            <a:ext cx="30480" cy="1584959"/>
          </a:xfrm>
          <a:prstGeom prst="roundRect">
            <a:avLst>
              <a:gd name="adj" fmla="val 50000"/>
            </a:avLst>
          </a:prstGeom>
          <a:solidFill>
            <a:srgbClr val="3A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28800" y="1861779"/>
            <a:ext cx="1158240" cy="1417322"/>
          </a:xfrm>
          <a:prstGeom prst="roundRect">
            <a:avLst>
              <a:gd name="adj" fmla="val 6578"/>
            </a:avLst>
          </a:prstGeom>
          <a:solidFill>
            <a:srgbClr val="3A6BE5">
              <a:alpha val="8000"/>
            </a:srgbClr>
          </a:solidFill>
          <a:ln w="7620">
            <a:solidFill>
              <a:srgbClr val="3A6BE5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98820" y="2426255"/>
            <a:ext cx="624840" cy="288252"/>
          </a:xfrm>
          <a:prstGeom prst="roundRect">
            <a:avLst>
              <a:gd name="adj" fmla="val 26435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69380" y="2426255"/>
            <a:ext cx="624840" cy="288252"/>
          </a:xfrm>
          <a:prstGeom prst="roundRect">
            <a:avLst>
              <a:gd name="adj" fmla="val 26435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9940" y="2426255"/>
            <a:ext cx="624840" cy="288252"/>
          </a:xfrm>
          <a:prstGeom prst="roundRect">
            <a:avLst>
              <a:gd name="adj" fmla="val 26435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576560" y="1861779"/>
            <a:ext cx="1158241" cy="1417322"/>
          </a:xfrm>
          <a:prstGeom prst="roundRect">
            <a:avLst>
              <a:gd name="adj" fmla="val 6578"/>
            </a:avLst>
          </a:prstGeom>
          <a:solidFill>
            <a:srgbClr val="3A6BE5">
              <a:alpha val="15000"/>
            </a:srgbClr>
          </a:solidFill>
          <a:ln w="7620">
            <a:solidFill>
              <a:srgbClr val="3A6BE5">
                <a:alpha val="4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900" y="4157901"/>
            <a:ext cx="11506200" cy="1600198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0520" y="4165521"/>
            <a:ext cx="30480" cy="1584959"/>
          </a:xfrm>
          <a:prstGeom prst="roundRect">
            <a:avLst>
              <a:gd name="adj" fmla="val 50000"/>
            </a:avLst>
          </a:prstGeom>
          <a:solidFill>
            <a:srgbClr val="3A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828800" y="4249339"/>
            <a:ext cx="1158240" cy="1417322"/>
          </a:xfrm>
          <a:prstGeom prst="roundRect">
            <a:avLst>
              <a:gd name="adj" fmla="val 6578"/>
            </a:avLst>
          </a:prstGeom>
          <a:solidFill>
            <a:srgbClr val="3A6BE5">
              <a:alpha val="8000"/>
            </a:srgbClr>
          </a:solidFill>
          <a:ln w="7620">
            <a:solidFill>
              <a:srgbClr val="3A6BE5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70734" y="4813815"/>
            <a:ext cx="624840" cy="288252"/>
          </a:xfrm>
          <a:prstGeom prst="roundRect">
            <a:avLst>
              <a:gd name="adj" fmla="val 26435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41294" y="4813815"/>
            <a:ext cx="624840" cy="288252"/>
          </a:xfrm>
          <a:prstGeom prst="roundRect">
            <a:avLst>
              <a:gd name="adj" fmla="val 26435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11855" y="4813815"/>
            <a:ext cx="624840" cy="288252"/>
          </a:xfrm>
          <a:prstGeom prst="roundRect">
            <a:avLst>
              <a:gd name="adj" fmla="val 26435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82415" y="4813815"/>
            <a:ext cx="624840" cy="288252"/>
          </a:xfrm>
          <a:prstGeom prst="roundRect">
            <a:avLst>
              <a:gd name="adj" fmla="val 26435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52975" y="4813815"/>
            <a:ext cx="624840" cy="288252"/>
          </a:xfrm>
          <a:prstGeom prst="roundRect">
            <a:avLst>
              <a:gd name="adj" fmla="val 26435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23534" y="4813815"/>
            <a:ext cx="743903" cy="288252"/>
          </a:xfrm>
          <a:prstGeom prst="roundRect">
            <a:avLst>
              <a:gd name="adj" fmla="val 26435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13157" y="4813815"/>
            <a:ext cx="624840" cy="288252"/>
          </a:xfrm>
          <a:prstGeom prst="roundRect">
            <a:avLst>
              <a:gd name="adj" fmla="val 26435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83717" y="4813815"/>
            <a:ext cx="809149" cy="288252"/>
          </a:xfrm>
          <a:prstGeom prst="roundRect">
            <a:avLst>
              <a:gd name="adj" fmla="val 26435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576560" y="4249339"/>
            <a:ext cx="1158241" cy="1417322"/>
          </a:xfrm>
          <a:prstGeom prst="roundRect">
            <a:avLst>
              <a:gd name="adj" fmla="val 6578"/>
            </a:avLst>
          </a:prstGeom>
          <a:solidFill>
            <a:srgbClr val="3A6BE5">
              <a:alpha val="15000"/>
            </a:srgbClr>
          </a:solidFill>
          <a:ln w="7620">
            <a:solidFill>
              <a:srgbClr val="3A6BE5">
                <a:alpha val="4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900" y="312421"/>
            <a:ext cx="2785467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1" spc="132">
                <a:solidFill>
                  <a:srgbClr val="78879F"/>
                </a:solidFill>
                <a:latin typeface="Calibri"/>
              </a:rPr>
              <a:t>AFFICHE SERVICE · MÉTHODES &amp; BIM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" y="457198"/>
            <a:ext cx="2971205" cy="3657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400" b="1" spc="-48">
                <a:solidFill>
                  <a:srgbClr val="0D1526"/>
                </a:solidFill>
                <a:latin typeface="Calibri"/>
              </a:rPr>
              <a:t>Méthodes &amp; BIM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" y="847249"/>
            <a:ext cx="3810714" cy="15239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40" b="0">
                <a:solidFill>
                  <a:srgbClr val="78879F"/>
                </a:solidFill>
                <a:latin typeface="Calibri"/>
              </a:rPr>
              <a:t>Missions et outils rattachés — processus non recueilli en entretien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07792" y="361948"/>
            <a:ext cx="1483757" cy="1371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>
                <a:solidFill>
                  <a:srgbClr val="33415C"/>
                </a:solidFill>
                <a:latin typeface="Calibri"/>
              </a:rPr>
              <a:t>11 outils rattachés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0894" y="373380"/>
            <a:ext cx="1110258" cy="11429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1" spc="24">
                <a:solidFill>
                  <a:srgbClr val="5B57D6"/>
                </a:solidFill>
                <a:latin typeface="Calibri"/>
              </a:rPr>
              <a:t>2 missions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8985" y="567692"/>
            <a:ext cx="1605915" cy="13715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>
                <a:solidFill>
                  <a:srgbClr val="33415C"/>
                </a:solidFill>
                <a:latin typeface="Calibri"/>
              </a:rPr>
              <a:t>avec les autres pôles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0894" y="579120"/>
            <a:ext cx="1131451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1" spc="24">
                <a:solidFill>
                  <a:srgbClr val="78879F"/>
                </a:solidFill>
                <a:latin typeface="Calibri"/>
              </a:rPr>
              <a:t>1 échanges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2444114"/>
            <a:ext cx="1807131" cy="1371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0D1526"/>
                </a:solidFill>
                <a:latin typeface="Calibri"/>
              </a:rPr>
              <a:t>Production de maquettes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2586989"/>
            <a:ext cx="1449943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480" b="1" spc="48">
                <a:solidFill>
                  <a:srgbClr val="78879F"/>
                </a:solidFill>
                <a:latin typeface="Calibri"/>
              </a:rPr>
              <a:t>ORDRE NON ATTESTÉ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51792" y="2472096"/>
            <a:ext cx="912257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3A6BE5"/>
                </a:solidFill>
                <a:latin typeface="Calibri"/>
              </a:rPr>
              <a:t>DÉBUT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45231" y="2551271"/>
            <a:ext cx="1125379" cy="1066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à documenter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38356" y="2498049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82007" y="2464354"/>
            <a:ext cx="1058346" cy="12192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AutoCAD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41883" y="2572463"/>
            <a:ext cx="1138714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5071" y="2464354"/>
            <a:ext cx="993338" cy="12192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Civil 3D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2443" y="2572463"/>
            <a:ext cx="1138714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06948" y="2464354"/>
            <a:ext cx="890825" cy="12192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Revit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83003" y="2572463"/>
            <a:ext cx="1138714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75476" y="2498049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58595" y="2472096"/>
            <a:ext cx="994171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3A6BE5"/>
                </a:solidFill>
                <a:latin typeface="Calibri"/>
              </a:rPr>
              <a:t>FINALITÉ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92991" y="2551271"/>
            <a:ext cx="1125379" cy="1066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à documenter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4831674"/>
            <a:ext cx="1713905" cy="1371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0D1526"/>
                </a:solidFill>
                <a:latin typeface="Calibri"/>
              </a:rPr>
              <a:t>Gestion des maquettes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4974549"/>
            <a:ext cx="1449943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480" b="1" spc="48">
                <a:solidFill>
                  <a:srgbClr val="78879F"/>
                </a:solidFill>
                <a:latin typeface="Calibri"/>
              </a:rPr>
              <a:t>ORDRE NON ATTESTÉ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51792" y="4859656"/>
            <a:ext cx="912257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3A6BE5"/>
                </a:solidFill>
                <a:latin typeface="Calibri"/>
              </a:rPr>
              <a:t>DÉBUT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45231" y="4938831"/>
            <a:ext cx="1125379" cy="1066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à documenter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38356" y="4885609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37610" y="4851918"/>
            <a:ext cx="1091089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Anaconda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13798" y="4960023"/>
            <a:ext cx="1138714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97336" y="4851918"/>
            <a:ext cx="1112758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BIM Vision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84358" y="4960023"/>
            <a:ext cx="1138714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15997" y="4851918"/>
            <a:ext cx="1016556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Inventor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54918" y="4960023"/>
            <a:ext cx="1138714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7041" y="4851918"/>
            <a:ext cx="895469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QGIS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25478" y="4960023"/>
            <a:ext cx="1138714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96514" y="4851918"/>
            <a:ext cx="1137642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Simple BIM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96038" y="4960023"/>
            <a:ext cx="1138714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56834" y="4851918"/>
            <a:ext cx="1277303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Sofistik Bridge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26129" y="4960023"/>
            <a:ext cx="1138714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59078" y="4851918"/>
            <a:ext cx="1132999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Mezzoteam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95392" y="4960023"/>
            <a:ext cx="1060370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auto · externe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17017" y="4851918"/>
            <a:ext cx="1342549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Trimble Connect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18935" y="4960023"/>
            <a:ext cx="1138714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75476" y="4885609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658595" y="4859656"/>
            <a:ext cx="994171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3A6BE5"/>
                </a:solidFill>
                <a:latin typeface="Calibri"/>
              </a:rPr>
              <a:t>FINALITÉ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92991" y="4938831"/>
            <a:ext cx="1125379" cy="1066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à documenter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2900" y="6507479"/>
            <a:ext cx="3324939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>
                <a:solidFill>
                  <a:srgbClr val="78879F"/>
                </a:solidFill>
                <a:latin typeface="Calibri"/>
              </a:rPr>
              <a:t>Alimentation et nature reprises de la BDD. Le processus reste à documenter.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2900" y="6644640"/>
            <a:ext cx="2586990" cy="11429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>
                <a:solidFill>
                  <a:srgbClr val="78879F"/>
                </a:solidFill>
                <a:latin typeface="Calibri"/>
              </a:rPr>
              <a:t>Source : BDD Cartographie Outils IT — 16 entretiens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344990" y="6644640"/>
            <a:ext cx="1189911" cy="11429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>
                <a:solidFill>
                  <a:srgbClr val="78879F"/>
                </a:solidFill>
                <a:latin typeface="Calibri"/>
              </a:rPr>
              <a:t>Planche 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285215" y="358140"/>
            <a:ext cx="561617" cy="144781"/>
          </a:xfrm>
          <a:prstGeom prst="roundRect">
            <a:avLst>
              <a:gd name="adj" fmla="val 50000"/>
            </a:avLst>
          </a:prstGeom>
          <a:solidFill>
            <a:srgbClr val="5B57D6">
              <a:alpha val="13000"/>
            </a:srgbClr>
          </a:solidFill>
          <a:ln w="7620">
            <a:solidFill>
              <a:srgbClr val="5B57D6">
                <a:alpha val="3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85215" y="563880"/>
            <a:ext cx="582810" cy="144781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2900" y="1074421"/>
            <a:ext cx="11506200" cy="820457"/>
          </a:xfrm>
          <a:prstGeom prst="roundRect">
            <a:avLst>
              <a:gd name="adj" fmla="val 13002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0520" y="1082041"/>
            <a:ext cx="30480" cy="805217"/>
          </a:xfrm>
          <a:prstGeom prst="roundRect">
            <a:avLst>
              <a:gd name="adj" fmla="val 50000"/>
            </a:avLst>
          </a:prstGeom>
          <a:solidFill>
            <a:srgbClr val="DD7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28800" y="1165860"/>
            <a:ext cx="1524000" cy="637580"/>
          </a:xfrm>
          <a:prstGeom prst="roundRect">
            <a:avLst>
              <a:gd name="adj" fmla="val 11951"/>
            </a:avLst>
          </a:prstGeom>
          <a:solidFill>
            <a:srgbClr val="DD7E2C">
              <a:alpha val="8000"/>
            </a:srgbClr>
          </a:solidFill>
          <a:ln w="7620">
            <a:solidFill>
              <a:srgbClr val="DD7E2C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05200" y="1165860"/>
            <a:ext cx="1524000" cy="637580"/>
          </a:xfrm>
          <a:prstGeom prst="roundRect">
            <a:avLst>
              <a:gd name="adj" fmla="val 11951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81600" y="1165860"/>
            <a:ext cx="1524000" cy="637580"/>
          </a:xfrm>
          <a:prstGeom prst="roundRect">
            <a:avLst>
              <a:gd name="adj" fmla="val 11951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0" y="1165860"/>
            <a:ext cx="1524000" cy="637580"/>
          </a:xfrm>
          <a:prstGeom prst="roundRect">
            <a:avLst>
              <a:gd name="adj" fmla="val 11951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34400" y="1165860"/>
            <a:ext cx="1524000" cy="637580"/>
          </a:xfrm>
          <a:prstGeom prst="roundRect">
            <a:avLst>
              <a:gd name="adj" fmla="val 11951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210801" y="1165860"/>
            <a:ext cx="1524000" cy="637580"/>
          </a:xfrm>
          <a:prstGeom prst="roundRect">
            <a:avLst>
              <a:gd name="adj" fmla="val 11951"/>
            </a:avLst>
          </a:prstGeom>
          <a:solidFill>
            <a:srgbClr val="DD7E2C">
              <a:alpha val="15000"/>
            </a:srgbClr>
          </a:solidFill>
          <a:ln w="7620">
            <a:solidFill>
              <a:srgbClr val="DD7E2C">
                <a:alpha val="4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900" y="1986320"/>
            <a:ext cx="11506200" cy="820461"/>
          </a:xfrm>
          <a:prstGeom prst="roundRect">
            <a:avLst>
              <a:gd name="adj" fmla="val 13002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0520" y="1993940"/>
            <a:ext cx="30480" cy="805221"/>
          </a:xfrm>
          <a:prstGeom prst="roundRect">
            <a:avLst>
              <a:gd name="adj" fmla="val 50000"/>
            </a:avLst>
          </a:prstGeom>
          <a:solidFill>
            <a:srgbClr val="DD7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828800" y="2077758"/>
            <a:ext cx="1859280" cy="637580"/>
          </a:xfrm>
          <a:prstGeom prst="roundRect">
            <a:avLst>
              <a:gd name="adj" fmla="val 11951"/>
            </a:avLst>
          </a:prstGeom>
          <a:solidFill>
            <a:srgbClr val="DD7E2C">
              <a:alpha val="8000"/>
            </a:srgbClr>
          </a:solidFill>
          <a:ln w="7620">
            <a:solidFill>
              <a:srgbClr val="DD7E2C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840480" y="2077758"/>
            <a:ext cx="1859280" cy="637580"/>
          </a:xfrm>
          <a:prstGeom prst="roundRect">
            <a:avLst>
              <a:gd name="adj" fmla="val 11951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852160" y="2077758"/>
            <a:ext cx="1859280" cy="637580"/>
          </a:xfrm>
          <a:prstGeom prst="roundRect">
            <a:avLst>
              <a:gd name="adj" fmla="val 11951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863841" y="2077758"/>
            <a:ext cx="1859279" cy="637580"/>
          </a:xfrm>
          <a:prstGeom prst="roundRect">
            <a:avLst>
              <a:gd name="adj" fmla="val 11951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1" y="2077758"/>
            <a:ext cx="1859280" cy="637580"/>
          </a:xfrm>
          <a:prstGeom prst="roundRect">
            <a:avLst>
              <a:gd name="adj" fmla="val 11951"/>
            </a:avLst>
          </a:prstGeom>
          <a:solidFill>
            <a:srgbClr val="DD7E2C">
              <a:alpha val="15000"/>
            </a:srgbClr>
          </a:solidFill>
          <a:ln w="7620">
            <a:solidFill>
              <a:srgbClr val="DD7E2C">
                <a:alpha val="4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928860" y="2304695"/>
            <a:ext cx="1752600" cy="175021"/>
          </a:xfrm>
          <a:prstGeom prst="roundRect">
            <a:avLst>
              <a:gd name="adj" fmla="val 50000"/>
            </a:avLst>
          </a:prstGeom>
          <a:solidFill>
            <a:srgbClr val="A9761A">
              <a:alpha val="14000"/>
            </a:srgbClr>
          </a:solidFill>
          <a:ln w="7620">
            <a:solidFill>
              <a:srgbClr val="A9761A">
                <a:alpha val="4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928860" y="2517815"/>
            <a:ext cx="1752600" cy="175021"/>
          </a:xfrm>
          <a:prstGeom prst="roundRect">
            <a:avLst>
              <a:gd name="adj" fmla="val 50000"/>
            </a:avLst>
          </a:prstGeom>
          <a:solidFill>
            <a:srgbClr val="5B57D6">
              <a:alpha val="14000"/>
            </a:srgbClr>
          </a:solidFill>
          <a:ln w="7620">
            <a:solidFill>
              <a:srgbClr val="5B57D6">
                <a:alpha val="4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2900" y="2898219"/>
            <a:ext cx="11506200" cy="820461"/>
          </a:xfrm>
          <a:prstGeom prst="roundRect">
            <a:avLst>
              <a:gd name="adj" fmla="val 13002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0520" y="2905839"/>
            <a:ext cx="30480" cy="805221"/>
          </a:xfrm>
          <a:prstGeom prst="roundRect">
            <a:avLst>
              <a:gd name="adj" fmla="val 50000"/>
            </a:avLst>
          </a:prstGeom>
          <a:solidFill>
            <a:srgbClr val="DD7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828800" y="2989661"/>
            <a:ext cx="1859280" cy="637577"/>
          </a:xfrm>
          <a:prstGeom prst="roundRect">
            <a:avLst>
              <a:gd name="adj" fmla="val 11951"/>
            </a:avLst>
          </a:prstGeom>
          <a:solidFill>
            <a:srgbClr val="DD7E2C">
              <a:alpha val="8000"/>
            </a:srgbClr>
          </a:solidFill>
          <a:ln w="7620">
            <a:solidFill>
              <a:srgbClr val="DD7E2C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840480" y="2989661"/>
            <a:ext cx="1859280" cy="637577"/>
          </a:xfrm>
          <a:prstGeom prst="roundRect">
            <a:avLst>
              <a:gd name="adj" fmla="val 11951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852160" y="2989661"/>
            <a:ext cx="1859280" cy="637577"/>
          </a:xfrm>
          <a:prstGeom prst="roundRect">
            <a:avLst>
              <a:gd name="adj" fmla="val 11951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863841" y="2989661"/>
            <a:ext cx="1859279" cy="637577"/>
          </a:xfrm>
          <a:prstGeom prst="roundRect">
            <a:avLst>
              <a:gd name="adj" fmla="val 11951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875521" y="2989661"/>
            <a:ext cx="1859280" cy="637577"/>
          </a:xfrm>
          <a:prstGeom prst="roundRect">
            <a:avLst>
              <a:gd name="adj" fmla="val 11951"/>
            </a:avLst>
          </a:prstGeom>
          <a:solidFill>
            <a:srgbClr val="DD7E2C">
              <a:alpha val="15000"/>
            </a:srgbClr>
          </a:solidFill>
          <a:ln w="7620">
            <a:solidFill>
              <a:srgbClr val="DD7E2C">
                <a:alpha val="4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928860" y="3323036"/>
            <a:ext cx="1752600" cy="175021"/>
          </a:xfrm>
          <a:prstGeom prst="roundRect">
            <a:avLst>
              <a:gd name="adj" fmla="val 50000"/>
            </a:avLst>
          </a:prstGeom>
          <a:solidFill>
            <a:srgbClr val="8257E6">
              <a:alpha val="14000"/>
            </a:srgbClr>
          </a:solidFill>
          <a:ln w="7620">
            <a:solidFill>
              <a:srgbClr val="8257E6">
                <a:alpha val="4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2900" y="3810118"/>
            <a:ext cx="11506200" cy="820461"/>
          </a:xfrm>
          <a:prstGeom prst="roundRect">
            <a:avLst>
              <a:gd name="adj" fmla="val 13002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50520" y="3817738"/>
            <a:ext cx="30480" cy="805221"/>
          </a:xfrm>
          <a:prstGeom prst="roundRect">
            <a:avLst>
              <a:gd name="adj" fmla="val 50000"/>
            </a:avLst>
          </a:prstGeom>
          <a:solidFill>
            <a:srgbClr val="DD7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828800" y="3901560"/>
            <a:ext cx="2362200" cy="637580"/>
          </a:xfrm>
          <a:prstGeom prst="roundRect">
            <a:avLst>
              <a:gd name="adj" fmla="val 11951"/>
            </a:avLst>
          </a:prstGeom>
          <a:solidFill>
            <a:srgbClr val="DD7E2C">
              <a:alpha val="8000"/>
            </a:srgbClr>
          </a:solidFill>
          <a:ln w="7620">
            <a:solidFill>
              <a:srgbClr val="DD7E2C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343400" y="3901560"/>
            <a:ext cx="2362200" cy="637580"/>
          </a:xfrm>
          <a:prstGeom prst="roundRect">
            <a:avLst>
              <a:gd name="adj" fmla="val 11951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858000" y="3901560"/>
            <a:ext cx="2362200" cy="637580"/>
          </a:xfrm>
          <a:prstGeom prst="roundRect">
            <a:avLst>
              <a:gd name="adj" fmla="val 11951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72600" y="3901560"/>
            <a:ext cx="2362200" cy="637580"/>
          </a:xfrm>
          <a:prstGeom prst="roundRect">
            <a:avLst>
              <a:gd name="adj" fmla="val 11951"/>
            </a:avLst>
          </a:prstGeom>
          <a:solidFill>
            <a:srgbClr val="DD7E2C">
              <a:alpha val="15000"/>
            </a:srgbClr>
          </a:solidFill>
          <a:ln w="7620">
            <a:solidFill>
              <a:srgbClr val="DD7E2C">
                <a:alpha val="4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425940" y="4234935"/>
            <a:ext cx="2255521" cy="175021"/>
          </a:xfrm>
          <a:prstGeom prst="roundRect">
            <a:avLst>
              <a:gd name="adj" fmla="val 50000"/>
            </a:avLst>
          </a:prstGeom>
          <a:solidFill>
            <a:srgbClr val="8257E6">
              <a:alpha val="14000"/>
            </a:srgbClr>
          </a:solidFill>
          <a:ln w="7620">
            <a:solidFill>
              <a:srgbClr val="8257E6">
                <a:alpha val="4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2900" y="4722020"/>
            <a:ext cx="11506200" cy="820457"/>
          </a:xfrm>
          <a:prstGeom prst="roundRect">
            <a:avLst>
              <a:gd name="adj" fmla="val 13002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50520" y="4729640"/>
            <a:ext cx="30480" cy="805217"/>
          </a:xfrm>
          <a:prstGeom prst="roundRect">
            <a:avLst>
              <a:gd name="adj" fmla="val 50000"/>
            </a:avLst>
          </a:prstGeom>
          <a:solidFill>
            <a:srgbClr val="DD7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828800" y="4813458"/>
            <a:ext cx="2362200" cy="637580"/>
          </a:xfrm>
          <a:prstGeom prst="roundRect">
            <a:avLst>
              <a:gd name="adj" fmla="val 11951"/>
            </a:avLst>
          </a:prstGeom>
          <a:solidFill>
            <a:srgbClr val="DD7E2C">
              <a:alpha val="8000"/>
            </a:srgbClr>
          </a:solidFill>
          <a:ln w="7620">
            <a:solidFill>
              <a:srgbClr val="DD7E2C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882140" y="5146833"/>
            <a:ext cx="2255520" cy="175021"/>
          </a:xfrm>
          <a:prstGeom prst="roundRect">
            <a:avLst>
              <a:gd name="adj" fmla="val 50000"/>
            </a:avLst>
          </a:prstGeom>
          <a:solidFill>
            <a:srgbClr val="8257E6">
              <a:alpha val="14000"/>
            </a:srgbClr>
          </a:solidFill>
          <a:ln w="7620">
            <a:solidFill>
              <a:srgbClr val="8257E6">
                <a:alpha val="4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343400" y="4813458"/>
            <a:ext cx="2362200" cy="637580"/>
          </a:xfrm>
          <a:prstGeom prst="roundRect">
            <a:avLst>
              <a:gd name="adj" fmla="val 11951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858000" y="4813458"/>
            <a:ext cx="2362200" cy="637580"/>
          </a:xfrm>
          <a:prstGeom prst="roundRect">
            <a:avLst>
              <a:gd name="adj" fmla="val 11951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372600" y="4813458"/>
            <a:ext cx="2362200" cy="637580"/>
          </a:xfrm>
          <a:prstGeom prst="roundRect">
            <a:avLst>
              <a:gd name="adj" fmla="val 11951"/>
            </a:avLst>
          </a:prstGeom>
          <a:solidFill>
            <a:srgbClr val="DD7E2C">
              <a:alpha val="15000"/>
            </a:srgbClr>
          </a:solidFill>
          <a:ln w="7620">
            <a:solidFill>
              <a:srgbClr val="DD7E2C">
                <a:alpha val="4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42900" y="5633919"/>
            <a:ext cx="11506200" cy="820461"/>
          </a:xfrm>
          <a:prstGeom prst="roundRect">
            <a:avLst>
              <a:gd name="adj" fmla="val 13002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50520" y="5641539"/>
            <a:ext cx="30480" cy="805221"/>
          </a:xfrm>
          <a:prstGeom prst="roundRect">
            <a:avLst>
              <a:gd name="adj" fmla="val 50000"/>
            </a:avLst>
          </a:prstGeom>
          <a:solidFill>
            <a:srgbClr val="DD7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828800" y="5725357"/>
            <a:ext cx="2362200" cy="637580"/>
          </a:xfrm>
          <a:prstGeom prst="roundRect">
            <a:avLst>
              <a:gd name="adj" fmla="val 11951"/>
            </a:avLst>
          </a:prstGeom>
          <a:solidFill>
            <a:srgbClr val="DD7E2C">
              <a:alpha val="8000"/>
            </a:srgbClr>
          </a:solidFill>
          <a:ln w="7620">
            <a:solidFill>
              <a:srgbClr val="DD7E2C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343400" y="5725357"/>
            <a:ext cx="2362200" cy="637580"/>
          </a:xfrm>
          <a:prstGeom prst="roundRect">
            <a:avLst>
              <a:gd name="adj" fmla="val 11951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858000" y="5725357"/>
            <a:ext cx="2362200" cy="637580"/>
          </a:xfrm>
          <a:prstGeom prst="roundRect">
            <a:avLst>
              <a:gd name="adj" fmla="val 11951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372600" y="5725357"/>
            <a:ext cx="2362200" cy="637580"/>
          </a:xfrm>
          <a:prstGeom prst="roundRect">
            <a:avLst>
              <a:gd name="adj" fmla="val 11951"/>
            </a:avLst>
          </a:prstGeom>
          <a:solidFill>
            <a:srgbClr val="DD7E2C">
              <a:alpha val="15000"/>
            </a:srgbClr>
          </a:solidFill>
          <a:ln w="7620">
            <a:solidFill>
              <a:srgbClr val="DD7E2C">
                <a:alpha val="4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2900" y="312421"/>
            <a:ext cx="2325052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1" spc="132">
                <a:solidFill>
                  <a:srgbClr val="78879F"/>
                </a:solidFill>
                <a:latin typeface="Calibri"/>
              </a:rPr>
              <a:t>AFFICHE SERVICE · TRAVAUX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2900" y="457198"/>
            <a:ext cx="1795462" cy="3657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400" b="1" spc="-48">
                <a:solidFill>
                  <a:srgbClr val="0D1526"/>
                </a:solidFill>
                <a:latin typeface="Calibri"/>
              </a:rPr>
              <a:t>Travaux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2900" y="847249"/>
            <a:ext cx="3496747" cy="15239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40" b="0">
                <a:solidFill>
                  <a:srgbClr val="78879F"/>
                </a:solidFill>
                <a:latin typeface="Calibri"/>
              </a:rPr>
              <a:t>Flux de la donnée par mission — de son entrée à sa finalité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07792" y="361948"/>
            <a:ext cx="1488758" cy="1371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>
                <a:solidFill>
                  <a:srgbClr val="33415C"/>
                </a:solidFill>
                <a:latin typeface="Calibri"/>
              </a:rPr>
              <a:t>14 outils rattachés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10894" y="373380"/>
            <a:ext cx="1110258" cy="11429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1" spc="24">
                <a:solidFill>
                  <a:srgbClr val="5B57D6"/>
                </a:solidFill>
                <a:latin typeface="Calibri"/>
              </a:rPr>
              <a:t>6 missions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28985" y="567692"/>
            <a:ext cx="1605915" cy="13715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>
                <a:solidFill>
                  <a:srgbClr val="33415C"/>
                </a:solidFill>
                <a:latin typeface="Calibri"/>
              </a:rPr>
              <a:t>avec les autres pôles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10894" y="579120"/>
            <a:ext cx="1131451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1" spc="24">
                <a:solidFill>
                  <a:srgbClr val="78879F"/>
                </a:solidFill>
                <a:latin typeface="Calibri"/>
              </a:rPr>
              <a:t>5 échanges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1356955"/>
            <a:ext cx="1665208" cy="1371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0D1526"/>
                </a:solidFill>
                <a:latin typeface="Calibri"/>
              </a:rPr>
              <a:t>Gestion de chantier et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1469351"/>
            <a:ext cx="1101805" cy="13715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0D1526"/>
                </a:solidFill>
                <a:latin typeface="Calibri"/>
              </a:rPr>
              <a:t>imprévus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14074" y="1386246"/>
            <a:ext cx="953452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DD7E2C"/>
                </a:solidFill>
                <a:latin typeface="Calibri"/>
              </a:rPr>
              <a:t>ENTRÉE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66900" y="1465421"/>
            <a:ext cx="1463040" cy="14799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690"/>
              </a:lnSpc>
            </a:pPr>
            <a:r>
              <a:rPr sz="530" b="1">
                <a:solidFill>
                  <a:srgbClr val="33415C"/>
                </a:solidFill>
                <a:latin typeface="Calibri"/>
              </a:rPr>
              <a:t>Relevé terrain · </a:t>
            </a:r>
            <a:r>
              <a:rPr sz="530" b="1">
                <a:solidFill>
                  <a:srgbClr val="0D1526"/>
                </a:solidFill>
                <a:latin typeface="Calibri"/>
              </a:rPr>
              <a:t>Quick Connect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04116" y="1412200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94497" y="1327429"/>
            <a:ext cx="1345406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Constats et réserves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24037" y="1429703"/>
            <a:ext cx="1086327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IDCapture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97843" y="1537812"/>
            <a:ext cx="1138714" cy="9905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80516" y="1412200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95186" y="1327429"/>
            <a:ext cx="1296829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Plans et maquettes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72326" y="1429703"/>
            <a:ext cx="1342549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Trimble Connect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74243" y="1537812"/>
            <a:ext cx="1138714" cy="9905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56916" y="1412200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02768" y="1327429"/>
            <a:ext cx="1434465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Diffusion documentaire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053501" y="1429703"/>
            <a:ext cx="1132998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Mezzoteam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089815" y="1537812"/>
            <a:ext cx="1060371" cy="9905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auto · externe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433316" y="1412200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79181" y="1327429"/>
            <a:ext cx="1234440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Suivi d'exécution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843963" y="1429703"/>
            <a:ext cx="904874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Excel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727044" y="1537812"/>
            <a:ext cx="1138713" cy="9905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109716" y="1412200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475714" y="1386246"/>
            <a:ext cx="994171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DD7E2C"/>
                </a:solidFill>
                <a:latin typeface="Calibri"/>
              </a:rPr>
              <a:t>FINALITÉ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119479" y="1465421"/>
            <a:ext cx="1706523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Chantier piloté, imprévus tracés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2920" y="2268854"/>
            <a:ext cx="1642586" cy="1371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0D1526"/>
                </a:solidFill>
                <a:latin typeface="Calibri"/>
              </a:rPr>
              <a:t>Avancement et jalons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2920" y="2381250"/>
            <a:ext cx="1048822" cy="1371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0D1526"/>
                </a:solidFill>
                <a:latin typeface="Calibri"/>
              </a:rPr>
              <a:t>chantier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281714" y="2298145"/>
            <a:ext cx="953452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DD7E2C"/>
                </a:solidFill>
                <a:latin typeface="Calibri"/>
              </a:rPr>
              <a:t>ENTRÉE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103834" y="2377320"/>
            <a:ext cx="1309211" cy="1066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Avancement terrain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739396" y="2324099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227909" y="2239328"/>
            <a:ext cx="108442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Planification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210526" y="2341601"/>
            <a:ext cx="1119068" cy="12192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MS Project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200763" y="2449711"/>
            <a:ext cx="1138714" cy="9905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751076" y="2324099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068259" y="2239328"/>
            <a:ext cx="1427083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Adhérence au planning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341031" y="2341601"/>
            <a:ext cx="881420" cy="12192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MMS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218515" y="2449711"/>
            <a:ext cx="1126450" cy="9905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interne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762755" y="2324099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194119" y="2239328"/>
            <a:ext cx="119860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Tableau de bord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271153" y="2341601"/>
            <a:ext cx="1044535" cy="12192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Power BI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269367" y="2449711"/>
            <a:ext cx="1048107" cy="9905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auto · interne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74436" y="2324099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308074" y="2085142"/>
            <a:ext cx="994172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DD7E2C"/>
                </a:solidFill>
                <a:latin typeface="Calibri"/>
              </a:rPr>
              <a:t>FINALITÉ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257354" y="2164318"/>
            <a:ext cx="1095613" cy="1066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Jalons tenus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330101" y="2312314"/>
            <a:ext cx="950119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09" b="1" spc="12">
                <a:solidFill>
                  <a:srgbClr val="A9761A"/>
                </a:solidFill>
                <a:latin typeface="Calibri"/>
              </a:rPr>
              <a:t>→ Contrat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066497" y="2376963"/>
            <a:ext cx="1477327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09" b="1" spc="12">
                <a:solidFill>
                  <a:srgbClr val="A9761A"/>
                </a:solidFill>
                <a:latin typeface="Calibri"/>
              </a:rPr>
              <a:t>Avancement et jalons chantier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308312" y="2525435"/>
            <a:ext cx="993577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09" b="1" spc="12">
                <a:solidFill>
                  <a:srgbClr val="5B57D6"/>
                </a:solidFill>
                <a:latin typeface="Calibri"/>
              </a:rPr>
              <a:t>→ Direction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254854" y="2590087"/>
            <a:ext cx="1100614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09" b="1" spc="12">
                <a:solidFill>
                  <a:srgbClr val="5B57D6"/>
                </a:solidFill>
                <a:latin typeface="Calibri"/>
              </a:rPr>
              <a:t>Récolte des KPI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02920" y="3180753"/>
            <a:ext cx="1580078" cy="1371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0D1526"/>
                </a:solidFill>
                <a:latin typeface="Calibri"/>
              </a:rPr>
              <a:t>Commande matériel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02920" y="3293148"/>
            <a:ext cx="1048822" cy="1371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0D1526"/>
                </a:solidFill>
                <a:latin typeface="Calibri"/>
              </a:rPr>
              <a:t>chantier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281714" y="3210044"/>
            <a:ext cx="953452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DD7E2C"/>
                </a:solidFill>
                <a:latin typeface="Calibri"/>
              </a:rPr>
              <a:t>ENTRÉE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165866" y="3289219"/>
            <a:ext cx="1185029" cy="1066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Besoin matériel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739396" y="3236002"/>
            <a:ext cx="735568" cy="1447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090035" y="3151226"/>
            <a:ext cx="1360170" cy="1066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Demande de matériel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285060" y="3253500"/>
            <a:ext cx="970002" cy="12192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Traktor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206836" y="3361609"/>
            <a:ext cx="1126450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interne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751076" y="3236002"/>
            <a:ext cx="735568" cy="1447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083142" y="3151226"/>
            <a:ext cx="1397198" cy="1066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Coffrage, grue, engins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254115" y="3253500"/>
            <a:ext cx="1055370" cy="12192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ERP MAT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218515" y="3361609"/>
            <a:ext cx="1126450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interne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762755" y="3236002"/>
            <a:ext cx="735568" cy="1447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150661" y="3151226"/>
            <a:ext cx="1285518" cy="1066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Bon de commande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336399" y="3253500"/>
            <a:ext cx="914042" cy="12192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Pablo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224123" y="3361609"/>
            <a:ext cx="1138714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774436" y="3236002"/>
            <a:ext cx="735568" cy="1447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308074" y="3103484"/>
            <a:ext cx="994172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DD7E2C"/>
                </a:solidFill>
                <a:latin typeface="Calibri"/>
              </a:rPr>
              <a:t>FINALITÉ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061734" y="3182659"/>
            <a:ext cx="1486852" cy="1066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Matériel mobilisé sur site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372011" y="3330655"/>
            <a:ext cx="866299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09" b="1" spc="12">
                <a:solidFill>
                  <a:srgbClr val="8257E6"/>
                </a:solidFill>
                <a:latin typeface="Calibri"/>
              </a:rPr>
              <a:t>→ DAF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201394" y="3395305"/>
            <a:ext cx="1207413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09" b="1" spc="12">
                <a:solidFill>
                  <a:srgbClr val="8257E6"/>
                </a:solidFill>
                <a:latin typeface="Calibri"/>
              </a:rPr>
              <a:t>Contrôle budgétaire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02920" y="4092655"/>
            <a:ext cx="1606391" cy="2495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0D1526"/>
                </a:solidFill>
                <a:latin typeface="Calibri"/>
              </a:rPr>
              <a:t>Commande de main-d'œuvre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533174" y="4121943"/>
            <a:ext cx="953452" cy="8382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DD7E2C"/>
                </a:solidFill>
                <a:latin typeface="Calibri"/>
              </a:rPr>
              <a:t>ENTRÉE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277189" y="4201122"/>
            <a:ext cx="146530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Besoin en main-d'œuvre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242316" y="4147900"/>
            <a:ext cx="735568" cy="1447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892873" y="4063129"/>
            <a:ext cx="1263253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Demande par mail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023247" y="4165403"/>
            <a:ext cx="1002506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Outlook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962763" y="4273512"/>
            <a:ext cx="1123355" cy="9905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AC597A"/>
                </a:solidFill>
                <a:latin typeface="Calibri"/>
              </a:rPr>
              <a:t>hors BDD · brief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756916" y="4147900"/>
            <a:ext cx="735568" cy="1447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246858" y="4161591"/>
            <a:ext cx="1584485" cy="1066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Contact de la boîte d'intérim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271516" y="4147900"/>
            <a:ext cx="735568" cy="1447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0056614" y="4015383"/>
            <a:ext cx="994172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DD7E2C"/>
                </a:solidFill>
                <a:latin typeface="Calibri"/>
              </a:rPr>
              <a:t>FINALITÉ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743242" y="4094558"/>
            <a:ext cx="1620917" cy="1066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Personnel affecté au chantier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120551" y="4242554"/>
            <a:ext cx="866299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09" b="1" spc="12">
                <a:solidFill>
                  <a:srgbClr val="8257E6"/>
                </a:solidFill>
                <a:latin typeface="Calibri"/>
              </a:rPr>
              <a:t>→ DAF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826347" y="4307207"/>
            <a:ext cx="1454586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09" b="1" spc="12">
                <a:solidFill>
                  <a:srgbClr val="8257E6"/>
                </a:solidFill>
                <a:latin typeface="Calibri"/>
              </a:rPr>
              <a:t>Gestion du personnel et paye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02920" y="5005982"/>
            <a:ext cx="1572697" cy="1371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0D1526"/>
                </a:solidFill>
                <a:latin typeface="Calibri"/>
              </a:rPr>
              <a:t>Contrôle budgétaire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02920" y="5148857"/>
            <a:ext cx="1540431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480" b="1" spc="48">
                <a:solidFill>
                  <a:srgbClr val="78879F"/>
                </a:solidFill>
                <a:latin typeface="Calibri"/>
              </a:rPr>
              <a:t>CONJOINT AVEC LA DAF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33174" y="4927281"/>
            <a:ext cx="953452" cy="8382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DD7E2C"/>
                </a:solidFill>
                <a:latin typeface="Calibri"/>
              </a:rPr>
              <a:t>ENTRÉE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234803" y="5006460"/>
            <a:ext cx="1550194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Dépenses chantier (PC100)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576751" y="5154453"/>
            <a:ext cx="866299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09" b="1" spc="12">
                <a:solidFill>
                  <a:srgbClr val="8257E6"/>
                </a:solidFill>
                <a:latin typeface="Calibri"/>
              </a:rPr>
              <a:t>← DAF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406134" y="5219106"/>
            <a:ext cx="1207413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09" b="1" spc="12">
                <a:solidFill>
                  <a:srgbClr val="8257E6"/>
                </a:solidFill>
                <a:latin typeface="Calibri"/>
              </a:rPr>
              <a:t>Contrôle budgétaire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242316" y="5059799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842510" y="4975028"/>
            <a:ext cx="1363861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Ventilation par atelier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072063" y="5077302"/>
            <a:ext cx="904875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Excel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955143" y="5185411"/>
            <a:ext cx="1138714" cy="9905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756916" y="5059799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392472" y="4975028"/>
            <a:ext cx="1293256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Analyse des écarts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586662" y="5077302"/>
            <a:ext cx="904875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Excel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469743" y="5185411"/>
            <a:ext cx="1138714" cy="9905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271516" y="5059799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056614" y="5033845"/>
            <a:ext cx="994172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DD7E2C"/>
                </a:solidFill>
                <a:latin typeface="Calibri"/>
              </a:rPr>
              <a:t>FINALITÉ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741456" y="5113020"/>
            <a:ext cx="1624489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Arbitrage budgétaire chantier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502920" y="5916453"/>
            <a:ext cx="1722596" cy="1371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0D1526"/>
                </a:solidFill>
                <a:latin typeface="Calibri"/>
              </a:rPr>
              <a:t>Gestion des contrats et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02920" y="6028849"/>
            <a:ext cx="1091208" cy="1371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0D1526"/>
                </a:solidFill>
                <a:latin typeface="Calibri"/>
              </a:rPr>
              <a:t>avenants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533174" y="5945744"/>
            <a:ext cx="953452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DD7E2C"/>
                </a:solidFill>
                <a:latin typeface="Calibri"/>
              </a:rPr>
              <a:t>ENTRÉE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535912" y="6024919"/>
            <a:ext cx="947857" cy="1066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Avenant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242316" y="5971698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019556" y="5886927"/>
            <a:ext cx="1009888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Rédaction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075277" y="5989200"/>
            <a:ext cx="898446" cy="12192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Word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955143" y="6097310"/>
            <a:ext cx="1138714" cy="9905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756916" y="5971698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7416761" y="5886927"/>
            <a:ext cx="1244559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Validation interne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512129" y="5989200"/>
            <a:ext cx="1053823" cy="12192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E-Paraph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7475816" y="6097310"/>
            <a:ext cx="1126450" cy="9905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interne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9271516" y="5971698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056614" y="5945744"/>
            <a:ext cx="994172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DD7E2C"/>
                </a:solidFill>
                <a:latin typeface="Calibri"/>
              </a:rPr>
              <a:t>FINALITÉ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982915" y="6024919"/>
            <a:ext cx="1141571" cy="1066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Avenant signé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342900" y="6507479"/>
            <a:ext cx="4419362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>
                <a:solidFill>
                  <a:srgbClr val="78879F"/>
                </a:solidFill>
                <a:latin typeface="Calibri"/>
              </a:rPr>
              <a:t>Chaînes issues du brief métier ; nature et alimentation reprises de la BDD. 5 échanges avec les autres pôles.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342900" y="6644640"/>
            <a:ext cx="2586990" cy="11429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>
                <a:solidFill>
                  <a:srgbClr val="78879F"/>
                </a:solidFill>
                <a:latin typeface="Calibri"/>
              </a:rPr>
              <a:t>Source : BDD Cartographie Outils IT — 16 entretiens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1344990" y="6644640"/>
            <a:ext cx="1189911" cy="11429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>
                <a:solidFill>
                  <a:srgbClr val="78879F"/>
                </a:solidFill>
                <a:latin typeface="Calibri"/>
              </a:rPr>
              <a:t>Planche 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285215" y="358140"/>
            <a:ext cx="561617" cy="144781"/>
          </a:xfrm>
          <a:prstGeom prst="roundRect">
            <a:avLst>
              <a:gd name="adj" fmla="val 50000"/>
            </a:avLst>
          </a:prstGeom>
          <a:solidFill>
            <a:srgbClr val="5B57D6">
              <a:alpha val="13000"/>
            </a:srgbClr>
          </a:solidFill>
          <a:ln w="7620">
            <a:solidFill>
              <a:srgbClr val="5B57D6">
                <a:alpha val="3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85215" y="563880"/>
            <a:ext cx="582810" cy="144781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2900" y="1173479"/>
            <a:ext cx="11506200" cy="1600202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0520" y="1181099"/>
            <a:ext cx="30480" cy="1584963"/>
          </a:xfrm>
          <a:prstGeom prst="roundRect">
            <a:avLst>
              <a:gd name="adj" fmla="val 50000"/>
            </a:avLst>
          </a:prstGeom>
          <a:solidFill>
            <a:srgbClr val="0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28800" y="1264921"/>
            <a:ext cx="1524000" cy="1417318"/>
          </a:xfrm>
          <a:prstGeom prst="roundRect">
            <a:avLst>
              <a:gd name="adj" fmla="val 5376"/>
            </a:avLst>
          </a:prstGeom>
          <a:solidFill>
            <a:srgbClr val="0F8FA8">
              <a:alpha val="8000"/>
            </a:srgbClr>
          </a:solidFill>
          <a:ln w="7620">
            <a:solidFill>
              <a:srgbClr val="0F8FA8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05200" y="1264921"/>
            <a:ext cx="1524000" cy="1417318"/>
          </a:xfrm>
          <a:prstGeom prst="roundRect">
            <a:avLst>
              <a:gd name="adj" fmla="val 5376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81600" y="1264921"/>
            <a:ext cx="1524000" cy="1417318"/>
          </a:xfrm>
          <a:prstGeom prst="roundRect">
            <a:avLst>
              <a:gd name="adj" fmla="val 5376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0" y="1264921"/>
            <a:ext cx="1524000" cy="1417318"/>
          </a:xfrm>
          <a:prstGeom prst="roundRect">
            <a:avLst>
              <a:gd name="adj" fmla="val 5376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34400" y="1264921"/>
            <a:ext cx="1524000" cy="1417318"/>
          </a:xfrm>
          <a:prstGeom prst="roundRect">
            <a:avLst>
              <a:gd name="adj" fmla="val 5376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210801" y="1264921"/>
            <a:ext cx="1524000" cy="1417318"/>
          </a:xfrm>
          <a:prstGeom prst="roundRect">
            <a:avLst>
              <a:gd name="adj" fmla="val 5376"/>
            </a:avLst>
          </a:prstGeom>
          <a:solidFill>
            <a:srgbClr val="0F8FA8">
              <a:alpha val="15000"/>
            </a:srgbClr>
          </a:solidFill>
          <a:ln w="7620">
            <a:solidFill>
              <a:srgbClr val="0F8FA8">
                <a:alpha val="4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900" y="2964182"/>
            <a:ext cx="11506200" cy="1600198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0520" y="2971802"/>
            <a:ext cx="30480" cy="1584959"/>
          </a:xfrm>
          <a:prstGeom prst="roundRect">
            <a:avLst>
              <a:gd name="adj" fmla="val 50000"/>
            </a:avLst>
          </a:prstGeom>
          <a:solidFill>
            <a:srgbClr val="0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828800" y="3055620"/>
            <a:ext cx="2362200" cy="1417318"/>
          </a:xfrm>
          <a:prstGeom prst="roundRect">
            <a:avLst>
              <a:gd name="adj" fmla="val 5376"/>
            </a:avLst>
          </a:prstGeom>
          <a:solidFill>
            <a:srgbClr val="0F8FA8">
              <a:alpha val="8000"/>
            </a:srgbClr>
          </a:solidFill>
          <a:ln w="7620">
            <a:solidFill>
              <a:srgbClr val="0F8FA8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43400" y="3055620"/>
            <a:ext cx="2362200" cy="1417318"/>
          </a:xfrm>
          <a:prstGeom prst="roundRect">
            <a:avLst>
              <a:gd name="adj" fmla="val 5376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0" y="3055620"/>
            <a:ext cx="2362200" cy="1417318"/>
          </a:xfrm>
          <a:prstGeom prst="roundRect">
            <a:avLst>
              <a:gd name="adj" fmla="val 5376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372600" y="3055620"/>
            <a:ext cx="2362200" cy="1417318"/>
          </a:xfrm>
          <a:prstGeom prst="roundRect">
            <a:avLst>
              <a:gd name="adj" fmla="val 5376"/>
            </a:avLst>
          </a:prstGeom>
          <a:solidFill>
            <a:srgbClr val="0F8FA8">
              <a:alpha val="15000"/>
            </a:srgbClr>
          </a:solidFill>
          <a:ln w="7620">
            <a:solidFill>
              <a:srgbClr val="0F8FA8">
                <a:alpha val="4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425940" y="3672364"/>
            <a:ext cx="2255521" cy="175021"/>
          </a:xfrm>
          <a:prstGeom prst="roundRect">
            <a:avLst>
              <a:gd name="adj" fmla="val 50000"/>
            </a:avLst>
          </a:prstGeom>
          <a:solidFill>
            <a:srgbClr val="5B57D6">
              <a:alpha val="14000"/>
            </a:srgbClr>
          </a:solidFill>
          <a:ln w="7620">
            <a:solidFill>
              <a:srgbClr val="5B57D6">
                <a:alpha val="4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425940" y="3885485"/>
            <a:ext cx="2255521" cy="175025"/>
          </a:xfrm>
          <a:prstGeom prst="roundRect">
            <a:avLst>
              <a:gd name="adj" fmla="val 50000"/>
            </a:avLst>
          </a:prstGeom>
          <a:solidFill>
            <a:srgbClr val="A9761A">
              <a:alpha val="14000"/>
            </a:srgbClr>
          </a:solidFill>
          <a:ln w="7620">
            <a:solidFill>
              <a:srgbClr val="A9761A">
                <a:alpha val="4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2900" y="4754880"/>
            <a:ext cx="11506200" cy="1600198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0520" y="4762500"/>
            <a:ext cx="30480" cy="1584959"/>
          </a:xfrm>
          <a:prstGeom prst="roundRect">
            <a:avLst>
              <a:gd name="adj" fmla="val 50000"/>
            </a:avLst>
          </a:prstGeom>
          <a:solidFill>
            <a:srgbClr val="0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828800" y="4846322"/>
            <a:ext cx="2362200" cy="1417318"/>
          </a:xfrm>
          <a:prstGeom prst="roundRect">
            <a:avLst>
              <a:gd name="adj" fmla="val 5376"/>
            </a:avLst>
          </a:prstGeom>
          <a:solidFill>
            <a:srgbClr val="0F8FA8">
              <a:alpha val="8000"/>
            </a:srgbClr>
          </a:solidFill>
          <a:ln w="7620">
            <a:solidFill>
              <a:srgbClr val="0F8FA8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43400" y="4846322"/>
            <a:ext cx="2362200" cy="1417318"/>
          </a:xfrm>
          <a:prstGeom prst="roundRect">
            <a:avLst>
              <a:gd name="adj" fmla="val 5376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0" y="4846322"/>
            <a:ext cx="2362200" cy="1417318"/>
          </a:xfrm>
          <a:prstGeom prst="roundRect">
            <a:avLst>
              <a:gd name="adj" fmla="val 5376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372600" y="4846322"/>
            <a:ext cx="2362200" cy="1417318"/>
          </a:xfrm>
          <a:prstGeom prst="roundRect">
            <a:avLst>
              <a:gd name="adj" fmla="val 5376"/>
            </a:avLst>
          </a:prstGeom>
          <a:solidFill>
            <a:srgbClr val="0F8FA8">
              <a:alpha val="15000"/>
            </a:srgbClr>
          </a:solidFill>
          <a:ln w="7620">
            <a:solidFill>
              <a:srgbClr val="0F8FA8">
                <a:alpha val="4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425940" y="5569627"/>
            <a:ext cx="2255521" cy="175021"/>
          </a:xfrm>
          <a:prstGeom prst="roundRect">
            <a:avLst>
              <a:gd name="adj" fmla="val 50000"/>
            </a:avLst>
          </a:prstGeom>
          <a:solidFill>
            <a:srgbClr val="8257E6">
              <a:alpha val="14000"/>
            </a:srgbClr>
          </a:solidFill>
          <a:ln w="7620">
            <a:solidFill>
              <a:srgbClr val="8257E6">
                <a:alpha val="4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2900" y="312421"/>
            <a:ext cx="2805589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1" spc="132">
                <a:solidFill>
                  <a:srgbClr val="78879F"/>
                </a:solidFill>
                <a:latin typeface="Calibri"/>
              </a:rPr>
              <a:t>AFFICHE SERVICE · TRAVAUX TUNNEL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" y="457198"/>
            <a:ext cx="2751653" cy="3657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400" b="1" spc="-48">
                <a:solidFill>
                  <a:srgbClr val="0D1526"/>
                </a:solidFill>
                <a:latin typeface="Calibri"/>
              </a:rPr>
              <a:t>Travaux tunnel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" y="847249"/>
            <a:ext cx="3496747" cy="15239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40" b="0">
                <a:solidFill>
                  <a:srgbClr val="78879F"/>
                </a:solidFill>
                <a:latin typeface="Calibri"/>
              </a:rPr>
              <a:t>Flux de la donnée par mission — de son entrée à sa finalité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07792" y="361948"/>
            <a:ext cx="1483757" cy="1371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>
                <a:solidFill>
                  <a:srgbClr val="33415C"/>
                </a:solidFill>
                <a:latin typeface="Calibri"/>
              </a:rPr>
              <a:t>11 outils rattachés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0894" y="373380"/>
            <a:ext cx="1110258" cy="11429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1" spc="24">
                <a:solidFill>
                  <a:srgbClr val="5B57D6"/>
                </a:solidFill>
                <a:latin typeface="Calibri"/>
              </a:rPr>
              <a:t>3 missions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28985" y="567692"/>
            <a:ext cx="1605915" cy="13715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>
                <a:solidFill>
                  <a:srgbClr val="33415C"/>
                </a:solidFill>
                <a:latin typeface="Calibri"/>
              </a:rPr>
              <a:t>avec les autres pôles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0894" y="579120"/>
            <a:ext cx="1131451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1" spc="24">
                <a:solidFill>
                  <a:srgbClr val="78879F"/>
                </a:solidFill>
                <a:latin typeface="Calibri"/>
              </a:rPr>
              <a:t>5 échanges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1847253"/>
            <a:ext cx="1556980" cy="1371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33415C"/>
                </a:solidFill>
                <a:latin typeface="Calibri"/>
              </a:rPr>
              <a:t>Gestion de chantier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1990128"/>
            <a:ext cx="1358027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480" b="1" spc="48">
                <a:solidFill>
                  <a:srgbClr val="78879F"/>
                </a:solidFill>
                <a:latin typeface="Calibri"/>
              </a:rPr>
              <a:t>CHAÎNE À VALIDER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14074" y="1875234"/>
            <a:ext cx="953452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0F8FA8"/>
                </a:solidFill>
                <a:latin typeface="Calibri"/>
              </a:rPr>
              <a:t>ENTRÉE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66900" y="1954409"/>
            <a:ext cx="1463040" cy="14799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690"/>
              </a:lnSpc>
            </a:pPr>
            <a:r>
              <a:rPr sz="530" b="1">
                <a:solidFill>
                  <a:srgbClr val="33415C"/>
                </a:solidFill>
                <a:latin typeface="Calibri"/>
              </a:rPr>
              <a:t>Relevé terrain tunnel · </a:t>
            </a:r>
            <a:r>
              <a:rPr sz="530" b="1">
                <a:solidFill>
                  <a:srgbClr val="0D1526"/>
                </a:solidFill>
                <a:latin typeface="Calibri"/>
              </a:rPr>
              <a:t>Quick Connect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04116" y="1901192"/>
            <a:ext cx="735568" cy="1447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75923" y="1816417"/>
            <a:ext cx="1382554" cy="1066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Réserves et contrôles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24037" y="1918690"/>
            <a:ext cx="1086327" cy="12192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IDCapture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97843" y="2026800"/>
            <a:ext cx="1138714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80516" y="1901192"/>
            <a:ext cx="735568" cy="1447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16974" y="1816417"/>
            <a:ext cx="1253133" cy="1066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Plans d'exécution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14367" y="1918690"/>
            <a:ext cx="1058346" cy="12192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AutoCAD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74243" y="2026800"/>
            <a:ext cx="1138714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56916" y="1901192"/>
            <a:ext cx="735568" cy="1447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11246" y="1816417"/>
            <a:ext cx="1017389" cy="1066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Maquettes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8726" y="1918690"/>
            <a:ext cx="1342549" cy="12192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Trimble Connect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50643" y="2026800"/>
            <a:ext cx="1138714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3316" y="1901192"/>
            <a:ext cx="735568" cy="1447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79181" y="1816417"/>
            <a:ext cx="1234440" cy="1066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Suivi d'exécution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43963" y="1918690"/>
            <a:ext cx="904874" cy="12192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Excel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27044" y="2026800"/>
            <a:ext cx="1138713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09716" y="1901192"/>
            <a:ext cx="735568" cy="1447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75714" y="1875234"/>
            <a:ext cx="994171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0F8FA8"/>
                </a:solidFill>
                <a:latin typeface="Calibri"/>
              </a:rPr>
              <a:t>FINALITÉ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7483" y="1954409"/>
            <a:ext cx="1270635" cy="1066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Creusement piloté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3581757"/>
            <a:ext cx="1642586" cy="1371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33415C"/>
                </a:solidFill>
                <a:latin typeface="Calibri"/>
              </a:rPr>
              <a:t>Avancement et jalons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" y="3694153"/>
            <a:ext cx="1048822" cy="13715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33415C"/>
                </a:solidFill>
                <a:latin typeface="Calibri"/>
              </a:rPr>
              <a:t>chantier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3837028"/>
            <a:ext cx="1358027" cy="9905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480" b="1" spc="48">
                <a:solidFill>
                  <a:srgbClr val="78879F"/>
                </a:solidFill>
                <a:latin typeface="Calibri"/>
              </a:rPr>
              <a:t>CHAÎNE À VALIDER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533174" y="3665933"/>
            <a:ext cx="953452" cy="8382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0F8FA8"/>
                </a:solidFill>
                <a:latin typeface="Calibri"/>
              </a:rPr>
              <a:t>ENTRÉE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66900" y="3745111"/>
            <a:ext cx="2301240" cy="14799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690"/>
              </a:lnSpc>
            </a:pPr>
            <a:r>
              <a:rPr sz="530" b="1">
                <a:solidFill>
                  <a:srgbClr val="33415C"/>
                </a:solidFill>
                <a:latin typeface="Calibri"/>
              </a:rPr>
              <a:t>Avancement tunnelier · </a:t>
            </a:r>
            <a:r>
              <a:rPr sz="530" b="1">
                <a:solidFill>
                  <a:srgbClr val="0D1526"/>
                </a:solidFill>
                <a:latin typeface="Calibri"/>
              </a:rPr>
              <a:t>YELLOW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42316" y="3691890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82289" y="3607119"/>
            <a:ext cx="1084421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Planification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64907" y="3709393"/>
            <a:ext cx="1119068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MS Project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955143" y="3817502"/>
            <a:ext cx="1138714" cy="9905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56916" y="3691890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39739" y="3607119"/>
            <a:ext cx="119860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Tableau de bord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516773" y="3709393"/>
            <a:ext cx="1044536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Power BI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514988" y="3817502"/>
            <a:ext cx="1048106" cy="9905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auto · interne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71516" y="3691890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56614" y="3452812"/>
            <a:ext cx="994172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0F8FA8"/>
                </a:solidFill>
                <a:latin typeface="Calibri"/>
              </a:rPr>
              <a:t>FINALITÉ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895999" y="3531987"/>
            <a:ext cx="1315284" cy="1066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Jalons tunnel tenus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056852" y="3679984"/>
            <a:ext cx="993576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09" b="1" spc="12">
                <a:solidFill>
                  <a:srgbClr val="5B57D6"/>
                </a:solidFill>
                <a:latin typeface="Calibri"/>
              </a:rPr>
              <a:t>→ Direction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003393" y="3744633"/>
            <a:ext cx="1100614" cy="8382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09" b="1" spc="12">
                <a:solidFill>
                  <a:srgbClr val="5B57D6"/>
                </a:solidFill>
                <a:latin typeface="Calibri"/>
              </a:rPr>
              <a:t>Récolte des KPI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078640" y="3893104"/>
            <a:ext cx="950119" cy="8382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09" b="1" spc="12">
                <a:solidFill>
                  <a:srgbClr val="A9761A"/>
                </a:solidFill>
                <a:latin typeface="Calibri"/>
              </a:rPr>
              <a:t>→ Contrat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815036" y="3957757"/>
            <a:ext cx="1477327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09" b="1" spc="12">
                <a:solidFill>
                  <a:srgbClr val="A9761A"/>
                </a:solidFill>
                <a:latin typeface="Calibri"/>
              </a:rPr>
              <a:t>Avancement et jalons chantier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2920" y="5428654"/>
            <a:ext cx="1585317" cy="1371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33415C"/>
                </a:solidFill>
                <a:latin typeface="Calibri"/>
              </a:rPr>
              <a:t>Commande chantier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02920" y="5571529"/>
            <a:ext cx="1358027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480" b="1" spc="48">
                <a:solidFill>
                  <a:srgbClr val="78879F"/>
                </a:solidFill>
                <a:latin typeface="Calibri"/>
              </a:rPr>
              <a:t>CHAÎNE À VALIDER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533174" y="5456635"/>
            <a:ext cx="953452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0F8FA8"/>
                </a:solidFill>
                <a:latin typeface="Calibri"/>
              </a:rPr>
              <a:t>ENTRÉE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866900" y="5535810"/>
            <a:ext cx="2301240" cy="14799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690"/>
              </a:lnSpc>
            </a:pPr>
            <a:r>
              <a:rPr sz="530" b="1">
                <a:solidFill>
                  <a:srgbClr val="33415C"/>
                </a:solidFill>
                <a:latin typeface="Calibri"/>
              </a:rPr>
              <a:t>Besoin — stock tunnel · </a:t>
            </a:r>
            <a:r>
              <a:rPr sz="530" b="1">
                <a:solidFill>
                  <a:srgbClr val="0D1526"/>
                </a:solidFill>
                <a:latin typeface="Calibri"/>
              </a:rPr>
              <a:t>GMAO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42316" y="5482589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81681" y="5397817"/>
            <a:ext cx="1285518" cy="1066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Bon de commande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67419" y="5500091"/>
            <a:ext cx="914043" cy="12192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Pablo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55143" y="5608200"/>
            <a:ext cx="1138714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756916" y="5482589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88781" y="5397817"/>
            <a:ext cx="1300520" cy="1066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Matériel et coffrage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511415" y="5500091"/>
            <a:ext cx="1055370" cy="12192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ERP MAT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475816" y="5608200"/>
            <a:ext cx="1126450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interne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271516" y="5482589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056614" y="5350075"/>
            <a:ext cx="994172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0F8FA8"/>
                </a:solidFill>
                <a:latin typeface="Calibri"/>
              </a:rPr>
              <a:t>FINALITÉ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687282" y="5429250"/>
            <a:ext cx="1732717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Consommables et matériel livrés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120551" y="5577246"/>
            <a:ext cx="866299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09" b="1" spc="12">
                <a:solidFill>
                  <a:srgbClr val="8257E6"/>
                </a:solidFill>
                <a:latin typeface="Calibri"/>
              </a:rPr>
              <a:t>→ DAF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949934" y="5641895"/>
            <a:ext cx="1207412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09" b="1" spc="12">
                <a:solidFill>
                  <a:srgbClr val="8257E6"/>
                </a:solidFill>
                <a:latin typeface="Calibri"/>
              </a:rPr>
              <a:t>Contrôle budgétaire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42900" y="6507479"/>
            <a:ext cx="4419362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>
                <a:solidFill>
                  <a:srgbClr val="78879F"/>
                </a:solidFill>
                <a:latin typeface="Calibri"/>
              </a:rPr>
              <a:t>Chaînes issues du brief métier ; nature et alimentation reprises de la BDD. 5 échanges avec les autres pôles.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42900" y="6644640"/>
            <a:ext cx="2586990" cy="11429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>
                <a:solidFill>
                  <a:srgbClr val="78879F"/>
                </a:solidFill>
                <a:latin typeface="Calibri"/>
              </a:rPr>
              <a:t>Source : BDD Cartographie Outils IT — 16 entretiens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344990" y="6644640"/>
            <a:ext cx="1189911" cy="11429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>
                <a:solidFill>
                  <a:srgbClr val="78879F"/>
                </a:solidFill>
                <a:latin typeface="Calibri"/>
              </a:rPr>
              <a:t>Planche 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285215" y="358140"/>
            <a:ext cx="561617" cy="144781"/>
          </a:xfrm>
          <a:prstGeom prst="roundRect">
            <a:avLst>
              <a:gd name="adj" fmla="val 50000"/>
            </a:avLst>
          </a:prstGeom>
          <a:solidFill>
            <a:srgbClr val="5B57D6">
              <a:alpha val="13000"/>
            </a:srgbClr>
          </a:solidFill>
          <a:ln w="7620">
            <a:solidFill>
              <a:srgbClr val="5B57D6">
                <a:alpha val="3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85215" y="563880"/>
            <a:ext cx="582810" cy="144781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2900" y="1173479"/>
            <a:ext cx="11506200" cy="1600202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0520" y="1181099"/>
            <a:ext cx="30480" cy="1584963"/>
          </a:xfrm>
          <a:prstGeom prst="roundRect">
            <a:avLst>
              <a:gd name="adj" fmla="val 50000"/>
            </a:avLst>
          </a:prstGeom>
          <a:solidFill>
            <a:srgbClr val="0E9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28800" y="1264921"/>
            <a:ext cx="1859280" cy="1417318"/>
          </a:xfrm>
          <a:prstGeom prst="roundRect">
            <a:avLst>
              <a:gd name="adj" fmla="val 5376"/>
            </a:avLst>
          </a:prstGeom>
          <a:solidFill>
            <a:srgbClr val="0E9E78">
              <a:alpha val="8000"/>
            </a:srgbClr>
          </a:solidFill>
          <a:ln w="7620">
            <a:solidFill>
              <a:srgbClr val="0E9E78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0" y="1264921"/>
            <a:ext cx="1859280" cy="1417318"/>
          </a:xfrm>
          <a:prstGeom prst="roundRect">
            <a:avLst>
              <a:gd name="adj" fmla="val 5376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852160" y="1264921"/>
            <a:ext cx="1859280" cy="1417318"/>
          </a:xfrm>
          <a:prstGeom prst="roundRect">
            <a:avLst>
              <a:gd name="adj" fmla="val 5376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63841" y="1264921"/>
            <a:ext cx="1859279" cy="1417318"/>
          </a:xfrm>
          <a:prstGeom prst="roundRect">
            <a:avLst>
              <a:gd name="adj" fmla="val 5376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875521" y="1264921"/>
            <a:ext cx="1859280" cy="1417318"/>
          </a:xfrm>
          <a:prstGeom prst="roundRect">
            <a:avLst>
              <a:gd name="adj" fmla="val 5376"/>
            </a:avLst>
          </a:prstGeom>
          <a:solidFill>
            <a:srgbClr val="0E9E78">
              <a:alpha val="15000"/>
            </a:srgbClr>
          </a:solidFill>
          <a:ln w="7620">
            <a:solidFill>
              <a:srgbClr val="0E9E78">
                <a:alpha val="4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900" y="2964182"/>
            <a:ext cx="11506200" cy="1600198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0520" y="2971802"/>
            <a:ext cx="30480" cy="1584959"/>
          </a:xfrm>
          <a:prstGeom prst="roundRect">
            <a:avLst>
              <a:gd name="adj" fmla="val 50000"/>
            </a:avLst>
          </a:prstGeom>
          <a:solidFill>
            <a:srgbClr val="0E9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828800" y="3055620"/>
            <a:ext cx="2362200" cy="1417318"/>
          </a:xfrm>
          <a:prstGeom prst="roundRect">
            <a:avLst>
              <a:gd name="adj" fmla="val 5376"/>
            </a:avLst>
          </a:prstGeom>
          <a:solidFill>
            <a:srgbClr val="0E9E78">
              <a:alpha val="8000"/>
            </a:srgbClr>
          </a:solidFill>
          <a:ln w="7620">
            <a:solidFill>
              <a:srgbClr val="0E9E78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43400" y="3055620"/>
            <a:ext cx="2362200" cy="1417318"/>
          </a:xfrm>
          <a:prstGeom prst="roundRect">
            <a:avLst>
              <a:gd name="adj" fmla="val 5376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0" y="3055620"/>
            <a:ext cx="2362200" cy="1417318"/>
          </a:xfrm>
          <a:prstGeom prst="roundRect">
            <a:avLst>
              <a:gd name="adj" fmla="val 5376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72600" y="3055620"/>
            <a:ext cx="2362200" cy="1417318"/>
          </a:xfrm>
          <a:prstGeom prst="roundRect">
            <a:avLst>
              <a:gd name="adj" fmla="val 5376"/>
            </a:avLst>
          </a:prstGeom>
          <a:solidFill>
            <a:srgbClr val="0E9E78">
              <a:alpha val="15000"/>
            </a:srgbClr>
          </a:solidFill>
          <a:ln w="7620">
            <a:solidFill>
              <a:srgbClr val="0E9E78">
                <a:alpha val="4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425940" y="3672364"/>
            <a:ext cx="2255521" cy="175021"/>
          </a:xfrm>
          <a:prstGeom prst="roundRect">
            <a:avLst>
              <a:gd name="adj" fmla="val 50000"/>
            </a:avLst>
          </a:prstGeom>
          <a:solidFill>
            <a:srgbClr val="3A6BE5">
              <a:alpha val="14000"/>
            </a:srgbClr>
          </a:solidFill>
          <a:ln w="7620">
            <a:solidFill>
              <a:srgbClr val="3A6BE5">
                <a:alpha val="4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425940" y="3885485"/>
            <a:ext cx="2255521" cy="175025"/>
          </a:xfrm>
          <a:prstGeom prst="roundRect">
            <a:avLst>
              <a:gd name="adj" fmla="val 50000"/>
            </a:avLst>
          </a:prstGeom>
          <a:solidFill>
            <a:srgbClr val="0F8FA8">
              <a:alpha val="14000"/>
            </a:srgbClr>
          </a:solidFill>
          <a:ln w="7620">
            <a:solidFill>
              <a:srgbClr val="0F8FA8">
                <a:alpha val="4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2900" y="4754880"/>
            <a:ext cx="11506200" cy="1600202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50520" y="4762500"/>
            <a:ext cx="30480" cy="1584959"/>
          </a:xfrm>
          <a:prstGeom prst="roundRect">
            <a:avLst>
              <a:gd name="adj" fmla="val 50000"/>
            </a:avLst>
          </a:prstGeom>
          <a:solidFill>
            <a:srgbClr val="0E9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828800" y="4846322"/>
            <a:ext cx="3200400" cy="1417315"/>
          </a:xfrm>
          <a:prstGeom prst="roundRect">
            <a:avLst>
              <a:gd name="adj" fmla="val 5376"/>
            </a:avLst>
          </a:prstGeom>
          <a:solidFill>
            <a:srgbClr val="0E9E78">
              <a:alpha val="8000"/>
            </a:srgbClr>
          </a:solidFill>
          <a:ln w="7620">
            <a:solidFill>
              <a:srgbClr val="0E9E78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181600" y="4846322"/>
            <a:ext cx="3200400" cy="1417315"/>
          </a:xfrm>
          <a:prstGeom prst="roundRect">
            <a:avLst>
              <a:gd name="adj" fmla="val 5376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534400" y="4846322"/>
            <a:ext cx="3200401" cy="1417315"/>
          </a:xfrm>
          <a:prstGeom prst="roundRect">
            <a:avLst>
              <a:gd name="adj" fmla="val 5376"/>
            </a:avLst>
          </a:prstGeom>
          <a:solidFill>
            <a:srgbClr val="0E9E78">
              <a:alpha val="15000"/>
            </a:srgbClr>
          </a:solidFill>
          <a:ln w="7620">
            <a:solidFill>
              <a:srgbClr val="0E9E78">
                <a:alpha val="4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87740" y="5569627"/>
            <a:ext cx="3093721" cy="175021"/>
          </a:xfrm>
          <a:prstGeom prst="roundRect">
            <a:avLst>
              <a:gd name="adj" fmla="val 50000"/>
            </a:avLst>
          </a:prstGeom>
          <a:solidFill>
            <a:srgbClr val="0F8FA8">
              <a:alpha val="14000"/>
            </a:srgbClr>
          </a:solidFill>
          <a:ln w="7620">
            <a:solidFill>
              <a:srgbClr val="0F8FA8">
                <a:alpha val="4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900" y="312421"/>
            <a:ext cx="2617351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1" spc="132">
                <a:solidFill>
                  <a:srgbClr val="78879F"/>
                </a:solidFill>
                <a:latin typeface="Calibri"/>
              </a:rPr>
              <a:t>AFFICHE SERVICE · TOPOGRAPHIE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" y="457198"/>
            <a:ext cx="2441853" cy="3657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400" b="1" spc="-48">
                <a:solidFill>
                  <a:srgbClr val="0D1526"/>
                </a:solidFill>
                <a:latin typeface="Calibri"/>
              </a:rPr>
              <a:t>Topographie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" y="847249"/>
            <a:ext cx="3496747" cy="15239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40" b="0">
                <a:solidFill>
                  <a:srgbClr val="78879F"/>
                </a:solidFill>
                <a:latin typeface="Calibri"/>
              </a:rPr>
              <a:t>Flux de la donnée par mission — de son entrée à sa finalité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07792" y="361948"/>
            <a:ext cx="1437918" cy="1371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>
                <a:solidFill>
                  <a:srgbClr val="33415C"/>
                </a:solidFill>
                <a:latin typeface="Calibri"/>
              </a:rPr>
              <a:t>7 outils rattachés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0894" y="373380"/>
            <a:ext cx="1110258" cy="11429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1" spc="24">
                <a:solidFill>
                  <a:srgbClr val="5B57D6"/>
                </a:solidFill>
                <a:latin typeface="Calibri"/>
              </a:rPr>
              <a:t>3 missions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28985" y="567692"/>
            <a:ext cx="1605915" cy="13715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>
                <a:solidFill>
                  <a:srgbClr val="33415C"/>
                </a:solidFill>
                <a:latin typeface="Calibri"/>
              </a:rPr>
              <a:t>avec les autres pôles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0894" y="579120"/>
            <a:ext cx="1131451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1" spc="24">
                <a:solidFill>
                  <a:srgbClr val="78879F"/>
                </a:solidFill>
                <a:latin typeface="Calibri"/>
              </a:rPr>
              <a:t>3 échanges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1845947"/>
            <a:ext cx="1778675" cy="13715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0D1526"/>
                </a:solidFill>
                <a:latin typeface="Calibri"/>
              </a:rPr>
              <a:t>Acquisition et traitement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1958339"/>
            <a:ext cx="1640681" cy="1371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0D1526"/>
                </a:solidFill>
                <a:latin typeface="Calibri"/>
              </a:rPr>
              <a:t>des nuages de points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1714" y="1875234"/>
            <a:ext cx="953452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0E9E78"/>
                </a:solidFill>
                <a:latin typeface="Calibri"/>
              </a:rPr>
              <a:t>ENTRÉE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66900" y="1954409"/>
            <a:ext cx="1798320" cy="14799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690"/>
              </a:lnSpc>
            </a:pPr>
            <a:r>
              <a:rPr sz="530" b="1">
                <a:solidFill>
                  <a:srgbClr val="33415C"/>
                </a:solidFill>
                <a:latin typeface="Calibri"/>
              </a:rPr>
              <a:t>Acquisition des plans · </a:t>
            </a:r>
            <a:r>
              <a:rPr sz="530" b="1">
                <a:solidFill>
                  <a:srgbClr val="0D1526"/>
                </a:solidFill>
                <a:latin typeface="Calibri"/>
              </a:rPr>
              <a:t>SharePoint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39396" y="1901192"/>
            <a:ext cx="735568" cy="1447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71461" y="1816417"/>
            <a:ext cx="1397318" cy="1066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Exploitation des plans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98845" y="1918690"/>
            <a:ext cx="1342549" cy="12192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Trimble Connect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0763" y="2026800"/>
            <a:ext cx="1138714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51076" y="1901192"/>
            <a:ext cx="735568" cy="1447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30265" y="1816417"/>
            <a:ext cx="1702951" cy="1066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Assemblage des scans chantier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54830" y="1918690"/>
            <a:ext cx="1053941" cy="12192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La Scene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40291" y="2026800"/>
            <a:ext cx="1283017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int/ext TODO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62755" y="1901192"/>
            <a:ext cx="735568" cy="1447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62543" y="1816417"/>
            <a:ext cx="1661756" cy="1066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Création des nuages de points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87465" y="1918690"/>
            <a:ext cx="1011912" cy="12192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Covadis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51971" y="2026800"/>
            <a:ext cx="1283017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int/ext TODO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74436" y="1901192"/>
            <a:ext cx="735568" cy="1447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08074" y="1875234"/>
            <a:ext cx="994172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0E9E78"/>
                </a:solidFill>
                <a:latin typeface="Calibri"/>
              </a:rPr>
              <a:t>FINALITÉ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17086" y="1954409"/>
            <a:ext cx="1576030" cy="1066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Nuage de points exploitable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3636645"/>
            <a:ext cx="1841064" cy="13715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0D1526"/>
                </a:solidFill>
                <a:latin typeface="Calibri"/>
              </a:rPr>
              <a:t>Reporting et diffusion des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3749041"/>
            <a:ext cx="929878" cy="13715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0D1526"/>
                </a:solidFill>
                <a:latin typeface="Calibri"/>
              </a:rPr>
              <a:t>plans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33174" y="3665933"/>
            <a:ext cx="953452" cy="8382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0E9E78"/>
                </a:solidFill>
                <a:latin typeface="Calibri"/>
              </a:rPr>
              <a:t>ENTRÉE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66900" y="3745111"/>
            <a:ext cx="2301240" cy="14799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690"/>
              </a:lnSpc>
            </a:pPr>
            <a:r>
              <a:rPr sz="530" b="1">
                <a:solidFill>
                  <a:srgbClr val="33415C"/>
                </a:solidFill>
                <a:latin typeface="Calibri"/>
              </a:rPr>
              <a:t>Ouverture des plans · </a:t>
            </a:r>
            <a:r>
              <a:rPr sz="530" b="1">
                <a:solidFill>
                  <a:srgbClr val="0D1526"/>
                </a:solidFill>
                <a:latin typeface="Calibri"/>
              </a:rPr>
              <a:t>Trimble Connect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42316" y="3691890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25923" y="3607119"/>
            <a:ext cx="1997036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Assemblage et vérification de conformité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22996" y="3709393"/>
            <a:ext cx="1202889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Cyclone 3DR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22163" y="3817502"/>
            <a:ext cx="1204674" cy="9905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auto · int/ext TODO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56916" y="3691890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77708" y="3607119"/>
            <a:ext cx="1322666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Rapport de contrôle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86662" y="3709393"/>
            <a:ext cx="904875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Excel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69743" y="3817502"/>
            <a:ext cx="1138714" cy="9905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71516" y="3691890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56614" y="3452812"/>
            <a:ext cx="994172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0E9E78"/>
                </a:solidFill>
                <a:latin typeface="Calibri"/>
              </a:rPr>
              <a:t>FINALITÉ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32169" y="3531987"/>
            <a:ext cx="1642943" cy="1066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Rapport de conformité diffusé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63746" y="3679984"/>
            <a:ext cx="1179790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09" b="1" spc="12">
                <a:solidFill>
                  <a:srgbClr val="3A6BE5"/>
                </a:solidFill>
                <a:latin typeface="Calibri"/>
              </a:rPr>
              <a:t>→ Méthodes &amp; BIM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909453" y="3744633"/>
            <a:ext cx="1288375" cy="8382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09" b="1" spc="12">
                <a:solidFill>
                  <a:srgbClr val="3A6BE5"/>
                </a:solidFill>
                <a:latin typeface="Calibri"/>
              </a:rPr>
              <a:t>Gestion des maquettes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982438" y="3893104"/>
            <a:ext cx="1142404" cy="8382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09" b="1" spc="12">
                <a:solidFill>
                  <a:srgbClr val="0F8FA8"/>
                </a:solidFill>
                <a:latin typeface="Calibri"/>
              </a:rPr>
              <a:t>→ Travaux tunnel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954221" y="3957757"/>
            <a:ext cx="1198840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09" b="1" spc="12">
                <a:solidFill>
                  <a:srgbClr val="0F8FA8"/>
                </a:solidFill>
                <a:latin typeface="Calibri"/>
              </a:rPr>
              <a:t>Gestion de chantier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5483542"/>
            <a:ext cx="1619369" cy="1371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0D1526"/>
                </a:solidFill>
                <a:latin typeface="Calibri"/>
              </a:rPr>
              <a:t>Guidage du tunnelier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952274" y="5456635"/>
            <a:ext cx="953453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0E9E78"/>
                </a:solidFill>
                <a:latin typeface="Calibri"/>
              </a:rPr>
              <a:t>ENTRÉE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752725" y="5535810"/>
            <a:ext cx="1352431" cy="1066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Position du tunnelier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80516" y="5482589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27790" y="5397817"/>
            <a:ext cx="1308021" cy="1066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Guidage temps réel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41031" y="5500091"/>
            <a:ext cx="881538" cy="12192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Pixis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79463" y="5608200"/>
            <a:ext cx="1204674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auto · int/ext TODO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33316" y="5482589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37514" y="5350075"/>
            <a:ext cx="994172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0E9E78"/>
                </a:solidFill>
                <a:latin typeface="Calibri"/>
              </a:rPr>
              <a:t>FINALITÉ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379982" y="5429250"/>
            <a:ext cx="1509237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Tracé guidé en temps réel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563338" y="5577246"/>
            <a:ext cx="1142404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09" b="1" spc="12">
                <a:solidFill>
                  <a:srgbClr val="0F8FA8"/>
                </a:solidFill>
                <a:latin typeface="Calibri"/>
              </a:rPr>
              <a:t>→ Travaux tunnel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395936" y="5641895"/>
            <a:ext cx="1477328" cy="83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09" b="1" spc="12">
                <a:solidFill>
                  <a:srgbClr val="0F8FA8"/>
                </a:solidFill>
                <a:latin typeface="Calibri"/>
              </a:rPr>
              <a:t>Avancement et jalons chantier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42900" y="6507479"/>
            <a:ext cx="4419362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>
                <a:solidFill>
                  <a:srgbClr val="78879F"/>
                </a:solidFill>
                <a:latin typeface="Calibri"/>
              </a:rPr>
              <a:t>Chaînes issues du brief métier ; nature et alimentation reprises de la BDD. 3 échanges avec les autres pôles.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42900" y="6644636"/>
            <a:ext cx="2586990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>
                <a:solidFill>
                  <a:srgbClr val="78879F"/>
                </a:solidFill>
                <a:latin typeface="Calibri"/>
              </a:rPr>
              <a:t>Source : BDD Cartographie Outils IT — 16 entretiens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344990" y="6644636"/>
            <a:ext cx="1189911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>
                <a:solidFill>
                  <a:srgbClr val="78879F"/>
                </a:solidFill>
                <a:latin typeface="Calibri"/>
              </a:rPr>
              <a:t>Planche 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285215" y="358137"/>
            <a:ext cx="561617" cy="144781"/>
          </a:xfrm>
          <a:prstGeom prst="roundRect">
            <a:avLst>
              <a:gd name="adj" fmla="val 50000"/>
            </a:avLst>
          </a:prstGeom>
          <a:solidFill>
            <a:srgbClr val="5B57D6">
              <a:alpha val="13000"/>
            </a:srgbClr>
          </a:solidFill>
          <a:ln w="7620">
            <a:solidFill>
              <a:srgbClr val="5B57D6">
                <a:alpha val="3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85215" y="563876"/>
            <a:ext cx="582810" cy="144781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2900" y="1074418"/>
            <a:ext cx="11506200" cy="820461"/>
          </a:xfrm>
          <a:prstGeom prst="roundRect">
            <a:avLst>
              <a:gd name="adj" fmla="val 13002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0520" y="1082041"/>
            <a:ext cx="30480" cy="805221"/>
          </a:xfrm>
          <a:prstGeom prst="roundRect">
            <a:avLst>
              <a:gd name="adj" fmla="val 50000"/>
            </a:avLst>
          </a:prstGeom>
          <a:solidFill>
            <a:srgbClr val="C24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28800" y="1165863"/>
            <a:ext cx="1158240" cy="637577"/>
          </a:xfrm>
          <a:prstGeom prst="roundRect">
            <a:avLst>
              <a:gd name="adj" fmla="val 11951"/>
            </a:avLst>
          </a:prstGeom>
          <a:solidFill>
            <a:srgbClr val="C2456A">
              <a:alpha val="8000"/>
            </a:srgbClr>
          </a:solidFill>
          <a:ln w="7620">
            <a:solidFill>
              <a:srgbClr val="C2456A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16053" y="1340524"/>
            <a:ext cx="859512" cy="288248"/>
          </a:xfrm>
          <a:prstGeom prst="roundRect">
            <a:avLst>
              <a:gd name="adj" fmla="val 26435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521285" y="1340524"/>
            <a:ext cx="624840" cy="288248"/>
          </a:xfrm>
          <a:prstGeom prst="roundRect">
            <a:avLst>
              <a:gd name="adj" fmla="val 26435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91846" y="1340524"/>
            <a:ext cx="624840" cy="288248"/>
          </a:xfrm>
          <a:prstGeom prst="roundRect">
            <a:avLst>
              <a:gd name="adj" fmla="val 26435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62406" y="1340524"/>
            <a:ext cx="624839" cy="288248"/>
          </a:xfrm>
          <a:prstGeom prst="roundRect">
            <a:avLst>
              <a:gd name="adj" fmla="val 26435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32966" y="1340524"/>
            <a:ext cx="624840" cy="288248"/>
          </a:xfrm>
          <a:prstGeom prst="roundRect">
            <a:avLst>
              <a:gd name="adj" fmla="val 26435"/>
            </a:avLst>
          </a:prstGeom>
          <a:solidFill>
            <a:srgbClr val="C2456A">
              <a:alpha val="10000"/>
            </a:srgbClr>
          </a:solidFill>
          <a:ln w="7620">
            <a:solidFill>
              <a:srgbClr val="C2456A">
                <a:alpha val="3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03526" y="1340524"/>
            <a:ext cx="743902" cy="288248"/>
          </a:xfrm>
          <a:prstGeom prst="roundRect">
            <a:avLst>
              <a:gd name="adj" fmla="val 26435"/>
            </a:avLst>
          </a:prstGeom>
          <a:solidFill>
            <a:srgbClr val="C2456A">
              <a:alpha val="10000"/>
            </a:srgbClr>
          </a:solidFill>
          <a:ln w="7620">
            <a:solidFill>
              <a:srgbClr val="C2456A">
                <a:alpha val="3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576560" y="1165863"/>
            <a:ext cx="1158241" cy="637577"/>
          </a:xfrm>
          <a:prstGeom prst="roundRect">
            <a:avLst>
              <a:gd name="adj" fmla="val 11951"/>
            </a:avLst>
          </a:prstGeom>
          <a:solidFill>
            <a:srgbClr val="C2456A">
              <a:alpha val="15000"/>
            </a:srgbClr>
          </a:solidFill>
          <a:ln w="7620">
            <a:solidFill>
              <a:srgbClr val="C2456A">
                <a:alpha val="4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2900" y="1986316"/>
            <a:ext cx="11506200" cy="820461"/>
          </a:xfrm>
          <a:prstGeom prst="roundRect">
            <a:avLst>
              <a:gd name="adj" fmla="val 13002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0520" y="1993940"/>
            <a:ext cx="30480" cy="805221"/>
          </a:xfrm>
          <a:prstGeom prst="roundRect">
            <a:avLst>
              <a:gd name="adj" fmla="val 50000"/>
            </a:avLst>
          </a:prstGeom>
          <a:solidFill>
            <a:srgbClr val="C24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828800" y="2077762"/>
            <a:ext cx="1158240" cy="637577"/>
          </a:xfrm>
          <a:prstGeom prst="roundRect">
            <a:avLst>
              <a:gd name="adj" fmla="val 11951"/>
            </a:avLst>
          </a:prstGeom>
          <a:solidFill>
            <a:srgbClr val="C2456A">
              <a:alpha val="8000"/>
            </a:srgbClr>
          </a:solidFill>
          <a:ln w="7620">
            <a:solidFill>
              <a:srgbClr val="C2456A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41946" y="2252423"/>
            <a:ext cx="624840" cy="288256"/>
          </a:xfrm>
          <a:prstGeom prst="roundRect">
            <a:avLst>
              <a:gd name="adj" fmla="val 26434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12506" y="2252423"/>
            <a:ext cx="809148" cy="288256"/>
          </a:xfrm>
          <a:prstGeom prst="roundRect">
            <a:avLst>
              <a:gd name="adj" fmla="val 26434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76560" y="2077762"/>
            <a:ext cx="1158241" cy="637577"/>
          </a:xfrm>
          <a:prstGeom prst="roundRect">
            <a:avLst>
              <a:gd name="adj" fmla="val 11951"/>
            </a:avLst>
          </a:prstGeom>
          <a:solidFill>
            <a:srgbClr val="C2456A">
              <a:alpha val="15000"/>
            </a:srgbClr>
          </a:solidFill>
          <a:ln w="7620">
            <a:solidFill>
              <a:srgbClr val="C2456A">
                <a:alpha val="4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2900" y="2898223"/>
            <a:ext cx="11506200" cy="820453"/>
          </a:xfrm>
          <a:prstGeom prst="roundRect">
            <a:avLst>
              <a:gd name="adj" fmla="val 13002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0520" y="2905839"/>
            <a:ext cx="30480" cy="805221"/>
          </a:xfrm>
          <a:prstGeom prst="roundRect">
            <a:avLst>
              <a:gd name="adj" fmla="val 50000"/>
            </a:avLst>
          </a:prstGeom>
          <a:solidFill>
            <a:srgbClr val="C24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828800" y="2989661"/>
            <a:ext cx="1158240" cy="637577"/>
          </a:xfrm>
          <a:prstGeom prst="roundRect">
            <a:avLst>
              <a:gd name="adj" fmla="val 11951"/>
            </a:avLst>
          </a:prstGeom>
          <a:solidFill>
            <a:srgbClr val="C2456A">
              <a:alpha val="8000"/>
            </a:srgbClr>
          </a:solidFill>
          <a:ln w="7620">
            <a:solidFill>
              <a:srgbClr val="C2456A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39289" y="3164321"/>
            <a:ext cx="624840" cy="288256"/>
          </a:xfrm>
          <a:prstGeom prst="roundRect">
            <a:avLst>
              <a:gd name="adj" fmla="val 26434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9849" y="3164321"/>
            <a:ext cx="624840" cy="288256"/>
          </a:xfrm>
          <a:prstGeom prst="roundRect">
            <a:avLst>
              <a:gd name="adj" fmla="val 26434"/>
            </a:avLst>
          </a:prstGeom>
          <a:solidFill>
            <a:srgbClr val="C2456A">
              <a:alpha val="10000"/>
            </a:srgbClr>
          </a:solidFill>
          <a:ln w="7620">
            <a:solidFill>
              <a:srgbClr val="C2456A">
                <a:alpha val="3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080409" y="3164321"/>
            <a:ext cx="743902" cy="288256"/>
          </a:xfrm>
          <a:prstGeom prst="roundRect">
            <a:avLst>
              <a:gd name="adj" fmla="val 26434"/>
            </a:avLst>
          </a:prstGeom>
          <a:solidFill>
            <a:srgbClr val="C2456A">
              <a:alpha val="10000"/>
            </a:srgbClr>
          </a:solidFill>
          <a:ln w="7620">
            <a:solidFill>
              <a:srgbClr val="C2456A">
                <a:alpha val="3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576560" y="2989661"/>
            <a:ext cx="1158241" cy="637577"/>
          </a:xfrm>
          <a:prstGeom prst="roundRect">
            <a:avLst>
              <a:gd name="adj" fmla="val 11951"/>
            </a:avLst>
          </a:prstGeom>
          <a:solidFill>
            <a:srgbClr val="C2456A">
              <a:alpha val="15000"/>
            </a:srgbClr>
          </a:solidFill>
          <a:ln w="7620">
            <a:solidFill>
              <a:srgbClr val="C2456A">
                <a:alpha val="4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42900" y="3810121"/>
            <a:ext cx="11506200" cy="820461"/>
          </a:xfrm>
          <a:prstGeom prst="roundRect">
            <a:avLst>
              <a:gd name="adj" fmla="val 13002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50520" y="3817738"/>
            <a:ext cx="30480" cy="805221"/>
          </a:xfrm>
          <a:prstGeom prst="roundRect">
            <a:avLst>
              <a:gd name="adj" fmla="val 50000"/>
            </a:avLst>
          </a:prstGeom>
          <a:solidFill>
            <a:srgbClr val="C24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828800" y="3901560"/>
            <a:ext cx="1158240" cy="637577"/>
          </a:xfrm>
          <a:prstGeom prst="roundRect">
            <a:avLst>
              <a:gd name="adj" fmla="val 11951"/>
            </a:avLst>
          </a:prstGeom>
          <a:solidFill>
            <a:srgbClr val="C2456A">
              <a:alpha val="8000"/>
            </a:srgbClr>
          </a:solidFill>
          <a:ln w="7620">
            <a:solidFill>
              <a:srgbClr val="C2456A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113853" y="4076220"/>
            <a:ext cx="624840" cy="288256"/>
          </a:xfrm>
          <a:prstGeom prst="roundRect">
            <a:avLst>
              <a:gd name="adj" fmla="val 26434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784413" y="4076220"/>
            <a:ext cx="1023461" cy="288256"/>
          </a:xfrm>
          <a:prstGeom prst="roundRect">
            <a:avLst>
              <a:gd name="adj" fmla="val 26434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3595" y="4076220"/>
            <a:ext cx="624840" cy="288256"/>
          </a:xfrm>
          <a:prstGeom prst="roundRect">
            <a:avLst>
              <a:gd name="adj" fmla="val 26434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524155" y="4076220"/>
            <a:ext cx="925592" cy="288256"/>
          </a:xfrm>
          <a:prstGeom prst="roundRect">
            <a:avLst>
              <a:gd name="adj" fmla="val 26434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576560" y="3901560"/>
            <a:ext cx="1158241" cy="637577"/>
          </a:xfrm>
          <a:prstGeom prst="roundRect">
            <a:avLst>
              <a:gd name="adj" fmla="val 11951"/>
            </a:avLst>
          </a:prstGeom>
          <a:solidFill>
            <a:srgbClr val="C2456A">
              <a:alpha val="15000"/>
            </a:srgbClr>
          </a:solidFill>
          <a:ln w="7620">
            <a:solidFill>
              <a:srgbClr val="C2456A">
                <a:alpha val="4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42900" y="4722020"/>
            <a:ext cx="11506200" cy="820461"/>
          </a:xfrm>
          <a:prstGeom prst="roundRect">
            <a:avLst>
              <a:gd name="adj" fmla="val 13002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50520" y="4729636"/>
            <a:ext cx="30480" cy="805221"/>
          </a:xfrm>
          <a:prstGeom prst="roundRect">
            <a:avLst>
              <a:gd name="adj" fmla="val 50000"/>
            </a:avLst>
          </a:prstGeom>
          <a:solidFill>
            <a:srgbClr val="C24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828800" y="4813458"/>
            <a:ext cx="1158240" cy="637577"/>
          </a:xfrm>
          <a:prstGeom prst="roundRect">
            <a:avLst>
              <a:gd name="adj" fmla="val 11951"/>
            </a:avLst>
          </a:prstGeom>
          <a:solidFill>
            <a:srgbClr val="C2456A">
              <a:alpha val="8000"/>
            </a:srgbClr>
          </a:solidFill>
          <a:ln w="7620">
            <a:solidFill>
              <a:srgbClr val="C2456A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325076" y="4988126"/>
            <a:ext cx="913448" cy="288248"/>
          </a:xfrm>
          <a:prstGeom prst="roundRect">
            <a:avLst>
              <a:gd name="adj" fmla="val 26435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576560" y="4813458"/>
            <a:ext cx="1158241" cy="637577"/>
          </a:xfrm>
          <a:prstGeom prst="roundRect">
            <a:avLst>
              <a:gd name="adj" fmla="val 11951"/>
            </a:avLst>
          </a:prstGeom>
          <a:solidFill>
            <a:srgbClr val="C2456A">
              <a:alpha val="15000"/>
            </a:srgbClr>
          </a:solidFill>
          <a:ln w="7620">
            <a:solidFill>
              <a:srgbClr val="C2456A">
                <a:alpha val="4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42900" y="5633919"/>
            <a:ext cx="11506200" cy="820461"/>
          </a:xfrm>
          <a:prstGeom prst="roundRect">
            <a:avLst>
              <a:gd name="adj" fmla="val 13002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50520" y="5641535"/>
            <a:ext cx="30480" cy="805221"/>
          </a:xfrm>
          <a:prstGeom prst="roundRect">
            <a:avLst>
              <a:gd name="adj" fmla="val 50000"/>
            </a:avLst>
          </a:prstGeom>
          <a:solidFill>
            <a:srgbClr val="C24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828800" y="5725357"/>
            <a:ext cx="1158240" cy="637584"/>
          </a:xfrm>
          <a:prstGeom prst="roundRect">
            <a:avLst>
              <a:gd name="adj" fmla="val 11951"/>
            </a:avLst>
          </a:prstGeom>
          <a:solidFill>
            <a:srgbClr val="C2456A">
              <a:alpha val="8000"/>
            </a:srgbClr>
          </a:solidFill>
          <a:ln w="7620">
            <a:solidFill>
              <a:srgbClr val="C2456A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469380" y="5900025"/>
            <a:ext cx="624840" cy="288248"/>
          </a:xfrm>
          <a:prstGeom prst="roundRect">
            <a:avLst>
              <a:gd name="adj" fmla="val 26435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576560" y="5725357"/>
            <a:ext cx="1158241" cy="637584"/>
          </a:xfrm>
          <a:prstGeom prst="roundRect">
            <a:avLst>
              <a:gd name="adj" fmla="val 11951"/>
            </a:avLst>
          </a:prstGeom>
          <a:solidFill>
            <a:srgbClr val="C2456A">
              <a:alpha val="15000"/>
            </a:srgbClr>
          </a:solidFill>
          <a:ln w="7620">
            <a:solidFill>
              <a:srgbClr val="C2456A">
                <a:alpha val="4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2900" y="312417"/>
            <a:ext cx="3411379" cy="1219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1" spc="132">
                <a:solidFill>
                  <a:srgbClr val="78879F"/>
                </a:solidFill>
                <a:latin typeface="Calibri"/>
              </a:rPr>
              <a:t>AFFICHE SERVICE · QUALITÉ &amp; ENVIRONNEMENT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2900" y="457198"/>
            <a:ext cx="4186833" cy="3657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400" b="1" spc="-48">
                <a:solidFill>
                  <a:srgbClr val="0D1526"/>
                </a:solidFill>
                <a:latin typeface="Calibri"/>
              </a:rPr>
              <a:t>Qualité &amp; Environnement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2900" y="847249"/>
            <a:ext cx="3810714" cy="15239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40" b="0">
                <a:solidFill>
                  <a:srgbClr val="78879F"/>
                </a:solidFill>
                <a:latin typeface="Calibri"/>
              </a:rPr>
              <a:t>Missions et outils rattachés — processus non recueilli en entretien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07792" y="361948"/>
            <a:ext cx="1488758" cy="13716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>
                <a:solidFill>
                  <a:srgbClr val="33415C"/>
                </a:solidFill>
                <a:latin typeface="Calibri"/>
              </a:rPr>
              <a:t>14 outils rattachés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10894" y="373384"/>
            <a:ext cx="1110258" cy="1142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1" spc="24">
                <a:solidFill>
                  <a:srgbClr val="5B57D6"/>
                </a:solidFill>
                <a:latin typeface="Calibri"/>
              </a:rPr>
              <a:t>6 missions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28985" y="567688"/>
            <a:ext cx="1605915" cy="13716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>
                <a:solidFill>
                  <a:srgbClr val="33415C"/>
                </a:solidFill>
                <a:latin typeface="Calibri"/>
              </a:rPr>
              <a:t>avec les autres pôles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10894" y="579123"/>
            <a:ext cx="1131451" cy="1142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1" spc="24">
                <a:solidFill>
                  <a:srgbClr val="78879F"/>
                </a:solidFill>
                <a:latin typeface="Calibri"/>
              </a:rPr>
              <a:t>0 échanges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1358383"/>
            <a:ext cx="1395651" cy="13715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0D1526"/>
                </a:solidFill>
                <a:latin typeface="Calibri"/>
              </a:rPr>
              <a:t>Contrôle qualité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1501258"/>
            <a:ext cx="1449943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480" b="1" spc="48">
                <a:solidFill>
                  <a:srgbClr val="78879F"/>
                </a:solidFill>
                <a:latin typeface="Calibri"/>
              </a:rPr>
              <a:t>ORDRE NON ATTESTÉ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51792" y="1386243"/>
            <a:ext cx="912257" cy="8382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C2456A"/>
                </a:solidFill>
                <a:latin typeface="Calibri"/>
              </a:rPr>
              <a:t>DÉBUT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45231" y="1465418"/>
            <a:ext cx="1125379" cy="1066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à documenter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38356" y="1412204"/>
            <a:ext cx="735568" cy="1447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53784" y="1378627"/>
            <a:ext cx="983932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CEMEX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49353" y="1486732"/>
            <a:ext cx="1392912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alim. TODO · int/ext TODO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90542" y="1378627"/>
            <a:ext cx="1086327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IDCapture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64349" y="1486732"/>
            <a:ext cx="1138714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51828" y="1378627"/>
            <a:ext cx="904875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Excel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34909" y="1486732"/>
            <a:ext cx="1138714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08326" y="1378627"/>
            <a:ext cx="1132999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Mezzoteam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44640" y="1486732"/>
            <a:ext cx="1060370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auto · externe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23058" y="1378627"/>
            <a:ext cx="1044536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Power BI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21272" y="1486732"/>
            <a:ext cx="1048107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auto · interne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36825" y="1378627"/>
            <a:ext cx="1277303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Quick Connect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12192" y="1486732"/>
            <a:ext cx="1126450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interne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75476" y="1412204"/>
            <a:ext cx="735568" cy="1447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58595" y="1386243"/>
            <a:ext cx="994171" cy="8382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C2456A"/>
                </a:solidFill>
                <a:latin typeface="Calibri"/>
              </a:rPr>
              <a:t>FINALITÉ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92991" y="1465418"/>
            <a:ext cx="1125379" cy="1066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à documenter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2920" y="2270282"/>
            <a:ext cx="1796177" cy="13716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0D1526"/>
                </a:solidFill>
                <a:latin typeface="Calibri"/>
              </a:rPr>
              <a:t>MaD et levées de réserve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2920" y="2413157"/>
            <a:ext cx="1449943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480" b="1" spc="48">
                <a:solidFill>
                  <a:srgbClr val="78879F"/>
                </a:solidFill>
                <a:latin typeface="Calibri"/>
              </a:rPr>
              <a:t>ORDRE NON ATTESTÉ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951792" y="2298141"/>
            <a:ext cx="912257" cy="8382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C2456A"/>
                </a:solidFill>
                <a:latin typeface="Calibri"/>
              </a:rPr>
              <a:t>DÉBUT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845231" y="2377324"/>
            <a:ext cx="1125379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à documenter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038356" y="2324103"/>
            <a:ext cx="735568" cy="1447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811203" y="2290525"/>
            <a:ext cx="1086326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IDCapture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785009" y="2398631"/>
            <a:ext cx="1138714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45806" y="2290525"/>
            <a:ext cx="1342549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Trimble Connect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547723" y="2398631"/>
            <a:ext cx="1138714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475476" y="2324103"/>
            <a:ext cx="735568" cy="1447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58595" y="2298141"/>
            <a:ext cx="994171" cy="8382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C2456A"/>
                </a:solidFill>
                <a:latin typeface="Calibri"/>
              </a:rPr>
              <a:t>FINALITÉ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592991" y="2377324"/>
            <a:ext cx="1125379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à documenter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02920" y="3182180"/>
            <a:ext cx="1682115" cy="13716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0D1526"/>
                </a:solidFill>
                <a:latin typeface="Calibri"/>
              </a:rPr>
              <a:t>Suivi environnemental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2920" y="3325055"/>
            <a:ext cx="1449943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480" b="1" spc="48">
                <a:solidFill>
                  <a:srgbClr val="78879F"/>
                </a:solidFill>
                <a:latin typeface="Calibri"/>
              </a:rPr>
              <a:t>ORDRE NON ATTESTÉ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951792" y="3210048"/>
            <a:ext cx="912257" cy="8381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C2456A"/>
                </a:solidFill>
                <a:latin typeface="Calibri"/>
              </a:rPr>
              <a:t>DÉBUT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45231" y="3289223"/>
            <a:ext cx="1125379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à documenter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038356" y="3236002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478185" y="3202424"/>
            <a:ext cx="1146929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PowerPoint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82352" y="3310529"/>
            <a:ext cx="1138714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199942" y="3202424"/>
            <a:ext cx="1044535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Power BI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198156" y="3310529"/>
            <a:ext cx="1048107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auto · interne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813709" y="3202424"/>
            <a:ext cx="1277303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Quick Connect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889075" y="3310529"/>
            <a:ext cx="1126450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interne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475476" y="3236002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58595" y="3210048"/>
            <a:ext cx="994171" cy="8381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C2456A"/>
                </a:solidFill>
                <a:latin typeface="Calibri"/>
              </a:rPr>
              <a:t>FINALITÉ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592991" y="3289223"/>
            <a:ext cx="1125379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à documenter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02920" y="4094087"/>
            <a:ext cx="1839040" cy="13715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33415C"/>
                </a:solidFill>
                <a:latin typeface="Calibri"/>
              </a:rPr>
              <a:t>Suivi des consommations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02920" y="4236962"/>
            <a:ext cx="1399937" cy="990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480" b="1" spc="48">
                <a:solidFill>
                  <a:srgbClr val="78879F"/>
                </a:solidFill>
                <a:latin typeface="Calibri"/>
              </a:rPr>
              <a:t>MISSION PROPOSÉE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951792" y="4121946"/>
            <a:ext cx="912257" cy="8381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C2456A"/>
                </a:solidFill>
                <a:latin typeface="Calibri"/>
              </a:rPr>
              <a:t>DÉBUT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845231" y="4201122"/>
            <a:ext cx="1125379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à documenter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038356" y="4147900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907399" y="4114323"/>
            <a:ext cx="1037629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Lafarge+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896088" y="4222436"/>
            <a:ext cx="1060370" cy="990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auto · externe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517713" y="4114323"/>
            <a:ext cx="1556862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Live Objects (Orange)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765959" y="4222436"/>
            <a:ext cx="1060371" cy="990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auto · externe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636782" y="4114323"/>
            <a:ext cx="1058465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Lucee TP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596658" y="4222436"/>
            <a:ext cx="1138714" cy="990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257454" y="4114323"/>
            <a:ext cx="1458992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Sixense Monitoring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456765" y="4222436"/>
            <a:ext cx="1060370" cy="990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auto · externe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475476" y="4147900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658595" y="4121946"/>
            <a:ext cx="994171" cy="8381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C2456A"/>
                </a:solidFill>
                <a:latin typeface="Calibri"/>
              </a:rPr>
              <a:t>FINALITÉ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592991" y="4201122"/>
            <a:ext cx="1125379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à documenter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02920" y="5005986"/>
            <a:ext cx="1599367" cy="13715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33415C"/>
                </a:solidFill>
                <a:latin typeface="Calibri"/>
              </a:rPr>
              <a:t>Gestion des déchets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02920" y="5148861"/>
            <a:ext cx="1399937" cy="990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480" b="1" spc="48">
                <a:solidFill>
                  <a:srgbClr val="78879F"/>
                </a:solidFill>
                <a:latin typeface="Calibri"/>
              </a:rPr>
              <a:t>MISSION PROPOSÉE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951792" y="5033845"/>
            <a:ext cx="912257" cy="8381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C2456A"/>
                </a:solidFill>
                <a:latin typeface="Calibri"/>
              </a:rPr>
              <a:t>DÉBUT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845231" y="5113020"/>
            <a:ext cx="1125379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à documenter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038356" y="5059799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058377" y="5026222"/>
            <a:ext cx="1446848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Wastemarket Place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212443" y="5134335"/>
            <a:ext cx="1138714" cy="990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475476" y="5059799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658595" y="5033845"/>
            <a:ext cx="994171" cy="8381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C2456A"/>
                </a:solidFill>
                <a:latin typeface="Calibri"/>
              </a:rPr>
              <a:t>FINALITÉ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592991" y="5113020"/>
            <a:ext cx="1125379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à documenter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02920" y="5917884"/>
            <a:ext cx="1714857" cy="13715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0D1526"/>
                </a:solidFill>
                <a:latin typeface="Calibri"/>
              </a:rPr>
              <a:t>Commande de matériel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02920" y="6060759"/>
            <a:ext cx="1449943" cy="990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480" b="1" spc="48">
                <a:solidFill>
                  <a:srgbClr val="78879F"/>
                </a:solidFill>
                <a:latin typeface="Calibri"/>
              </a:rPr>
              <a:t>ORDRE NON ATTESTÉ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951792" y="5945744"/>
            <a:ext cx="912257" cy="8382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C2456A"/>
                </a:solidFill>
                <a:latin typeface="Calibri"/>
              </a:rPr>
              <a:t>DÉBUT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845231" y="6024919"/>
            <a:ext cx="1125379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à documenter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038356" y="5971698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324719" y="5938120"/>
            <a:ext cx="914043" cy="1219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Pablo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212443" y="6046233"/>
            <a:ext cx="1138714" cy="990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475476" y="5971698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658595" y="5945744"/>
            <a:ext cx="994171" cy="8382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C2456A"/>
                </a:solidFill>
                <a:latin typeface="Calibri"/>
              </a:rPr>
              <a:t>FINALITÉ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0592991" y="6024919"/>
            <a:ext cx="1125379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à documenter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42900" y="6507479"/>
            <a:ext cx="3324939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>
                <a:solidFill>
                  <a:srgbClr val="78879F"/>
                </a:solidFill>
                <a:latin typeface="Calibri"/>
              </a:rPr>
              <a:t>Alimentation et nature reprises de la BDD. Le processus reste à documenter.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42900" y="6644636"/>
            <a:ext cx="2586990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>
                <a:solidFill>
                  <a:srgbClr val="78879F"/>
                </a:solidFill>
                <a:latin typeface="Calibri"/>
              </a:rPr>
              <a:t>Source : BDD Cartographie Outils IT — 16 entretiens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1302603" y="6644636"/>
            <a:ext cx="1232297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>
                <a:solidFill>
                  <a:srgbClr val="78879F"/>
                </a:solidFill>
                <a:latin typeface="Calibri"/>
              </a:rPr>
              <a:t>Planche 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285215" y="358137"/>
            <a:ext cx="561617" cy="144781"/>
          </a:xfrm>
          <a:prstGeom prst="roundRect">
            <a:avLst>
              <a:gd name="adj" fmla="val 50000"/>
            </a:avLst>
          </a:prstGeom>
          <a:solidFill>
            <a:srgbClr val="5B57D6">
              <a:alpha val="13000"/>
            </a:srgbClr>
          </a:solidFill>
          <a:ln w="7620">
            <a:solidFill>
              <a:srgbClr val="5B57D6">
                <a:alpha val="3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85215" y="563876"/>
            <a:ext cx="582810" cy="144781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2900" y="1173479"/>
            <a:ext cx="11506200" cy="1600198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0520" y="1181103"/>
            <a:ext cx="30480" cy="1584959"/>
          </a:xfrm>
          <a:prstGeom prst="roundRect">
            <a:avLst>
              <a:gd name="adj" fmla="val 50000"/>
            </a:avLst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28800" y="1264918"/>
            <a:ext cx="1524000" cy="1417322"/>
          </a:xfrm>
          <a:prstGeom prst="roundRect">
            <a:avLst>
              <a:gd name="adj" fmla="val 5376"/>
            </a:avLst>
          </a:prstGeom>
          <a:solidFill>
            <a:srgbClr val="D93025">
              <a:alpha val="8000"/>
            </a:srgbClr>
          </a:solidFill>
          <a:ln w="7620">
            <a:solidFill>
              <a:srgbClr val="D93025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82140" y="1988222"/>
            <a:ext cx="1417320" cy="175025"/>
          </a:xfrm>
          <a:prstGeom prst="roundRect">
            <a:avLst>
              <a:gd name="adj" fmla="val 50000"/>
            </a:avLst>
          </a:prstGeom>
          <a:solidFill>
            <a:srgbClr val="8257E6">
              <a:alpha val="14000"/>
            </a:srgbClr>
          </a:solidFill>
          <a:ln w="7620">
            <a:solidFill>
              <a:srgbClr val="8257E6">
                <a:alpha val="4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05200" y="1264918"/>
            <a:ext cx="1524000" cy="1417322"/>
          </a:xfrm>
          <a:prstGeom prst="roundRect">
            <a:avLst>
              <a:gd name="adj" fmla="val 5376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81600" y="1264918"/>
            <a:ext cx="1524000" cy="1417322"/>
          </a:xfrm>
          <a:prstGeom prst="roundRect">
            <a:avLst>
              <a:gd name="adj" fmla="val 5376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0" y="1264918"/>
            <a:ext cx="1524000" cy="1417322"/>
          </a:xfrm>
          <a:prstGeom prst="roundRect">
            <a:avLst>
              <a:gd name="adj" fmla="val 5376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34400" y="1264918"/>
            <a:ext cx="1524000" cy="1417322"/>
          </a:xfrm>
          <a:prstGeom prst="roundRect">
            <a:avLst>
              <a:gd name="adj" fmla="val 5376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210801" y="1264918"/>
            <a:ext cx="1524000" cy="1417322"/>
          </a:xfrm>
          <a:prstGeom prst="roundRect">
            <a:avLst>
              <a:gd name="adj" fmla="val 5376"/>
            </a:avLst>
          </a:prstGeom>
          <a:solidFill>
            <a:srgbClr val="D93025">
              <a:alpha val="15000"/>
            </a:srgbClr>
          </a:solidFill>
          <a:ln w="7620">
            <a:solidFill>
              <a:srgbClr val="D93025">
                <a:alpha val="4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900" y="2964178"/>
            <a:ext cx="11506200" cy="1600198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0520" y="2971802"/>
            <a:ext cx="30480" cy="1584959"/>
          </a:xfrm>
          <a:prstGeom prst="roundRect">
            <a:avLst>
              <a:gd name="adj" fmla="val 50000"/>
            </a:avLst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828800" y="3055624"/>
            <a:ext cx="1284565" cy="1417315"/>
          </a:xfrm>
          <a:prstGeom prst="roundRect">
            <a:avLst>
              <a:gd name="adj" fmla="val 5931"/>
            </a:avLst>
          </a:prstGeom>
          <a:solidFill>
            <a:srgbClr val="D93025">
              <a:alpha val="8000"/>
            </a:srgbClr>
          </a:solidFill>
          <a:ln w="7620">
            <a:solidFill>
              <a:srgbClr val="D93025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65765" y="3055624"/>
            <a:ext cx="1284565" cy="1417315"/>
          </a:xfrm>
          <a:prstGeom prst="roundRect">
            <a:avLst>
              <a:gd name="adj" fmla="val 5931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02731" y="3055624"/>
            <a:ext cx="1284566" cy="1417315"/>
          </a:xfrm>
          <a:prstGeom prst="roundRect">
            <a:avLst>
              <a:gd name="adj" fmla="val 5931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39696" y="3055624"/>
            <a:ext cx="1284566" cy="1417315"/>
          </a:xfrm>
          <a:prstGeom prst="roundRect">
            <a:avLst>
              <a:gd name="adj" fmla="val 5931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76661" y="3055624"/>
            <a:ext cx="1284565" cy="1417315"/>
          </a:xfrm>
          <a:prstGeom prst="roundRect">
            <a:avLst>
              <a:gd name="adj" fmla="val 5931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13626" y="3055624"/>
            <a:ext cx="1284566" cy="1417315"/>
          </a:xfrm>
          <a:prstGeom prst="roundRect">
            <a:avLst>
              <a:gd name="adj" fmla="val 5931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450592" y="3055624"/>
            <a:ext cx="1284565" cy="1417315"/>
          </a:xfrm>
          <a:prstGeom prst="roundRect">
            <a:avLst>
              <a:gd name="adj" fmla="val 5931"/>
            </a:avLst>
          </a:prstGeom>
          <a:solidFill>
            <a:srgbClr val="D93025">
              <a:alpha val="15000"/>
            </a:srgbClr>
          </a:solidFill>
          <a:ln w="7620">
            <a:solidFill>
              <a:srgbClr val="D93025">
                <a:alpha val="4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42900" y="4754876"/>
            <a:ext cx="11506200" cy="1600206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50520" y="4762500"/>
            <a:ext cx="30480" cy="1584959"/>
          </a:xfrm>
          <a:prstGeom prst="roundRect">
            <a:avLst>
              <a:gd name="adj" fmla="val 50000"/>
            </a:avLst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828800" y="4846322"/>
            <a:ext cx="1859280" cy="1417315"/>
          </a:xfrm>
          <a:prstGeom prst="roundRect">
            <a:avLst>
              <a:gd name="adj" fmla="val 5376"/>
            </a:avLst>
          </a:prstGeom>
          <a:solidFill>
            <a:srgbClr val="D93025">
              <a:alpha val="8000"/>
            </a:srgbClr>
          </a:solidFill>
          <a:ln w="7620">
            <a:solidFill>
              <a:srgbClr val="D93025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840480" y="4846322"/>
            <a:ext cx="1859280" cy="1417315"/>
          </a:xfrm>
          <a:prstGeom prst="roundRect">
            <a:avLst>
              <a:gd name="adj" fmla="val 5376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852160" y="4846322"/>
            <a:ext cx="1859280" cy="1417315"/>
          </a:xfrm>
          <a:prstGeom prst="roundRect">
            <a:avLst>
              <a:gd name="adj" fmla="val 5376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863841" y="4846322"/>
            <a:ext cx="1859279" cy="1417315"/>
          </a:xfrm>
          <a:prstGeom prst="roundRect">
            <a:avLst>
              <a:gd name="adj" fmla="val 5376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1" y="4846322"/>
            <a:ext cx="1859280" cy="1417315"/>
          </a:xfrm>
          <a:prstGeom prst="roundRect">
            <a:avLst>
              <a:gd name="adj" fmla="val 5376"/>
            </a:avLst>
          </a:prstGeom>
          <a:solidFill>
            <a:srgbClr val="D93025">
              <a:alpha val="15000"/>
            </a:srgbClr>
          </a:solidFill>
          <a:ln w="7620">
            <a:solidFill>
              <a:srgbClr val="D93025">
                <a:alpha val="4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928860" y="5569627"/>
            <a:ext cx="1752600" cy="175017"/>
          </a:xfrm>
          <a:prstGeom prst="roundRect">
            <a:avLst>
              <a:gd name="adj" fmla="val 50000"/>
            </a:avLst>
          </a:prstGeom>
          <a:solidFill>
            <a:srgbClr val="5B57D6">
              <a:alpha val="14000"/>
            </a:srgbClr>
          </a:solidFill>
          <a:ln w="7620">
            <a:solidFill>
              <a:srgbClr val="5B57D6">
                <a:alpha val="4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2900" y="312417"/>
            <a:ext cx="2372916" cy="1219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1" spc="132">
                <a:solidFill>
                  <a:srgbClr val="78879F"/>
                </a:solidFill>
                <a:latin typeface="Calibri"/>
              </a:rPr>
              <a:t>AFFICHE SERVICE · SÉCURITÉ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" y="457198"/>
            <a:ext cx="1839873" cy="3657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400" b="1" spc="-48">
                <a:solidFill>
                  <a:srgbClr val="0D1526"/>
                </a:solidFill>
                <a:latin typeface="Calibri"/>
              </a:rPr>
              <a:t>Sécurité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" y="847249"/>
            <a:ext cx="3496747" cy="15239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40" b="0">
                <a:solidFill>
                  <a:srgbClr val="78879F"/>
                </a:solidFill>
                <a:latin typeface="Calibri"/>
              </a:rPr>
              <a:t>Flux de la donnée par mission — de son entrée à sa finalité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07792" y="361948"/>
            <a:ext cx="1488758" cy="13716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>
                <a:solidFill>
                  <a:srgbClr val="33415C"/>
                </a:solidFill>
                <a:latin typeface="Calibri"/>
              </a:rPr>
              <a:t>10 outils rattachés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0894" y="373384"/>
            <a:ext cx="1110258" cy="1142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1" spc="24">
                <a:solidFill>
                  <a:srgbClr val="5B57D6"/>
                </a:solidFill>
                <a:latin typeface="Calibri"/>
              </a:rPr>
              <a:t>3 missions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28985" y="567688"/>
            <a:ext cx="1605915" cy="13716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>
                <a:solidFill>
                  <a:srgbClr val="33415C"/>
                </a:solidFill>
                <a:latin typeface="Calibri"/>
              </a:rPr>
              <a:t>avec les autres pôles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0894" y="579123"/>
            <a:ext cx="1131451" cy="1142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1" spc="24">
                <a:solidFill>
                  <a:srgbClr val="78879F"/>
                </a:solidFill>
                <a:latin typeface="Calibri"/>
              </a:rPr>
              <a:t>2 échanges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1845947"/>
            <a:ext cx="1607939" cy="13715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0D1526"/>
                </a:solidFill>
                <a:latin typeface="Calibri"/>
              </a:rPr>
              <a:t>Accueil, formation 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1958342"/>
            <a:ext cx="1234440" cy="13715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0D1526"/>
                </a:solidFill>
                <a:latin typeface="Calibri"/>
              </a:rPr>
              <a:t>habilitations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14074" y="1768670"/>
            <a:ext cx="953452" cy="8382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D93025"/>
                </a:solidFill>
                <a:latin typeface="Calibri"/>
              </a:rPr>
              <a:t>ENTRÉE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03822" y="1847853"/>
            <a:ext cx="1173837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Nouvel arrivant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57651" y="1995846"/>
            <a:ext cx="866299" cy="8382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09" b="1" spc="12">
                <a:solidFill>
                  <a:srgbClr val="8257E6"/>
                </a:solidFill>
                <a:latin typeface="Calibri"/>
              </a:rPr>
              <a:t>← DAF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64281" y="2060495"/>
            <a:ext cx="1452920" cy="8382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09" b="1" spc="12">
                <a:solidFill>
                  <a:srgbClr val="8257E6"/>
                </a:solidFill>
                <a:latin typeface="Calibri"/>
              </a:rPr>
              <a:t>Onboarding RH et formations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04116" y="1901188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9465" y="1816417"/>
            <a:ext cx="1855470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Accueil de site et formation au poste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28549" y="1918690"/>
            <a:ext cx="1277302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Quick Connect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03915" y="2026803"/>
            <a:ext cx="1126450" cy="990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interne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80516" y="1901188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7057" y="1772839"/>
            <a:ext cx="1833086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Habilitations élec. et autorisation de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61040" y="1859873"/>
            <a:ext cx="965120" cy="1066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conduite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4949" y="1962147"/>
            <a:ext cx="1277303" cy="1219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Quick Connect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80315" y="2070260"/>
            <a:ext cx="1126450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interne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56916" y="1901188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7416" y="1816417"/>
            <a:ext cx="1345168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Suivi des formations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65050" y="1918690"/>
            <a:ext cx="1109782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By My Site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56715" y="2026803"/>
            <a:ext cx="1126450" cy="990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interne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33316" y="1901188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08815" y="1816417"/>
            <a:ext cx="1375053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Dossier collaborateur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29638" y="1918690"/>
            <a:ext cx="1533406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HRMYOU / Global HR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34664" y="2026803"/>
            <a:ext cx="1123355" cy="990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AC597A"/>
                </a:solidFill>
                <a:latin typeface="Calibri"/>
              </a:rPr>
              <a:t>hors BDD · brief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09716" y="1901188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75714" y="1875234"/>
            <a:ext cx="994171" cy="8382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D93025"/>
                </a:solidFill>
                <a:latin typeface="Calibri"/>
              </a:rPr>
              <a:t>FINALITÉ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38172" y="1954409"/>
            <a:ext cx="1669137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Collaborateur habilité au poste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" y="3692843"/>
            <a:ext cx="1829991" cy="13715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0D1526"/>
                </a:solidFill>
                <a:latin typeface="Calibri"/>
              </a:rPr>
              <a:t>Prévention et suivi terrain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94297" y="3665933"/>
            <a:ext cx="953452" cy="8382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D93025"/>
                </a:solidFill>
                <a:latin typeface="Calibri"/>
              </a:rPr>
              <a:t>ENTRÉE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20810" y="3745108"/>
            <a:ext cx="1500545" cy="1066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Terrain · ¼ heure sécurité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164681" y="3691886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094434" y="3607115"/>
            <a:ext cx="1627227" cy="1066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Visite sécurité et ¼ h sécurité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69337" y="3709389"/>
            <a:ext cx="1277303" cy="1219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Quick Connect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344823" y="3817502"/>
            <a:ext cx="1126450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interne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601647" y="3691886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66868" y="3607115"/>
            <a:ext cx="1756172" cy="1066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Suivi IDV, addictions, organismes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29257" y="3709389"/>
            <a:ext cx="1631394" cy="1219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Quick Connect Sécurité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83336" y="3817502"/>
            <a:ext cx="1123355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AC597A"/>
                </a:solidFill>
                <a:latin typeface="Calibri"/>
              </a:rPr>
              <a:t>hors BDD · brief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038612" y="3691886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65295" y="3607115"/>
            <a:ext cx="1233249" cy="1066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Comptage tunnel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24957" y="3709389"/>
            <a:ext cx="914043" cy="1219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Lotus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20301" y="3817502"/>
            <a:ext cx="1123355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AC597A"/>
                </a:solidFill>
                <a:latin typeface="Calibri"/>
              </a:rPr>
              <a:t>hors BDD · brief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75578" y="3691886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501652" y="3607115"/>
            <a:ext cx="1434465" cy="1066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Diffusion documentaire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52385" y="3709389"/>
            <a:ext cx="1132999" cy="1219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Mezzoteam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688699" y="3817502"/>
            <a:ext cx="1060370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auto · externe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12543" y="3691886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838010" y="3607115"/>
            <a:ext cx="1635680" cy="1066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Commande EPI et prestations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198888" y="3709389"/>
            <a:ext cx="914043" cy="1219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Pablo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086493" y="3817502"/>
            <a:ext cx="1138714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manuel · externe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349508" y="3691886"/>
            <a:ext cx="735568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595729" y="3665933"/>
            <a:ext cx="994172" cy="8382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D93025"/>
                </a:solidFill>
                <a:latin typeface="Calibri"/>
              </a:rPr>
              <a:t>FINALITÉ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334506" y="3745108"/>
            <a:ext cx="1516737" cy="1066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Risques maîtrisés sur site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02920" y="5427344"/>
            <a:ext cx="1869043" cy="13715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0D1526"/>
                </a:solidFill>
                <a:latin typeface="Calibri"/>
              </a:rPr>
              <a:t>Événements et indicateurs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02920" y="5539739"/>
            <a:ext cx="1043583" cy="13715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spc="-7">
                <a:solidFill>
                  <a:srgbClr val="0D1526"/>
                </a:solidFill>
                <a:latin typeface="Calibri"/>
              </a:rPr>
              <a:t>sécurité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281714" y="5456631"/>
            <a:ext cx="953452" cy="8382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D93025"/>
                </a:solidFill>
                <a:latin typeface="Calibri"/>
              </a:rPr>
              <a:t>ENTRÉE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928813" y="5535814"/>
            <a:ext cx="1659136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Événement ATB, AT, PAT, HIPO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739396" y="5482592"/>
            <a:ext cx="735568" cy="1447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084439" y="5397821"/>
            <a:ext cx="1371243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Reporting événement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306134" y="5500095"/>
            <a:ext cx="927973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Cority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208383" y="5608200"/>
            <a:ext cx="1123355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AC597A"/>
                </a:solidFill>
                <a:latin typeface="Calibri"/>
              </a:rPr>
              <a:t>hors BDD · brief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751076" y="5482592"/>
            <a:ext cx="735568" cy="1447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010513" y="5397821"/>
            <a:ext cx="1542574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Volume d'heures exposées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070759" y="5500095"/>
            <a:ext cx="1422083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Heures Travaillées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220063" y="5608200"/>
            <a:ext cx="1123355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AC597A"/>
                </a:solidFill>
                <a:latin typeface="Calibri"/>
              </a:rPr>
              <a:t>hors BDD · brief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762755" y="5482592"/>
            <a:ext cx="735568" cy="1447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133874" y="5397821"/>
            <a:ext cx="1319213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Indicateurs sécurité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271153" y="5500095"/>
            <a:ext cx="1044535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>
                <a:solidFill>
                  <a:srgbClr val="0D1526"/>
                </a:solidFill>
                <a:latin typeface="Calibri"/>
              </a:rPr>
              <a:t>Power BI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269367" y="5608200"/>
            <a:ext cx="1048107" cy="990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30" b="1" spc="9">
                <a:solidFill>
                  <a:srgbClr val="78879F"/>
                </a:solidFill>
                <a:latin typeface="Calibri"/>
              </a:rPr>
              <a:t>auto · interne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774436" y="5482592"/>
            <a:ext cx="735568" cy="1447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78879F"/>
                </a:solidFill>
                <a:latin typeface="Calibri"/>
              </a:rPr>
              <a:t>▸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308074" y="5350075"/>
            <a:ext cx="994172" cy="8381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20" b="1" spc="67">
                <a:solidFill>
                  <a:srgbClr val="D93025"/>
                </a:solidFill>
                <a:latin typeface="Calibri"/>
              </a:rPr>
              <a:t>FINALITÉ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835158" y="5429250"/>
            <a:ext cx="1940004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30" b="1">
                <a:solidFill>
                  <a:srgbClr val="33415C"/>
                </a:solidFill>
                <a:latin typeface="Calibri"/>
              </a:rPr>
              <a:t>Taux de fréquence et de gravité publiés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308312" y="5577243"/>
            <a:ext cx="993577" cy="8382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09" b="1" spc="12">
                <a:solidFill>
                  <a:srgbClr val="5B57D6"/>
                </a:solidFill>
                <a:latin typeface="Calibri"/>
              </a:rPr>
              <a:t>→ Direction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254854" y="5641899"/>
            <a:ext cx="1100614" cy="8381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409" b="1" spc="12">
                <a:solidFill>
                  <a:srgbClr val="5B57D6"/>
                </a:solidFill>
                <a:latin typeface="Calibri"/>
              </a:rPr>
              <a:t>Récolte des KPI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42900" y="6507479"/>
            <a:ext cx="4419362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>
                <a:solidFill>
                  <a:srgbClr val="78879F"/>
                </a:solidFill>
                <a:latin typeface="Calibri"/>
              </a:rPr>
              <a:t>Chaînes issues du brief métier ; nature et alimentation reprises de la BDD. 2 échanges avec les autres pôles.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42900" y="6644636"/>
            <a:ext cx="2586990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>
                <a:solidFill>
                  <a:srgbClr val="78879F"/>
                </a:solidFill>
                <a:latin typeface="Calibri"/>
              </a:rPr>
              <a:t>Source : BDD Cartographie Outils IT — 16 entretiens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1306771" y="6644636"/>
            <a:ext cx="1228129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>
                <a:solidFill>
                  <a:srgbClr val="78879F"/>
                </a:solidFill>
                <a:latin typeface="Calibri"/>
              </a:rPr>
              <a:t>Planche 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03860" y="1448394"/>
            <a:ext cx="53340" cy="53343"/>
          </a:xfrm>
          <a:prstGeom prst="ellipse">
            <a:avLst/>
          </a:prstGeom>
          <a:solidFill>
            <a:srgbClr val="4C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80586" y="1448394"/>
            <a:ext cx="53340" cy="53343"/>
          </a:xfrm>
          <a:prstGeom prst="ellipse">
            <a:avLst/>
          </a:prstGeom>
          <a:solidFill>
            <a:srgbClr val="4C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817864" y="1415530"/>
            <a:ext cx="435887" cy="12191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03860" y="1591512"/>
            <a:ext cx="53340" cy="53335"/>
          </a:xfrm>
          <a:prstGeom prst="ellipse">
            <a:avLst/>
          </a:prstGeom>
          <a:solidFill>
            <a:srgbClr val="4C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80586" y="1591512"/>
            <a:ext cx="53340" cy="53335"/>
          </a:xfrm>
          <a:prstGeom prst="ellipse">
            <a:avLst/>
          </a:prstGeom>
          <a:solidFill>
            <a:srgbClr val="4C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817864" y="1558648"/>
            <a:ext cx="663892" cy="121918"/>
          </a:xfrm>
          <a:prstGeom prst="roundRect">
            <a:avLst>
              <a:gd name="adj" fmla="val 50000"/>
            </a:avLst>
          </a:prstGeom>
          <a:solidFill>
            <a:srgbClr val="4CC9E8">
              <a:alpha val="17000"/>
            </a:srgbClr>
          </a:solidFill>
          <a:ln w="7620">
            <a:solidFill>
              <a:srgbClr val="4CC9E8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03860" y="1734622"/>
            <a:ext cx="53340" cy="53343"/>
          </a:xfrm>
          <a:prstGeom prst="ellipse">
            <a:avLst/>
          </a:prstGeom>
          <a:solidFill>
            <a:srgbClr val="4C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80586" y="1734622"/>
            <a:ext cx="53340" cy="53343"/>
          </a:xfrm>
          <a:prstGeom prst="ellipse">
            <a:avLst/>
          </a:prstGeom>
          <a:solidFill>
            <a:srgbClr val="4C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17864" y="1701758"/>
            <a:ext cx="435887" cy="12191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3860" y="1877733"/>
            <a:ext cx="53340" cy="53343"/>
          </a:xfrm>
          <a:prstGeom prst="ellipse">
            <a:avLst/>
          </a:prstGeom>
          <a:solidFill>
            <a:srgbClr val="4C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780586" y="1877733"/>
            <a:ext cx="53340" cy="53343"/>
          </a:xfrm>
          <a:prstGeom prst="ellipse">
            <a:avLst/>
          </a:prstGeom>
          <a:solidFill>
            <a:srgbClr val="4C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17864" y="1844876"/>
            <a:ext cx="663892" cy="121918"/>
          </a:xfrm>
          <a:prstGeom prst="roundRect">
            <a:avLst>
              <a:gd name="adj" fmla="val 50000"/>
            </a:avLst>
          </a:prstGeom>
          <a:solidFill>
            <a:srgbClr val="4CC9E8">
              <a:alpha val="17000"/>
            </a:srgbClr>
          </a:solidFill>
          <a:ln w="7620">
            <a:solidFill>
              <a:srgbClr val="4CC9E8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03860" y="2020851"/>
            <a:ext cx="53340" cy="53335"/>
          </a:xfrm>
          <a:prstGeom prst="ellipse">
            <a:avLst/>
          </a:prstGeom>
          <a:solidFill>
            <a:srgbClr val="4C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780586" y="2020851"/>
            <a:ext cx="53340" cy="53335"/>
          </a:xfrm>
          <a:prstGeom prst="ellipse">
            <a:avLst/>
          </a:prstGeom>
          <a:solidFill>
            <a:srgbClr val="4C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17864" y="1987987"/>
            <a:ext cx="435887" cy="12191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03860" y="2163961"/>
            <a:ext cx="53340" cy="53343"/>
          </a:xfrm>
          <a:prstGeom prst="ellipse">
            <a:avLst/>
          </a:prstGeom>
          <a:solidFill>
            <a:srgbClr val="82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780586" y="2163961"/>
            <a:ext cx="53340" cy="53343"/>
          </a:xfrm>
          <a:prstGeom prst="ellipse">
            <a:avLst/>
          </a:prstGeom>
          <a:solidFill>
            <a:srgbClr val="4C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817864" y="2131097"/>
            <a:ext cx="435887" cy="12191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03860" y="2307071"/>
            <a:ext cx="53340" cy="53343"/>
          </a:xfrm>
          <a:prstGeom prst="ellipse">
            <a:avLst/>
          </a:prstGeom>
          <a:solidFill>
            <a:srgbClr val="4C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780586" y="2307071"/>
            <a:ext cx="53340" cy="53343"/>
          </a:xfrm>
          <a:prstGeom prst="ellipse">
            <a:avLst/>
          </a:prstGeom>
          <a:solidFill>
            <a:srgbClr val="82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17864" y="2274215"/>
            <a:ext cx="435887" cy="12191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03860" y="2450189"/>
            <a:ext cx="53340" cy="53335"/>
          </a:xfrm>
          <a:prstGeom prst="ellipse">
            <a:avLst/>
          </a:prstGeom>
          <a:solidFill>
            <a:srgbClr val="4C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780586" y="2450189"/>
            <a:ext cx="53340" cy="53335"/>
          </a:xfrm>
          <a:prstGeom prst="ellipse">
            <a:avLst/>
          </a:prstGeom>
          <a:solidFill>
            <a:srgbClr val="4C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817864" y="2417326"/>
            <a:ext cx="435887" cy="12191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03860" y="2593300"/>
            <a:ext cx="53340" cy="53343"/>
          </a:xfrm>
          <a:prstGeom prst="ellipse">
            <a:avLst/>
          </a:prstGeom>
          <a:solidFill>
            <a:srgbClr val="DD7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780586" y="2593300"/>
            <a:ext cx="53340" cy="53343"/>
          </a:xfrm>
          <a:prstGeom prst="ellipse">
            <a:avLst/>
          </a:prstGeom>
          <a:solidFill>
            <a:srgbClr val="4C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817864" y="2560436"/>
            <a:ext cx="663892" cy="121918"/>
          </a:xfrm>
          <a:prstGeom prst="roundRect">
            <a:avLst>
              <a:gd name="adj" fmla="val 50000"/>
            </a:avLst>
          </a:prstGeom>
          <a:solidFill>
            <a:srgbClr val="4CC9E8">
              <a:alpha val="17000"/>
            </a:srgbClr>
          </a:solidFill>
          <a:ln w="7620">
            <a:solidFill>
              <a:srgbClr val="4CC9E8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03860" y="2736410"/>
            <a:ext cx="53340" cy="53343"/>
          </a:xfrm>
          <a:prstGeom prst="ellipse">
            <a:avLst/>
          </a:prstGeom>
          <a:solidFill>
            <a:srgbClr val="C24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80586" y="2736410"/>
            <a:ext cx="53340" cy="53343"/>
          </a:xfrm>
          <a:prstGeom prst="ellipse">
            <a:avLst/>
          </a:prstGeom>
          <a:solidFill>
            <a:srgbClr val="4C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817864" y="2703554"/>
            <a:ext cx="663892" cy="121918"/>
          </a:xfrm>
          <a:prstGeom prst="roundRect">
            <a:avLst>
              <a:gd name="adj" fmla="val 50000"/>
            </a:avLst>
          </a:prstGeom>
          <a:solidFill>
            <a:srgbClr val="4CC9E8">
              <a:alpha val="17000"/>
            </a:srgbClr>
          </a:solidFill>
          <a:ln w="7620">
            <a:solidFill>
              <a:srgbClr val="4CC9E8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03860" y="2879528"/>
            <a:ext cx="53340" cy="53335"/>
          </a:xfrm>
          <a:prstGeom prst="ellipse">
            <a:avLst/>
          </a:prstGeom>
          <a:solidFill>
            <a:srgbClr val="4C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80586" y="2879528"/>
            <a:ext cx="53340" cy="53335"/>
          </a:xfrm>
          <a:prstGeom prst="ellipse">
            <a:avLst/>
          </a:prstGeom>
          <a:solidFill>
            <a:srgbClr val="0E9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817864" y="2846664"/>
            <a:ext cx="435887" cy="12191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03860" y="3022638"/>
            <a:ext cx="53340" cy="53343"/>
          </a:xfrm>
          <a:prstGeom prst="ellipse">
            <a:avLst/>
          </a:prstGeom>
          <a:solidFill>
            <a:srgbClr val="4C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80586" y="3022638"/>
            <a:ext cx="53340" cy="53343"/>
          </a:xfrm>
          <a:prstGeom prst="ellipse">
            <a:avLst/>
          </a:prstGeom>
          <a:solidFill>
            <a:srgbClr val="0E9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817864" y="2989775"/>
            <a:ext cx="663892" cy="121918"/>
          </a:xfrm>
          <a:prstGeom prst="roundRect">
            <a:avLst>
              <a:gd name="adj" fmla="val 50000"/>
            </a:avLst>
          </a:prstGeom>
          <a:solidFill>
            <a:srgbClr val="4CC9E8">
              <a:alpha val="17000"/>
            </a:srgbClr>
          </a:solidFill>
          <a:ln w="7620">
            <a:solidFill>
              <a:srgbClr val="4CC9E8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03860" y="3165756"/>
            <a:ext cx="53340" cy="53335"/>
          </a:xfrm>
          <a:prstGeom prst="ellipse">
            <a:avLst/>
          </a:prstGeom>
          <a:solidFill>
            <a:srgbClr val="4C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780586" y="3165756"/>
            <a:ext cx="53340" cy="53335"/>
          </a:xfrm>
          <a:prstGeom prst="ellipse">
            <a:avLst/>
          </a:prstGeom>
          <a:solidFill>
            <a:srgbClr val="C24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817864" y="3132893"/>
            <a:ext cx="473273" cy="12191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03860" y="3308867"/>
            <a:ext cx="53340" cy="53343"/>
          </a:xfrm>
          <a:prstGeom prst="ellipse">
            <a:avLst/>
          </a:prstGeom>
          <a:solidFill>
            <a:srgbClr val="0E9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780586" y="3308867"/>
            <a:ext cx="53340" cy="53343"/>
          </a:xfrm>
          <a:prstGeom prst="ellipse">
            <a:avLst/>
          </a:prstGeom>
          <a:solidFill>
            <a:srgbClr val="0E9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817864" y="3276003"/>
            <a:ext cx="435887" cy="12191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03860" y="4015861"/>
            <a:ext cx="53340" cy="53335"/>
          </a:xfrm>
          <a:prstGeom prst="ellipse">
            <a:avLst/>
          </a:prstGeom>
          <a:solidFill>
            <a:srgbClr val="DD7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950250" y="4015861"/>
            <a:ext cx="53340" cy="53335"/>
          </a:xfrm>
          <a:prstGeom prst="ellipse">
            <a:avLst/>
          </a:prstGeom>
          <a:solidFill>
            <a:srgbClr val="82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03860" y="4158972"/>
            <a:ext cx="53340" cy="53343"/>
          </a:xfrm>
          <a:prstGeom prst="ellipse">
            <a:avLst/>
          </a:prstGeom>
          <a:solidFill>
            <a:srgbClr val="82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950250" y="4158972"/>
            <a:ext cx="53340" cy="53343"/>
          </a:xfrm>
          <a:prstGeom prst="ellipse">
            <a:avLst/>
          </a:prstGeom>
          <a:solidFill>
            <a:srgbClr val="DD7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03860" y="4302082"/>
            <a:ext cx="53340" cy="53343"/>
          </a:xfrm>
          <a:prstGeom prst="ellipse">
            <a:avLst/>
          </a:prstGeom>
          <a:solidFill>
            <a:srgbClr val="82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950250" y="4302082"/>
            <a:ext cx="53340" cy="53343"/>
          </a:xfrm>
          <a:prstGeom prst="ellipse">
            <a:avLst/>
          </a:prstGeom>
          <a:solidFill>
            <a:srgbClr val="A9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03860" y="4445200"/>
            <a:ext cx="53340" cy="53335"/>
          </a:xfrm>
          <a:prstGeom prst="ellipse">
            <a:avLst/>
          </a:prstGeom>
          <a:solidFill>
            <a:srgbClr val="82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950250" y="4445200"/>
            <a:ext cx="53340" cy="53335"/>
          </a:xfrm>
          <a:prstGeom prst="ellipse">
            <a:avLst/>
          </a:prstGeom>
          <a:solidFill>
            <a:srgbClr val="82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03860" y="4588310"/>
            <a:ext cx="53340" cy="53343"/>
          </a:xfrm>
          <a:prstGeom prst="ellipse">
            <a:avLst/>
          </a:prstGeom>
          <a:solidFill>
            <a:srgbClr val="82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950250" y="4588310"/>
            <a:ext cx="53340" cy="53343"/>
          </a:xfrm>
          <a:prstGeom prst="ellipse">
            <a:avLst/>
          </a:prstGeom>
          <a:solidFill>
            <a:srgbClr val="82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03860" y="4731428"/>
            <a:ext cx="53340" cy="53335"/>
          </a:xfrm>
          <a:prstGeom prst="ellipse">
            <a:avLst/>
          </a:prstGeom>
          <a:solidFill>
            <a:srgbClr val="82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950250" y="4731428"/>
            <a:ext cx="53340" cy="53335"/>
          </a:xfrm>
          <a:prstGeom prst="ellipse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03860" y="4874539"/>
            <a:ext cx="53340" cy="53343"/>
          </a:xfrm>
          <a:prstGeom prst="ellipse">
            <a:avLst/>
          </a:prstGeom>
          <a:solidFill>
            <a:srgbClr val="DD7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950250" y="4874539"/>
            <a:ext cx="53340" cy="53343"/>
          </a:xfrm>
          <a:prstGeom prst="ellipse">
            <a:avLst/>
          </a:prstGeom>
          <a:solidFill>
            <a:srgbClr val="82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03860" y="5017649"/>
            <a:ext cx="53340" cy="53343"/>
          </a:xfrm>
          <a:prstGeom prst="ellipse">
            <a:avLst/>
          </a:prstGeom>
          <a:solidFill>
            <a:srgbClr val="82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950250" y="5017649"/>
            <a:ext cx="53340" cy="53343"/>
          </a:xfrm>
          <a:prstGeom prst="ellipse">
            <a:avLst/>
          </a:prstGeom>
          <a:solidFill>
            <a:srgbClr val="82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03860" y="5160767"/>
            <a:ext cx="53340" cy="53335"/>
          </a:xfrm>
          <a:prstGeom prst="ellipse">
            <a:avLst/>
          </a:prstGeom>
          <a:solidFill>
            <a:srgbClr val="DD7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950250" y="5160767"/>
            <a:ext cx="53340" cy="53335"/>
          </a:xfrm>
          <a:prstGeom prst="ellipse">
            <a:avLst/>
          </a:prstGeom>
          <a:solidFill>
            <a:srgbClr val="A9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03860" y="5303877"/>
            <a:ext cx="53340" cy="53343"/>
          </a:xfrm>
          <a:prstGeom prst="ellipse">
            <a:avLst/>
          </a:prstGeom>
          <a:solidFill>
            <a:srgbClr val="A9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950250" y="5303877"/>
            <a:ext cx="53340" cy="53343"/>
          </a:xfrm>
          <a:prstGeom prst="ellipse">
            <a:avLst/>
          </a:prstGeom>
          <a:solidFill>
            <a:srgbClr val="A9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03860" y="5446988"/>
            <a:ext cx="53340" cy="53343"/>
          </a:xfrm>
          <a:prstGeom prst="ellipse">
            <a:avLst/>
          </a:prstGeom>
          <a:solidFill>
            <a:srgbClr val="DD7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950250" y="5446988"/>
            <a:ext cx="53340" cy="53343"/>
          </a:xfrm>
          <a:prstGeom prst="ellipse">
            <a:avLst/>
          </a:prstGeom>
          <a:solidFill>
            <a:srgbClr val="5B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03860" y="5590106"/>
            <a:ext cx="53340" cy="53335"/>
          </a:xfrm>
          <a:prstGeom prst="ellipse">
            <a:avLst/>
          </a:prstGeom>
          <a:solidFill>
            <a:srgbClr val="0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950250" y="5590106"/>
            <a:ext cx="53340" cy="53335"/>
          </a:xfrm>
          <a:prstGeom prst="ellipse">
            <a:avLst/>
          </a:prstGeom>
          <a:solidFill>
            <a:srgbClr val="5B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03860" y="5733216"/>
            <a:ext cx="53340" cy="53343"/>
          </a:xfrm>
          <a:prstGeom prst="ellipse">
            <a:avLst/>
          </a:prstGeom>
          <a:solidFill>
            <a:srgbClr val="0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950250" y="5733216"/>
            <a:ext cx="53340" cy="53343"/>
          </a:xfrm>
          <a:prstGeom prst="ellipse">
            <a:avLst/>
          </a:prstGeom>
          <a:solidFill>
            <a:srgbClr val="A9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403860" y="5876327"/>
            <a:ext cx="53340" cy="53343"/>
          </a:xfrm>
          <a:prstGeom prst="ellipse">
            <a:avLst/>
          </a:prstGeom>
          <a:solidFill>
            <a:srgbClr val="0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2950250" y="5876327"/>
            <a:ext cx="53340" cy="53343"/>
          </a:xfrm>
          <a:prstGeom prst="ellipse">
            <a:avLst/>
          </a:prstGeom>
          <a:solidFill>
            <a:srgbClr val="82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03860" y="6019445"/>
            <a:ext cx="53340" cy="53335"/>
          </a:xfrm>
          <a:prstGeom prst="ellipse">
            <a:avLst/>
          </a:prstGeom>
          <a:solidFill>
            <a:srgbClr val="0E9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2950250" y="6019445"/>
            <a:ext cx="53340" cy="53335"/>
          </a:xfrm>
          <a:prstGeom prst="ellipse">
            <a:avLst/>
          </a:prstGeom>
          <a:solidFill>
            <a:srgbClr val="3A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03860" y="6162555"/>
            <a:ext cx="53340" cy="53343"/>
          </a:xfrm>
          <a:prstGeom prst="ellipse">
            <a:avLst/>
          </a:prstGeom>
          <a:solidFill>
            <a:srgbClr val="0E9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950250" y="6162555"/>
            <a:ext cx="53340" cy="53343"/>
          </a:xfrm>
          <a:prstGeom prst="ellipse">
            <a:avLst/>
          </a:prstGeom>
          <a:solidFill>
            <a:srgbClr val="0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03860" y="6305665"/>
            <a:ext cx="53340" cy="53343"/>
          </a:xfrm>
          <a:prstGeom prst="ellipse">
            <a:avLst/>
          </a:prstGeom>
          <a:solidFill>
            <a:srgbClr val="0E9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2950250" y="6305665"/>
            <a:ext cx="53340" cy="53343"/>
          </a:xfrm>
          <a:prstGeom prst="ellipse">
            <a:avLst/>
          </a:prstGeom>
          <a:solidFill>
            <a:srgbClr val="0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03860" y="6448783"/>
            <a:ext cx="53340" cy="53335"/>
          </a:xfrm>
          <a:prstGeom prst="ellipse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950250" y="6448783"/>
            <a:ext cx="53340" cy="53335"/>
          </a:xfrm>
          <a:prstGeom prst="ellipse">
            <a:avLst/>
          </a:prstGeom>
          <a:solidFill>
            <a:srgbClr val="5B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9014460" y="1028698"/>
            <a:ext cx="1383031" cy="524832"/>
          </a:xfrm>
          <a:prstGeom prst="roundRect">
            <a:avLst>
              <a:gd name="adj" fmla="val 17422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10466070" y="1028698"/>
            <a:ext cx="1383030" cy="524832"/>
          </a:xfrm>
          <a:prstGeom prst="roundRect">
            <a:avLst>
              <a:gd name="adj" fmla="val 17422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9014460" y="1622105"/>
            <a:ext cx="1383031" cy="524832"/>
          </a:xfrm>
          <a:prstGeom prst="roundRect">
            <a:avLst>
              <a:gd name="adj" fmla="val 17422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10466070" y="1622105"/>
            <a:ext cx="1383030" cy="524832"/>
          </a:xfrm>
          <a:prstGeom prst="roundRect">
            <a:avLst>
              <a:gd name="adj" fmla="val 17422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9014460" y="2245999"/>
            <a:ext cx="2834640" cy="1799028"/>
          </a:xfrm>
          <a:prstGeom prst="roundRect">
            <a:avLst>
              <a:gd name="adj" fmla="val 6353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9151620" y="2974064"/>
            <a:ext cx="2560320" cy="68575"/>
          </a:xfrm>
          <a:prstGeom prst="roundRect">
            <a:avLst>
              <a:gd name="adj" fmla="val 50000"/>
            </a:avLst>
          </a:prstGeom>
          <a:solidFill>
            <a:srgbClr val="E1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151620" y="2974064"/>
            <a:ext cx="1280160" cy="68575"/>
          </a:xfrm>
          <a:prstGeom prst="rect">
            <a:avLst/>
          </a:prstGeom>
          <a:solidFill>
            <a:srgbClr val="7887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431780" y="2974064"/>
            <a:ext cx="840105" cy="68575"/>
          </a:xfrm>
          <a:prstGeom prst="rect">
            <a:avLst/>
          </a:prstGeom>
          <a:solidFill>
            <a:srgbClr val="5B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1271885" y="2974064"/>
            <a:ext cx="440055" cy="68575"/>
          </a:xfrm>
          <a:prstGeom prst="rect">
            <a:avLst/>
          </a:prstGeom>
          <a:solidFill>
            <a:srgbClr val="E1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9151620" y="3263619"/>
            <a:ext cx="2560320" cy="68582"/>
          </a:xfrm>
          <a:prstGeom prst="roundRect">
            <a:avLst>
              <a:gd name="adj" fmla="val 50000"/>
            </a:avLst>
          </a:prstGeom>
          <a:solidFill>
            <a:srgbClr val="E1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151620" y="3263619"/>
            <a:ext cx="2000250" cy="68582"/>
          </a:xfrm>
          <a:prstGeom prst="rect">
            <a:avLst/>
          </a:prstGeom>
          <a:solidFill>
            <a:srgbClr val="7887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1151870" y="3263619"/>
            <a:ext cx="360045" cy="68582"/>
          </a:xfrm>
          <a:prstGeom prst="rect">
            <a:avLst/>
          </a:prstGeom>
          <a:solidFill>
            <a:srgbClr val="4C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1511915" y="3263619"/>
            <a:ext cx="200025" cy="68582"/>
          </a:xfrm>
          <a:prstGeom prst="rect">
            <a:avLst/>
          </a:prstGeom>
          <a:solidFill>
            <a:srgbClr val="E1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9151620" y="3553180"/>
            <a:ext cx="2560320" cy="68582"/>
          </a:xfrm>
          <a:prstGeom prst="roundRect">
            <a:avLst>
              <a:gd name="adj" fmla="val 50000"/>
            </a:avLst>
          </a:prstGeom>
          <a:solidFill>
            <a:srgbClr val="E1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151620" y="3553180"/>
            <a:ext cx="1800225" cy="68582"/>
          </a:xfrm>
          <a:prstGeom prst="rect">
            <a:avLst/>
          </a:prstGeom>
          <a:solidFill>
            <a:srgbClr val="7887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951845" y="3553180"/>
            <a:ext cx="760095" cy="68582"/>
          </a:xfrm>
          <a:prstGeom prst="rect">
            <a:avLst/>
          </a:prstGeom>
          <a:solidFill>
            <a:srgbClr val="3A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9014460" y="4144089"/>
            <a:ext cx="2834640" cy="2447327"/>
          </a:xfrm>
          <a:prstGeom prst="roundRect">
            <a:avLst>
              <a:gd name="adj" fmla="val 4670"/>
            </a:avLst>
          </a:prstGeom>
          <a:gradFill rotWithShape="1">
            <a:gsLst>
              <a:gs pos="0">
                <a:srgbClr val="18233C"/>
              </a:gs>
              <a:gs pos="62000">
                <a:srgbClr val="0F1729"/>
              </a:gs>
            </a:gsLst>
            <a:lin scaled="0" ang="16920000"/>
          </a:gradFill>
          <a:ln w="7620">
            <a:solidFill>
              <a:srgbClr val="FFFFF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9151620" y="4524140"/>
            <a:ext cx="144780" cy="144781"/>
          </a:xfrm>
          <a:prstGeom prst="roundRect">
            <a:avLst>
              <a:gd name="adj" fmla="val 31578"/>
            </a:avLst>
          </a:prstGeom>
          <a:solidFill>
            <a:srgbClr val="FFFFFF">
              <a:alpha val="7000"/>
            </a:srgbClr>
          </a:solidFill>
          <a:ln w="7620">
            <a:solidFill>
              <a:srgbClr val="FFFFFF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9151620" y="5016935"/>
            <a:ext cx="144780" cy="144781"/>
          </a:xfrm>
          <a:prstGeom prst="roundRect">
            <a:avLst>
              <a:gd name="adj" fmla="val 31578"/>
            </a:avLst>
          </a:prstGeom>
          <a:solidFill>
            <a:srgbClr val="FFFFFF">
              <a:alpha val="7000"/>
            </a:srgbClr>
          </a:solidFill>
          <a:ln w="7620">
            <a:solidFill>
              <a:srgbClr val="FFFFFF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9151620" y="5509739"/>
            <a:ext cx="144780" cy="144781"/>
          </a:xfrm>
          <a:prstGeom prst="roundRect">
            <a:avLst>
              <a:gd name="adj" fmla="val 31578"/>
            </a:avLst>
          </a:prstGeom>
          <a:solidFill>
            <a:srgbClr val="FFFFFF">
              <a:alpha val="7000"/>
            </a:srgbClr>
          </a:solidFill>
          <a:ln w="7620">
            <a:solidFill>
              <a:srgbClr val="FFFFFF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9151620" y="6002534"/>
            <a:ext cx="144780" cy="144781"/>
          </a:xfrm>
          <a:prstGeom prst="roundRect">
            <a:avLst>
              <a:gd name="adj" fmla="val 31578"/>
            </a:avLst>
          </a:prstGeom>
          <a:solidFill>
            <a:srgbClr val="FFFFFF">
              <a:alpha val="7000"/>
            </a:srgbClr>
          </a:solidFill>
          <a:ln w="7620">
            <a:solidFill>
              <a:srgbClr val="FFFFFF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42900" y="312417"/>
            <a:ext cx="1239202" cy="1219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1" spc="132">
                <a:solidFill>
                  <a:srgbClr val="78879F"/>
                </a:solidFill>
                <a:latin typeface="Calibri"/>
              </a:rPr>
              <a:t>ANNEXE 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" y="457198"/>
            <a:ext cx="4603313" cy="3657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400" b="1" spc="-48">
                <a:solidFill>
                  <a:srgbClr val="0D1526"/>
                </a:solidFill>
                <a:latin typeface="Calibri"/>
              </a:rPr>
              <a:t>Matrice des flux de données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42900" y="847249"/>
            <a:ext cx="4320778" cy="15239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40" b="0">
                <a:solidFill>
                  <a:srgbClr val="78879F"/>
                </a:solidFill>
                <a:latin typeface="Calibri"/>
              </a:rPr>
              <a:t>Échanges relevés entre outils, et échanges entre missions décrits par le brief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27660" y="1013458"/>
            <a:ext cx="8534401" cy="15239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30" b="1" spc="88">
                <a:solidFill>
                  <a:srgbClr val="33415C"/>
                </a:solidFill>
                <a:latin typeface="Calibri"/>
              </a:rPr>
              <a:t>FLUX APPLICATIFS — D'OUTIL À OUTIL </a:t>
            </a:r>
            <a:r>
              <a:rPr sz="570" b="1" spc="23">
                <a:solidFill>
                  <a:srgbClr val="78879F"/>
                </a:solidFill>
                <a:latin typeface="Calibri"/>
              </a:rPr>
              <a:t> · 14 relevés en entretien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03860" y="1272541"/>
            <a:ext cx="1060728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1" spc="85">
                <a:solidFill>
                  <a:srgbClr val="78879F"/>
                </a:solidFill>
                <a:latin typeface="Calibri"/>
              </a:rPr>
              <a:t>SOURCE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780586" y="1272541"/>
            <a:ext cx="1340287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1" spc="85">
                <a:solidFill>
                  <a:srgbClr val="78879F"/>
                </a:solidFill>
                <a:latin typeface="Calibri"/>
              </a:rPr>
              <a:t>DESTINATAIRE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817864" y="1272541"/>
            <a:ext cx="1352312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1" spc="85">
                <a:solidFill>
                  <a:srgbClr val="78879F"/>
                </a:solidFill>
                <a:latin typeface="Calibri"/>
              </a:rPr>
              <a:t>ALIMENTATION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921335" y="1272541"/>
            <a:ext cx="1402199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1" spc="85">
                <a:solidFill>
                  <a:srgbClr val="78879F"/>
                </a:solidFill>
                <a:latin typeface="Calibri"/>
              </a:rPr>
              <a:t>OBJET DU FLUX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02920" y="1413275"/>
            <a:ext cx="888682" cy="1142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Excel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157412" y="1402796"/>
            <a:ext cx="784860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1">
                <a:solidFill>
                  <a:srgbClr val="33415C"/>
                </a:solidFill>
                <a:latin typeface="Calibri"/>
              </a:rPr>
              <a:t>→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879646" y="1413275"/>
            <a:ext cx="1095613" cy="1142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SharePoint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535924" y="1423153"/>
            <a:ext cx="999768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27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921335" y="1415537"/>
            <a:ext cx="1708309" cy="1142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0">
                <a:solidFill>
                  <a:srgbClr val="78879F"/>
                </a:solidFill>
                <a:latin typeface="Calibri"/>
              </a:rPr>
              <a:t>Dépôt des tableaux de suivi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02920" y="1556385"/>
            <a:ext cx="888682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Excel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157412" y="1545906"/>
            <a:ext cx="784860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1">
                <a:solidFill>
                  <a:srgbClr val="33415C"/>
                </a:solidFill>
                <a:latin typeface="Calibri"/>
              </a:rPr>
              <a:t>→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879646" y="1556385"/>
            <a:ext cx="1017984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Power BI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35924" y="1566264"/>
            <a:ext cx="1227773" cy="1066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27">
                <a:solidFill>
                  <a:srgbClr val="0B7E99"/>
                </a:solidFill>
                <a:latin typeface="Calibri"/>
              </a:rPr>
              <a:t>AUTOMATIQUE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921335" y="1558648"/>
            <a:ext cx="2053233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0">
                <a:solidFill>
                  <a:srgbClr val="78879F"/>
                </a:solidFill>
                <a:latin typeface="Calibri"/>
              </a:rPr>
              <a:t>Alimentation de la cabine de pilotage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02920" y="1699495"/>
            <a:ext cx="1233607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Quick Connect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157412" y="1689024"/>
            <a:ext cx="784860" cy="1447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1">
                <a:solidFill>
                  <a:srgbClr val="33415C"/>
                </a:solidFill>
                <a:latin typeface="Calibri"/>
              </a:rPr>
              <a:t>→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879646" y="1699495"/>
            <a:ext cx="1095613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SharePoint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535924" y="1709382"/>
            <a:ext cx="999768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27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921335" y="1701758"/>
            <a:ext cx="1829157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0">
                <a:solidFill>
                  <a:srgbClr val="78879F"/>
                </a:solidFill>
                <a:latin typeface="Calibri"/>
              </a:rPr>
              <a:t>Fiches de contrôle vers le DOE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02920" y="1842613"/>
            <a:ext cx="1233607" cy="1142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Quick Connect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157412" y="1832135"/>
            <a:ext cx="784860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1">
                <a:solidFill>
                  <a:srgbClr val="33415C"/>
                </a:solidFill>
                <a:latin typeface="Calibri"/>
              </a:rPr>
              <a:t>→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879646" y="1842613"/>
            <a:ext cx="1017984" cy="1142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Power BI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535924" y="1852492"/>
            <a:ext cx="1227773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27">
                <a:solidFill>
                  <a:srgbClr val="0B7E99"/>
                </a:solidFill>
                <a:latin typeface="Calibri"/>
              </a:rPr>
              <a:t>AUTOMATIQUE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921335" y="1844876"/>
            <a:ext cx="1781651" cy="1142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0">
                <a:solidFill>
                  <a:srgbClr val="78879F"/>
                </a:solidFill>
                <a:latin typeface="Calibri"/>
              </a:rPr>
              <a:t>Indicateurs qualité et sécurité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02920" y="1985724"/>
            <a:ext cx="897255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Pablo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157412" y="1975245"/>
            <a:ext cx="784860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1">
                <a:solidFill>
                  <a:srgbClr val="33415C"/>
                </a:solidFill>
                <a:latin typeface="Calibri"/>
              </a:rPr>
              <a:t>→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879646" y="1985724"/>
            <a:ext cx="1022390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Harmony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535924" y="1995610"/>
            <a:ext cx="999768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27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921335" y="1987987"/>
            <a:ext cx="2300526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0">
                <a:solidFill>
                  <a:srgbClr val="78879F"/>
                </a:solidFill>
                <a:latin typeface="Calibri"/>
              </a:rPr>
              <a:t>Commandes vers l'engagement de dépense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02920" y="2128834"/>
            <a:ext cx="1005245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Basware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57412" y="2118363"/>
            <a:ext cx="784860" cy="1447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1">
                <a:solidFill>
                  <a:srgbClr val="33415C"/>
                </a:solidFill>
                <a:latin typeface="Calibri"/>
              </a:rPr>
              <a:t>→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79646" y="2128834"/>
            <a:ext cx="1022390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Harmony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535924" y="2138721"/>
            <a:ext cx="999768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27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921335" y="2131097"/>
            <a:ext cx="2001679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0">
                <a:solidFill>
                  <a:srgbClr val="78879F"/>
                </a:solidFill>
                <a:latin typeface="Calibri"/>
              </a:rPr>
              <a:t>Factures fournisseurs harmonisées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02920" y="2271952"/>
            <a:ext cx="1022390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Harmony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157412" y="2261473"/>
            <a:ext cx="784860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1">
                <a:solidFill>
                  <a:srgbClr val="33415C"/>
                </a:solidFill>
                <a:latin typeface="Calibri"/>
              </a:rPr>
              <a:t>→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879646" y="2271952"/>
            <a:ext cx="1005245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Basware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535924" y="2281831"/>
            <a:ext cx="999768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27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921335" y="2274215"/>
            <a:ext cx="1621989" cy="1142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0">
                <a:solidFill>
                  <a:srgbClr val="78879F"/>
                </a:solidFill>
                <a:latin typeface="Calibri"/>
              </a:rPr>
              <a:t>Retour de saisie et litiges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02920" y="2415063"/>
            <a:ext cx="1094184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BIP / BAPS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157412" y="2404584"/>
            <a:ext cx="784860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1">
                <a:solidFill>
                  <a:srgbClr val="33415C"/>
                </a:solidFill>
                <a:latin typeface="Calibri"/>
              </a:rPr>
              <a:t>→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879646" y="2415063"/>
            <a:ext cx="897255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Puma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535924" y="2424949"/>
            <a:ext cx="999768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27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921335" y="2417325"/>
            <a:ext cx="1717120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0">
                <a:solidFill>
                  <a:srgbClr val="78879F"/>
                </a:solidFill>
                <a:latin typeface="Calibri"/>
              </a:rPr>
              <a:t>Heures chantier vers la paie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02920" y="2558181"/>
            <a:ext cx="1027986" cy="1142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ERP MAT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157412" y="2547702"/>
            <a:ext cx="784860" cy="1447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1">
                <a:solidFill>
                  <a:srgbClr val="33415C"/>
                </a:solidFill>
                <a:latin typeface="Calibri"/>
              </a:rPr>
              <a:t>→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879646" y="2558181"/>
            <a:ext cx="1017984" cy="1142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Power BI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535924" y="2568059"/>
            <a:ext cx="1227773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27">
                <a:solidFill>
                  <a:srgbClr val="0B7E99"/>
                </a:solidFill>
                <a:latin typeface="Calibri"/>
              </a:rPr>
              <a:t>AUTOMATIQUE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921335" y="2560436"/>
            <a:ext cx="1371838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0">
                <a:solidFill>
                  <a:srgbClr val="78879F"/>
                </a:solidFill>
                <a:latin typeface="Calibri"/>
              </a:rPr>
              <a:t>Inventaire matériel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502920" y="2701291"/>
            <a:ext cx="1390650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Wastemarket Place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157412" y="2690812"/>
            <a:ext cx="784860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1">
                <a:solidFill>
                  <a:srgbClr val="33415C"/>
                </a:solidFill>
                <a:latin typeface="Calibri"/>
              </a:rPr>
              <a:t>→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879646" y="2701291"/>
            <a:ext cx="1017984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Power BI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535924" y="2711170"/>
            <a:ext cx="1227773" cy="1066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27">
                <a:solidFill>
                  <a:srgbClr val="0B7E99"/>
                </a:solidFill>
                <a:latin typeface="Calibri"/>
              </a:rPr>
              <a:t>AUTOMATIQUE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921335" y="2703554"/>
            <a:ext cx="1341596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0">
                <a:solidFill>
                  <a:srgbClr val="78879F"/>
                </a:solidFill>
                <a:latin typeface="Calibri"/>
              </a:rPr>
              <a:t>Suivi des déchets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02920" y="2844401"/>
            <a:ext cx="1294090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Trimble Connect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2157412" y="2833923"/>
            <a:ext cx="784860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1">
                <a:solidFill>
                  <a:srgbClr val="33415C"/>
                </a:solidFill>
                <a:latin typeface="Calibri"/>
              </a:rPr>
              <a:t>→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879646" y="2844401"/>
            <a:ext cx="1026795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La Scene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535924" y="2854288"/>
            <a:ext cx="999768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27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921335" y="2846664"/>
            <a:ext cx="1977390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0">
                <a:solidFill>
                  <a:srgbClr val="78879F"/>
                </a:solidFill>
                <a:latin typeface="Calibri"/>
              </a:rPr>
              <a:t>Plans vers l'assemblage des scans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02920" y="2987519"/>
            <a:ext cx="1294090" cy="1142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Trimble Connect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2157412" y="2977041"/>
            <a:ext cx="784860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1">
                <a:solidFill>
                  <a:srgbClr val="33415C"/>
                </a:solidFill>
                <a:latin typeface="Calibri"/>
              </a:rPr>
              <a:t>→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2879646" y="2987519"/>
            <a:ext cx="1164669" cy="1142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Cyclone 3DR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535924" y="2997398"/>
            <a:ext cx="1227773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27">
                <a:solidFill>
                  <a:srgbClr val="0B7E99"/>
                </a:solidFill>
                <a:latin typeface="Calibri"/>
              </a:rPr>
              <a:t>AUTOMATIQUE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5921335" y="2989782"/>
            <a:ext cx="2200037" cy="1142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0">
                <a:solidFill>
                  <a:srgbClr val="78879F"/>
                </a:solidFill>
                <a:latin typeface="Calibri"/>
              </a:rPr>
              <a:t>Maquettes vers le contrôle de conformité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02920" y="3130630"/>
            <a:ext cx="1294090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Trimble Connect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2165390" y="3120151"/>
            <a:ext cx="768906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1">
                <a:solidFill>
                  <a:srgbClr val="33415C"/>
                </a:solidFill>
                <a:latin typeface="Calibri"/>
              </a:rPr>
              <a:t>⇢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2879646" y="3130630"/>
            <a:ext cx="1056799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IDCapture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535924" y="3140509"/>
            <a:ext cx="1037153" cy="1066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27">
                <a:solidFill>
                  <a:srgbClr val="78879F"/>
                </a:solidFill>
                <a:latin typeface="Calibri"/>
              </a:rPr>
              <a:t>INDIRECT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5921335" y="3132892"/>
            <a:ext cx="2900243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0">
                <a:solidFill>
                  <a:srgbClr val="78879F"/>
                </a:solidFill>
                <a:latin typeface="Calibri"/>
              </a:rPr>
              <a:t>Repérage des constats — flux indirect, par captures d'écran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502920" y="3273740"/>
            <a:ext cx="1026795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La Scene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157412" y="3263261"/>
            <a:ext cx="784860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1">
                <a:solidFill>
                  <a:srgbClr val="33415C"/>
                </a:solidFill>
                <a:latin typeface="Calibri"/>
              </a:rPr>
              <a:t>→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2879646" y="3273740"/>
            <a:ext cx="987862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Covadis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535924" y="3283627"/>
            <a:ext cx="999768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27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5921335" y="3276003"/>
            <a:ext cx="2303860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0">
                <a:solidFill>
                  <a:srgbClr val="78879F"/>
                </a:solidFill>
                <a:latin typeface="Calibri"/>
              </a:rPr>
              <a:t>Scans assemblés vers les nuages de points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327660" y="3580926"/>
            <a:ext cx="8534401" cy="15239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30" b="1" spc="88">
                <a:solidFill>
                  <a:srgbClr val="33415C"/>
                </a:solidFill>
                <a:latin typeface="Calibri"/>
              </a:rPr>
              <a:t>ÉCHANGES INTER-SERVICES — DE MISSION À MISSION </a:t>
            </a:r>
            <a:r>
              <a:rPr sz="570" b="1" spc="23">
                <a:solidFill>
                  <a:srgbClr val="78879F"/>
                </a:solidFill>
                <a:latin typeface="Calibri"/>
              </a:rPr>
              <a:t> · 18 issus du brief · ⇢ enchaînement interne à un pôle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403860" y="3840001"/>
            <a:ext cx="1614488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1" spc="85">
                <a:solidFill>
                  <a:srgbClr val="78879F"/>
                </a:solidFill>
                <a:latin typeface="Calibri"/>
              </a:rPr>
              <a:t>MISSION ÉMETTRICE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2950250" y="3840001"/>
            <a:ext cx="1752957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1" spc="85">
                <a:solidFill>
                  <a:srgbClr val="78879F"/>
                </a:solidFill>
                <a:latin typeface="Calibri"/>
              </a:rPr>
              <a:t>MISSION DESTINATAIRE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157192" y="3840001"/>
            <a:ext cx="1686877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1" spc="85">
                <a:solidFill>
                  <a:srgbClr val="78879F"/>
                </a:solidFill>
                <a:latin typeface="Calibri"/>
              </a:rPr>
              <a:t>OBJET DE L'ÉCHANGE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502920" y="3980734"/>
            <a:ext cx="1751409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Commande matériel chantier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2327077" y="3970256"/>
            <a:ext cx="784860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1">
                <a:solidFill>
                  <a:srgbClr val="33415C"/>
                </a:solidFill>
                <a:latin typeface="Calibri"/>
              </a:rPr>
              <a:t>→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3049310" y="3980734"/>
            <a:ext cx="1423392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Contrôle budgétaire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5157192" y="3982997"/>
            <a:ext cx="2112288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0">
                <a:solidFill>
                  <a:srgbClr val="78879F"/>
                </a:solidFill>
                <a:latin typeface="Calibri"/>
              </a:rPr>
              <a:t>Extraction BYMAT — matériel mobilisé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502920" y="4123852"/>
            <a:ext cx="1423392" cy="1142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Contrôle budgétaire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2327077" y="4113374"/>
            <a:ext cx="784860" cy="1447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1">
                <a:solidFill>
                  <a:srgbClr val="33415C"/>
                </a:solidFill>
                <a:latin typeface="Calibri"/>
              </a:rPr>
              <a:t>→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3049310" y="4123852"/>
            <a:ext cx="1423392" cy="1142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Contrôle budgétaire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5157192" y="4126108"/>
            <a:ext cx="2148602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0">
                <a:solidFill>
                  <a:srgbClr val="78879F"/>
                </a:solidFill>
                <a:latin typeface="Calibri"/>
              </a:rPr>
              <a:t>PC100 — dépenses ventilées par atelier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502920" y="4266963"/>
            <a:ext cx="1609011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Préfacturation partenaire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2327077" y="4256484"/>
            <a:ext cx="784860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1">
                <a:solidFill>
                  <a:srgbClr val="33415C"/>
                </a:solidFill>
                <a:latin typeface="Calibri"/>
              </a:rPr>
              <a:t>→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3049310" y="4266963"/>
            <a:ext cx="1505426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Facturation partenaire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5157192" y="4269226"/>
            <a:ext cx="1721287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0">
                <a:solidFill>
                  <a:srgbClr val="78879F"/>
                </a:solidFill>
                <a:latin typeface="Calibri"/>
              </a:rPr>
              <a:t>Valorisation MO à refacturer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502920" y="4410073"/>
            <a:ext cx="1609011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Préfacturation partenaire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2335054" y="4399594"/>
            <a:ext cx="768906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1">
                <a:solidFill>
                  <a:srgbClr val="33415C"/>
                </a:solidFill>
                <a:latin typeface="Calibri"/>
              </a:rPr>
              <a:t>⇢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3049310" y="4410073"/>
            <a:ext cx="1423392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Contrôle budgétaire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5157192" y="4412336"/>
            <a:ext cx="2057162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0">
                <a:solidFill>
                  <a:srgbClr val="78879F"/>
                </a:solidFill>
                <a:latin typeface="Calibri"/>
              </a:rPr>
              <a:t>VALO MO — coût de la main-d'œuvre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502920" y="4553191"/>
            <a:ext cx="2200037" cy="1142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Engagement des dépenses et facturation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2335054" y="4542712"/>
            <a:ext cx="768906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1">
                <a:solidFill>
                  <a:srgbClr val="33415C"/>
                </a:solidFill>
                <a:latin typeface="Calibri"/>
              </a:rPr>
              <a:t>⇢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3049310" y="4553191"/>
            <a:ext cx="1423392" cy="1142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Contrôle budgétaire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5157192" y="4555454"/>
            <a:ext cx="2377202" cy="1142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0">
                <a:solidFill>
                  <a:srgbClr val="78879F"/>
                </a:solidFill>
                <a:latin typeface="Calibri"/>
              </a:rPr>
              <a:t>Dépenses diverses — factures et commandes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502920" y="4696302"/>
            <a:ext cx="1772603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Onboarding RH et formations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2327077" y="4685823"/>
            <a:ext cx="784860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1">
                <a:solidFill>
                  <a:srgbClr val="33415C"/>
                </a:solidFill>
                <a:latin typeface="Calibri"/>
              </a:rPr>
              <a:t>→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049310" y="4696302"/>
            <a:ext cx="1932384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Accueil, formation et habilitations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5157192" y="4698564"/>
            <a:ext cx="1971675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0">
                <a:solidFill>
                  <a:srgbClr val="78879F"/>
                </a:solidFill>
                <a:latin typeface="Calibri"/>
              </a:rPr>
              <a:t>Nouvel arrivant à accueillir sur site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502920" y="4839412"/>
            <a:ext cx="1752481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Commande de main-d'œuvre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2327077" y="4828933"/>
            <a:ext cx="784860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1">
                <a:solidFill>
                  <a:srgbClr val="33415C"/>
                </a:solidFill>
                <a:latin typeface="Calibri"/>
              </a:rPr>
              <a:t>→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3049310" y="4839412"/>
            <a:ext cx="1772840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Gestion du personnel et paye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5157192" y="4841675"/>
            <a:ext cx="1867853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0">
                <a:solidFill>
                  <a:srgbClr val="78879F"/>
                </a:solidFill>
                <a:latin typeface="Calibri"/>
              </a:rPr>
              <a:t>Besoin en personnel intérimaire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502920" y="4982530"/>
            <a:ext cx="1772841" cy="1142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Gestion du personnel et paye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2335054" y="4972051"/>
            <a:ext cx="768906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1">
                <a:solidFill>
                  <a:srgbClr val="33415C"/>
                </a:solidFill>
                <a:latin typeface="Calibri"/>
              </a:rPr>
              <a:t>⇢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3049310" y="4982530"/>
            <a:ext cx="1609011" cy="1142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Préfacturation partenaire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5157192" y="4984793"/>
            <a:ext cx="1699855" cy="1142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0">
                <a:solidFill>
                  <a:srgbClr val="78879F"/>
                </a:solidFill>
                <a:latin typeface="Calibri"/>
              </a:rPr>
              <a:t>Heures pointées à valoriser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502920" y="5125640"/>
            <a:ext cx="1804630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Avancement et jalons chantier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2327077" y="5115162"/>
            <a:ext cx="784860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1">
                <a:solidFill>
                  <a:srgbClr val="33415C"/>
                </a:solidFill>
                <a:latin typeface="Calibri"/>
              </a:rPr>
              <a:t>→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3049310" y="5125640"/>
            <a:ext cx="1804630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Avancement et jalons chantier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5157192" y="5127903"/>
            <a:ext cx="2205990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0">
                <a:solidFill>
                  <a:srgbClr val="78879F"/>
                </a:solidFill>
                <a:latin typeface="Calibri"/>
              </a:rPr>
              <a:t>Avancement et jalons relevés au chantier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502920" y="5268751"/>
            <a:ext cx="1804630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Avancement et jalons chantier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2335054" y="5258280"/>
            <a:ext cx="768906" cy="1447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1">
                <a:solidFill>
                  <a:srgbClr val="33415C"/>
                </a:solidFill>
                <a:latin typeface="Calibri"/>
              </a:rPr>
              <a:t>⇢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3049310" y="5268751"/>
            <a:ext cx="1708428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Gestion des encaissements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5157192" y="5271014"/>
            <a:ext cx="1863685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0">
                <a:solidFill>
                  <a:srgbClr val="78879F"/>
                </a:solidFill>
                <a:latin typeface="Calibri"/>
              </a:rPr>
              <a:t>Situation mensuelle à encaisser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502920" y="5411869"/>
            <a:ext cx="1804630" cy="1142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Avancement et jalons chantier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2327077" y="5401390"/>
            <a:ext cx="784860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1">
                <a:solidFill>
                  <a:srgbClr val="33415C"/>
                </a:solidFill>
                <a:latin typeface="Calibri"/>
              </a:rPr>
              <a:t>→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3049310" y="5411869"/>
            <a:ext cx="1272540" cy="1142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Récolte des KPI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5157192" y="5414131"/>
            <a:ext cx="2128004" cy="1142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0">
                <a:solidFill>
                  <a:srgbClr val="78879F"/>
                </a:solidFill>
                <a:latin typeface="Calibri"/>
              </a:rPr>
              <a:t>Avancement consolidé pour le pilotage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502920" y="5554979"/>
            <a:ext cx="1804630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Avancement et jalons chantier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2327077" y="5544500"/>
            <a:ext cx="784860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1">
                <a:solidFill>
                  <a:srgbClr val="33415C"/>
                </a:solidFill>
                <a:latin typeface="Calibri"/>
              </a:rPr>
              <a:t>→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3049310" y="5554979"/>
            <a:ext cx="1272540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Récolte des KPI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5157192" y="5557242"/>
            <a:ext cx="1718429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0">
                <a:solidFill>
                  <a:srgbClr val="78879F"/>
                </a:solidFill>
                <a:latin typeface="Calibri"/>
              </a:rPr>
              <a:t>Avancement du creusement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502920" y="5698089"/>
            <a:ext cx="1804630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Avancement et jalons chantier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2327077" y="5687618"/>
            <a:ext cx="784860" cy="1447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1">
                <a:solidFill>
                  <a:srgbClr val="33415C"/>
                </a:solidFill>
                <a:latin typeface="Calibri"/>
              </a:rPr>
              <a:t>→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3049310" y="5698089"/>
            <a:ext cx="1804630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Avancement et jalons chantier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157192" y="5700352"/>
            <a:ext cx="1811536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0">
                <a:solidFill>
                  <a:srgbClr val="78879F"/>
                </a:solidFill>
                <a:latin typeface="Calibri"/>
              </a:rPr>
              <a:t>Jalons tunnel pour la situation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02920" y="5841207"/>
            <a:ext cx="1432084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Commande chantier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327077" y="5830729"/>
            <a:ext cx="784860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1">
                <a:solidFill>
                  <a:srgbClr val="33415C"/>
                </a:solidFill>
                <a:latin typeface="Calibri"/>
              </a:rPr>
              <a:t>→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3049310" y="5841207"/>
            <a:ext cx="1423392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Contrôle budgétaire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5157192" y="5843470"/>
            <a:ext cx="1626394" cy="1142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0">
                <a:solidFill>
                  <a:srgbClr val="78879F"/>
                </a:solidFill>
                <a:latin typeface="Calibri"/>
              </a:rPr>
              <a:t>Dépenses matériel tunnel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502920" y="5984318"/>
            <a:ext cx="1871901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Reporting et diffusion des plans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2327077" y="5973839"/>
            <a:ext cx="784860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1">
                <a:solidFill>
                  <a:srgbClr val="33415C"/>
                </a:solidFill>
                <a:latin typeface="Calibri"/>
              </a:rPr>
              <a:t>→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3049310" y="5984318"/>
            <a:ext cx="1539954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Gestion des maquettes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157192" y="5986581"/>
            <a:ext cx="2014418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0">
                <a:solidFill>
                  <a:srgbClr val="78879F"/>
                </a:solidFill>
                <a:latin typeface="Calibri"/>
              </a:rPr>
              <a:t>Plans contrôlés et nuages de points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502920" y="6127436"/>
            <a:ext cx="1871901" cy="1142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Reporting et diffusion des plans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2327077" y="6116957"/>
            <a:ext cx="784860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1">
                <a:solidFill>
                  <a:srgbClr val="33415C"/>
                </a:solidFill>
                <a:latin typeface="Calibri"/>
              </a:rPr>
              <a:t>→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3049310" y="6127436"/>
            <a:ext cx="1410533" cy="1142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Gestion de chantier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5157192" y="6129691"/>
            <a:ext cx="1812727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0">
                <a:solidFill>
                  <a:srgbClr val="78879F"/>
                </a:solidFill>
                <a:latin typeface="Calibri"/>
              </a:rPr>
              <a:t>Plans d'implantation du tunnel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502920" y="6270546"/>
            <a:ext cx="1462207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Guidage du tunnelier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2327077" y="6260068"/>
            <a:ext cx="784860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1">
                <a:solidFill>
                  <a:srgbClr val="33415C"/>
                </a:solidFill>
                <a:latin typeface="Calibri"/>
              </a:rPr>
              <a:t>→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3049310" y="6270546"/>
            <a:ext cx="1804630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Avancement et jalons chantier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5157192" y="6272809"/>
            <a:ext cx="1755577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0">
                <a:solidFill>
                  <a:srgbClr val="78879F"/>
                </a:solidFill>
                <a:latin typeface="Calibri"/>
              </a:rPr>
              <a:t>Position et tracé du tunnelier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502920" y="6413657"/>
            <a:ext cx="1988820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Événements et indicateurs sécurité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2327077" y="6403178"/>
            <a:ext cx="784860" cy="14478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1">
                <a:solidFill>
                  <a:srgbClr val="33415C"/>
                </a:solidFill>
                <a:latin typeface="Calibri"/>
              </a:rPr>
              <a:t>→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3049310" y="6413657"/>
            <a:ext cx="1272540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Récolte des KPI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5157192" y="6415919"/>
            <a:ext cx="1859280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0">
                <a:solidFill>
                  <a:srgbClr val="78879F"/>
                </a:solidFill>
                <a:latin typeface="Calibri"/>
              </a:rPr>
              <a:t>Indicateurs sécurité du chantier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9304854" y="1089657"/>
            <a:ext cx="802124" cy="27432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739" b="1" spc="-52">
                <a:solidFill>
                  <a:srgbClr val="0D1526"/>
                </a:solidFill>
                <a:latin typeface="Calibri"/>
              </a:rPr>
              <a:t>9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9224010" y="1363979"/>
            <a:ext cx="963811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0" b="1" spc="51">
                <a:solidFill>
                  <a:srgbClr val="78879F"/>
                </a:solidFill>
                <a:latin typeface="Calibri"/>
              </a:rPr>
              <a:t>PÔLES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10698362" y="1089657"/>
            <a:ext cx="918447" cy="27432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739" b="1" spc="-52">
                <a:solidFill>
                  <a:srgbClr val="0D1526"/>
                </a:solidFill>
                <a:latin typeface="Calibri"/>
              </a:rPr>
              <a:t>64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10423922" y="1363979"/>
            <a:ext cx="1467327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0" b="1" spc="51">
                <a:solidFill>
                  <a:srgbClr val="78879F"/>
                </a:solidFill>
                <a:latin typeface="Calibri"/>
              </a:rPr>
              <a:t>OUTILS RECENSÉS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9246751" y="1683071"/>
            <a:ext cx="918448" cy="27431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739" b="1" spc="-52">
                <a:solidFill>
                  <a:srgbClr val="0D1526"/>
                </a:solidFill>
                <a:latin typeface="Calibri"/>
              </a:rPr>
              <a:t>32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8882777" y="1957386"/>
            <a:ext cx="1646396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0" b="1" spc="51">
                <a:solidFill>
                  <a:srgbClr val="78879F"/>
                </a:solidFill>
                <a:latin typeface="Calibri"/>
              </a:rPr>
              <a:t>FLUX CARTOGRAPHIÉS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0698362" y="1683071"/>
            <a:ext cx="918447" cy="27431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739" b="1" spc="-52">
                <a:solidFill>
                  <a:srgbClr val="0D1526"/>
                </a:solidFill>
                <a:latin typeface="Calibri"/>
              </a:rPr>
              <a:t>10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10429994" y="1957386"/>
            <a:ext cx="1455182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0" b="1" spc="51">
                <a:solidFill>
                  <a:srgbClr val="78879F"/>
                </a:solidFill>
                <a:latin typeface="Calibri"/>
              </a:rPr>
              <a:t>OUTILS HORS BDD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9151620" y="2352676"/>
            <a:ext cx="1933338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1" spc="119">
                <a:solidFill>
                  <a:srgbClr val="78879F"/>
                </a:solidFill>
                <a:latin typeface="Calibri"/>
              </a:rPr>
              <a:t>RÉPARTITION DU PARC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9151620" y="2829283"/>
            <a:ext cx="951310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1">
                <a:solidFill>
                  <a:srgbClr val="33415C"/>
                </a:solidFill>
                <a:latin typeface="Calibri"/>
              </a:rPr>
              <a:t>Nature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9955650" y="2829283"/>
            <a:ext cx="2442091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>
                <a:solidFill>
                  <a:srgbClr val="78879F"/>
                </a:solidFill>
                <a:latin typeface="Calibri"/>
              </a:rPr>
              <a:t>Externes 32 · Internes 21 · Non renseigné 11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9151620" y="3118845"/>
            <a:ext cx="1193483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1">
                <a:solidFill>
                  <a:srgbClr val="33415C"/>
                </a:solidFill>
                <a:latin typeface="Calibri"/>
              </a:rPr>
              <a:t>Alimentation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9926479" y="3118845"/>
            <a:ext cx="2471261" cy="1219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>
                <a:solidFill>
                  <a:srgbClr val="78879F"/>
                </a:solidFill>
                <a:latin typeface="Calibri"/>
              </a:rPr>
              <a:t>Manuel 50 · Automatique 9 · Non renseigné 5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9151620" y="3408399"/>
            <a:ext cx="1016437" cy="1219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1">
                <a:solidFill>
                  <a:srgbClr val="33415C"/>
                </a:solidFill>
                <a:latin typeface="Calibri"/>
              </a:rPr>
              <a:t>Position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10030302" y="3408399"/>
            <a:ext cx="2367438" cy="1219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>
                <a:solidFill>
                  <a:srgbClr val="78879F"/>
                </a:solidFill>
                <a:latin typeface="Calibri"/>
              </a:rPr>
              <a:t>Applications métier 45 · Socle commun 19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9151620" y="4250766"/>
            <a:ext cx="1846541" cy="1219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1" spc="119">
                <a:solidFill>
                  <a:srgbClr val="4CC9E8"/>
                </a:solidFill>
                <a:latin typeface="Calibri"/>
              </a:rPr>
              <a:t>POINTS D'ATTENTION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9197816" y="4537473"/>
            <a:ext cx="738188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9349740" y="4501276"/>
            <a:ext cx="2392680" cy="326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50"/>
              </a:lnSpc>
            </a:pPr>
            <a:r>
              <a:rPr sz="740" b="1">
                <a:solidFill>
                  <a:srgbClr val="FFFFFF"/>
                </a:solidFill>
                <a:latin typeface="Calibri"/>
              </a:rPr>
              <a:t>50 outils sur 64</a:t>
            </a:r>
            <a:r>
              <a:rPr sz="740" b="0">
                <a:solidFill>
                  <a:srgbClr val="C9D5EA"/>
                </a:solidFill>
                <a:latin typeface="Calibri"/>
              </a:rPr>
              <a:t> sont alimentés manuellement : la ressaisie reste le principal point de fragilité du dispositif.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9197816" y="5030269"/>
            <a:ext cx="738188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9349740" y="4994079"/>
            <a:ext cx="2392680" cy="326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50"/>
              </a:lnSpc>
            </a:pPr>
            <a:r>
              <a:rPr sz="740" b="1">
                <a:solidFill>
                  <a:srgbClr val="FFFFFF"/>
                </a:solidFill>
                <a:latin typeface="Calibri"/>
              </a:rPr>
              <a:t>Excel</a:t>
            </a:r>
            <a:r>
              <a:rPr sz="740" b="0">
                <a:solidFill>
                  <a:srgbClr val="C9D5EA"/>
                </a:solidFill>
                <a:latin typeface="Calibri"/>
              </a:rPr>
              <a:t> est présent dans 7 pôles et concentre les échanges sans interface formalisée.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9197816" y="5523072"/>
            <a:ext cx="738188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9349740" y="5486875"/>
            <a:ext cx="2392680" cy="326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50"/>
              </a:lnSpc>
            </a:pPr>
            <a:r>
              <a:rPr sz="740" b="1">
                <a:solidFill>
                  <a:srgbClr val="FFFFFF"/>
                </a:solidFill>
                <a:latin typeface="Calibri"/>
              </a:rPr>
              <a:t>6 pôles sur 9</a:t>
            </a:r>
            <a:r>
              <a:rPr sz="740" b="0">
                <a:solidFill>
                  <a:srgbClr val="C9D5EA"/>
                </a:solidFill>
                <a:latin typeface="Calibri"/>
              </a:rPr>
              <a:t> ont un processus recueilli ; les autres n'ont qu'un inventaire d'outils, sans ordre attesté.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9197816" y="6015868"/>
            <a:ext cx="738188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9349740" y="5979678"/>
            <a:ext cx="2392680" cy="45993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50"/>
              </a:lnSpc>
            </a:pPr>
            <a:r>
              <a:rPr sz="740" b="1">
                <a:solidFill>
                  <a:srgbClr val="FFFFFF"/>
                </a:solidFill>
                <a:latin typeface="Calibri"/>
              </a:rPr>
              <a:t>10 outils</a:t>
            </a:r>
            <a:r>
              <a:rPr sz="740" b="0">
                <a:solidFill>
                  <a:srgbClr val="C9D5EA"/>
                </a:solidFill>
                <a:latin typeface="Calibri"/>
              </a:rPr>
              <a:t> viennent du brief métier et non de la base d'entretiens : leur nature et leur alimentation restent à confirmer.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342900" y="6644636"/>
            <a:ext cx="2586990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>
                <a:solidFill>
                  <a:srgbClr val="78879F"/>
                </a:solidFill>
                <a:latin typeface="Calibri"/>
              </a:rPr>
              <a:t>Source : BDD Cartographie Outils IT — 16 entretiens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11302603" y="6644636"/>
            <a:ext cx="1232297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>
                <a:solidFill>
                  <a:srgbClr val="78879F"/>
                </a:solidFill>
                <a:latin typeface="Calibri"/>
              </a:rPr>
              <a:t>Planche 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33911" y="358137"/>
            <a:ext cx="244792" cy="129541"/>
          </a:xfrm>
          <a:prstGeom prst="roundRect">
            <a:avLst>
              <a:gd name="adj" fmla="val 50000"/>
            </a:avLst>
          </a:prstGeom>
          <a:solidFill>
            <a:srgbClr val="5B57D6">
              <a:alpha val="13000"/>
            </a:srgbClr>
          </a:solidFill>
          <a:ln w="7620">
            <a:solidFill>
              <a:srgbClr val="5B57D6">
                <a:alpha val="3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33911" y="548637"/>
            <a:ext cx="331470" cy="129541"/>
          </a:xfrm>
          <a:prstGeom prst="roundRect">
            <a:avLst>
              <a:gd name="adj" fmla="val 50000"/>
            </a:avLst>
          </a:prstGeom>
          <a:solidFill>
            <a:srgbClr val="4CC9E8">
              <a:alpha val="17000"/>
            </a:srgbClr>
          </a:solidFill>
          <a:ln w="7620">
            <a:solidFill>
              <a:srgbClr val="4CC9E8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027170" y="1158953"/>
            <a:ext cx="167997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46226" y="1158953"/>
            <a:ext cx="167997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008114" y="1359932"/>
            <a:ext cx="53340" cy="53343"/>
          </a:xfrm>
          <a:prstGeom prst="ellipse">
            <a:avLst/>
          </a:prstGeom>
          <a:solidFill>
            <a:srgbClr val="3A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027170" y="1318853"/>
            <a:ext cx="402312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46226" y="1318853"/>
            <a:ext cx="382905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008114" y="1519831"/>
            <a:ext cx="53340" cy="53343"/>
          </a:xfrm>
          <a:prstGeom prst="ellipse">
            <a:avLst/>
          </a:prstGeom>
          <a:solidFill>
            <a:srgbClr val="A9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027170" y="1478759"/>
            <a:ext cx="402312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46226" y="1478759"/>
            <a:ext cx="382905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008114" y="1679730"/>
            <a:ext cx="53340" cy="53343"/>
          </a:xfrm>
          <a:prstGeom prst="ellipse">
            <a:avLst/>
          </a:prstGeom>
          <a:solidFill>
            <a:srgbClr val="3A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84314" y="1679730"/>
            <a:ext cx="53340" cy="53343"/>
          </a:xfrm>
          <a:prstGeom prst="ellipse">
            <a:avLst/>
          </a:prstGeom>
          <a:solidFill>
            <a:srgbClr val="0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027170" y="1638658"/>
            <a:ext cx="402312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46226" y="1638658"/>
            <a:ext cx="382905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08114" y="1839637"/>
            <a:ext cx="53340" cy="53335"/>
          </a:xfrm>
          <a:prstGeom prst="ellipse">
            <a:avLst/>
          </a:prstGeom>
          <a:solidFill>
            <a:srgbClr val="A9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084314" y="1839637"/>
            <a:ext cx="53340" cy="53335"/>
          </a:xfrm>
          <a:prstGeom prst="ellipse">
            <a:avLst/>
          </a:prstGeom>
          <a:solidFill>
            <a:srgbClr val="82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160514" y="1839637"/>
            <a:ext cx="53340" cy="53335"/>
          </a:xfrm>
          <a:prstGeom prst="ellipse">
            <a:avLst/>
          </a:prstGeom>
          <a:solidFill>
            <a:srgbClr val="5B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027170" y="1798558"/>
            <a:ext cx="379452" cy="135616"/>
          </a:xfrm>
          <a:prstGeom prst="roundRect">
            <a:avLst>
              <a:gd name="adj" fmla="val 50000"/>
            </a:avLst>
          </a:prstGeom>
          <a:solidFill>
            <a:srgbClr val="5B57D6">
              <a:alpha val="13000"/>
            </a:srgbClr>
          </a:solidFill>
          <a:ln w="7620">
            <a:solidFill>
              <a:srgbClr val="5B57D6">
                <a:alpha val="3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46226" y="1798558"/>
            <a:ext cx="382905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08114" y="1999536"/>
            <a:ext cx="53340" cy="53343"/>
          </a:xfrm>
          <a:prstGeom prst="ellipse">
            <a:avLst/>
          </a:prstGeom>
          <a:solidFill>
            <a:srgbClr val="5B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027170" y="1958457"/>
            <a:ext cx="402312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46226" y="1958457"/>
            <a:ext cx="382905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008114" y="2159435"/>
            <a:ext cx="53340" cy="53343"/>
          </a:xfrm>
          <a:prstGeom prst="ellipse">
            <a:avLst/>
          </a:prstGeom>
          <a:solidFill>
            <a:srgbClr val="3A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027170" y="2118363"/>
            <a:ext cx="402312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46226" y="2118363"/>
            <a:ext cx="382905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008114" y="2319334"/>
            <a:ext cx="53340" cy="53343"/>
          </a:xfrm>
          <a:prstGeom prst="ellipse">
            <a:avLst/>
          </a:prstGeom>
          <a:solidFill>
            <a:srgbClr val="82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027170" y="2278262"/>
            <a:ext cx="379452" cy="135608"/>
          </a:xfrm>
          <a:prstGeom prst="roundRect">
            <a:avLst>
              <a:gd name="adj" fmla="val 50000"/>
            </a:avLst>
          </a:prstGeom>
          <a:solidFill>
            <a:srgbClr val="5B57D6">
              <a:alpha val="13000"/>
            </a:srgbClr>
          </a:solidFill>
          <a:ln w="7620">
            <a:solidFill>
              <a:srgbClr val="5B57D6">
                <a:alpha val="3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46226" y="2278262"/>
            <a:ext cx="382905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008114" y="2479241"/>
            <a:ext cx="53340" cy="53335"/>
          </a:xfrm>
          <a:prstGeom prst="ellipse">
            <a:avLst/>
          </a:prstGeom>
          <a:solidFill>
            <a:srgbClr val="82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084314" y="2479241"/>
            <a:ext cx="53340" cy="53335"/>
          </a:xfrm>
          <a:prstGeom prst="ellipse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027170" y="2438162"/>
            <a:ext cx="379452" cy="135616"/>
          </a:xfrm>
          <a:prstGeom prst="roundRect">
            <a:avLst>
              <a:gd name="adj" fmla="val 50000"/>
            </a:avLst>
          </a:prstGeom>
          <a:solidFill>
            <a:srgbClr val="5B57D6">
              <a:alpha val="13000"/>
            </a:srgbClr>
          </a:solidFill>
          <a:ln w="7620">
            <a:solidFill>
              <a:srgbClr val="5B57D6">
                <a:alpha val="3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046226" y="2438162"/>
            <a:ext cx="382905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008114" y="2639140"/>
            <a:ext cx="53340" cy="53343"/>
          </a:xfrm>
          <a:prstGeom prst="ellipse">
            <a:avLst/>
          </a:prstGeom>
          <a:solidFill>
            <a:srgbClr val="82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027170" y="2598061"/>
            <a:ext cx="379452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046226" y="2598061"/>
            <a:ext cx="167997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008114" y="2799039"/>
            <a:ext cx="53340" cy="53343"/>
          </a:xfrm>
          <a:prstGeom prst="ellipse">
            <a:avLst/>
          </a:prstGeom>
          <a:solidFill>
            <a:srgbClr val="82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027170" y="2757967"/>
            <a:ext cx="379452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046226" y="2757967"/>
            <a:ext cx="294561" cy="135608"/>
          </a:xfrm>
          <a:prstGeom prst="roundRect">
            <a:avLst>
              <a:gd name="adj" fmla="val 50000"/>
            </a:avLst>
          </a:prstGeom>
          <a:solidFill>
            <a:srgbClr val="4CC9E8">
              <a:alpha val="17000"/>
            </a:srgbClr>
          </a:solidFill>
          <a:ln w="7620">
            <a:solidFill>
              <a:srgbClr val="4CC9E8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008114" y="2958939"/>
            <a:ext cx="53340" cy="53343"/>
          </a:xfrm>
          <a:prstGeom prst="ellipse">
            <a:avLst/>
          </a:prstGeom>
          <a:solidFill>
            <a:srgbClr val="C24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027170" y="2917867"/>
            <a:ext cx="167997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046226" y="2917867"/>
            <a:ext cx="167997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008114" y="3118845"/>
            <a:ext cx="53340" cy="53335"/>
          </a:xfrm>
          <a:prstGeom prst="ellipse">
            <a:avLst/>
          </a:prstGeom>
          <a:solidFill>
            <a:srgbClr val="A9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027170" y="3077766"/>
            <a:ext cx="402312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046226" y="3077766"/>
            <a:ext cx="382905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008114" y="3278744"/>
            <a:ext cx="53340" cy="53335"/>
          </a:xfrm>
          <a:prstGeom prst="ellipse">
            <a:avLst/>
          </a:prstGeom>
          <a:solidFill>
            <a:srgbClr val="3A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027170" y="3237665"/>
            <a:ext cx="402312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046226" y="3237665"/>
            <a:ext cx="382905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008114" y="3438643"/>
            <a:ext cx="53340" cy="53343"/>
          </a:xfrm>
          <a:prstGeom prst="ellipse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027170" y="3397564"/>
            <a:ext cx="402312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046226" y="3397564"/>
            <a:ext cx="382905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008114" y="3598543"/>
            <a:ext cx="53340" cy="53343"/>
          </a:xfrm>
          <a:prstGeom prst="ellipse">
            <a:avLst/>
          </a:prstGeom>
          <a:solidFill>
            <a:srgbClr val="0E9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027170" y="3557471"/>
            <a:ext cx="167997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046226" y="3557471"/>
            <a:ext cx="382905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008114" y="3758449"/>
            <a:ext cx="53340" cy="53335"/>
          </a:xfrm>
          <a:prstGeom prst="ellipse">
            <a:avLst/>
          </a:prstGeom>
          <a:solidFill>
            <a:srgbClr val="5B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027170" y="3717370"/>
            <a:ext cx="402312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046226" y="3717370"/>
            <a:ext cx="382905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008114" y="3918348"/>
            <a:ext cx="53340" cy="53335"/>
          </a:xfrm>
          <a:prstGeom prst="ellipse">
            <a:avLst/>
          </a:prstGeom>
          <a:solidFill>
            <a:srgbClr val="0E9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027170" y="3877269"/>
            <a:ext cx="167997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046226" y="3877269"/>
            <a:ext cx="317897" cy="135616"/>
          </a:xfrm>
          <a:prstGeom prst="roundRect">
            <a:avLst>
              <a:gd name="adj" fmla="val 50000"/>
            </a:avLst>
          </a:prstGeom>
          <a:solidFill>
            <a:srgbClr val="4CC9E8">
              <a:alpha val="17000"/>
            </a:srgbClr>
          </a:solidFill>
          <a:ln w="7620">
            <a:solidFill>
              <a:srgbClr val="4CC9E8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008114" y="4078248"/>
            <a:ext cx="53340" cy="53343"/>
          </a:xfrm>
          <a:prstGeom prst="ellipse">
            <a:avLst/>
          </a:prstGeom>
          <a:solidFill>
            <a:srgbClr val="82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084314" y="4078248"/>
            <a:ext cx="53340" cy="53343"/>
          </a:xfrm>
          <a:prstGeom prst="ellipse">
            <a:avLst/>
          </a:prstGeom>
          <a:solidFill>
            <a:srgbClr val="5B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027170" y="4037168"/>
            <a:ext cx="402312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5046226" y="4037168"/>
            <a:ext cx="382905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008114" y="4238147"/>
            <a:ext cx="53340" cy="53343"/>
          </a:xfrm>
          <a:prstGeom prst="ellipse">
            <a:avLst/>
          </a:prstGeom>
          <a:solidFill>
            <a:srgbClr val="82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084314" y="4238147"/>
            <a:ext cx="53340" cy="53343"/>
          </a:xfrm>
          <a:prstGeom prst="ellipse">
            <a:avLst/>
          </a:prstGeom>
          <a:solidFill>
            <a:srgbClr val="5B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027170" y="4197075"/>
            <a:ext cx="402312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5046226" y="4197075"/>
            <a:ext cx="382905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008114" y="4398053"/>
            <a:ext cx="53340" cy="53335"/>
          </a:xfrm>
          <a:prstGeom prst="ellipse">
            <a:avLst/>
          </a:prstGeom>
          <a:solidFill>
            <a:srgbClr val="82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084314" y="4398053"/>
            <a:ext cx="53340" cy="53335"/>
          </a:xfrm>
          <a:prstGeom prst="ellipse">
            <a:avLst/>
          </a:prstGeom>
          <a:solidFill>
            <a:srgbClr val="5B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160514" y="4398053"/>
            <a:ext cx="53340" cy="53335"/>
          </a:xfrm>
          <a:prstGeom prst="ellipse">
            <a:avLst/>
          </a:prstGeom>
          <a:solidFill>
            <a:srgbClr val="DD7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4027170" y="4356974"/>
            <a:ext cx="379452" cy="135608"/>
          </a:xfrm>
          <a:prstGeom prst="roundRect">
            <a:avLst>
              <a:gd name="adj" fmla="val 50000"/>
            </a:avLst>
          </a:prstGeom>
          <a:solidFill>
            <a:srgbClr val="5B57D6">
              <a:alpha val="13000"/>
            </a:srgbClr>
          </a:solidFill>
          <a:ln w="7620">
            <a:solidFill>
              <a:srgbClr val="5B57D6">
                <a:alpha val="3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5046226" y="4356974"/>
            <a:ext cx="382905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008114" y="4557952"/>
            <a:ext cx="53340" cy="53335"/>
          </a:xfrm>
          <a:prstGeom prst="ellipse">
            <a:avLst/>
          </a:prstGeom>
          <a:solidFill>
            <a:srgbClr val="A9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4027170" y="4516873"/>
            <a:ext cx="167997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5046226" y="4516873"/>
            <a:ext cx="382905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008114" y="4717852"/>
            <a:ext cx="53340" cy="53343"/>
          </a:xfrm>
          <a:prstGeom prst="ellipse">
            <a:avLst/>
          </a:prstGeom>
          <a:solidFill>
            <a:srgbClr val="DD7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084314" y="4717852"/>
            <a:ext cx="53340" cy="53343"/>
          </a:xfrm>
          <a:prstGeom prst="ellipse">
            <a:avLst/>
          </a:prstGeom>
          <a:solidFill>
            <a:srgbClr val="0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4027170" y="4676772"/>
            <a:ext cx="379452" cy="135616"/>
          </a:xfrm>
          <a:prstGeom prst="roundRect">
            <a:avLst>
              <a:gd name="adj" fmla="val 50000"/>
            </a:avLst>
          </a:prstGeom>
          <a:solidFill>
            <a:srgbClr val="5B57D6">
              <a:alpha val="13000"/>
            </a:srgbClr>
          </a:solidFill>
          <a:ln w="7620">
            <a:solidFill>
              <a:srgbClr val="5B57D6">
                <a:alpha val="3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5046226" y="4676772"/>
            <a:ext cx="382905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008114" y="4877751"/>
            <a:ext cx="53340" cy="53343"/>
          </a:xfrm>
          <a:prstGeom prst="ellipse">
            <a:avLst/>
          </a:prstGeom>
          <a:solidFill>
            <a:srgbClr val="A9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084314" y="4877751"/>
            <a:ext cx="53340" cy="53343"/>
          </a:xfrm>
          <a:prstGeom prst="ellipse">
            <a:avLst/>
          </a:prstGeom>
          <a:solidFill>
            <a:srgbClr val="82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160514" y="4877751"/>
            <a:ext cx="53340" cy="53343"/>
          </a:xfrm>
          <a:prstGeom prst="ellipse">
            <a:avLst/>
          </a:prstGeom>
          <a:solidFill>
            <a:srgbClr val="5B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236714" y="4877751"/>
            <a:ext cx="53340" cy="53343"/>
          </a:xfrm>
          <a:prstGeom prst="ellipse">
            <a:avLst/>
          </a:prstGeom>
          <a:solidFill>
            <a:srgbClr val="C24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312914" y="4877751"/>
            <a:ext cx="53340" cy="53343"/>
          </a:xfrm>
          <a:prstGeom prst="ellipse">
            <a:avLst/>
          </a:prstGeom>
          <a:solidFill>
            <a:srgbClr val="0E9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389114" y="4877751"/>
            <a:ext cx="53340" cy="53343"/>
          </a:xfrm>
          <a:prstGeom prst="ellipse">
            <a:avLst/>
          </a:prstGeom>
          <a:solidFill>
            <a:srgbClr val="DD7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465314" y="4877751"/>
            <a:ext cx="53340" cy="53343"/>
          </a:xfrm>
          <a:prstGeom prst="ellipse">
            <a:avLst/>
          </a:prstGeom>
          <a:solidFill>
            <a:srgbClr val="0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4027170" y="4836679"/>
            <a:ext cx="402312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5046226" y="4836679"/>
            <a:ext cx="382905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008114" y="5037650"/>
            <a:ext cx="53340" cy="53343"/>
          </a:xfrm>
          <a:prstGeom prst="ellipse">
            <a:avLst/>
          </a:prstGeom>
          <a:solidFill>
            <a:srgbClr val="0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4027170" y="4996578"/>
            <a:ext cx="167997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5046226" y="4996578"/>
            <a:ext cx="167997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008114" y="5197557"/>
            <a:ext cx="53340" cy="53335"/>
          </a:xfrm>
          <a:prstGeom prst="ellipse">
            <a:avLst/>
          </a:prstGeom>
          <a:solidFill>
            <a:srgbClr val="82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4027170" y="5156477"/>
            <a:ext cx="379452" cy="135616"/>
          </a:xfrm>
          <a:prstGeom prst="roundRect">
            <a:avLst>
              <a:gd name="adj" fmla="val 50000"/>
            </a:avLst>
          </a:prstGeom>
          <a:solidFill>
            <a:srgbClr val="5B57D6">
              <a:alpha val="13000"/>
            </a:srgbClr>
          </a:solidFill>
          <a:ln w="7620">
            <a:solidFill>
              <a:srgbClr val="5B57D6">
                <a:alpha val="3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5046226" y="5156477"/>
            <a:ext cx="382905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3008114" y="5357456"/>
            <a:ext cx="53340" cy="53343"/>
          </a:xfrm>
          <a:prstGeom prst="ellipse">
            <a:avLst/>
          </a:prstGeom>
          <a:solidFill>
            <a:srgbClr val="82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4027170" y="5316376"/>
            <a:ext cx="379452" cy="135616"/>
          </a:xfrm>
          <a:prstGeom prst="roundRect">
            <a:avLst>
              <a:gd name="adj" fmla="val 50000"/>
            </a:avLst>
          </a:prstGeom>
          <a:solidFill>
            <a:srgbClr val="5B57D6">
              <a:alpha val="13000"/>
            </a:srgbClr>
          </a:solidFill>
          <a:ln w="7620">
            <a:solidFill>
              <a:srgbClr val="5B57D6">
                <a:alpha val="3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5046226" y="5316376"/>
            <a:ext cx="382905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3008114" y="5517355"/>
            <a:ext cx="53340" cy="53343"/>
          </a:xfrm>
          <a:prstGeom prst="ellipse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4027170" y="5476283"/>
            <a:ext cx="379452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5046226" y="5476283"/>
            <a:ext cx="382905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008114" y="5677254"/>
            <a:ext cx="53340" cy="53343"/>
          </a:xfrm>
          <a:prstGeom prst="ellipse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4027170" y="5636182"/>
            <a:ext cx="379452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5046226" y="5636182"/>
            <a:ext cx="382905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3008114" y="5837161"/>
            <a:ext cx="53340" cy="53335"/>
          </a:xfrm>
          <a:prstGeom prst="ellipse">
            <a:avLst/>
          </a:prstGeom>
          <a:solidFill>
            <a:srgbClr val="C24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3084314" y="5837161"/>
            <a:ext cx="53340" cy="53335"/>
          </a:xfrm>
          <a:prstGeom prst="ellipse">
            <a:avLst/>
          </a:prstGeom>
          <a:solidFill>
            <a:srgbClr val="DD7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3160514" y="5837161"/>
            <a:ext cx="53340" cy="53335"/>
          </a:xfrm>
          <a:prstGeom prst="ellipse">
            <a:avLst/>
          </a:prstGeom>
          <a:solidFill>
            <a:srgbClr val="0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4027170" y="5796081"/>
            <a:ext cx="402312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5046226" y="5796081"/>
            <a:ext cx="382905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3008114" y="5997060"/>
            <a:ext cx="53340" cy="53343"/>
          </a:xfrm>
          <a:prstGeom prst="ellipse">
            <a:avLst/>
          </a:prstGeom>
          <a:solidFill>
            <a:srgbClr val="3A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4027170" y="5955980"/>
            <a:ext cx="402312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5046226" y="5955980"/>
            <a:ext cx="382905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008114" y="6156959"/>
            <a:ext cx="53340" cy="53343"/>
          </a:xfrm>
          <a:prstGeom prst="ellipse">
            <a:avLst/>
          </a:prstGeom>
          <a:solidFill>
            <a:srgbClr val="0E9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4027170" y="6115887"/>
            <a:ext cx="167997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5046226" y="6115887"/>
            <a:ext cx="382905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8852655" y="1200033"/>
            <a:ext cx="53340" cy="53335"/>
          </a:xfrm>
          <a:prstGeom prst="ellipse">
            <a:avLst/>
          </a:prstGeom>
          <a:solidFill>
            <a:srgbClr val="C24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9871710" y="1158953"/>
            <a:ext cx="402312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10890766" y="1158953"/>
            <a:ext cx="294561" cy="135616"/>
          </a:xfrm>
          <a:prstGeom prst="roundRect">
            <a:avLst>
              <a:gd name="adj" fmla="val 50000"/>
            </a:avLst>
          </a:prstGeom>
          <a:solidFill>
            <a:srgbClr val="4CC9E8">
              <a:alpha val="17000"/>
            </a:srgbClr>
          </a:solidFill>
          <a:ln w="7620">
            <a:solidFill>
              <a:srgbClr val="4CC9E8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852655" y="1359932"/>
            <a:ext cx="53340" cy="53343"/>
          </a:xfrm>
          <a:prstGeom prst="ellipse">
            <a:avLst/>
          </a:prstGeom>
          <a:solidFill>
            <a:srgbClr val="C24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9871710" y="1318853"/>
            <a:ext cx="402312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10890766" y="1318853"/>
            <a:ext cx="294561" cy="135616"/>
          </a:xfrm>
          <a:prstGeom prst="roundRect">
            <a:avLst>
              <a:gd name="adj" fmla="val 50000"/>
            </a:avLst>
          </a:prstGeom>
          <a:solidFill>
            <a:srgbClr val="4CC9E8">
              <a:alpha val="17000"/>
            </a:srgbClr>
          </a:solidFill>
          <a:ln w="7620">
            <a:solidFill>
              <a:srgbClr val="4CC9E8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8852655" y="1519831"/>
            <a:ext cx="53340" cy="53343"/>
          </a:xfrm>
          <a:prstGeom prst="ellipse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9871710" y="1478759"/>
            <a:ext cx="167997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10890766" y="1478759"/>
            <a:ext cx="382906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8852655" y="1679730"/>
            <a:ext cx="53340" cy="53343"/>
          </a:xfrm>
          <a:prstGeom prst="ellipse">
            <a:avLst/>
          </a:prstGeom>
          <a:solidFill>
            <a:srgbClr val="C24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9871710" y="1638658"/>
            <a:ext cx="402312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10890766" y="1638658"/>
            <a:ext cx="382906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8852655" y="1839637"/>
            <a:ext cx="53340" cy="53335"/>
          </a:xfrm>
          <a:prstGeom prst="ellipse">
            <a:avLst/>
          </a:prstGeom>
          <a:solidFill>
            <a:srgbClr val="3A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8928854" y="1839637"/>
            <a:ext cx="53340" cy="53335"/>
          </a:xfrm>
          <a:prstGeom prst="ellipse">
            <a:avLst/>
          </a:prstGeom>
          <a:solidFill>
            <a:srgbClr val="C24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9005055" y="1839637"/>
            <a:ext cx="53340" cy="53335"/>
          </a:xfrm>
          <a:prstGeom prst="ellipse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9081254" y="1839637"/>
            <a:ext cx="53340" cy="53335"/>
          </a:xfrm>
          <a:prstGeom prst="ellipse">
            <a:avLst/>
          </a:prstGeom>
          <a:solidFill>
            <a:srgbClr val="DD7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9871710" y="1798558"/>
            <a:ext cx="402312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10890766" y="1798558"/>
            <a:ext cx="317897" cy="135616"/>
          </a:xfrm>
          <a:prstGeom prst="roundRect">
            <a:avLst>
              <a:gd name="adj" fmla="val 50000"/>
            </a:avLst>
          </a:prstGeom>
          <a:solidFill>
            <a:srgbClr val="4CC9E8">
              <a:alpha val="17000"/>
            </a:srgbClr>
          </a:solidFill>
          <a:ln w="7620">
            <a:solidFill>
              <a:srgbClr val="4CC9E8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8852655" y="1999536"/>
            <a:ext cx="53340" cy="53343"/>
          </a:xfrm>
          <a:prstGeom prst="ellipse">
            <a:avLst/>
          </a:prstGeom>
          <a:solidFill>
            <a:srgbClr val="5B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9871710" y="1958457"/>
            <a:ext cx="167997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10890766" y="1958457"/>
            <a:ext cx="382906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8852655" y="2159435"/>
            <a:ext cx="53340" cy="53343"/>
          </a:xfrm>
          <a:prstGeom prst="ellipse">
            <a:avLst/>
          </a:prstGeom>
          <a:solidFill>
            <a:srgbClr val="5B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8928854" y="2159435"/>
            <a:ext cx="53340" cy="53343"/>
          </a:xfrm>
          <a:prstGeom prst="ellipse">
            <a:avLst/>
          </a:prstGeom>
          <a:solidFill>
            <a:srgbClr val="DD7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9871710" y="2118363"/>
            <a:ext cx="379453" cy="135608"/>
          </a:xfrm>
          <a:prstGeom prst="roundRect">
            <a:avLst>
              <a:gd name="adj" fmla="val 50000"/>
            </a:avLst>
          </a:prstGeom>
          <a:solidFill>
            <a:srgbClr val="5B57D6">
              <a:alpha val="13000"/>
            </a:srgbClr>
          </a:solidFill>
          <a:ln w="7620">
            <a:solidFill>
              <a:srgbClr val="5B57D6">
                <a:alpha val="3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0" name="Rounded Rectangle 139"/>
          <p:cNvSpPr/>
          <p:nvPr/>
        </p:nvSpPr>
        <p:spPr>
          <a:xfrm>
            <a:off x="10890766" y="2118363"/>
            <a:ext cx="382906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8852655" y="2319334"/>
            <a:ext cx="53340" cy="53343"/>
          </a:xfrm>
          <a:prstGeom prst="ellipse">
            <a:avLst/>
          </a:prstGeom>
          <a:solidFill>
            <a:srgbClr val="DD7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8928854" y="2319334"/>
            <a:ext cx="53340" cy="53343"/>
          </a:xfrm>
          <a:prstGeom prst="ellipse">
            <a:avLst/>
          </a:prstGeom>
          <a:solidFill>
            <a:srgbClr val="0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9871710" y="2278262"/>
            <a:ext cx="402312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10890766" y="2278262"/>
            <a:ext cx="382906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8852655" y="2479241"/>
            <a:ext cx="53340" cy="53335"/>
          </a:xfrm>
          <a:prstGeom prst="ellipse">
            <a:avLst/>
          </a:prstGeom>
          <a:solidFill>
            <a:srgbClr val="82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6" name="Rounded Rectangle 145"/>
          <p:cNvSpPr/>
          <p:nvPr/>
        </p:nvSpPr>
        <p:spPr>
          <a:xfrm>
            <a:off x="9871710" y="2438162"/>
            <a:ext cx="167997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10890766" y="2438162"/>
            <a:ext cx="167997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8852655" y="2639140"/>
            <a:ext cx="53340" cy="53343"/>
          </a:xfrm>
          <a:prstGeom prst="ellipse">
            <a:avLst/>
          </a:prstGeom>
          <a:solidFill>
            <a:srgbClr val="A9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9" name="Rounded Rectangle 148"/>
          <p:cNvSpPr/>
          <p:nvPr/>
        </p:nvSpPr>
        <p:spPr>
          <a:xfrm>
            <a:off x="9871710" y="2598061"/>
            <a:ext cx="379453" cy="135616"/>
          </a:xfrm>
          <a:prstGeom prst="roundRect">
            <a:avLst>
              <a:gd name="adj" fmla="val 50000"/>
            </a:avLst>
          </a:prstGeom>
          <a:solidFill>
            <a:srgbClr val="5B57D6">
              <a:alpha val="13000"/>
            </a:srgbClr>
          </a:solidFill>
          <a:ln w="7620">
            <a:solidFill>
              <a:srgbClr val="5B57D6">
                <a:alpha val="3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10890766" y="2598061"/>
            <a:ext cx="382906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8852655" y="2799039"/>
            <a:ext cx="53340" cy="53343"/>
          </a:xfrm>
          <a:prstGeom prst="ellipse">
            <a:avLst/>
          </a:prstGeom>
          <a:solidFill>
            <a:srgbClr val="5B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2" name="Rounded Rectangle 151"/>
          <p:cNvSpPr/>
          <p:nvPr/>
        </p:nvSpPr>
        <p:spPr>
          <a:xfrm>
            <a:off x="9871710" y="2757967"/>
            <a:ext cx="379453" cy="135608"/>
          </a:xfrm>
          <a:prstGeom prst="roundRect">
            <a:avLst>
              <a:gd name="adj" fmla="val 50000"/>
            </a:avLst>
          </a:prstGeom>
          <a:solidFill>
            <a:srgbClr val="5B57D6">
              <a:alpha val="13000"/>
            </a:srgbClr>
          </a:solidFill>
          <a:ln w="7620">
            <a:solidFill>
              <a:srgbClr val="5B57D6">
                <a:alpha val="3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10890766" y="2757967"/>
            <a:ext cx="382906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8852655" y="2958939"/>
            <a:ext cx="53340" cy="53343"/>
          </a:xfrm>
          <a:prstGeom prst="ellipse">
            <a:avLst/>
          </a:prstGeom>
          <a:solidFill>
            <a:srgbClr val="A9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8928854" y="2958939"/>
            <a:ext cx="53340" cy="53343"/>
          </a:xfrm>
          <a:prstGeom prst="ellipse">
            <a:avLst/>
          </a:prstGeom>
          <a:solidFill>
            <a:srgbClr val="DD7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9871710" y="2917867"/>
            <a:ext cx="402312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7" name="Rounded Rectangle 156"/>
          <p:cNvSpPr/>
          <p:nvPr/>
        </p:nvSpPr>
        <p:spPr>
          <a:xfrm>
            <a:off x="10890766" y="2917867"/>
            <a:ext cx="382906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8852655" y="3118845"/>
            <a:ext cx="53340" cy="53335"/>
          </a:xfrm>
          <a:prstGeom prst="ellipse">
            <a:avLst/>
          </a:prstGeom>
          <a:solidFill>
            <a:srgbClr val="82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8928854" y="3118845"/>
            <a:ext cx="53340" cy="53335"/>
          </a:xfrm>
          <a:prstGeom prst="ellipse">
            <a:avLst/>
          </a:prstGeom>
          <a:solidFill>
            <a:srgbClr val="C24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9005055" y="3118845"/>
            <a:ext cx="53340" cy="53335"/>
          </a:xfrm>
          <a:prstGeom prst="ellipse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9081254" y="3118845"/>
            <a:ext cx="53340" cy="53335"/>
          </a:xfrm>
          <a:prstGeom prst="ellipse">
            <a:avLst/>
          </a:prstGeom>
          <a:solidFill>
            <a:srgbClr val="DD7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9157454" y="3118845"/>
            <a:ext cx="53340" cy="53335"/>
          </a:xfrm>
          <a:prstGeom prst="ellipse">
            <a:avLst/>
          </a:prstGeom>
          <a:solidFill>
            <a:srgbClr val="0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3" name="Rounded Rectangle 162"/>
          <p:cNvSpPr/>
          <p:nvPr/>
        </p:nvSpPr>
        <p:spPr>
          <a:xfrm>
            <a:off x="9871710" y="3077766"/>
            <a:ext cx="402312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4" name="Rounded Rectangle 163"/>
          <p:cNvSpPr/>
          <p:nvPr/>
        </p:nvSpPr>
        <p:spPr>
          <a:xfrm>
            <a:off x="10890766" y="3077766"/>
            <a:ext cx="382906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8852655" y="3278744"/>
            <a:ext cx="53340" cy="53335"/>
          </a:xfrm>
          <a:prstGeom prst="ellipse">
            <a:avLst/>
          </a:prstGeom>
          <a:solidFill>
            <a:srgbClr val="0E9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6" name="Rounded Rectangle 165"/>
          <p:cNvSpPr/>
          <p:nvPr/>
        </p:nvSpPr>
        <p:spPr>
          <a:xfrm>
            <a:off x="9871710" y="3237665"/>
            <a:ext cx="167997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7" name="Rounded Rectangle 166"/>
          <p:cNvSpPr/>
          <p:nvPr/>
        </p:nvSpPr>
        <p:spPr>
          <a:xfrm>
            <a:off x="10890766" y="3237665"/>
            <a:ext cx="294561" cy="135616"/>
          </a:xfrm>
          <a:prstGeom prst="roundRect">
            <a:avLst>
              <a:gd name="adj" fmla="val 50000"/>
            </a:avLst>
          </a:prstGeom>
          <a:solidFill>
            <a:srgbClr val="4CC9E8">
              <a:alpha val="17000"/>
            </a:srgbClr>
          </a:solidFill>
          <a:ln w="7620">
            <a:solidFill>
              <a:srgbClr val="4CC9E8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8852655" y="3438643"/>
            <a:ext cx="53340" cy="53343"/>
          </a:xfrm>
          <a:prstGeom prst="ellipse">
            <a:avLst/>
          </a:prstGeom>
          <a:solidFill>
            <a:srgbClr val="A9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8928854" y="3438643"/>
            <a:ext cx="53340" cy="53343"/>
          </a:xfrm>
          <a:prstGeom prst="ellipse">
            <a:avLst/>
          </a:prstGeom>
          <a:solidFill>
            <a:srgbClr val="5B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9005055" y="3438643"/>
            <a:ext cx="53340" cy="53343"/>
          </a:xfrm>
          <a:prstGeom prst="ellipse">
            <a:avLst/>
          </a:prstGeom>
          <a:solidFill>
            <a:srgbClr val="C24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9081254" y="3438643"/>
            <a:ext cx="53340" cy="53343"/>
          </a:xfrm>
          <a:prstGeom prst="ellipse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9157454" y="3438643"/>
            <a:ext cx="53340" cy="53343"/>
          </a:xfrm>
          <a:prstGeom prst="ellipse">
            <a:avLst/>
          </a:prstGeom>
          <a:solidFill>
            <a:srgbClr val="DD7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9233655" y="3438643"/>
            <a:ext cx="53340" cy="53343"/>
          </a:xfrm>
          <a:prstGeom prst="ellipse">
            <a:avLst/>
          </a:prstGeom>
          <a:solidFill>
            <a:srgbClr val="0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" name="Rounded Rectangle 173"/>
          <p:cNvSpPr/>
          <p:nvPr/>
        </p:nvSpPr>
        <p:spPr>
          <a:xfrm>
            <a:off x="9871710" y="3397564"/>
            <a:ext cx="379453" cy="135616"/>
          </a:xfrm>
          <a:prstGeom prst="roundRect">
            <a:avLst>
              <a:gd name="adj" fmla="val 50000"/>
            </a:avLst>
          </a:prstGeom>
          <a:solidFill>
            <a:srgbClr val="5B57D6">
              <a:alpha val="13000"/>
            </a:srgbClr>
          </a:solidFill>
          <a:ln w="7620">
            <a:solidFill>
              <a:srgbClr val="5B57D6">
                <a:alpha val="3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5" name="Rounded Rectangle 174"/>
          <p:cNvSpPr/>
          <p:nvPr/>
        </p:nvSpPr>
        <p:spPr>
          <a:xfrm>
            <a:off x="10890766" y="3397564"/>
            <a:ext cx="294561" cy="135616"/>
          </a:xfrm>
          <a:prstGeom prst="roundRect">
            <a:avLst>
              <a:gd name="adj" fmla="val 50000"/>
            </a:avLst>
          </a:prstGeom>
          <a:solidFill>
            <a:srgbClr val="4CC9E8">
              <a:alpha val="17000"/>
            </a:srgbClr>
          </a:solidFill>
          <a:ln w="7620">
            <a:solidFill>
              <a:srgbClr val="4CC9E8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8852655" y="3598543"/>
            <a:ext cx="53340" cy="53343"/>
          </a:xfrm>
          <a:prstGeom prst="ellipse">
            <a:avLst/>
          </a:prstGeom>
          <a:solidFill>
            <a:srgbClr val="C24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7" name="Rounded Rectangle 176"/>
          <p:cNvSpPr/>
          <p:nvPr/>
        </p:nvSpPr>
        <p:spPr>
          <a:xfrm>
            <a:off x="9871710" y="3557471"/>
            <a:ext cx="402312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8" name="Rounded Rectangle 177"/>
          <p:cNvSpPr/>
          <p:nvPr/>
        </p:nvSpPr>
        <p:spPr>
          <a:xfrm>
            <a:off x="10890766" y="3557471"/>
            <a:ext cx="382906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8852655" y="3758449"/>
            <a:ext cx="53340" cy="53335"/>
          </a:xfrm>
          <a:prstGeom prst="ellipse">
            <a:avLst/>
          </a:prstGeom>
          <a:solidFill>
            <a:srgbClr val="82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0" name="Rounded Rectangle 179"/>
          <p:cNvSpPr/>
          <p:nvPr/>
        </p:nvSpPr>
        <p:spPr>
          <a:xfrm>
            <a:off x="9871710" y="3717370"/>
            <a:ext cx="379453" cy="135608"/>
          </a:xfrm>
          <a:prstGeom prst="roundRect">
            <a:avLst>
              <a:gd name="adj" fmla="val 50000"/>
            </a:avLst>
          </a:prstGeom>
          <a:solidFill>
            <a:srgbClr val="5B57D6">
              <a:alpha val="13000"/>
            </a:srgbClr>
          </a:solidFill>
          <a:ln w="7620">
            <a:solidFill>
              <a:srgbClr val="5B57D6">
                <a:alpha val="3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1" name="Rounded Rectangle 180"/>
          <p:cNvSpPr/>
          <p:nvPr/>
        </p:nvSpPr>
        <p:spPr>
          <a:xfrm>
            <a:off x="10890766" y="3717370"/>
            <a:ext cx="382906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8852655" y="3918348"/>
            <a:ext cx="53340" cy="53335"/>
          </a:xfrm>
          <a:prstGeom prst="ellipse">
            <a:avLst/>
          </a:prstGeom>
          <a:solidFill>
            <a:srgbClr val="3A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3" name="Rounded Rectangle 182"/>
          <p:cNvSpPr/>
          <p:nvPr/>
        </p:nvSpPr>
        <p:spPr>
          <a:xfrm>
            <a:off x="9871710" y="3877269"/>
            <a:ext cx="402312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4" name="Rounded Rectangle 183"/>
          <p:cNvSpPr/>
          <p:nvPr/>
        </p:nvSpPr>
        <p:spPr>
          <a:xfrm>
            <a:off x="10890766" y="3877269"/>
            <a:ext cx="382906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852655" y="4078248"/>
            <a:ext cx="53340" cy="53343"/>
          </a:xfrm>
          <a:prstGeom prst="ellipse">
            <a:avLst/>
          </a:prstGeom>
          <a:solidFill>
            <a:srgbClr val="5B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928854" y="4078248"/>
            <a:ext cx="53340" cy="53343"/>
          </a:xfrm>
          <a:prstGeom prst="ellipse">
            <a:avLst/>
          </a:prstGeom>
          <a:solidFill>
            <a:srgbClr val="C24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9005055" y="4078248"/>
            <a:ext cx="53340" cy="53343"/>
          </a:xfrm>
          <a:prstGeom prst="ellipse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9081254" y="4078248"/>
            <a:ext cx="53340" cy="53343"/>
          </a:xfrm>
          <a:prstGeom prst="ellipse">
            <a:avLst/>
          </a:prstGeom>
          <a:solidFill>
            <a:srgbClr val="DD7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9157454" y="4078248"/>
            <a:ext cx="53340" cy="53343"/>
          </a:xfrm>
          <a:prstGeom prst="ellipse">
            <a:avLst/>
          </a:prstGeom>
          <a:solidFill>
            <a:srgbClr val="0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0" name="Rounded Rectangle 189"/>
          <p:cNvSpPr/>
          <p:nvPr/>
        </p:nvSpPr>
        <p:spPr>
          <a:xfrm>
            <a:off x="9871710" y="4037168"/>
            <a:ext cx="379453" cy="135616"/>
          </a:xfrm>
          <a:prstGeom prst="roundRect">
            <a:avLst>
              <a:gd name="adj" fmla="val 50000"/>
            </a:avLst>
          </a:prstGeom>
          <a:solidFill>
            <a:srgbClr val="5B57D6">
              <a:alpha val="13000"/>
            </a:srgbClr>
          </a:solidFill>
          <a:ln w="7620">
            <a:solidFill>
              <a:srgbClr val="5B57D6">
                <a:alpha val="3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1" name="Rounded Rectangle 190"/>
          <p:cNvSpPr/>
          <p:nvPr/>
        </p:nvSpPr>
        <p:spPr>
          <a:xfrm>
            <a:off x="10890766" y="4037168"/>
            <a:ext cx="382906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8852655" y="4238147"/>
            <a:ext cx="53340" cy="53343"/>
          </a:xfrm>
          <a:prstGeom prst="ellipse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3" name="Rounded Rectangle 192"/>
          <p:cNvSpPr/>
          <p:nvPr/>
        </p:nvSpPr>
        <p:spPr>
          <a:xfrm>
            <a:off x="9871710" y="4197075"/>
            <a:ext cx="379453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4" name="Rounded Rectangle 193"/>
          <p:cNvSpPr/>
          <p:nvPr/>
        </p:nvSpPr>
        <p:spPr>
          <a:xfrm>
            <a:off x="10890766" y="4197075"/>
            <a:ext cx="382906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8852655" y="4398053"/>
            <a:ext cx="53340" cy="53335"/>
          </a:xfrm>
          <a:prstGeom prst="ellipse">
            <a:avLst/>
          </a:prstGeom>
          <a:solidFill>
            <a:srgbClr val="3A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6" name="Rounded Rectangle 195"/>
          <p:cNvSpPr/>
          <p:nvPr/>
        </p:nvSpPr>
        <p:spPr>
          <a:xfrm>
            <a:off x="9871710" y="4356974"/>
            <a:ext cx="402312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7" name="Rounded Rectangle 196"/>
          <p:cNvSpPr/>
          <p:nvPr/>
        </p:nvSpPr>
        <p:spPr>
          <a:xfrm>
            <a:off x="10890766" y="4356974"/>
            <a:ext cx="382906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8852655" y="4557952"/>
            <a:ext cx="53340" cy="53335"/>
          </a:xfrm>
          <a:prstGeom prst="ellipse">
            <a:avLst/>
          </a:prstGeom>
          <a:solidFill>
            <a:srgbClr val="A9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8928854" y="4557952"/>
            <a:ext cx="53340" cy="53335"/>
          </a:xfrm>
          <a:prstGeom prst="ellipse">
            <a:avLst/>
          </a:prstGeom>
          <a:solidFill>
            <a:srgbClr val="0E9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0" name="Rounded Rectangle 199"/>
          <p:cNvSpPr/>
          <p:nvPr/>
        </p:nvSpPr>
        <p:spPr>
          <a:xfrm>
            <a:off x="9871710" y="4516873"/>
            <a:ext cx="402312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1" name="Rounded Rectangle 200"/>
          <p:cNvSpPr/>
          <p:nvPr/>
        </p:nvSpPr>
        <p:spPr>
          <a:xfrm>
            <a:off x="10890766" y="4516873"/>
            <a:ext cx="382906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8852655" y="4717852"/>
            <a:ext cx="53340" cy="53343"/>
          </a:xfrm>
          <a:prstGeom prst="ellipse">
            <a:avLst/>
          </a:prstGeom>
          <a:solidFill>
            <a:srgbClr val="3A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3" name="Rounded Rectangle 202"/>
          <p:cNvSpPr/>
          <p:nvPr/>
        </p:nvSpPr>
        <p:spPr>
          <a:xfrm>
            <a:off x="9871710" y="4676772"/>
            <a:ext cx="402312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4" name="Rounded Rectangle 203"/>
          <p:cNvSpPr/>
          <p:nvPr/>
        </p:nvSpPr>
        <p:spPr>
          <a:xfrm>
            <a:off x="10890766" y="4676772"/>
            <a:ext cx="382906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8852655" y="4877751"/>
            <a:ext cx="53340" cy="53343"/>
          </a:xfrm>
          <a:prstGeom prst="ellipse">
            <a:avLst/>
          </a:prstGeom>
          <a:solidFill>
            <a:srgbClr val="C24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6" name="Rounded Rectangle 205"/>
          <p:cNvSpPr/>
          <p:nvPr/>
        </p:nvSpPr>
        <p:spPr>
          <a:xfrm>
            <a:off x="9871710" y="4836679"/>
            <a:ext cx="402312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7" name="Rounded Rectangle 206"/>
          <p:cNvSpPr/>
          <p:nvPr/>
        </p:nvSpPr>
        <p:spPr>
          <a:xfrm>
            <a:off x="10890766" y="4836679"/>
            <a:ext cx="294561" cy="135608"/>
          </a:xfrm>
          <a:prstGeom prst="roundRect">
            <a:avLst>
              <a:gd name="adj" fmla="val 50000"/>
            </a:avLst>
          </a:prstGeom>
          <a:solidFill>
            <a:srgbClr val="4CC9E8">
              <a:alpha val="17000"/>
            </a:srgbClr>
          </a:solidFill>
          <a:ln w="7620">
            <a:solidFill>
              <a:srgbClr val="4CC9E8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8852655" y="5037650"/>
            <a:ext cx="53340" cy="53343"/>
          </a:xfrm>
          <a:prstGeom prst="ellipse">
            <a:avLst/>
          </a:prstGeom>
          <a:solidFill>
            <a:srgbClr val="3A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9" name="Rounded Rectangle 208"/>
          <p:cNvSpPr/>
          <p:nvPr/>
        </p:nvSpPr>
        <p:spPr>
          <a:xfrm>
            <a:off x="9871710" y="4996578"/>
            <a:ext cx="402312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0" name="Rounded Rectangle 209"/>
          <p:cNvSpPr/>
          <p:nvPr/>
        </p:nvSpPr>
        <p:spPr>
          <a:xfrm>
            <a:off x="10890766" y="4996578"/>
            <a:ext cx="382906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8852655" y="5197557"/>
            <a:ext cx="53340" cy="53335"/>
          </a:xfrm>
          <a:prstGeom prst="ellipse">
            <a:avLst/>
          </a:prstGeom>
          <a:solidFill>
            <a:srgbClr val="5B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2" name="Rounded Rectangle 211"/>
          <p:cNvSpPr/>
          <p:nvPr/>
        </p:nvSpPr>
        <p:spPr>
          <a:xfrm>
            <a:off x="9871710" y="5156477"/>
            <a:ext cx="402312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3" name="Rounded Rectangle 212"/>
          <p:cNvSpPr/>
          <p:nvPr/>
        </p:nvSpPr>
        <p:spPr>
          <a:xfrm>
            <a:off x="10890766" y="5156477"/>
            <a:ext cx="382906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8852655" y="5357456"/>
            <a:ext cx="53340" cy="53343"/>
          </a:xfrm>
          <a:prstGeom prst="ellipse">
            <a:avLst/>
          </a:prstGeom>
          <a:solidFill>
            <a:srgbClr val="82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5" name="Rounded Rectangle 214"/>
          <p:cNvSpPr/>
          <p:nvPr/>
        </p:nvSpPr>
        <p:spPr>
          <a:xfrm>
            <a:off x="9871710" y="5316376"/>
            <a:ext cx="379453" cy="135616"/>
          </a:xfrm>
          <a:prstGeom prst="roundRect">
            <a:avLst>
              <a:gd name="adj" fmla="val 50000"/>
            </a:avLst>
          </a:prstGeom>
          <a:solidFill>
            <a:srgbClr val="5B57D6">
              <a:alpha val="13000"/>
            </a:srgbClr>
          </a:solidFill>
          <a:ln w="7620">
            <a:solidFill>
              <a:srgbClr val="5B57D6">
                <a:alpha val="3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6" name="Rounded Rectangle 215"/>
          <p:cNvSpPr/>
          <p:nvPr/>
        </p:nvSpPr>
        <p:spPr>
          <a:xfrm>
            <a:off x="10890766" y="5316376"/>
            <a:ext cx="382906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8852655" y="5517355"/>
            <a:ext cx="53340" cy="53343"/>
          </a:xfrm>
          <a:prstGeom prst="ellipse">
            <a:avLst/>
          </a:prstGeom>
          <a:solidFill>
            <a:srgbClr val="DD7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8" name="Rounded Rectangle 217"/>
          <p:cNvSpPr/>
          <p:nvPr/>
        </p:nvSpPr>
        <p:spPr>
          <a:xfrm>
            <a:off x="9871710" y="5476283"/>
            <a:ext cx="379453" cy="135608"/>
          </a:xfrm>
          <a:prstGeom prst="roundRect">
            <a:avLst>
              <a:gd name="adj" fmla="val 50000"/>
            </a:avLst>
          </a:prstGeom>
          <a:solidFill>
            <a:srgbClr val="5B57D6">
              <a:alpha val="13000"/>
            </a:srgbClr>
          </a:solidFill>
          <a:ln w="7620">
            <a:solidFill>
              <a:srgbClr val="5B57D6">
                <a:alpha val="3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9" name="Rounded Rectangle 218"/>
          <p:cNvSpPr/>
          <p:nvPr/>
        </p:nvSpPr>
        <p:spPr>
          <a:xfrm>
            <a:off x="10890766" y="5476283"/>
            <a:ext cx="382906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8852655" y="5677254"/>
            <a:ext cx="53340" cy="53343"/>
          </a:xfrm>
          <a:prstGeom prst="ellipse">
            <a:avLst/>
          </a:prstGeom>
          <a:solidFill>
            <a:srgbClr val="3A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8928854" y="5677254"/>
            <a:ext cx="53340" cy="53343"/>
          </a:xfrm>
          <a:prstGeom prst="ellipse">
            <a:avLst/>
          </a:prstGeom>
          <a:solidFill>
            <a:srgbClr val="C24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9005055" y="5677254"/>
            <a:ext cx="53340" cy="53343"/>
          </a:xfrm>
          <a:prstGeom prst="ellipse">
            <a:avLst/>
          </a:prstGeom>
          <a:solidFill>
            <a:srgbClr val="0E9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9081254" y="5677254"/>
            <a:ext cx="53340" cy="53343"/>
          </a:xfrm>
          <a:prstGeom prst="ellipse">
            <a:avLst/>
          </a:prstGeom>
          <a:solidFill>
            <a:srgbClr val="DD7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9157454" y="5677254"/>
            <a:ext cx="53340" cy="53343"/>
          </a:xfrm>
          <a:prstGeom prst="ellipse">
            <a:avLst/>
          </a:prstGeom>
          <a:solidFill>
            <a:srgbClr val="0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5" name="Rounded Rectangle 224"/>
          <p:cNvSpPr/>
          <p:nvPr/>
        </p:nvSpPr>
        <p:spPr>
          <a:xfrm>
            <a:off x="9871710" y="5636182"/>
            <a:ext cx="402312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6" name="Rounded Rectangle 225"/>
          <p:cNvSpPr/>
          <p:nvPr/>
        </p:nvSpPr>
        <p:spPr>
          <a:xfrm>
            <a:off x="10890766" y="5636182"/>
            <a:ext cx="382906" cy="135608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8852655" y="5837161"/>
            <a:ext cx="53340" cy="53335"/>
          </a:xfrm>
          <a:prstGeom prst="ellipse">
            <a:avLst/>
          </a:prstGeom>
          <a:solidFill>
            <a:srgbClr val="C24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8" name="Rounded Rectangle 227"/>
          <p:cNvSpPr/>
          <p:nvPr/>
        </p:nvSpPr>
        <p:spPr>
          <a:xfrm>
            <a:off x="9871710" y="5796081"/>
            <a:ext cx="402312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9" name="Rounded Rectangle 228"/>
          <p:cNvSpPr/>
          <p:nvPr/>
        </p:nvSpPr>
        <p:spPr>
          <a:xfrm>
            <a:off x="10890766" y="5796081"/>
            <a:ext cx="382906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8852655" y="5997060"/>
            <a:ext cx="53340" cy="53343"/>
          </a:xfrm>
          <a:prstGeom prst="ellipse">
            <a:avLst/>
          </a:prstGeom>
          <a:solidFill>
            <a:srgbClr val="A9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8928854" y="5997060"/>
            <a:ext cx="53340" cy="53343"/>
          </a:xfrm>
          <a:prstGeom prst="ellipse">
            <a:avLst/>
          </a:prstGeom>
          <a:solidFill>
            <a:srgbClr val="5B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9005055" y="5997060"/>
            <a:ext cx="53340" cy="53343"/>
          </a:xfrm>
          <a:prstGeom prst="ellipse">
            <a:avLst/>
          </a:prstGeom>
          <a:solidFill>
            <a:srgbClr val="DD7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3" name="Rounded Rectangle 232"/>
          <p:cNvSpPr/>
          <p:nvPr/>
        </p:nvSpPr>
        <p:spPr>
          <a:xfrm>
            <a:off x="9871710" y="5955980"/>
            <a:ext cx="402312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4" name="Rounded Rectangle 233"/>
          <p:cNvSpPr/>
          <p:nvPr/>
        </p:nvSpPr>
        <p:spPr>
          <a:xfrm>
            <a:off x="10890766" y="5955980"/>
            <a:ext cx="382906" cy="1356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8852655" y="6156959"/>
            <a:ext cx="53340" cy="53343"/>
          </a:xfrm>
          <a:prstGeom prst="ellipse">
            <a:avLst/>
          </a:prstGeom>
          <a:solidFill>
            <a:srgbClr val="5B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8928854" y="6156959"/>
            <a:ext cx="53340" cy="53343"/>
          </a:xfrm>
          <a:prstGeom prst="ellipse">
            <a:avLst/>
          </a:prstGeom>
          <a:solidFill>
            <a:srgbClr val="0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7" name="Rounded Rectangle 236"/>
          <p:cNvSpPr/>
          <p:nvPr/>
        </p:nvSpPr>
        <p:spPr>
          <a:xfrm>
            <a:off x="9871710" y="6115887"/>
            <a:ext cx="379453" cy="135608"/>
          </a:xfrm>
          <a:prstGeom prst="roundRect">
            <a:avLst>
              <a:gd name="adj" fmla="val 50000"/>
            </a:avLst>
          </a:prstGeom>
          <a:solidFill>
            <a:srgbClr val="5B57D6">
              <a:alpha val="13000"/>
            </a:srgbClr>
          </a:solidFill>
          <a:ln w="7620">
            <a:solidFill>
              <a:srgbClr val="5B57D6">
                <a:alpha val="3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8" name="Rounded Rectangle 237"/>
          <p:cNvSpPr/>
          <p:nvPr/>
        </p:nvSpPr>
        <p:spPr>
          <a:xfrm>
            <a:off x="10890766" y="6115887"/>
            <a:ext cx="294561" cy="135608"/>
          </a:xfrm>
          <a:prstGeom prst="roundRect">
            <a:avLst>
              <a:gd name="adj" fmla="val 50000"/>
            </a:avLst>
          </a:prstGeom>
          <a:solidFill>
            <a:srgbClr val="4CC9E8">
              <a:alpha val="17000"/>
            </a:srgbClr>
          </a:solidFill>
          <a:ln w="7620">
            <a:solidFill>
              <a:srgbClr val="4CC9E8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342900" y="312417"/>
            <a:ext cx="1239202" cy="1219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1" spc="132">
                <a:solidFill>
                  <a:srgbClr val="78879F"/>
                </a:solidFill>
                <a:latin typeface="Calibri"/>
              </a:rPr>
              <a:t>ANNEXE 2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342900" y="457198"/>
            <a:ext cx="3634383" cy="3657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400" b="1" spc="-48">
                <a:solidFill>
                  <a:srgbClr val="0D1526"/>
                </a:solidFill>
                <a:latin typeface="Calibri"/>
              </a:rPr>
              <a:t>Référentiel des outils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342900" y="847249"/>
            <a:ext cx="4160758" cy="15239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40" b="0">
                <a:solidFill>
                  <a:srgbClr val="78879F"/>
                </a:solidFill>
                <a:latin typeface="Calibri"/>
              </a:rPr>
              <a:t>Tous les outils recensés, avec éditeur, pôles servis, nature et alimentation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10639663" y="354332"/>
            <a:ext cx="1224321" cy="13715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>
                <a:solidFill>
                  <a:srgbClr val="33415C"/>
                </a:solidFill>
                <a:latin typeface="Calibri"/>
              </a:rPr>
              <a:t>Outil interne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10051971" y="369572"/>
            <a:ext cx="80867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5B57D6"/>
                </a:solidFill>
                <a:latin typeface="Calibri"/>
              </a:rPr>
              <a:t>INT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10726341" y="544832"/>
            <a:ext cx="1808559" cy="13715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>
                <a:solidFill>
                  <a:srgbClr val="33415C"/>
                </a:solidFill>
                <a:latin typeface="Calibri"/>
              </a:rPr>
              <a:t>Alimentation automatique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10051971" y="560072"/>
            <a:ext cx="895350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0B7E99"/>
                </a:solidFill>
                <a:latin typeface="Calibri"/>
              </a:rPr>
              <a:t>AUTO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10598111" y="723897"/>
            <a:ext cx="1668066" cy="13716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>
                <a:solidFill>
                  <a:srgbClr val="33415C"/>
                </a:solidFill>
                <a:latin typeface="Calibri"/>
              </a:rPr>
              <a:t>Hors base d'entretiens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10333911" y="723897"/>
            <a:ext cx="889040" cy="13716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>
                <a:solidFill>
                  <a:srgbClr val="33415C"/>
                </a:solidFill>
                <a:latin typeface="Calibri"/>
              </a:rPr>
              <a:t>Nom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403860" y="1013458"/>
            <a:ext cx="957263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1" spc="85">
                <a:solidFill>
                  <a:srgbClr val="78879F"/>
                </a:solidFill>
                <a:latin typeface="Calibri"/>
              </a:rPr>
              <a:t>OUTIL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3008114" y="1013458"/>
            <a:ext cx="985480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1" spc="85">
                <a:solidFill>
                  <a:srgbClr val="78879F"/>
                </a:solidFill>
                <a:latin typeface="Calibri"/>
              </a:rPr>
              <a:t>PÔLES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4027170" y="1013458"/>
            <a:ext cx="1047274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1" spc="85">
                <a:solidFill>
                  <a:srgbClr val="78879F"/>
                </a:solidFill>
                <a:latin typeface="Calibri"/>
              </a:rPr>
              <a:t>NATURE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5046226" y="1013458"/>
            <a:ext cx="1352312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1" spc="85">
                <a:solidFill>
                  <a:srgbClr val="78879F"/>
                </a:solidFill>
                <a:latin typeface="Calibri"/>
              </a:rPr>
              <a:t>ALIMENTATION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403860" y="1164906"/>
            <a:ext cx="968454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Achat +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3745230" y="1170381"/>
            <a:ext cx="731877" cy="1066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?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4764286" y="1170381"/>
            <a:ext cx="731877" cy="1066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?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403860" y="1324805"/>
            <a:ext cx="1061085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Anaconda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3745230" y="1330288"/>
            <a:ext cx="96619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Externe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4764286" y="1330288"/>
            <a:ext cx="946785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403860" y="1484712"/>
            <a:ext cx="1220748" cy="1142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8F3857"/>
                </a:solidFill>
                <a:latin typeface="Calibri"/>
              </a:rPr>
              <a:t>Appli bancaire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3745230" y="1490187"/>
            <a:ext cx="96619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Externe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4764286" y="1490187"/>
            <a:ext cx="946785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388620" y="1619651"/>
            <a:ext cx="2528054" cy="20410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730"/>
              </a:lnSpc>
            </a:pPr>
            <a:r>
              <a:rPr sz="610" b="1">
                <a:solidFill>
                  <a:srgbClr val="0D1526"/>
                </a:solidFill>
                <a:latin typeface="Calibri"/>
              </a:rPr>
              <a:t>AutoCAD</a:t>
            </a:r>
            <a:r>
              <a:rPr sz="570" b="0">
                <a:solidFill>
                  <a:srgbClr val="78879F"/>
                </a:solidFill>
                <a:latin typeface="Calibri"/>
              </a:rPr>
              <a:t> Autodesk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3745230" y="1650086"/>
            <a:ext cx="96619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Externe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4764286" y="1650086"/>
            <a:ext cx="946785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388620" y="1779558"/>
            <a:ext cx="2528054" cy="2040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730"/>
              </a:lnSpc>
            </a:pPr>
            <a:r>
              <a:rPr sz="610" b="1">
                <a:solidFill>
                  <a:srgbClr val="0D1526"/>
                </a:solidFill>
                <a:latin typeface="Calibri"/>
              </a:rPr>
              <a:t>Basware</a:t>
            </a:r>
            <a:r>
              <a:rPr sz="570" b="0">
                <a:solidFill>
                  <a:srgbClr val="78879F"/>
                </a:solidFill>
                <a:latin typeface="Calibri"/>
              </a:rPr>
              <a:t> Soletanche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3745230" y="1809985"/>
            <a:ext cx="943332" cy="1066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5B57D6"/>
                </a:solidFill>
                <a:latin typeface="Calibri"/>
              </a:rPr>
              <a:t>Interne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4764286" y="1809985"/>
            <a:ext cx="946785" cy="1066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388620" y="1939457"/>
            <a:ext cx="2528054" cy="2040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730"/>
              </a:lnSpc>
            </a:pPr>
            <a:r>
              <a:rPr sz="610" b="1">
                <a:solidFill>
                  <a:srgbClr val="0D1526"/>
                </a:solidFill>
                <a:latin typeface="Calibri"/>
              </a:rPr>
              <a:t>BATIS</a:t>
            </a:r>
            <a:r>
              <a:rPr sz="570" b="0">
                <a:solidFill>
                  <a:srgbClr val="78879F"/>
                </a:solidFill>
                <a:latin typeface="Calibri"/>
              </a:rPr>
              <a:t> Tisseo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3745230" y="1969892"/>
            <a:ext cx="96619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Externe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4764286" y="1969892"/>
            <a:ext cx="946785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388620" y="2099356"/>
            <a:ext cx="2528054" cy="2040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730"/>
              </a:lnSpc>
            </a:pPr>
            <a:r>
              <a:rPr sz="610" b="1">
                <a:solidFill>
                  <a:srgbClr val="0D1526"/>
                </a:solidFill>
                <a:latin typeface="Calibri"/>
              </a:rPr>
              <a:t>BIM Vision</a:t>
            </a:r>
            <a:r>
              <a:rPr sz="570" b="0">
                <a:solidFill>
                  <a:srgbClr val="78879F"/>
                </a:solidFill>
                <a:latin typeface="Calibri"/>
              </a:rPr>
              <a:t> Technologia BIM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3745230" y="2129791"/>
            <a:ext cx="96619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Externe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4764286" y="2129791"/>
            <a:ext cx="946785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403860" y="2284215"/>
            <a:ext cx="1094184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BIP / BAPS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3745230" y="2289690"/>
            <a:ext cx="94333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5B57D6"/>
                </a:solidFill>
                <a:latin typeface="Calibri"/>
              </a:rPr>
              <a:t>Interne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4764286" y="2289690"/>
            <a:ext cx="946785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403860" y="2444114"/>
            <a:ext cx="1078468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By My Site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3745230" y="2449589"/>
            <a:ext cx="943332" cy="1066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5B57D6"/>
                </a:solidFill>
                <a:latin typeface="Calibri"/>
              </a:rPr>
              <a:t>Interne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4764286" y="2449589"/>
            <a:ext cx="946785" cy="1066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388620" y="2579061"/>
            <a:ext cx="2528054" cy="2040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730"/>
              </a:lnSpc>
            </a:pPr>
            <a:r>
              <a:rPr sz="610" b="1">
                <a:solidFill>
                  <a:srgbClr val="8F3857"/>
                </a:solidFill>
                <a:latin typeface="Calibri"/>
              </a:rPr>
              <a:t>BYCN</a:t>
            </a:r>
            <a:r>
              <a:rPr sz="570" b="0">
                <a:solidFill>
                  <a:srgbClr val="78879F"/>
                </a:solidFill>
                <a:latin typeface="Calibri"/>
              </a:rPr>
              <a:t> Bouygues Construction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3745230" y="2609496"/>
            <a:ext cx="94333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Interne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4764286" y="2609496"/>
            <a:ext cx="731877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?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388620" y="2738960"/>
            <a:ext cx="2528054" cy="2040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730"/>
              </a:lnSpc>
            </a:pPr>
            <a:r>
              <a:rPr sz="610" b="1">
                <a:solidFill>
                  <a:srgbClr val="8F3857"/>
                </a:solidFill>
                <a:latin typeface="Calibri"/>
              </a:rPr>
              <a:t>BYMAT</a:t>
            </a:r>
            <a:r>
              <a:rPr sz="570" b="0">
                <a:solidFill>
                  <a:srgbClr val="78879F"/>
                </a:solidFill>
                <a:latin typeface="Calibri"/>
              </a:rPr>
              <a:t> Bouygues Construction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3745230" y="2769395"/>
            <a:ext cx="94333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Interne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4764286" y="2769395"/>
            <a:ext cx="858441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0B7E99"/>
                </a:solidFill>
                <a:latin typeface="Calibri"/>
              </a:rPr>
              <a:t>Auto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403860" y="2923819"/>
            <a:ext cx="961906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CEMEX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3745230" y="2929294"/>
            <a:ext cx="731877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?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4764286" y="2929294"/>
            <a:ext cx="731877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?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388620" y="3058766"/>
            <a:ext cx="2528054" cy="2040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730"/>
              </a:lnSpc>
            </a:pPr>
            <a:r>
              <a:rPr sz="610" b="1">
                <a:solidFill>
                  <a:srgbClr val="8F3857"/>
                </a:solidFill>
                <a:latin typeface="Calibri"/>
              </a:rPr>
              <a:t>Chorus</a:t>
            </a:r>
            <a:r>
              <a:rPr sz="570" b="0">
                <a:solidFill>
                  <a:srgbClr val="78879F"/>
                </a:solidFill>
                <a:latin typeface="Calibri"/>
              </a:rPr>
              <a:t> AIFE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3745230" y="3089193"/>
            <a:ext cx="966192" cy="1066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Externe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4764286" y="3089193"/>
            <a:ext cx="946785" cy="1066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388620" y="3218665"/>
            <a:ext cx="2528054" cy="2040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730"/>
              </a:lnSpc>
            </a:pPr>
            <a:r>
              <a:rPr sz="610" b="1">
                <a:solidFill>
                  <a:srgbClr val="0D1526"/>
                </a:solidFill>
                <a:latin typeface="Calibri"/>
              </a:rPr>
              <a:t>Civil 3D</a:t>
            </a:r>
            <a:r>
              <a:rPr sz="570" b="0">
                <a:solidFill>
                  <a:srgbClr val="78879F"/>
                </a:solidFill>
                <a:latin typeface="Calibri"/>
              </a:rPr>
              <a:t> Autodesk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3745230" y="3249100"/>
            <a:ext cx="96619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Externe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4764286" y="3249100"/>
            <a:ext cx="946785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388620" y="3378564"/>
            <a:ext cx="2528054" cy="2040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730"/>
              </a:lnSpc>
            </a:pPr>
            <a:r>
              <a:rPr sz="610" b="1">
                <a:solidFill>
                  <a:srgbClr val="8F3857"/>
                </a:solidFill>
                <a:latin typeface="Calibri"/>
              </a:rPr>
              <a:t>Cority</a:t>
            </a:r>
            <a:r>
              <a:rPr sz="570" b="0">
                <a:solidFill>
                  <a:srgbClr val="78879F"/>
                </a:solidFill>
                <a:latin typeface="Calibri"/>
              </a:rPr>
              <a:t> Cority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3745230" y="3408999"/>
            <a:ext cx="96619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Externe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4764286" y="3408999"/>
            <a:ext cx="946785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403860" y="3563423"/>
            <a:ext cx="987862" cy="1142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Covadis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3745230" y="3568898"/>
            <a:ext cx="731877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?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4764286" y="3568898"/>
            <a:ext cx="946785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388620" y="3698370"/>
            <a:ext cx="2528054" cy="2040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730"/>
              </a:lnSpc>
            </a:pPr>
            <a:r>
              <a:rPr sz="610" b="1">
                <a:solidFill>
                  <a:srgbClr val="0D1526"/>
                </a:solidFill>
                <a:latin typeface="Calibri"/>
              </a:rPr>
              <a:t>CWT</a:t>
            </a:r>
            <a:r>
              <a:rPr sz="570" b="0">
                <a:solidFill>
                  <a:srgbClr val="78879F"/>
                </a:solidFill>
                <a:latin typeface="Calibri"/>
              </a:rPr>
              <a:t> CWT EUROPE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3745230" y="3728797"/>
            <a:ext cx="96619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Externe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4764286" y="3728797"/>
            <a:ext cx="946785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403860" y="3883222"/>
            <a:ext cx="1164669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Cyclone 3DR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3745230" y="3888704"/>
            <a:ext cx="731877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?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4764286" y="3888704"/>
            <a:ext cx="881777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0B7E99"/>
                </a:solidFill>
                <a:latin typeface="Calibri"/>
              </a:rPr>
              <a:t>Mixte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388620" y="4018168"/>
            <a:ext cx="2528054" cy="2040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730"/>
              </a:lnSpc>
            </a:pPr>
            <a:r>
              <a:rPr sz="610" b="1">
                <a:solidFill>
                  <a:srgbClr val="0D1526"/>
                </a:solidFill>
                <a:latin typeface="Calibri"/>
              </a:rPr>
              <a:t>DocuSign</a:t>
            </a:r>
            <a:r>
              <a:rPr sz="570" b="0">
                <a:solidFill>
                  <a:srgbClr val="78879F"/>
                </a:solidFill>
                <a:latin typeface="Calibri"/>
              </a:rPr>
              <a:t> Docusign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3745230" y="4048603"/>
            <a:ext cx="96619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Externe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4764286" y="4048603"/>
            <a:ext cx="946785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388620" y="4178067"/>
            <a:ext cx="2528054" cy="20410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730"/>
              </a:lnSpc>
            </a:pPr>
            <a:r>
              <a:rPr sz="610" b="1">
                <a:solidFill>
                  <a:srgbClr val="0D1526"/>
                </a:solidFill>
                <a:latin typeface="Calibri"/>
              </a:rPr>
              <a:t>E-Checking</a:t>
            </a:r>
            <a:r>
              <a:rPr sz="570" b="0">
                <a:solidFill>
                  <a:srgbClr val="78879F"/>
                </a:solidFill>
                <a:latin typeface="Calibri"/>
              </a:rPr>
              <a:t> BYCN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3745230" y="4208502"/>
            <a:ext cx="96619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Externe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4764286" y="4208502"/>
            <a:ext cx="946785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388620" y="4337974"/>
            <a:ext cx="2528054" cy="2040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730"/>
              </a:lnSpc>
            </a:pPr>
            <a:r>
              <a:rPr sz="610" b="1">
                <a:solidFill>
                  <a:srgbClr val="0D1526"/>
                </a:solidFill>
                <a:latin typeface="Calibri"/>
              </a:rPr>
              <a:t>E-Paraph</a:t>
            </a:r>
            <a:r>
              <a:rPr sz="570" b="0">
                <a:solidFill>
                  <a:srgbClr val="78879F"/>
                </a:solidFill>
                <a:latin typeface="Calibri"/>
              </a:rPr>
              <a:t> E-paraph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3745230" y="4368401"/>
            <a:ext cx="94333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5B57D6"/>
                </a:solidFill>
                <a:latin typeface="Calibri"/>
              </a:rPr>
              <a:t>Interne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4764286" y="4368401"/>
            <a:ext cx="946785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388620" y="4497873"/>
            <a:ext cx="2528054" cy="2040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730"/>
              </a:lnSpc>
            </a:pPr>
            <a:r>
              <a:rPr sz="610" b="1">
                <a:solidFill>
                  <a:srgbClr val="0D1526"/>
                </a:solidFill>
                <a:latin typeface="Calibri"/>
              </a:rPr>
              <a:t>E-Project</a:t>
            </a:r>
            <a:r>
              <a:rPr sz="570" b="0">
                <a:solidFill>
                  <a:srgbClr val="78879F"/>
                </a:solidFill>
                <a:latin typeface="Calibri"/>
              </a:rPr>
              <a:t> Tisseo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3745230" y="4528300"/>
            <a:ext cx="731877" cy="1066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?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4764286" y="4528300"/>
            <a:ext cx="946785" cy="1066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403860" y="4682725"/>
            <a:ext cx="1027986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ERP MAT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3745230" y="4688207"/>
            <a:ext cx="94333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5B57D6"/>
                </a:solidFill>
                <a:latin typeface="Calibri"/>
              </a:rPr>
              <a:t>Interne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4764286" y="4688207"/>
            <a:ext cx="946785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388620" y="4817671"/>
            <a:ext cx="2528054" cy="20410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730"/>
              </a:lnSpc>
            </a:pPr>
            <a:r>
              <a:rPr sz="610" b="1">
                <a:solidFill>
                  <a:srgbClr val="0D1526"/>
                </a:solidFill>
                <a:latin typeface="Calibri"/>
              </a:rPr>
              <a:t>Excel</a:t>
            </a:r>
            <a:r>
              <a:rPr sz="570" b="0">
                <a:solidFill>
                  <a:srgbClr val="78879F"/>
                </a:solidFill>
                <a:latin typeface="Calibri"/>
              </a:rPr>
              <a:t> Microsoft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3745230" y="4848106"/>
            <a:ext cx="96619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Externe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4764286" y="4848106"/>
            <a:ext cx="946785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403860" y="5002531"/>
            <a:ext cx="927378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GMAO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3745230" y="5008005"/>
            <a:ext cx="731877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?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4764286" y="5008005"/>
            <a:ext cx="731877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?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388620" y="5137477"/>
            <a:ext cx="2528054" cy="2040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730"/>
              </a:lnSpc>
            </a:pPr>
            <a:r>
              <a:rPr sz="610" b="1">
                <a:solidFill>
                  <a:srgbClr val="0D1526"/>
                </a:solidFill>
                <a:latin typeface="Calibri"/>
              </a:rPr>
              <a:t>H&amp;R For You</a:t>
            </a:r>
            <a:r>
              <a:rPr sz="570" b="0">
                <a:solidFill>
                  <a:srgbClr val="78879F"/>
                </a:solidFill>
                <a:latin typeface="Calibri"/>
              </a:rPr>
              <a:t> BYCN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3745230" y="5167904"/>
            <a:ext cx="943332" cy="1066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5B57D6"/>
                </a:solidFill>
                <a:latin typeface="Calibri"/>
              </a:rPr>
              <a:t>Interne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4764286" y="5167904"/>
            <a:ext cx="946785" cy="1066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403860" y="5322329"/>
            <a:ext cx="1022390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Harmony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3745230" y="5327811"/>
            <a:ext cx="94333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5B57D6"/>
                </a:solidFill>
                <a:latin typeface="Calibri"/>
              </a:rPr>
              <a:t>Interne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4764286" y="5327811"/>
            <a:ext cx="946785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403860" y="5482236"/>
            <a:ext cx="1367671" cy="1142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8F3857"/>
                </a:solidFill>
                <a:latin typeface="Calibri"/>
              </a:rPr>
              <a:t>Heures Travaillées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3745230" y="5487710"/>
            <a:ext cx="94333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Interne</a:t>
            </a:r>
          </a:p>
        </p:txBody>
      </p:sp>
      <p:sp>
        <p:nvSpPr>
          <p:cNvPr id="335" name="TextBox 334"/>
          <p:cNvSpPr txBox="1"/>
          <p:nvPr/>
        </p:nvSpPr>
        <p:spPr>
          <a:xfrm>
            <a:off x="4764286" y="5487710"/>
            <a:ext cx="946785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88620" y="5617175"/>
            <a:ext cx="2528054" cy="20410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730"/>
              </a:lnSpc>
            </a:pPr>
            <a:r>
              <a:rPr sz="610" b="1">
                <a:solidFill>
                  <a:srgbClr val="8F3857"/>
                </a:solidFill>
                <a:latin typeface="Calibri"/>
              </a:rPr>
              <a:t>HRMYOU / Global HR</a:t>
            </a:r>
            <a:r>
              <a:rPr sz="570" b="0">
                <a:solidFill>
                  <a:srgbClr val="78879F"/>
                </a:solidFill>
                <a:latin typeface="Calibri"/>
              </a:rPr>
              <a:t> Bouygues Construction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3745230" y="5647609"/>
            <a:ext cx="94333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Interne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764286" y="5647609"/>
            <a:ext cx="946785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388620" y="5777081"/>
            <a:ext cx="2528054" cy="2040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730"/>
              </a:lnSpc>
            </a:pPr>
            <a:r>
              <a:rPr sz="610" b="1">
                <a:solidFill>
                  <a:srgbClr val="0D1526"/>
                </a:solidFill>
                <a:latin typeface="Calibri"/>
              </a:rPr>
              <a:t>IDCapture</a:t>
            </a:r>
            <a:r>
              <a:rPr sz="570" b="0">
                <a:solidFill>
                  <a:srgbClr val="78879F"/>
                </a:solidFill>
                <a:latin typeface="Calibri"/>
              </a:rPr>
              <a:t> IDCAPTURE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3745230" y="5807509"/>
            <a:ext cx="966192" cy="1066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Externe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4764286" y="5807509"/>
            <a:ext cx="946785" cy="1066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388620" y="5936980"/>
            <a:ext cx="2528054" cy="2040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730"/>
              </a:lnSpc>
            </a:pPr>
            <a:r>
              <a:rPr sz="610" b="1">
                <a:solidFill>
                  <a:srgbClr val="0D1526"/>
                </a:solidFill>
                <a:latin typeface="Calibri"/>
              </a:rPr>
              <a:t>Inventor</a:t>
            </a:r>
            <a:r>
              <a:rPr sz="570" b="0">
                <a:solidFill>
                  <a:srgbClr val="78879F"/>
                </a:solidFill>
                <a:latin typeface="Calibri"/>
              </a:rPr>
              <a:t> Autodesk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3745230" y="5967415"/>
            <a:ext cx="96619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Externe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4764286" y="5967415"/>
            <a:ext cx="946785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388620" y="6096880"/>
            <a:ext cx="2528054" cy="2002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730"/>
              </a:lnSpc>
            </a:pPr>
            <a:r>
              <a:rPr sz="610" b="1">
                <a:solidFill>
                  <a:srgbClr val="0D1526"/>
                </a:solidFill>
                <a:latin typeface="Calibri"/>
              </a:rPr>
              <a:t>La Scene</a:t>
            </a:r>
            <a:r>
              <a:rPr sz="570" b="0">
                <a:solidFill>
                  <a:srgbClr val="78879F"/>
                </a:solidFill>
                <a:latin typeface="Calibri"/>
              </a:rPr>
              <a:t> Leica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3745230" y="6127314"/>
            <a:ext cx="731877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?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4764286" y="6127314"/>
            <a:ext cx="946785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6248400" y="1013458"/>
            <a:ext cx="957262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1" spc="85">
                <a:solidFill>
                  <a:srgbClr val="78879F"/>
                </a:solidFill>
                <a:latin typeface="Calibri"/>
              </a:rPr>
              <a:t>OUTIL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8852655" y="1013458"/>
            <a:ext cx="985480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1" spc="85">
                <a:solidFill>
                  <a:srgbClr val="78879F"/>
                </a:solidFill>
                <a:latin typeface="Calibri"/>
              </a:rPr>
              <a:t>PÔLES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9871710" y="1013458"/>
            <a:ext cx="1047274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1" spc="85">
                <a:solidFill>
                  <a:srgbClr val="78879F"/>
                </a:solidFill>
                <a:latin typeface="Calibri"/>
              </a:rPr>
              <a:t>NATURE</a:t>
            </a:r>
          </a:p>
        </p:txBody>
      </p:sp>
      <p:sp>
        <p:nvSpPr>
          <p:cNvPr id="351" name="TextBox 350"/>
          <p:cNvSpPr txBox="1"/>
          <p:nvPr/>
        </p:nvSpPr>
        <p:spPr>
          <a:xfrm>
            <a:off x="10890766" y="1013458"/>
            <a:ext cx="1352313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1" spc="85">
                <a:solidFill>
                  <a:srgbClr val="78879F"/>
                </a:solidFill>
                <a:latin typeface="Calibri"/>
              </a:rPr>
              <a:t>ALIMENTATION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6248400" y="1164906"/>
            <a:ext cx="1011555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Lafarge+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9589770" y="1170381"/>
            <a:ext cx="966192" cy="1066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Externe</a:t>
            </a:r>
          </a:p>
        </p:txBody>
      </p:sp>
      <p:sp>
        <p:nvSpPr>
          <p:cNvPr id="354" name="TextBox 353"/>
          <p:cNvSpPr txBox="1"/>
          <p:nvPr/>
        </p:nvSpPr>
        <p:spPr>
          <a:xfrm>
            <a:off x="10608826" y="1170381"/>
            <a:ext cx="858441" cy="1066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0B7E99"/>
                </a:solidFill>
                <a:latin typeface="Calibri"/>
              </a:rPr>
              <a:t>Auto</a:t>
            </a:r>
          </a:p>
        </p:txBody>
      </p:sp>
      <p:sp>
        <p:nvSpPr>
          <p:cNvPr id="355" name="TextBox 354"/>
          <p:cNvSpPr txBox="1"/>
          <p:nvPr/>
        </p:nvSpPr>
        <p:spPr>
          <a:xfrm>
            <a:off x="6248400" y="1324805"/>
            <a:ext cx="1492568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Live Objects (Orange)</a:t>
            </a:r>
          </a:p>
        </p:txBody>
      </p:sp>
      <p:sp>
        <p:nvSpPr>
          <p:cNvPr id="356" name="TextBox 355"/>
          <p:cNvSpPr txBox="1"/>
          <p:nvPr/>
        </p:nvSpPr>
        <p:spPr>
          <a:xfrm>
            <a:off x="9589770" y="1330288"/>
            <a:ext cx="96619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Externe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10608826" y="1330288"/>
            <a:ext cx="858441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0B7E99"/>
                </a:solidFill>
                <a:latin typeface="Calibri"/>
              </a:rPr>
              <a:t>Auto</a:t>
            </a:r>
          </a:p>
        </p:txBody>
      </p:sp>
      <p:sp>
        <p:nvSpPr>
          <p:cNvPr id="358" name="TextBox 357"/>
          <p:cNvSpPr txBox="1"/>
          <p:nvPr/>
        </p:nvSpPr>
        <p:spPr>
          <a:xfrm>
            <a:off x="6248400" y="1484712"/>
            <a:ext cx="897136" cy="1142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8F3857"/>
                </a:solidFill>
                <a:latin typeface="Calibri"/>
              </a:rPr>
              <a:t>Lotus</a:t>
            </a:r>
          </a:p>
        </p:txBody>
      </p:sp>
      <p:sp>
        <p:nvSpPr>
          <p:cNvPr id="359" name="TextBox 358"/>
          <p:cNvSpPr txBox="1"/>
          <p:nvPr/>
        </p:nvSpPr>
        <p:spPr>
          <a:xfrm>
            <a:off x="9589770" y="1490187"/>
            <a:ext cx="731877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?</a:t>
            </a:r>
          </a:p>
        </p:txBody>
      </p:sp>
      <p:sp>
        <p:nvSpPr>
          <p:cNvPr id="360" name="TextBox 359"/>
          <p:cNvSpPr txBox="1"/>
          <p:nvPr/>
        </p:nvSpPr>
        <p:spPr>
          <a:xfrm>
            <a:off x="10608826" y="1490187"/>
            <a:ext cx="946785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6248400" y="1644611"/>
            <a:ext cx="1030962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Lucee TP</a:t>
            </a:r>
          </a:p>
        </p:txBody>
      </p:sp>
      <p:sp>
        <p:nvSpPr>
          <p:cNvPr id="362" name="TextBox 361"/>
          <p:cNvSpPr txBox="1"/>
          <p:nvPr/>
        </p:nvSpPr>
        <p:spPr>
          <a:xfrm>
            <a:off x="9589770" y="1650086"/>
            <a:ext cx="96619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Externe</a:t>
            </a:r>
          </a:p>
        </p:txBody>
      </p:sp>
      <p:sp>
        <p:nvSpPr>
          <p:cNvPr id="363" name="TextBox 362"/>
          <p:cNvSpPr txBox="1"/>
          <p:nvPr/>
        </p:nvSpPr>
        <p:spPr>
          <a:xfrm>
            <a:off x="10608826" y="1650086"/>
            <a:ext cx="946785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364" name="TextBox 363"/>
          <p:cNvSpPr txBox="1"/>
          <p:nvPr/>
        </p:nvSpPr>
        <p:spPr>
          <a:xfrm>
            <a:off x="6233160" y="1779558"/>
            <a:ext cx="2528054" cy="2040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730"/>
              </a:lnSpc>
            </a:pPr>
            <a:r>
              <a:rPr sz="610" b="1">
                <a:solidFill>
                  <a:srgbClr val="0D1526"/>
                </a:solidFill>
                <a:latin typeface="Calibri"/>
              </a:rPr>
              <a:t>Mezzoteam</a:t>
            </a:r>
            <a:r>
              <a:rPr sz="570" b="0">
                <a:solidFill>
                  <a:srgbClr val="78879F"/>
                </a:solidFill>
                <a:latin typeface="Calibri"/>
              </a:rPr>
              <a:t> MEZZOTEAM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9589770" y="1809985"/>
            <a:ext cx="966192" cy="1066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Externe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10608826" y="1809985"/>
            <a:ext cx="881777" cy="1066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0B7E99"/>
                </a:solidFill>
                <a:latin typeface="Calibri"/>
              </a:rPr>
              <a:t>Mixte</a:t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6248400" y="1964409"/>
            <a:ext cx="888563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MIRO</a:t>
            </a:r>
          </a:p>
        </p:txBody>
      </p:sp>
      <p:sp>
        <p:nvSpPr>
          <p:cNvPr id="368" name="TextBox 367"/>
          <p:cNvSpPr txBox="1"/>
          <p:nvPr/>
        </p:nvSpPr>
        <p:spPr>
          <a:xfrm>
            <a:off x="9589770" y="1969892"/>
            <a:ext cx="731877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?</a:t>
            </a:r>
          </a:p>
        </p:txBody>
      </p:sp>
      <p:sp>
        <p:nvSpPr>
          <p:cNvPr id="369" name="TextBox 368"/>
          <p:cNvSpPr txBox="1"/>
          <p:nvPr/>
        </p:nvSpPr>
        <p:spPr>
          <a:xfrm>
            <a:off x="10608826" y="1969892"/>
            <a:ext cx="946785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370" name="TextBox 369"/>
          <p:cNvSpPr txBox="1"/>
          <p:nvPr/>
        </p:nvSpPr>
        <p:spPr>
          <a:xfrm>
            <a:off x="6248400" y="2124316"/>
            <a:ext cx="867013" cy="1142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MMS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9589770" y="2129791"/>
            <a:ext cx="94333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5B57D6"/>
                </a:solidFill>
                <a:latin typeface="Calibri"/>
              </a:rPr>
              <a:t>Interne</a:t>
            </a:r>
          </a:p>
        </p:txBody>
      </p:sp>
      <p:sp>
        <p:nvSpPr>
          <p:cNvPr id="372" name="TextBox 371"/>
          <p:cNvSpPr txBox="1"/>
          <p:nvPr/>
        </p:nvSpPr>
        <p:spPr>
          <a:xfrm>
            <a:off x="10608826" y="2129791"/>
            <a:ext cx="946785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373" name="TextBox 372"/>
          <p:cNvSpPr txBox="1"/>
          <p:nvPr/>
        </p:nvSpPr>
        <p:spPr>
          <a:xfrm>
            <a:off x="6248400" y="2284215"/>
            <a:ext cx="1087040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MS Project</a:t>
            </a:r>
          </a:p>
        </p:txBody>
      </p:sp>
      <p:sp>
        <p:nvSpPr>
          <p:cNvPr id="374" name="TextBox 373"/>
          <p:cNvSpPr txBox="1"/>
          <p:nvPr/>
        </p:nvSpPr>
        <p:spPr>
          <a:xfrm>
            <a:off x="9589770" y="2289690"/>
            <a:ext cx="96619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Externe</a:t>
            </a:r>
          </a:p>
        </p:txBody>
      </p:sp>
      <p:sp>
        <p:nvSpPr>
          <p:cNvPr id="375" name="TextBox 374"/>
          <p:cNvSpPr txBox="1"/>
          <p:nvPr/>
        </p:nvSpPr>
        <p:spPr>
          <a:xfrm>
            <a:off x="10608826" y="2289690"/>
            <a:ext cx="946785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376" name="TextBox 375"/>
          <p:cNvSpPr txBox="1"/>
          <p:nvPr/>
        </p:nvSpPr>
        <p:spPr>
          <a:xfrm>
            <a:off x="6248400" y="2444114"/>
            <a:ext cx="1048345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Neoaccès</a:t>
            </a:r>
          </a:p>
        </p:txBody>
      </p:sp>
      <p:sp>
        <p:nvSpPr>
          <p:cNvPr id="377" name="TextBox 376"/>
          <p:cNvSpPr txBox="1"/>
          <p:nvPr/>
        </p:nvSpPr>
        <p:spPr>
          <a:xfrm>
            <a:off x="9589770" y="2449589"/>
            <a:ext cx="731877" cy="1066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?</a:t>
            </a:r>
          </a:p>
        </p:txBody>
      </p:sp>
      <p:sp>
        <p:nvSpPr>
          <p:cNvPr id="378" name="TextBox 377"/>
          <p:cNvSpPr txBox="1"/>
          <p:nvPr/>
        </p:nvSpPr>
        <p:spPr>
          <a:xfrm>
            <a:off x="10608826" y="2449589"/>
            <a:ext cx="731877" cy="1066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?</a:t>
            </a:r>
          </a:p>
        </p:txBody>
      </p:sp>
      <p:sp>
        <p:nvSpPr>
          <p:cNvPr id="379" name="TextBox 378"/>
          <p:cNvSpPr txBox="1"/>
          <p:nvPr/>
        </p:nvSpPr>
        <p:spPr>
          <a:xfrm>
            <a:off x="6233160" y="2579061"/>
            <a:ext cx="2528054" cy="2040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730"/>
              </a:lnSpc>
            </a:pPr>
            <a:r>
              <a:rPr sz="610" b="1">
                <a:solidFill>
                  <a:srgbClr val="0D1526"/>
                </a:solidFill>
                <a:latin typeface="Calibri"/>
              </a:rPr>
              <a:t>NotebookLM</a:t>
            </a:r>
            <a:r>
              <a:rPr sz="570" b="0">
                <a:solidFill>
                  <a:srgbClr val="78879F"/>
                </a:solidFill>
                <a:latin typeface="Calibri"/>
              </a:rPr>
              <a:t> GOOGLE</a:t>
            </a:r>
          </a:p>
        </p:txBody>
      </p:sp>
      <p:sp>
        <p:nvSpPr>
          <p:cNvPr id="380" name="TextBox 379"/>
          <p:cNvSpPr txBox="1"/>
          <p:nvPr/>
        </p:nvSpPr>
        <p:spPr>
          <a:xfrm>
            <a:off x="9589770" y="2609496"/>
            <a:ext cx="94333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5B57D6"/>
                </a:solidFill>
                <a:latin typeface="Calibri"/>
              </a:rPr>
              <a:t>Interne</a:t>
            </a:r>
          </a:p>
        </p:txBody>
      </p:sp>
      <p:sp>
        <p:nvSpPr>
          <p:cNvPr id="381" name="TextBox 380"/>
          <p:cNvSpPr txBox="1"/>
          <p:nvPr/>
        </p:nvSpPr>
        <p:spPr>
          <a:xfrm>
            <a:off x="10608826" y="2609496"/>
            <a:ext cx="946785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382" name="TextBox 381"/>
          <p:cNvSpPr txBox="1"/>
          <p:nvPr/>
        </p:nvSpPr>
        <p:spPr>
          <a:xfrm>
            <a:off x="6233160" y="2738960"/>
            <a:ext cx="2528054" cy="2040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730"/>
              </a:lnSpc>
            </a:pPr>
            <a:r>
              <a:rPr sz="610" b="1">
                <a:solidFill>
                  <a:srgbClr val="0D1526"/>
                </a:solidFill>
                <a:latin typeface="Calibri"/>
              </a:rPr>
              <a:t>Oasis</a:t>
            </a:r>
            <a:r>
              <a:rPr sz="570" b="0">
                <a:solidFill>
                  <a:srgbClr val="78879F"/>
                </a:solidFill>
                <a:latin typeface="Calibri"/>
              </a:rPr>
              <a:t> Microsoft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9589770" y="2769395"/>
            <a:ext cx="94333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5B57D6"/>
                </a:solidFill>
                <a:latin typeface="Calibri"/>
              </a:rPr>
              <a:t>Interne</a:t>
            </a:r>
          </a:p>
        </p:txBody>
      </p:sp>
      <p:sp>
        <p:nvSpPr>
          <p:cNvPr id="384" name="TextBox 383"/>
          <p:cNvSpPr txBox="1"/>
          <p:nvPr/>
        </p:nvSpPr>
        <p:spPr>
          <a:xfrm>
            <a:off x="10608826" y="2769395"/>
            <a:ext cx="946785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385" name="TextBox 384"/>
          <p:cNvSpPr txBox="1"/>
          <p:nvPr/>
        </p:nvSpPr>
        <p:spPr>
          <a:xfrm>
            <a:off x="6233160" y="2898859"/>
            <a:ext cx="2528054" cy="20410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730"/>
              </a:lnSpc>
            </a:pPr>
            <a:r>
              <a:rPr sz="610" b="1">
                <a:solidFill>
                  <a:srgbClr val="8F3857"/>
                </a:solidFill>
                <a:latin typeface="Calibri"/>
              </a:rPr>
              <a:t>Outlook</a:t>
            </a:r>
            <a:r>
              <a:rPr sz="570" b="0">
                <a:solidFill>
                  <a:srgbClr val="78879F"/>
                </a:solidFill>
                <a:latin typeface="Calibri"/>
              </a:rPr>
              <a:t> Microsoft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9589770" y="2929294"/>
            <a:ext cx="96619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Externe</a:t>
            </a:r>
          </a:p>
        </p:txBody>
      </p:sp>
      <p:sp>
        <p:nvSpPr>
          <p:cNvPr id="387" name="TextBox 386"/>
          <p:cNvSpPr txBox="1"/>
          <p:nvPr/>
        </p:nvSpPr>
        <p:spPr>
          <a:xfrm>
            <a:off x="10608826" y="2929294"/>
            <a:ext cx="946785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388" name="TextBox 387"/>
          <p:cNvSpPr txBox="1"/>
          <p:nvPr/>
        </p:nvSpPr>
        <p:spPr>
          <a:xfrm>
            <a:off x="6233160" y="3058766"/>
            <a:ext cx="2528054" cy="2040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730"/>
              </a:lnSpc>
            </a:pPr>
            <a:r>
              <a:rPr sz="610" b="1">
                <a:solidFill>
                  <a:srgbClr val="0D1526"/>
                </a:solidFill>
                <a:latin typeface="Calibri"/>
              </a:rPr>
              <a:t>Pablo</a:t>
            </a:r>
            <a:r>
              <a:rPr sz="570" b="0">
                <a:solidFill>
                  <a:srgbClr val="78879F"/>
                </a:solidFill>
                <a:latin typeface="Calibri"/>
              </a:rPr>
              <a:t> Systra</a:t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9589770" y="3089193"/>
            <a:ext cx="966192" cy="1066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Externe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10608826" y="3089193"/>
            <a:ext cx="946785" cy="1066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6248400" y="3243618"/>
            <a:ext cx="867132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Pixis</a:t>
            </a:r>
          </a:p>
        </p:txBody>
      </p:sp>
      <p:sp>
        <p:nvSpPr>
          <p:cNvPr id="392" name="TextBox 391"/>
          <p:cNvSpPr txBox="1"/>
          <p:nvPr/>
        </p:nvSpPr>
        <p:spPr>
          <a:xfrm>
            <a:off x="9589770" y="3249100"/>
            <a:ext cx="731877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?</a:t>
            </a:r>
          </a:p>
        </p:txBody>
      </p:sp>
      <p:sp>
        <p:nvSpPr>
          <p:cNvPr id="393" name="TextBox 392"/>
          <p:cNvSpPr txBox="1"/>
          <p:nvPr/>
        </p:nvSpPr>
        <p:spPr>
          <a:xfrm>
            <a:off x="10608826" y="3249100"/>
            <a:ext cx="858441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0B7E99"/>
                </a:solidFill>
                <a:latin typeface="Calibri"/>
              </a:rPr>
              <a:t>Auto</a:t>
            </a:r>
          </a:p>
        </p:txBody>
      </p:sp>
      <p:sp>
        <p:nvSpPr>
          <p:cNvPr id="394" name="TextBox 393"/>
          <p:cNvSpPr txBox="1"/>
          <p:nvPr/>
        </p:nvSpPr>
        <p:spPr>
          <a:xfrm>
            <a:off x="6233160" y="3378564"/>
            <a:ext cx="2528054" cy="2040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730"/>
              </a:lnSpc>
            </a:pPr>
            <a:r>
              <a:rPr sz="610" b="1">
                <a:solidFill>
                  <a:srgbClr val="0D1526"/>
                </a:solidFill>
                <a:latin typeface="Calibri"/>
              </a:rPr>
              <a:t>Power BI</a:t>
            </a:r>
            <a:r>
              <a:rPr sz="570" b="0">
                <a:solidFill>
                  <a:srgbClr val="78879F"/>
                </a:solidFill>
                <a:latin typeface="Calibri"/>
              </a:rPr>
              <a:t> BYCN</a:t>
            </a:r>
          </a:p>
        </p:txBody>
      </p:sp>
      <p:sp>
        <p:nvSpPr>
          <p:cNvPr id="395" name="TextBox 394"/>
          <p:cNvSpPr txBox="1"/>
          <p:nvPr/>
        </p:nvSpPr>
        <p:spPr>
          <a:xfrm>
            <a:off x="9589770" y="3408999"/>
            <a:ext cx="94333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5B57D6"/>
                </a:solidFill>
                <a:latin typeface="Calibri"/>
              </a:rPr>
              <a:t>Interne</a:t>
            </a:r>
          </a:p>
        </p:txBody>
      </p:sp>
      <p:sp>
        <p:nvSpPr>
          <p:cNvPr id="396" name="TextBox 395"/>
          <p:cNvSpPr txBox="1"/>
          <p:nvPr/>
        </p:nvSpPr>
        <p:spPr>
          <a:xfrm>
            <a:off x="10608826" y="3408999"/>
            <a:ext cx="858441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0B7E99"/>
                </a:solidFill>
                <a:latin typeface="Calibri"/>
              </a:rPr>
              <a:t>Auto</a:t>
            </a:r>
          </a:p>
        </p:txBody>
      </p:sp>
      <p:sp>
        <p:nvSpPr>
          <p:cNvPr id="397" name="TextBox 396"/>
          <p:cNvSpPr txBox="1"/>
          <p:nvPr/>
        </p:nvSpPr>
        <p:spPr>
          <a:xfrm>
            <a:off x="6248400" y="3563423"/>
            <a:ext cx="1112877" cy="1142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PowerPoint</a:t>
            </a:r>
          </a:p>
        </p:txBody>
      </p:sp>
      <p:sp>
        <p:nvSpPr>
          <p:cNvPr id="398" name="TextBox 397"/>
          <p:cNvSpPr txBox="1"/>
          <p:nvPr/>
        </p:nvSpPr>
        <p:spPr>
          <a:xfrm>
            <a:off x="9589770" y="3568898"/>
            <a:ext cx="96619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Externe</a:t>
            </a:r>
          </a:p>
        </p:txBody>
      </p:sp>
      <p:sp>
        <p:nvSpPr>
          <p:cNvPr id="399" name="TextBox 398"/>
          <p:cNvSpPr txBox="1"/>
          <p:nvPr/>
        </p:nvSpPr>
        <p:spPr>
          <a:xfrm>
            <a:off x="10608826" y="3568898"/>
            <a:ext cx="946785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400" name="TextBox 399"/>
          <p:cNvSpPr txBox="1"/>
          <p:nvPr/>
        </p:nvSpPr>
        <p:spPr>
          <a:xfrm>
            <a:off x="6248400" y="3723322"/>
            <a:ext cx="897255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Puma</a:t>
            </a:r>
          </a:p>
        </p:txBody>
      </p:sp>
      <p:sp>
        <p:nvSpPr>
          <p:cNvPr id="401" name="TextBox 400"/>
          <p:cNvSpPr txBox="1"/>
          <p:nvPr/>
        </p:nvSpPr>
        <p:spPr>
          <a:xfrm>
            <a:off x="9589770" y="3728797"/>
            <a:ext cx="94333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5B57D6"/>
                </a:solidFill>
                <a:latin typeface="Calibri"/>
              </a:rPr>
              <a:t>Interne</a:t>
            </a:r>
          </a:p>
        </p:txBody>
      </p:sp>
      <p:sp>
        <p:nvSpPr>
          <p:cNvPr id="402" name="TextBox 401"/>
          <p:cNvSpPr txBox="1"/>
          <p:nvPr/>
        </p:nvSpPr>
        <p:spPr>
          <a:xfrm>
            <a:off x="10608826" y="3728797"/>
            <a:ext cx="946785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403" name="TextBox 402"/>
          <p:cNvSpPr txBox="1"/>
          <p:nvPr/>
        </p:nvSpPr>
        <p:spPr>
          <a:xfrm>
            <a:off x="6233160" y="3858269"/>
            <a:ext cx="2528054" cy="2040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730"/>
              </a:lnSpc>
            </a:pPr>
            <a:r>
              <a:rPr sz="610" b="1">
                <a:solidFill>
                  <a:srgbClr val="0D1526"/>
                </a:solidFill>
                <a:latin typeface="Calibri"/>
              </a:rPr>
              <a:t>QGIS</a:t>
            </a:r>
            <a:r>
              <a:rPr sz="570" b="0">
                <a:solidFill>
                  <a:srgbClr val="78879F"/>
                </a:solidFill>
                <a:latin typeface="Calibri"/>
              </a:rPr>
              <a:t> QGIS</a:t>
            </a:r>
          </a:p>
        </p:txBody>
      </p:sp>
      <p:sp>
        <p:nvSpPr>
          <p:cNvPr id="404" name="TextBox 403"/>
          <p:cNvSpPr txBox="1"/>
          <p:nvPr/>
        </p:nvSpPr>
        <p:spPr>
          <a:xfrm>
            <a:off x="9589770" y="3888704"/>
            <a:ext cx="96619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Externe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10608826" y="3888704"/>
            <a:ext cx="946785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6233160" y="4018168"/>
            <a:ext cx="2528054" cy="2040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730"/>
              </a:lnSpc>
            </a:pPr>
            <a:r>
              <a:rPr sz="610" b="1">
                <a:solidFill>
                  <a:srgbClr val="0D1526"/>
                </a:solidFill>
                <a:latin typeface="Calibri"/>
              </a:rPr>
              <a:t>Quick Connect</a:t>
            </a:r>
            <a:r>
              <a:rPr sz="570" b="0">
                <a:solidFill>
                  <a:srgbClr val="78879F"/>
                </a:solidFill>
                <a:latin typeface="Calibri"/>
              </a:rPr>
              <a:t> Synologie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9589770" y="4048603"/>
            <a:ext cx="94333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5B57D6"/>
                </a:solidFill>
                <a:latin typeface="Calibri"/>
              </a:rPr>
              <a:t>Interne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10608826" y="4048603"/>
            <a:ext cx="946785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6233160" y="4178067"/>
            <a:ext cx="2528054" cy="20410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730"/>
              </a:lnSpc>
            </a:pPr>
            <a:r>
              <a:rPr sz="610" b="1">
                <a:solidFill>
                  <a:srgbClr val="8F3857"/>
                </a:solidFill>
                <a:latin typeface="Calibri"/>
              </a:rPr>
              <a:t>Quick Connect Sécurité</a:t>
            </a:r>
            <a:r>
              <a:rPr sz="570" b="0">
                <a:solidFill>
                  <a:srgbClr val="78879F"/>
                </a:solidFill>
                <a:latin typeface="Calibri"/>
              </a:rPr>
              <a:t> Bouygues Construction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9589770" y="4208502"/>
            <a:ext cx="94333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Interne</a:t>
            </a:r>
          </a:p>
        </p:txBody>
      </p:sp>
      <p:sp>
        <p:nvSpPr>
          <p:cNvPr id="411" name="TextBox 410"/>
          <p:cNvSpPr txBox="1"/>
          <p:nvPr/>
        </p:nvSpPr>
        <p:spPr>
          <a:xfrm>
            <a:off x="10608826" y="4208502"/>
            <a:ext cx="946785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412" name="TextBox 411"/>
          <p:cNvSpPr txBox="1"/>
          <p:nvPr/>
        </p:nvSpPr>
        <p:spPr>
          <a:xfrm>
            <a:off x="6233160" y="4337974"/>
            <a:ext cx="2528054" cy="2040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730"/>
              </a:lnSpc>
            </a:pPr>
            <a:r>
              <a:rPr sz="610" b="1">
                <a:solidFill>
                  <a:srgbClr val="0D1526"/>
                </a:solidFill>
                <a:latin typeface="Calibri"/>
              </a:rPr>
              <a:t>Revit</a:t>
            </a:r>
            <a:r>
              <a:rPr sz="570" b="0">
                <a:solidFill>
                  <a:srgbClr val="78879F"/>
                </a:solidFill>
                <a:latin typeface="Calibri"/>
              </a:rPr>
              <a:t> Autodesk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9589770" y="4368401"/>
            <a:ext cx="96619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Externe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10608826" y="4368401"/>
            <a:ext cx="946785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6233160" y="4497873"/>
            <a:ext cx="2528054" cy="2040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730"/>
              </a:lnSpc>
            </a:pPr>
            <a:r>
              <a:rPr sz="610" b="1">
                <a:solidFill>
                  <a:srgbClr val="0D1526"/>
                </a:solidFill>
                <a:latin typeface="Calibri"/>
              </a:rPr>
              <a:t>SharePoint</a:t>
            </a:r>
            <a:r>
              <a:rPr sz="570" b="0">
                <a:solidFill>
                  <a:srgbClr val="78879F"/>
                </a:solidFill>
                <a:latin typeface="Calibri"/>
              </a:rPr>
              <a:t> MICROSOFT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9589770" y="4528300"/>
            <a:ext cx="966192" cy="1066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Externe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10608826" y="4528300"/>
            <a:ext cx="946785" cy="1066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6233160" y="4657772"/>
            <a:ext cx="2528054" cy="2040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730"/>
              </a:lnSpc>
            </a:pPr>
            <a:r>
              <a:rPr sz="610" b="1">
                <a:solidFill>
                  <a:srgbClr val="0D1526"/>
                </a:solidFill>
                <a:latin typeface="Calibri"/>
              </a:rPr>
              <a:t>Simple BIM</a:t>
            </a:r>
            <a:r>
              <a:rPr sz="570" b="0">
                <a:solidFill>
                  <a:srgbClr val="78879F"/>
                </a:solidFill>
                <a:latin typeface="Calibri"/>
              </a:rPr>
              <a:t> Licence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9589770" y="4688207"/>
            <a:ext cx="96619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Externe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10608826" y="4688207"/>
            <a:ext cx="946785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6248400" y="4842631"/>
            <a:ext cx="1401842" cy="1142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Sixense Monitoring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9589770" y="4848106"/>
            <a:ext cx="96619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Externe</a:t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10608826" y="4848106"/>
            <a:ext cx="858441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0B7E99"/>
                </a:solidFill>
                <a:latin typeface="Calibri"/>
              </a:rPr>
              <a:t>Auto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6233160" y="4977578"/>
            <a:ext cx="2528054" cy="2040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730"/>
              </a:lnSpc>
            </a:pPr>
            <a:r>
              <a:rPr sz="610" b="1">
                <a:solidFill>
                  <a:srgbClr val="0D1526"/>
                </a:solidFill>
                <a:latin typeface="Calibri"/>
              </a:rPr>
              <a:t>Sofistik Bridge</a:t>
            </a:r>
            <a:r>
              <a:rPr sz="570" b="0">
                <a:solidFill>
                  <a:srgbClr val="78879F"/>
                </a:solidFill>
                <a:latin typeface="Calibri"/>
              </a:rPr>
              <a:t> Autodesk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9589770" y="5008005"/>
            <a:ext cx="96619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Externe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10608826" y="5008005"/>
            <a:ext cx="946785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6233160" y="5137477"/>
            <a:ext cx="2528054" cy="2040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730"/>
              </a:lnSpc>
            </a:pPr>
            <a:r>
              <a:rPr sz="610" b="1">
                <a:solidFill>
                  <a:srgbClr val="0D1526"/>
                </a:solidFill>
                <a:latin typeface="Calibri"/>
              </a:rPr>
              <a:t>Tableau</a:t>
            </a:r>
            <a:r>
              <a:rPr sz="570" b="0">
                <a:solidFill>
                  <a:srgbClr val="78879F"/>
                </a:solidFill>
                <a:latin typeface="Calibri"/>
              </a:rPr>
              <a:t> Microsoft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9589770" y="5167904"/>
            <a:ext cx="966192" cy="1066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Externe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10608826" y="5167904"/>
            <a:ext cx="946785" cy="1066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6248400" y="5322329"/>
            <a:ext cx="858441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TIPS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9589770" y="5327811"/>
            <a:ext cx="94333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5B57D6"/>
                </a:solidFill>
                <a:latin typeface="Calibri"/>
              </a:rPr>
              <a:t>Interne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10608826" y="5327811"/>
            <a:ext cx="946785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433" name="TextBox 432"/>
          <p:cNvSpPr txBox="1"/>
          <p:nvPr/>
        </p:nvSpPr>
        <p:spPr>
          <a:xfrm>
            <a:off x="6248400" y="5482236"/>
            <a:ext cx="949047" cy="1142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Traktor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9589770" y="5487710"/>
            <a:ext cx="94333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5B57D6"/>
                </a:solidFill>
                <a:latin typeface="Calibri"/>
              </a:rPr>
              <a:t>Interne</a:t>
            </a:r>
          </a:p>
        </p:txBody>
      </p:sp>
      <p:sp>
        <p:nvSpPr>
          <p:cNvPr id="435" name="TextBox 434"/>
          <p:cNvSpPr txBox="1"/>
          <p:nvPr/>
        </p:nvSpPr>
        <p:spPr>
          <a:xfrm>
            <a:off x="10608826" y="5487710"/>
            <a:ext cx="946785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436" name="TextBox 435"/>
          <p:cNvSpPr txBox="1"/>
          <p:nvPr/>
        </p:nvSpPr>
        <p:spPr>
          <a:xfrm>
            <a:off x="6233160" y="5617175"/>
            <a:ext cx="2528054" cy="20410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730"/>
              </a:lnSpc>
            </a:pPr>
            <a:r>
              <a:rPr sz="610" b="1">
                <a:solidFill>
                  <a:srgbClr val="0D1526"/>
                </a:solidFill>
                <a:latin typeface="Calibri"/>
              </a:rPr>
              <a:t>Trimble Connect</a:t>
            </a:r>
            <a:r>
              <a:rPr sz="570" b="0">
                <a:solidFill>
                  <a:srgbClr val="78879F"/>
                </a:solidFill>
                <a:latin typeface="Calibri"/>
              </a:rPr>
              <a:t> tekla bimsight</a:t>
            </a:r>
          </a:p>
        </p:txBody>
      </p:sp>
      <p:sp>
        <p:nvSpPr>
          <p:cNvPr id="437" name="TextBox 436"/>
          <p:cNvSpPr txBox="1"/>
          <p:nvPr/>
        </p:nvSpPr>
        <p:spPr>
          <a:xfrm>
            <a:off x="9589770" y="5647609"/>
            <a:ext cx="96619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Externe</a:t>
            </a:r>
          </a:p>
        </p:txBody>
      </p:sp>
      <p:sp>
        <p:nvSpPr>
          <p:cNvPr id="438" name="TextBox 437"/>
          <p:cNvSpPr txBox="1"/>
          <p:nvPr/>
        </p:nvSpPr>
        <p:spPr>
          <a:xfrm>
            <a:off x="10608826" y="5647609"/>
            <a:ext cx="946785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439" name="TextBox 438"/>
          <p:cNvSpPr txBox="1"/>
          <p:nvPr/>
        </p:nvSpPr>
        <p:spPr>
          <a:xfrm>
            <a:off x="6248400" y="5802034"/>
            <a:ext cx="1390650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Wastemarket Place</a:t>
            </a:r>
          </a:p>
        </p:txBody>
      </p:sp>
      <p:sp>
        <p:nvSpPr>
          <p:cNvPr id="440" name="TextBox 439"/>
          <p:cNvSpPr txBox="1"/>
          <p:nvPr/>
        </p:nvSpPr>
        <p:spPr>
          <a:xfrm>
            <a:off x="9589770" y="5807509"/>
            <a:ext cx="966192" cy="1066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Externe</a:t>
            </a:r>
          </a:p>
        </p:txBody>
      </p:sp>
      <p:sp>
        <p:nvSpPr>
          <p:cNvPr id="441" name="TextBox 440"/>
          <p:cNvSpPr txBox="1"/>
          <p:nvPr/>
        </p:nvSpPr>
        <p:spPr>
          <a:xfrm>
            <a:off x="10608826" y="5807509"/>
            <a:ext cx="946785" cy="1066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442" name="TextBox 441"/>
          <p:cNvSpPr txBox="1"/>
          <p:nvPr/>
        </p:nvSpPr>
        <p:spPr>
          <a:xfrm>
            <a:off x="6233160" y="5936980"/>
            <a:ext cx="2528054" cy="2040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730"/>
              </a:lnSpc>
            </a:pPr>
            <a:r>
              <a:rPr sz="610" b="1">
                <a:solidFill>
                  <a:srgbClr val="0D1526"/>
                </a:solidFill>
                <a:latin typeface="Calibri"/>
              </a:rPr>
              <a:t>Word</a:t>
            </a:r>
            <a:r>
              <a:rPr sz="570" b="0">
                <a:solidFill>
                  <a:srgbClr val="78879F"/>
                </a:solidFill>
                <a:latin typeface="Calibri"/>
              </a:rPr>
              <a:t> Microsoft</a:t>
            </a:r>
          </a:p>
        </p:txBody>
      </p:sp>
      <p:sp>
        <p:nvSpPr>
          <p:cNvPr id="443" name="TextBox 442"/>
          <p:cNvSpPr txBox="1"/>
          <p:nvPr/>
        </p:nvSpPr>
        <p:spPr>
          <a:xfrm>
            <a:off x="9589770" y="5967415"/>
            <a:ext cx="96619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Externe</a:t>
            </a:r>
          </a:p>
        </p:txBody>
      </p:sp>
      <p:sp>
        <p:nvSpPr>
          <p:cNvPr id="444" name="TextBox 443"/>
          <p:cNvSpPr txBox="1"/>
          <p:nvPr/>
        </p:nvSpPr>
        <p:spPr>
          <a:xfrm>
            <a:off x="10608826" y="5967415"/>
            <a:ext cx="946785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78879F"/>
                </a:solidFill>
                <a:latin typeface="Calibri"/>
              </a:rPr>
              <a:t>Manuel</a:t>
            </a:r>
          </a:p>
        </p:txBody>
      </p:sp>
      <p:sp>
        <p:nvSpPr>
          <p:cNvPr id="445" name="TextBox 444"/>
          <p:cNvSpPr txBox="1"/>
          <p:nvPr/>
        </p:nvSpPr>
        <p:spPr>
          <a:xfrm>
            <a:off x="6248400" y="6121840"/>
            <a:ext cx="1017865" cy="1142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10" b="1">
                <a:solidFill>
                  <a:srgbClr val="0D1526"/>
                </a:solidFill>
                <a:latin typeface="Calibri"/>
              </a:rPr>
              <a:t>YELLOW</a:t>
            </a:r>
          </a:p>
        </p:txBody>
      </p:sp>
      <p:sp>
        <p:nvSpPr>
          <p:cNvPr id="446" name="TextBox 445"/>
          <p:cNvSpPr txBox="1"/>
          <p:nvPr/>
        </p:nvSpPr>
        <p:spPr>
          <a:xfrm>
            <a:off x="9589770" y="6127314"/>
            <a:ext cx="943332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5B57D6"/>
                </a:solidFill>
                <a:latin typeface="Calibri"/>
              </a:rPr>
              <a:t>Interne</a:t>
            </a:r>
          </a:p>
        </p:txBody>
      </p:sp>
      <p:sp>
        <p:nvSpPr>
          <p:cNvPr id="447" name="TextBox 446"/>
          <p:cNvSpPr txBox="1"/>
          <p:nvPr/>
        </p:nvSpPr>
        <p:spPr>
          <a:xfrm>
            <a:off x="10608826" y="6127314"/>
            <a:ext cx="858441" cy="1066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40" b="1" spc="32">
                <a:solidFill>
                  <a:srgbClr val="0B7E99"/>
                </a:solidFill>
                <a:latin typeface="Calibri"/>
              </a:rPr>
              <a:t>Auto</a:t>
            </a:r>
          </a:p>
        </p:txBody>
      </p:sp>
      <p:sp>
        <p:nvSpPr>
          <p:cNvPr id="448" name="TextBox 447"/>
          <p:cNvSpPr txBox="1"/>
          <p:nvPr/>
        </p:nvSpPr>
        <p:spPr>
          <a:xfrm>
            <a:off x="342900" y="6644636"/>
            <a:ext cx="2586990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>
                <a:solidFill>
                  <a:srgbClr val="78879F"/>
                </a:solidFill>
                <a:latin typeface="Calibri"/>
              </a:rPr>
              <a:t>Source : BDD Cartographie Outils IT — 16 entretiens</a:t>
            </a:r>
          </a:p>
        </p:txBody>
      </p:sp>
      <p:sp>
        <p:nvSpPr>
          <p:cNvPr id="449" name="TextBox 448"/>
          <p:cNvSpPr txBox="1"/>
          <p:nvPr/>
        </p:nvSpPr>
        <p:spPr>
          <a:xfrm>
            <a:off x="11302603" y="6644636"/>
            <a:ext cx="1232297" cy="114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>
                <a:solidFill>
                  <a:srgbClr val="78879F"/>
                </a:solidFill>
                <a:latin typeface="Calibri"/>
              </a:rPr>
              <a:t>Planche 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